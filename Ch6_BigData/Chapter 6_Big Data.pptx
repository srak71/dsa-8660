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handoutMasterIdLst>
    <p:handoutMasterId r:id="rId23"/>
  </p:handoutMasterIdLst>
  <p:sldIdLst>
    <p:sldId id="257" r:id="rId2"/>
    <p:sldId id="475" r:id="rId3"/>
    <p:sldId id="476" r:id="rId4"/>
    <p:sldId id="477" r:id="rId5"/>
    <p:sldId id="478" r:id="rId6"/>
    <p:sldId id="479" r:id="rId7"/>
    <p:sldId id="374" r:id="rId8"/>
    <p:sldId id="401" r:id="rId9"/>
    <p:sldId id="375" r:id="rId10"/>
    <p:sldId id="399" r:id="rId11"/>
    <p:sldId id="400" r:id="rId12"/>
    <p:sldId id="402" r:id="rId13"/>
    <p:sldId id="395" r:id="rId14"/>
    <p:sldId id="381" r:id="rId15"/>
    <p:sldId id="383" r:id="rId16"/>
    <p:sldId id="489" r:id="rId17"/>
    <p:sldId id="490" r:id="rId18"/>
    <p:sldId id="491" r:id="rId19"/>
    <p:sldId id="492" r:id="rId20"/>
    <p:sldId id="493"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2D80"/>
    <a:srgbClr val="EA6A20"/>
    <a:srgbClr val="86898C"/>
    <a:srgbClr val="D4C99E"/>
    <a:srgbClr val="ED6C2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13" autoAdjust="0"/>
    <p:restoredTop sz="67914" autoAdjust="0"/>
  </p:normalViewPr>
  <p:slideViewPr>
    <p:cSldViewPr snapToGrid="0" snapToObjects="1">
      <p:cViewPr varScale="1">
        <p:scale>
          <a:sx n="54" d="100"/>
          <a:sy n="54" d="100"/>
        </p:scale>
        <p:origin x="2299"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snapToObjects="1">
      <p:cViewPr varScale="1">
        <p:scale>
          <a:sx n="62" d="100"/>
          <a:sy n="62" d="100"/>
        </p:scale>
        <p:origin x="3226" y="5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72D443A-59C4-42B4-A1C3-E3173798AD7F}" type="doc">
      <dgm:prSet loTypeId="urn:microsoft.com/office/officeart/2005/8/layout/hList6" loCatId="list" qsTypeId="urn:microsoft.com/office/officeart/2005/8/quickstyle/3d7" qsCatId="3D" csTypeId="urn:microsoft.com/office/officeart/2005/8/colors/colorful1" csCatId="colorful" phldr="1"/>
      <dgm:spPr/>
      <dgm:t>
        <a:bodyPr/>
        <a:lstStyle/>
        <a:p>
          <a:endParaRPr lang="en-US"/>
        </a:p>
      </dgm:t>
    </dgm:pt>
    <dgm:pt modelId="{F58C3728-0813-458A-9861-DEB8DE957B9F}">
      <dgm:prSet phldrT="[Text]" custT="1"/>
      <dgm:spPr/>
      <dgm:t>
        <a:bodyPr/>
        <a:lstStyle/>
        <a:p>
          <a:r>
            <a:rPr lang="en-US" sz="2400" b="1" dirty="0">
              <a:latin typeface="Arial" panose="020B0604020202020204" pitchFamily="34" charset="0"/>
              <a:cs typeface="Arial" panose="020B0604020202020204" pitchFamily="34" charset="0"/>
            </a:rPr>
            <a:t>Volume</a:t>
          </a:r>
        </a:p>
      </dgm:t>
    </dgm:pt>
    <dgm:pt modelId="{4A0DCA70-18B7-4F0F-91A1-BC6442D1A834}" type="parTrans" cxnId="{1EBA820F-4349-4A44-963C-AC6C5912FEC0}">
      <dgm:prSet/>
      <dgm:spPr/>
      <dgm:t>
        <a:bodyPr/>
        <a:lstStyle/>
        <a:p>
          <a:endParaRPr lang="en-US" sz="2400">
            <a:solidFill>
              <a:schemeClr val="tx1"/>
            </a:solidFill>
            <a:latin typeface="Arial" panose="020B0604020202020204" pitchFamily="34" charset="0"/>
            <a:cs typeface="Arial" panose="020B0604020202020204" pitchFamily="34" charset="0"/>
          </a:endParaRPr>
        </a:p>
      </dgm:t>
    </dgm:pt>
    <dgm:pt modelId="{B2E2B522-2160-4E3D-8F86-F6D48177CECB}" type="sibTrans" cxnId="{1EBA820F-4349-4A44-963C-AC6C5912FEC0}">
      <dgm:prSet/>
      <dgm:spPr/>
      <dgm:t>
        <a:bodyPr/>
        <a:lstStyle/>
        <a:p>
          <a:endParaRPr lang="en-US" sz="2400">
            <a:solidFill>
              <a:schemeClr val="tx1"/>
            </a:solidFill>
            <a:latin typeface="Arial" panose="020B0604020202020204" pitchFamily="34" charset="0"/>
            <a:cs typeface="Arial" panose="020B0604020202020204" pitchFamily="34" charset="0"/>
          </a:endParaRPr>
        </a:p>
      </dgm:t>
    </dgm:pt>
    <dgm:pt modelId="{28FF872E-F99F-4519-82B2-EBD0980A45AB}">
      <dgm:prSet phldrT="[Text]" custT="1"/>
      <dgm:spPr/>
      <dgm:t>
        <a:bodyPr/>
        <a:lstStyle/>
        <a:p>
          <a:r>
            <a:rPr lang="en-US" altLang="en-US" sz="2400">
              <a:latin typeface="Arial" panose="020B0604020202020204" pitchFamily="34" charset="0"/>
              <a:cs typeface="Arial" panose="020B0604020202020204" pitchFamily="34" charset="0"/>
            </a:rPr>
            <a:t>quantity of data to be stored</a:t>
          </a:r>
          <a:endParaRPr lang="en-US" sz="2400" dirty="0">
            <a:latin typeface="Arial" panose="020B0604020202020204" pitchFamily="34" charset="0"/>
            <a:cs typeface="Arial" panose="020B0604020202020204" pitchFamily="34" charset="0"/>
          </a:endParaRPr>
        </a:p>
      </dgm:t>
    </dgm:pt>
    <dgm:pt modelId="{D54D8B5F-FD58-46E7-9863-9416C8C42214}" type="parTrans" cxnId="{46229E02-1F2E-4784-B9C1-E4B9FD7F82C3}">
      <dgm:prSet/>
      <dgm:spPr/>
      <dgm:t>
        <a:bodyPr/>
        <a:lstStyle/>
        <a:p>
          <a:endParaRPr lang="en-US" sz="2400">
            <a:solidFill>
              <a:schemeClr val="tx1"/>
            </a:solidFill>
            <a:latin typeface="Arial" panose="020B0604020202020204" pitchFamily="34" charset="0"/>
            <a:cs typeface="Arial" panose="020B0604020202020204" pitchFamily="34" charset="0"/>
          </a:endParaRPr>
        </a:p>
      </dgm:t>
    </dgm:pt>
    <dgm:pt modelId="{3ED445E5-0966-4A6D-A536-4BAAEC33623C}" type="sibTrans" cxnId="{46229E02-1F2E-4784-B9C1-E4B9FD7F82C3}">
      <dgm:prSet/>
      <dgm:spPr/>
      <dgm:t>
        <a:bodyPr/>
        <a:lstStyle/>
        <a:p>
          <a:endParaRPr lang="en-US" sz="2400">
            <a:solidFill>
              <a:schemeClr val="tx1"/>
            </a:solidFill>
            <a:latin typeface="Arial" panose="020B0604020202020204" pitchFamily="34" charset="0"/>
            <a:cs typeface="Arial" panose="020B0604020202020204" pitchFamily="34" charset="0"/>
          </a:endParaRPr>
        </a:p>
      </dgm:t>
    </dgm:pt>
    <dgm:pt modelId="{53529152-E382-46DD-BDEE-40817ACE8A69}">
      <dgm:prSet phldrT="[Text]" custT="1"/>
      <dgm:spPr/>
      <dgm:t>
        <a:bodyPr/>
        <a:lstStyle/>
        <a:p>
          <a:r>
            <a:rPr lang="en-US" sz="2400" b="1">
              <a:latin typeface="Arial" panose="020B0604020202020204" pitchFamily="34" charset="0"/>
              <a:cs typeface="Arial" panose="020B0604020202020204" pitchFamily="34" charset="0"/>
            </a:rPr>
            <a:t>Velocity</a:t>
          </a:r>
          <a:endParaRPr lang="en-US" sz="2400" b="1" dirty="0">
            <a:latin typeface="Arial" panose="020B0604020202020204" pitchFamily="34" charset="0"/>
            <a:cs typeface="Arial" panose="020B0604020202020204" pitchFamily="34" charset="0"/>
          </a:endParaRPr>
        </a:p>
      </dgm:t>
    </dgm:pt>
    <dgm:pt modelId="{D118B8B3-686D-455F-A14C-EAC9C23E3F49}" type="parTrans" cxnId="{E2CB76F4-A3EB-46CF-A6A2-37EFA4F658B2}">
      <dgm:prSet/>
      <dgm:spPr/>
      <dgm:t>
        <a:bodyPr/>
        <a:lstStyle/>
        <a:p>
          <a:endParaRPr lang="en-US" sz="2400">
            <a:solidFill>
              <a:schemeClr val="tx1"/>
            </a:solidFill>
            <a:latin typeface="Arial" panose="020B0604020202020204" pitchFamily="34" charset="0"/>
            <a:cs typeface="Arial" panose="020B0604020202020204" pitchFamily="34" charset="0"/>
          </a:endParaRPr>
        </a:p>
      </dgm:t>
    </dgm:pt>
    <dgm:pt modelId="{5ED80CD0-ABE5-4918-A180-8DB7F15B5749}" type="sibTrans" cxnId="{E2CB76F4-A3EB-46CF-A6A2-37EFA4F658B2}">
      <dgm:prSet/>
      <dgm:spPr/>
      <dgm:t>
        <a:bodyPr/>
        <a:lstStyle/>
        <a:p>
          <a:endParaRPr lang="en-US" sz="2400">
            <a:solidFill>
              <a:schemeClr val="tx1"/>
            </a:solidFill>
            <a:latin typeface="Arial" panose="020B0604020202020204" pitchFamily="34" charset="0"/>
            <a:cs typeface="Arial" panose="020B0604020202020204" pitchFamily="34" charset="0"/>
          </a:endParaRPr>
        </a:p>
      </dgm:t>
    </dgm:pt>
    <dgm:pt modelId="{998A3505-E17F-46E6-845D-4C185D9CE542}">
      <dgm:prSet phldrT="[Text]" custT="1"/>
      <dgm:spPr/>
      <dgm:t>
        <a:bodyPr/>
        <a:lstStyle/>
        <a:p>
          <a:r>
            <a:rPr lang="en-US" sz="2400">
              <a:latin typeface="Arial" panose="020B0604020202020204" pitchFamily="34" charset="0"/>
              <a:cs typeface="Arial" panose="020B0604020202020204" pitchFamily="34" charset="0"/>
            </a:rPr>
            <a:t>speed at which data is entered into system and must be processed</a:t>
          </a:r>
          <a:endParaRPr lang="en-US" sz="2400" dirty="0">
            <a:latin typeface="Arial" panose="020B0604020202020204" pitchFamily="34" charset="0"/>
            <a:cs typeface="Arial" panose="020B0604020202020204" pitchFamily="34" charset="0"/>
          </a:endParaRPr>
        </a:p>
      </dgm:t>
    </dgm:pt>
    <dgm:pt modelId="{4286F520-CCD3-4EDC-8E86-A6BD4D4BBCAE}" type="parTrans" cxnId="{925B336F-30E2-4F88-BB04-A13D27CD8F84}">
      <dgm:prSet/>
      <dgm:spPr/>
      <dgm:t>
        <a:bodyPr/>
        <a:lstStyle/>
        <a:p>
          <a:endParaRPr lang="en-US" sz="2400">
            <a:solidFill>
              <a:schemeClr val="tx1"/>
            </a:solidFill>
            <a:latin typeface="Arial" panose="020B0604020202020204" pitchFamily="34" charset="0"/>
            <a:cs typeface="Arial" panose="020B0604020202020204" pitchFamily="34" charset="0"/>
          </a:endParaRPr>
        </a:p>
      </dgm:t>
    </dgm:pt>
    <dgm:pt modelId="{7F92319F-ED3B-49F9-A769-989A551C34E6}" type="sibTrans" cxnId="{925B336F-30E2-4F88-BB04-A13D27CD8F84}">
      <dgm:prSet/>
      <dgm:spPr/>
      <dgm:t>
        <a:bodyPr/>
        <a:lstStyle/>
        <a:p>
          <a:endParaRPr lang="en-US" sz="2400">
            <a:solidFill>
              <a:schemeClr val="tx1"/>
            </a:solidFill>
            <a:latin typeface="Arial" panose="020B0604020202020204" pitchFamily="34" charset="0"/>
            <a:cs typeface="Arial" panose="020B0604020202020204" pitchFamily="34" charset="0"/>
          </a:endParaRPr>
        </a:p>
      </dgm:t>
    </dgm:pt>
    <dgm:pt modelId="{8AA176E4-9D3C-44EC-9EA6-F0C64ADF3996}">
      <dgm:prSet phldrT="[Text]" custT="1"/>
      <dgm:spPr/>
      <dgm:t>
        <a:bodyPr/>
        <a:lstStyle/>
        <a:p>
          <a:r>
            <a:rPr lang="en-US" sz="2400" b="1" dirty="0">
              <a:latin typeface="Arial" panose="020B0604020202020204" pitchFamily="34" charset="0"/>
              <a:cs typeface="Arial" panose="020B0604020202020204" pitchFamily="34" charset="0"/>
            </a:rPr>
            <a:t>Variety</a:t>
          </a:r>
        </a:p>
      </dgm:t>
    </dgm:pt>
    <dgm:pt modelId="{BB3F2D1D-992A-4E2A-8427-36FDD5CF24E1}" type="parTrans" cxnId="{28FD3C3F-ADB0-4F84-A3D6-F925B27140E6}">
      <dgm:prSet/>
      <dgm:spPr/>
      <dgm:t>
        <a:bodyPr/>
        <a:lstStyle/>
        <a:p>
          <a:endParaRPr lang="en-US" sz="2400">
            <a:solidFill>
              <a:schemeClr val="tx1"/>
            </a:solidFill>
            <a:latin typeface="Arial" panose="020B0604020202020204" pitchFamily="34" charset="0"/>
            <a:cs typeface="Arial" panose="020B0604020202020204" pitchFamily="34" charset="0"/>
          </a:endParaRPr>
        </a:p>
      </dgm:t>
    </dgm:pt>
    <dgm:pt modelId="{A2B31751-23B0-4A62-A8A8-E67283A81AA8}" type="sibTrans" cxnId="{28FD3C3F-ADB0-4F84-A3D6-F925B27140E6}">
      <dgm:prSet/>
      <dgm:spPr/>
      <dgm:t>
        <a:bodyPr/>
        <a:lstStyle/>
        <a:p>
          <a:endParaRPr lang="en-US" sz="2400">
            <a:solidFill>
              <a:schemeClr val="tx1"/>
            </a:solidFill>
            <a:latin typeface="Arial" panose="020B0604020202020204" pitchFamily="34" charset="0"/>
            <a:cs typeface="Arial" panose="020B0604020202020204" pitchFamily="34" charset="0"/>
          </a:endParaRPr>
        </a:p>
      </dgm:t>
    </dgm:pt>
    <dgm:pt modelId="{A2226A41-7927-49F8-A71F-6C7C08EC2C10}">
      <dgm:prSet phldrT="[Text]" custT="1"/>
      <dgm:spPr/>
      <dgm:t>
        <a:bodyPr/>
        <a:lstStyle/>
        <a:p>
          <a:r>
            <a:rPr lang="en-US" altLang="en-US" sz="2400" dirty="0">
              <a:latin typeface="Arial" panose="020B0604020202020204" pitchFamily="34" charset="0"/>
              <a:cs typeface="Arial" panose="020B0604020202020204" pitchFamily="34" charset="0"/>
            </a:rPr>
            <a:t>variations in the structure of data to be stored</a:t>
          </a:r>
          <a:endParaRPr lang="en-US" sz="2400" dirty="0">
            <a:latin typeface="Arial" panose="020B0604020202020204" pitchFamily="34" charset="0"/>
            <a:cs typeface="Arial" panose="020B0604020202020204" pitchFamily="34" charset="0"/>
          </a:endParaRPr>
        </a:p>
      </dgm:t>
    </dgm:pt>
    <dgm:pt modelId="{B2C58761-FC51-4F3F-BA9F-3DB04F6E3B14}" type="parTrans" cxnId="{CB47CC94-2F97-4D36-AD75-279F38B62C2C}">
      <dgm:prSet/>
      <dgm:spPr/>
      <dgm:t>
        <a:bodyPr/>
        <a:lstStyle/>
        <a:p>
          <a:endParaRPr lang="en-US" sz="2400">
            <a:solidFill>
              <a:schemeClr val="tx1"/>
            </a:solidFill>
            <a:latin typeface="Arial" panose="020B0604020202020204" pitchFamily="34" charset="0"/>
            <a:cs typeface="Arial" panose="020B0604020202020204" pitchFamily="34" charset="0"/>
          </a:endParaRPr>
        </a:p>
      </dgm:t>
    </dgm:pt>
    <dgm:pt modelId="{E5EAB993-148A-4198-B056-D5D41CCADF35}" type="sibTrans" cxnId="{CB47CC94-2F97-4D36-AD75-279F38B62C2C}">
      <dgm:prSet/>
      <dgm:spPr/>
      <dgm:t>
        <a:bodyPr/>
        <a:lstStyle/>
        <a:p>
          <a:endParaRPr lang="en-US" sz="2400">
            <a:solidFill>
              <a:schemeClr val="tx1"/>
            </a:solidFill>
            <a:latin typeface="Arial" panose="020B0604020202020204" pitchFamily="34" charset="0"/>
            <a:cs typeface="Arial" panose="020B0604020202020204" pitchFamily="34" charset="0"/>
          </a:endParaRPr>
        </a:p>
      </dgm:t>
    </dgm:pt>
    <dgm:pt modelId="{883A5D03-3E11-42AC-8F51-1378CAEA3CDB}" type="pres">
      <dgm:prSet presAssocID="{272D443A-59C4-42B4-A1C3-E3173798AD7F}" presName="Name0" presStyleCnt="0">
        <dgm:presLayoutVars>
          <dgm:dir/>
          <dgm:resizeHandles val="exact"/>
        </dgm:presLayoutVars>
      </dgm:prSet>
      <dgm:spPr/>
    </dgm:pt>
    <dgm:pt modelId="{224C180F-A4E8-4FA0-A24F-6A03B6D4A66D}" type="pres">
      <dgm:prSet presAssocID="{F58C3728-0813-458A-9861-DEB8DE957B9F}" presName="node" presStyleLbl="node1" presStyleIdx="0" presStyleCnt="3">
        <dgm:presLayoutVars>
          <dgm:bulletEnabled val="1"/>
        </dgm:presLayoutVars>
      </dgm:prSet>
      <dgm:spPr/>
    </dgm:pt>
    <dgm:pt modelId="{34BC7D90-4146-4262-812F-996E0677FC32}" type="pres">
      <dgm:prSet presAssocID="{B2E2B522-2160-4E3D-8F86-F6D48177CECB}" presName="sibTrans" presStyleCnt="0"/>
      <dgm:spPr/>
    </dgm:pt>
    <dgm:pt modelId="{79A75C03-3588-4425-9D3C-039E278F12B9}" type="pres">
      <dgm:prSet presAssocID="{53529152-E382-46DD-BDEE-40817ACE8A69}" presName="node" presStyleLbl="node1" presStyleIdx="1" presStyleCnt="3">
        <dgm:presLayoutVars>
          <dgm:bulletEnabled val="1"/>
        </dgm:presLayoutVars>
      </dgm:prSet>
      <dgm:spPr/>
    </dgm:pt>
    <dgm:pt modelId="{ACC3C74D-8317-4099-A22E-8F1B7D672EFA}" type="pres">
      <dgm:prSet presAssocID="{5ED80CD0-ABE5-4918-A180-8DB7F15B5749}" presName="sibTrans" presStyleCnt="0"/>
      <dgm:spPr/>
    </dgm:pt>
    <dgm:pt modelId="{F350D904-4360-4074-B3EC-FDF9AD4B8E0F}" type="pres">
      <dgm:prSet presAssocID="{8AA176E4-9D3C-44EC-9EA6-F0C64ADF3996}" presName="node" presStyleLbl="node1" presStyleIdx="2" presStyleCnt="3">
        <dgm:presLayoutVars>
          <dgm:bulletEnabled val="1"/>
        </dgm:presLayoutVars>
      </dgm:prSet>
      <dgm:spPr/>
    </dgm:pt>
  </dgm:ptLst>
  <dgm:cxnLst>
    <dgm:cxn modelId="{46229E02-1F2E-4784-B9C1-E4B9FD7F82C3}" srcId="{F58C3728-0813-458A-9861-DEB8DE957B9F}" destId="{28FF872E-F99F-4519-82B2-EBD0980A45AB}" srcOrd="0" destOrd="0" parTransId="{D54D8B5F-FD58-46E7-9863-9416C8C42214}" sibTransId="{3ED445E5-0966-4A6D-A536-4BAAEC33623C}"/>
    <dgm:cxn modelId="{E12AF004-1B15-406C-A0EB-B33D8B2432C9}" type="presOf" srcId="{998A3505-E17F-46E6-845D-4C185D9CE542}" destId="{79A75C03-3588-4425-9D3C-039E278F12B9}" srcOrd="0" destOrd="1" presId="urn:microsoft.com/office/officeart/2005/8/layout/hList6"/>
    <dgm:cxn modelId="{5A7F100C-A277-4452-8F9D-701772CE00DC}" type="presOf" srcId="{8AA176E4-9D3C-44EC-9EA6-F0C64ADF3996}" destId="{F350D904-4360-4074-B3EC-FDF9AD4B8E0F}" srcOrd="0" destOrd="0" presId="urn:microsoft.com/office/officeart/2005/8/layout/hList6"/>
    <dgm:cxn modelId="{1EBA820F-4349-4A44-963C-AC6C5912FEC0}" srcId="{272D443A-59C4-42B4-A1C3-E3173798AD7F}" destId="{F58C3728-0813-458A-9861-DEB8DE957B9F}" srcOrd="0" destOrd="0" parTransId="{4A0DCA70-18B7-4F0F-91A1-BC6442D1A834}" sibTransId="{B2E2B522-2160-4E3D-8F86-F6D48177CECB}"/>
    <dgm:cxn modelId="{6168B81D-E16C-4691-9DAC-2DD23CB40CED}" type="presOf" srcId="{F58C3728-0813-458A-9861-DEB8DE957B9F}" destId="{224C180F-A4E8-4FA0-A24F-6A03B6D4A66D}" srcOrd="0" destOrd="0" presId="urn:microsoft.com/office/officeart/2005/8/layout/hList6"/>
    <dgm:cxn modelId="{AA34FE37-A967-4FDE-A784-65EADAAC01D5}" type="presOf" srcId="{A2226A41-7927-49F8-A71F-6C7C08EC2C10}" destId="{F350D904-4360-4074-B3EC-FDF9AD4B8E0F}" srcOrd="0" destOrd="1" presId="urn:microsoft.com/office/officeart/2005/8/layout/hList6"/>
    <dgm:cxn modelId="{28FD3C3F-ADB0-4F84-A3D6-F925B27140E6}" srcId="{272D443A-59C4-42B4-A1C3-E3173798AD7F}" destId="{8AA176E4-9D3C-44EC-9EA6-F0C64ADF3996}" srcOrd="2" destOrd="0" parTransId="{BB3F2D1D-992A-4E2A-8427-36FDD5CF24E1}" sibTransId="{A2B31751-23B0-4A62-A8A8-E67283A81AA8}"/>
    <dgm:cxn modelId="{925B336F-30E2-4F88-BB04-A13D27CD8F84}" srcId="{53529152-E382-46DD-BDEE-40817ACE8A69}" destId="{998A3505-E17F-46E6-845D-4C185D9CE542}" srcOrd="0" destOrd="0" parTransId="{4286F520-CCD3-4EDC-8E86-A6BD4D4BBCAE}" sibTransId="{7F92319F-ED3B-49F9-A769-989A551C34E6}"/>
    <dgm:cxn modelId="{CB47CC94-2F97-4D36-AD75-279F38B62C2C}" srcId="{8AA176E4-9D3C-44EC-9EA6-F0C64ADF3996}" destId="{A2226A41-7927-49F8-A71F-6C7C08EC2C10}" srcOrd="0" destOrd="0" parTransId="{B2C58761-FC51-4F3F-BA9F-3DB04F6E3B14}" sibTransId="{E5EAB993-148A-4198-B056-D5D41CCADF35}"/>
    <dgm:cxn modelId="{0F3A64AB-BE5F-41E2-9A7C-605867AE230A}" type="presOf" srcId="{53529152-E382-46DD-BDEE-40817ACE8A69}" destId="{79A75C03-3588-4425-9D3C-039E278F12B9}" srcOrd="0" destOrd="0" presId="urn:microsoft.com/office/officeart/2005/8/layout/hList6"/>
    <dgm:cxn modelId="{964E08DB-E977-4466-BB85-66FA3040C1E1}" type="presOf" srcId="{28FF872E-F99F-4519-82B2-EBD0980A45AB}" destId="{224C180F-A4E8-4FA0-A24F-6A03B6D4A66D}" srcOrd="0" destOrd="1" presId="urn:microsoft.com/office/officeart/2005/8/layout/hList6"/>
    <dgm:cxn modelId="{E2CB76F4-A3EB-46CF-A6A2-37EFA4F658B2}" srcId="{272D443A-59C4-42B4-A1C3-E3173798AD7F}" destId="{53529152-E382-46DD-BDEE-40817ACE8A69}" srcOrd="1" destOrd="0" parTransId="{D118B8B3-686D-455F-A14C-EAC9C23E3F49}" sibTransId="{5ED80CD0-ABE5-4918-A180-8DB7F15B5749}"/>
    <dgm:cxn modelId="{8704EBFB-9DF5-4617-8E25-C8D6E28C75BF}" type="presOf" srcId="{272D443A-59C4-42B4-A1C3-E3173798AD7F}" destId="{883A5D03-3E11-42AC-8F51-1378CAEA3CDB}" srcOrd="0" destOrd="0" presId="urn:microsoft.com/office/officeart/2005/8/layout/hList6"/>
    <dgm:cxn modelId="{0715FFFC-6028-425F-A90F-BFC24C5AB192}" type="presParOf" srcId="{883A5D03-3E11-42AC-8F51-1378CAEA3CDB}" destId="{224C180F-A4E8-4FA0-A24F-6A03B6D4A66D}" srcOrd="0" destOrd="0" presId="urn:microsoft.com/office/officeart/2005/8/layout/hList6"/>
    <dgm:cxn modelId="{7FA1CFA0-C767-4F8E-B70A-9E86A5574CE9}" type="presParOf" srcId="{883A5D03-3E11-42AC-8F51-1378CAEA3CDB}" destId="{34BC7D90-4146-4262-812F-996E0677FC32}" srcOrd="1" destOrd="0" presId="urn:microsoft.com/office/officeart/2005/8/layout/hList6"/>
    <dgm:cxn modelId="{81F43FCF-5412-425B-907E-A8E795D22444}" type="presParOf" srcId="{883A5D03-3E11-42AC-8F51-1378CAEA3CDB}" destId="{79A75C03-3588-4425-9D3C-039E278F12B9}" srcOrd="2" destOrd="0" presId="urn:microsoft.com/office/officeart/2005/8/layout/hList6"/>
    <dgm:cxn modelId="{64C92CA4-17C5-4791-AA8F-928D0DA4A49B}" type="presParOf" srcId="{883A5D03-3E11-42AC-8F51-1378CAEA3CDB}" destId="{ACC3C74D-8317-4099-A22E-8F1B7D672EFA}" srcOrd="3" destOrd="0" presId="urn:microsoft.com/office/officeart/2005/8/layout/hList6"/>
    <dgm:cxn modelId="{56A9CEE6-AEB5-4141-B6EB-6BC20E4D55A7}" type="presParOf" srcId="{883A5D03-3E11-42AC-8F51-1378CAEA3CDB}" destId="{F350D904-4360-4074-B3EC-FDF9AD4B8E0F}" srcOrd="4"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4C180F-A4E8-4FA0-A24F-6A03B6D4A66D}">
      <dsp:nvSpPr>
        <dsp:cNvPr id="0" name=""/>
        <dsp:cNvSpPr/>
      </dsp:nvSpPr>
      <dsp:spPr>
        <a:xfrm rot="16200000">
          <a:off x="-427798" y="428852"/>
          <a:ext cx="3598894" cy="2741188"/>
        </a:xfrm>
        <a:prstGeom prst="flowChartManualOperation">
          <a:avLst/>
        </a:prstGeom>
        <a:solidFill>
          <a:schemeClr val="accent2">
            <a:hueOff val="0"/>
            <a:satOff val="0"/>
            <a:lumOff val="0"/>
            <a:alphaOff val="0"/>
          </a:schemeClr>
        </a:solidFill>
        <a:ln>
          <a:noFill/>
        </a:ln>
        <a:effectLst>
          <a:outerShdw blurRad="40000" dist="20000" dir="5400000" rotWithShape="0">
            <a:srgbClr val="000000">
              <a:alpha val="38000"/>
            </a:srgbClr>
          </a:outerShdw>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52400" tIns="0" rIns="152400" bIns="0" numCol="1" spcCol="1270" anchor="t" anchorCtr="0">
          <a:noAutofit/>
        </a:bodyPr>
        <a:lstStyle/>
        <a:p>
          <a:pPr marL="0" lvl="0" indent="0" algn="l" defTabSz="1066800">
            <a:lnSpc>
              <a:spcPct val="90000"/>
            </a:lnSpc>
            <a:spcBef>
              <a:spcPct val="0"/>
            </a:spcBef>
            <a:spcAft>
              <a:spcPct val="35000"/>
            </a:spcAft>
            <a:buNone/>
          </a:pPr>
          <a:r>
            <a:rPr lang="en-US" sz="2400" b="1" kern="1200" dirty="0">
              <a:latin typeface="Arial" panose="020B0604020202020204" pitchFamily="34" charset="0"/>
              <a:cs typeface="Arial" panose="020B0604020202020204" pitchFamily="34" charset="0"/>
            </a:rPr>
            <a:t>Volume</a:t>
          </a:r>
        </a:p>
        <a:p>
          <a:pPr marL="228600" lvl="1" indent="-228600" algn="l" defTabSz="1066800">
            <a:lnSpc>
              <a:spcPct val="90000"/>
            </a:lnSpc>
            <a:spcBef>
              <a:spcPct val="0"/>
            </a:spcBef>
            <a:spcAft>
              <a:spcPct val="15000"/>
            </a:spcAft>
            <a:buChar char="•"/>
          </a:pPr>
          <a:r>
            <a:rPr lang="en-US" altLang="en-US" sz="2400" kern="1200">
              <a:latin typeface="Arial" panose="020B0604020202020204" pitchFamily="34" charset="0"/>
              <a:cs typeface="Arial" panose="020B0604020202020204" pitchFamily="34" charset="0"/>
            </a:rPr>
            <a:t>quantity of data to be stored</a:t>
          </a:r>
          <a:endParaRPr lang="en-US" sz="2400" kern="1200" dirty="0">
            <a:latin typeface="Arial" panose="020B0604020202020204" pitchFamily="34" charset="0"/>
            <a:cs typeface="Arial" panose="020B0604020202020204" pitchFamily="34" charset="0"/>
          </a:endParaRPr>
        </a:p>
      </dsp:txBody>
      <dsp:txXfrm rot="5400000">
        <a:off x="1055" y="719778"/>
        <a:ext cx="2741188" cy="2159336"/>
      </dsp:txXfrm>
    </dsp:sp>
    <dsp:sp modelId="{79A75C03-3588-4425-9D3C-039E278F12B9}">
      <dsp:nvSpPr>
        <dsp:cNvPr id="0" name=""/>
        <dsp:cNvSpPr/>
      </dsp:nvSpPr>
      <dsp:spPr>
        <a:xfrm rot="16200000">
          <a:off x="2518979" y="428852"/>
          <a:ext cx="3598894" cy="2741188"/>
        </a:xfrm>
        <a:prstGeom prst="flowChartManualOperation">
          <a:avLst/>
        </a:prstGeom>
        <a:solidFill>
          <a:schemeClr val="accent3">
            <a:hueOff val="0"/>
            <a:satOff val="0"/>
            <a:lumOff val="0"/>
            <a:alphaOff val="0"/>
          </a:schemeClr>
        </a:solidFill>
        <a:ln>
          <a:noFill/>
        </a:ln>
        <a:effectLst>
          <a:outerShdw blurRad="40000" dist="20000" dir="5400000" rotWithShape="0">
            <a:srgbClr val="000000">
              <a:alpha val="38000"/>
            </a:srgbClr>
          </a:outerShdw>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52400" tIns="0" rIns="152400" bIns="0" numCol="1" spcCol="1270" anchor="t" anchorCtr="0">
          <a:noAutofit/>
        </a:bodyPr>
        <a:lstStyle/>
        <a:p>
          <a:pPr marL="0" lvl="0" indent="0" algn="l" defTabSz="1066800">
            <a:lnSpc>
              <a:spcPct val="90000"/>
            </a:lnSpc>
            <a:spcBef>
              <a:spcPct val="0"/>
            </a:spcBef>
            <a:spcAft>
              <a:spcPct val="35000"/>
            </a:spcAft>
            <a:buNone/>
          </a:pPr>
          <a:r>
            <a:rPr lang="en-US" sz="2400" b="1" kern="1200">
              <a:latin typeface="Arial" panose="020B0604020202020204" pitchFamily="34" charset="0"/>
              <a:cs typeface="Arial" panose="020B0604020202020204" pitchFamily="34" charset="0"/>
            </a:rPr>
            <a:t>Velocity</a:t>
          </a:r>
          <a:endParaRPr lang="en-US" sz="2400" b="1" kern="1200" dirty="0">
            <a:latin typeface="Arial" panose="020B0604020202020204" pitchFamily="34" charset="0"/>
            <a:cs typeface="Arial" panose="020B0604020202020204" pitchFamily="34" charset="0"/>
          </a:endParaRPr>
        </a:p>
        <a:p>
          <a:pPr marL="228600" lvl="1" indent="-228600" algn="l" defTabSz="1066800">
            <a:lnSpc>
              <a:spcPct val="90000"/>
            </a:lnSpc>
            <a:spcBef>
              <a:spcPct val="0"/>
            </a:spcBef>
            <a:spcAft>
              <a:spcPct val="15000"/>
            </a:spcAft>
            <a:buChar char="•"/>
          </a:pPr>
          <a:r>
            <a:rPr lang="en-US" sz="2400" kern="1200">
              <a:latin typeface="Arial" panose="020B0604020202020204" pitchFamily="34" charset="0"/>
              <a:cs typeface="Arial" panose="020B0604020202020204" pitchFamily="34" charset="0"/>
            </a:rPr>
            <a:t>speed at which data is entered into system and must be processed</a:t>
          </a:r>
          <a:endParaRPr lang="en-US" sz="2400" kern="1200" dirty="0">
            <a:latin typeface="Arial" panose="020B0604020202020204" pitchFamily="34" charset="0"/>
            <a:cs typeface="Arial" panose="020B0604020202020204" pitchFamily="34" charset="0"/>
          </a:endParaRPr>
        </a:p>
      </dsp:txBody>
      <dsp:txXfrm rot="5400000">
        <a:off x="2947832" y="719778"/>
        <a:ext cx="2741188" cy="2159336"/>
      </dsp:txXfrm>
    </dsp:sp>
    <dsp:sp modelId="{F350D904-4360-4074-B3EC-FDF9AD4B8E0F}">
      <dsp:nvSpPr>
        <dsp:cNvPr id="0" name=""/>
        <dsp:cNvSpPr/>
      </dsp:nvSpPr>
      <dsp:spPr>
        <a:xfrm rot="16200000">
          <a:off x="5465756" y="428852"/>
          <a:ext cx="3598894" cy="2741188"/>
        </a:xfrm>
        <a:prstGeom prst="flowChartManualOperation">
          <a:avLst/>
        </a:prstGeom>
        <a:solidFill>
          <a:schemeClr val="accent4">
            <a:hueOff val="0"/>
            <a:satOff val="0"/>
            <a:lumOff val="0"/>
            <a:alphaOff val="0"/>
          </a:schemeClr>
        </a:solidFill>
        <a:ln>
          <a:noFill/>
        </a:ln>
        <a:effectLst>
          <a:outerShdw blurRad="40000" dist="20000" dir="5400000" rotWithShape="0">
            <a:srgbClr val="000000">
              <a:alpha val="38000"/>
            </a:srgbClr>
          </a:outerShdw>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52400" tIns="0" rIns="152400" bIns="0" numCol="1" spcCol="1270" anchor="t" anchorCtr="0">
          <a:noAutofit/>
        </a:bodyPr>
        <a:lstStyle/>
        <a:p>
          <a:pPr marL="0" lvl="0" indent="0" algn="l" defTabSz="1066800">
            <a:lnSpc>
              <a:spcPct val="90000"/>
            </a:lnSpc>
            <a:spcBef>
              <a:spcPct val="0"/>
            </a:spcBef>
            <a:spcAft>
              <a:spcPct val="35000"/>
            </a:spcAft>
            <a:buNone/>
          </a:pPr>
          <a:r>
            <a:rPr lang="en-US" sz="2400" b="1" kern="1200" dirty="0">
              <a:latin typeface="Arial" panose="020B0604020202020204" pitchFamily="34" charset="0"/>
              <a:cs typeface="Arial" panose="020B0604020202020204" pitchFamily="34" charset="0"/>
            </a:rPr>
            <a:t>Variety</a:t>
          </a:r>
        </a:p>
        <a:p>
          <a:pPr marL="228600" lvl="1" indent="-228600" algn="l" defTabSz="1066800">
            <a:lnSpc>
              <a:spcPct val="90000"/>
            </a:lnSpc>
            <a:spcBef>
              <a:spcPct val="0"/>
            </a:spcBef>
            <a:spcAft>
              <a:spcPct val="15000"/>
            </a:spcAft>
            <a:buChar char="•"/>
          </a:pPr>
          <a:r>
            <a:rPr lang="en-US" altLang="en-US" sz="2400" kern="1200" dirty="0">
              <a:latin typeface="Arial" panose="020B0604020202020204" pitchFamily="34" charset="0"/>
              <a:cs typeface="Arial" panose="020B0604020202020204" pitchFamily="34" charset="0"/>
            </a:rPr>
            <a:t>variations in the structure of data to be stored</a:t>
          </a:r>
          <a:endParaRPr lang="en-US" sz="2400" kern="1200" dirty="0">
            <a:latin typeface="Arial" panose="020B0604020202020204" pitchFamily="34" charset="0"/>
            <a:cs typeface="Arial" panose="020B0604020202020204" pitchFamily="34" charset="0"/>
          </a:endParaRPr>
        </a:p>
      </dsp:txBody>
      <dsp:txXfrm rot="5400000">
        <a:off x="5894609" y="719778"/>
        <a:ext cx="2741188" cy="2159336"/>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DCF6856-8C47-4594-AC1F-3BE6D1B2888D}"/>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9BE92A8-176D-4B0B-88D8-82F4FD69A740}"/>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511DA2B2-C15E-4041-976E-F50F3795EFE4}" type="datetimeFigureOut">
              <a:rPr lang="en-US" smtClean="0"/>
              <a:t>11/1/2021</a:t>
            </a:fld>
            <a:endParaRPr lang="en-US"/>
          </a:p>
        </p:txBody>
      </p:sp>
      <p:sp>
        <p:nvSpPr>
          <p:cNvPr id="4" name="Footer Placeholder 3">
            <a:extLst>
              <a:ext uri="{FF2B5EF4-FFF2-40B4-BE49-F238E27FC236}">
                <a16:creationId xmlns:a16="http://schemas.microsoft.com/office/drawing/2014/main" id="{0EE94B9E-7C24-4993-B4D5-302700B99A9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FDEE273-EFCC-4AF1-B831-C29C1B3BCE9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C3F800F-8413-4AEE-87CF-E93EDB51F230}" type="slidenum">
              <a:rPr lang="en-US" smtClean="0"/>
              <a:t>‹#›</a:t>
            </a:fld>
            <a:endParaRPr lang="en-US"/>
          </a:p>
        </p:txBody>
      </p:sp>
    </p:spTree>
    <p:extLst>
      <p:ext uri="{BB962C8B-B14F-4D97-AF65-F5344CB8AC3E}">
        <p14:creationId xmlns:p14="http://schemas.microsoft.com/office/powerpoint/2010/main" val="6108672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9C85FD3B-EADC-4E04-BA0F-3147368C183D}" type="datetimeFigureOut">
              <a:rPr lang="en-US" smtClean="0"/>
              <a:t>11/1/2021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547B85-5C92-49FC-98A0-16FD07ABB6F8}" type="slidenum">
              <a:rPr lang="en-US" smtClean="0"/>
              <a:t>‹#›</a:t>
            </a:fld>
            <a:endParaRPr lang="en-US"/>
          </a:p>
        </p:txBody>
      </p:sp>
    </p:spTree>
    <p:extLst>
      <p:ext uri="{BB962C8B-B14F-4D97-AF65-F5344CB8AC3E}">
        <p14:creationId xmlns:p14="http://schemas.microsoft.com/office/powerpoint/2010/main" val="295303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chapter, we talk about more sophisticated data management technologies, big data. We cover the definition of big data and its characteristics; NoSQL Databases; Hadoop and its ecosystem; and some Hands-on exercises. </a:t>
            </a:r>
          </a:p>
        </p:txBody>
      </p:sp>
      <p:sp>
        <p:nvSpPr>
          <p:cNvPr id="4" name="Slide Number Placeholder 3"/>
          <p:cNvSpPr>
            <a:spLocks noGrp="1"/>
          </p:cNvSpPr>
          <p:nvPr>
            <p:ph type="sldNum" sz="quarter" idx="5"/>
          </p:nvPr>
        </p:nvSpPr>
        <p:spPr/>
        <p:txBody>
          <a:bodyPr/>
          <a:lstStyle/>
          <a:p>
            <a:fld id="{7B547B85-5C92-49FC-98A0-16FD07ABB6F8}" type="slidenum">
              <a:rPr lang="en-US" smtClean="0"/>
              <a:t>1</a:t>
            </a:fld>
            <a:endParaRPr lang="en-US" dirty="0"/>
          </a:p>
        </p:txBody>
      </p:sp>
    </p:spTree>
    <p:extLst>
      <p:ext uri="{BB962C8B-B14F-4D97-AF65-F5344CB8AC3E}">
        <p14:creationId xmlns:p14="http://schemas.microsoft.com/office/powerpoint/2010/main" val="3934702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b="0" i="0" u="none" strike="noStrike" kern="1200" cap="none" baseline="0" dirty="0">
                <a:solidFill>
                  <a:schemeClr val="tx1"/>
                </a:solidFill>
                <a:latin typeface="Times New Roman" pitchFamily="18" charset="0"/>
                <a:ea typeface="Arial"/>
                <a:cs typeface="Arial" charset="0"/>
                <a:sym typeface="Arial"/>
              </a:rPr>
              <a:t>Traditional data management technologies were created to ensure accurate and efficient transaction processing. As we saw from </a:t>
            </a:r>
            <a:r>
              <a:rPr lang="en-US" altLang="zh-CN" sz="1200" b="0" i="0" u="none" strike="noStrike" kern="1200" cap="none" baseline="0" dirty="0">
                <a:solidFill>
                  <a:schemeClr val="tx1"/>
                </a:solidFill>
                <a:latin typeface="Times New Roman" pitchFamily="18" charset="0"/>
                <a:ea typeface="Arial"/>
                <a:cs typeface="Arial" charset="0"/>
                <a:sym typeface="Arial"/>
              </a:rPr>
              <a:t>the last chapter</a:t>
            </a:r>
            <a:r>
              <a:rPr lang="en-US" altLang="en-US" sz="1200" b="0" i="0" u="none" strike="noStrike" kern="1200" cap="none" baseline="0" dirty="0">
                <a:solidFill>
                  <a:schemeClr val="tx1"/>
                </a:solidFill>
                <a:latin typeface="Times New Roman" pitchFamily="18" charset="0"/>
                <a:ea typeface="Arial"/>
                <a:cs typeface="Arial" charset="0"/>
                <a:sym typeface="Arial"/>
              </a:rPr>
              <a:t>, later database structures were created to support decision-making and overall understanding of the business, which is what we called data warehouses. Big data takes us further down this road. Big data describes a new wave of data storage and manipulation possibilities and requirements. Organizations’ efforts to store, manipulate, and analyze this new wave of data represent one of the most urgent emerging trends in the data management field. </a:t>
            </a:r>
          </a:p>
          <a:p>
            <a:endParaRPr lang="en-US" altLang="en-US" sz="1200" b="0" i="0" u="none" strike="noStrike" kern="1200" cap="none" baseline="0" dirty="0">
              <a:solidFill>
                <a:schemeClr val="tx1"/>
              </a:solidFill>
              <a:latin typeface="Times New Roman" pitchFamily="18" charset="0"/>
              <a:cs typeface="Arial" charset="0"/>
              <a:sym typeface="Arial"/>
            </a:endParaRPr>
          </a:p>
          <a:p>
            <a:r>
              <a:rPr lang="en-US" altLang="en-US" sz="1200" b="0" i="0" u="none" strike="noStrike" kern="1200" cap="none" baseline="0" dirty="0">
                <a:solidFill>
                  <a:schemeClr val="tx1"/>
                </a:solidFill>
                <a:latin typeface="Times New Roman" pitchFamily="18" charset="0"/>
                <a:cs typeface="Arial" charset="0"/>
                <a:sym typeface="Arial"/>
              </a:rPr>
              <a:t>Big Data generally refers to a set of data that </a:t>
            </a:r>
            <a:r>
              <a:rPr lang="en-US" altLang="en-US" sz="1200" dirty="0"/>
              <a:t>exist in very large volumes and many different varieties (data types) that need to be processed at a very high velocity (speed)</a:t>
            </a:r>
            <a:r>
              <a:rPr lang="en-US" altLang="en-US" sz="1200" b="0" i="0" u="none" strike="noStrike" kern="1200" cap="none" baseline="0" dirty="0">
                <a:solidFill>
                  <a:schemeClr val="tx1"/>
                </a:solidFill>
                <a:latin typeface="Times New Roman" pitchFamily="18" charset="0"/>
                <a:cs typeface="Arial" charset="0"/>
                <a:sym typeface="Arial"/>
              </a:rPr>
              <a:t>. You will see that different sources have different definitions of the term </a:t>
            </a:r>
            <a:r>
              <a:rPr lang="zh-CN" altLang="en-US" sz="1200" b="0" i="0" u="none" strike="noStrike" kern="1200" cap="none" baseline="0" dirty="0">
                <a:solidFill>
                  <a:schemeClr val="tx1"/>
                </a:solidFill>
                <a:latin typeface="Times New Roman" pitchFamily="18" charset="0"/>
                <a:cs typeface="Arial" charset="0"/>
                <a:sym typeface="Arial"/>
              </a:rPr>
              <a:t>“</a:t>
            </a:r>
            <a:r>
              <a:rPr lang="en-US" altLang="en-US" sz="1200" b="0" i="0" u="none" strike="noStrike" kern="1200" cap="none" baseline="0" dirty="0">
                <a:solidFill>
                  <a:schemeClr val="tx1"/>
                </a:solidFill>
                <a:latin typeface="Times New Roman" pitchFamily="18" charset="0"/>
                <a:cs typeface="Arial" charset="0"/>
                <a:sym typeface="Arial"/>
              </a:rPr>
              <a:t>big data</a:t>
            </a:r>
            <a:r>
              <a:rPr lang="zh-CN" altLang="en-US" sz="1200" b="0" i="0" u="none" strike="noStrike" kern="1200" cap="none" baseline="0" dirty="0">
                <a:solidFill>
                  <a:schemeClr val="tx1"/>
                </a:solidFill>
                <a:latin typeface="Times New Roman" pitchFamily="18" charset="0"/>
                <a:cs typeface="Arial" charset="0"/>
                <a:sym typeface="Arial"/>
              </a:rPr>
              <a:t>“</a:t>
            </a:r>
            <a:r>
              <a:rPr lang="en-US" altLang="en-US" sz="1200" b="0" i="0" u="none" strike="noStrike" kern="1200" cap="none" baseline="0" dirty="0">
                <a:solidFill>
                  <a:schemeClr val="tx1"/>
                </a:solidFill>
                <a:latin typeface="Times New Roman" pitchFamily="18" charset="0"/>
                <a:cs typeface="Arial" charset="0"/>
                <a:sym typeface="Arial"/>
              </a:rPr>
              <a:t>. But there is a set of characteristics generally associated with it. The three most common ones are volume, velocity, and variety.</a:t>
            </a:r>
          </a:p>
          <a:p>
            <a:endParaRPr lang="en-US" dirty="0"/>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2</a:t>
            </a:fld>
            <a:endParaRPr lang="en-US" dirty="0"/>
          </a:p>
        </p:txBody>
      </p:sp>
    </p:spTree>
    <p:extLst>
      <p:ext uri="{BB962C8B-B14F-4D97-AF65-F5344CB8AC3E}">
        <p14:creationId xmlns:p14="http://schemas.microsoft.com/office/powerpoint/2010/main" val="21478777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Volume</a:t>
            </a:r>
            <a:r>
              <a:rPr lang="en-US" b="0" dirty="0"/>
              <a:t>, the quantity of data to be stored, is a key characteristic of Big Data. The storage capacities associated with Big Data are extremely large. </a:t>
            </a:r>
            <a:r>
              <a:rPr lang="en-US" sz="1200" b="0" i="0" kern="1200" dirty="0">
                <a:solidFill>
                  <a:schemeClr val="tx1"/>
                </a:solidFill>
                <a:effectLst/>
                <a:latin typeface="+mn-lt"/>
                <a:ea typeface="+mn-ea"/>
                <a:cs typeface="+mn-cs"/>
              </a:rPr>
              <a:t>Naturally, as the quantity of data needing to be stored increases, the need for larger storage devices increases as well. When this occurs, systems can either scale up or scale out.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Scaling up </a:t>
            </a:r>
            <a:r>
              <a:rPr lang="en-US" sz="1200" b="0" i="0" kern="1200" dirty="0">
                <a:solidFill>
                  <a:schemeClr val="tx1"/>
                </a:solidFill>
                <a:effectLst/>
                <a:latin typeface="+mn-lt"/>
                <a:ea typeface="+mn-ea"/>
                <a:cs typeface="+mn-cs"/>
              </a:rPr>
              <a:t>is keeping the same number of systems but migrating each system to a larger system: for example, changing from a server with 16 CPU cores and a 1TB storage system to a server with 64 CPU cores and a 100 TB storage system.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On the other hand, </a:t>
            </a:r>
            <a:r>
              <a:rPr lang="en-US" sz="1200" b="1" i="0" kern="1200" dirty="0">
                <a:solidFill>
                  <a:schemeClr val="tx1"/>
                </a:solidFill>
                <a:effectLst/>
                <a:latin typeface="+mn-lt"/>
                <a:ea typeface="+mn-ea"/>
                <a:cs typeface="+mn-cs"/>
              </a:rPr>
              <a:t>scaling out </a:t>
            </a:r>
            <a:r>
              <a:rPr lang="en-US" sz="1200" b="0" i="0" kern="1200" dirty="0">
                <a:solidFill>
                  <a:schemeClr val="tx1"/>
                </a:solidFill>
                <a:effectLst/>
                <a:latin typeface="+mn-lt"/>
                <a:ea typeface="+mn-ea"/>
                <a:cs typeface="+mn-cs"/>
              </a:rPr>
              <a:t>means that when the workload exceeds the capacity of a server, the workload is spread out across a number of servers. This is also referred to as clustering—creating a cluster of low-cost servers to share a workload. </a:t>
            </a:r>
            <a:endParaRPr lang="en-US" dirty="0"/>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3</a:t>
            </a:fld>
            <a:endParaRPr lang="en-US" dirty="0"/>
          </a:p>
        </p:txBody>
      </p:sp>
    </p:spTree>
    <p:extLst>
      <p:ext uri="{BB962C8B-B14F-4D97-AF65-F5344CB8AC3E}">
        <p14:creationId xmlns:p14="http://schemas.microsoft.com/office/powerpoint/2010/main" val="2774109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Velocity</a:t>
            </a:r>
            <a:r>
              <a:rPr lang="en-US" dirty="0"/>
              <a:t>, refers to the rate at which new data enters the system and must be processed. In many ways, the issues of velocity mirror those of volume. For example, consider a web retailer such as Amazon. In the past, a retail store might capture only the data about the final transaction of a customer making a purchase. </a:t>
            </a:r>
            <a:r>
              <a:rPr lang="en-US" altLang="zh-CN" dirty="0"/>
              <a:t>But now online retailers </a:t>
            </a:r>
            <a:r>
              <a:rPr lang="en-US" dirty="0"/>
              <a:t>also capture every click of the mouse in the searching, browsing, comparing, and purchase process. Instead of capturing one event (the final sale) in a 20-minute shopping experience, it might capture data on 30 events during that 20-minute time frame—a 30× increase in the velocity of the data.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Other advances in technology, such as RFID, GPS, and NFC, add new layers of data-gathering opportunities that often generate large amounts of data that must be stored in real time. For example, RFID tags can be used to track items for inventory and warehouse management. The tags do not require line-of-sight between the tag and the reader, and the reader can read hundreds of tags simultaneously while the products are still in boxes. This means that instead of a single record for tracking a given quantity of a product being produced, each individual product is tracked, creating an increase of several orders of magnitude in the amount of data being delivered to the system at any one time.</a:t>
            </a:r>
          </a:p>
          <a:p>
            <a:endParaRPr lang="en-US" dirty="0"/>
          </a:p>
          <a:p>
            <a:r>
              <a:rPr lang="en-US" dirty="0"/>
              <a:t>In addition to the speed with which data is entering the system, for Big Data to be actionable, that data must be processed at a very rapid pace. The velocity of processing can be broken down into two categories: stream processing and feedback loop processing.</a:t>
            </a:r>
          </a:p>
          <a:p>
            <a:endParaRPr lang="en-US" dirty="0"/>
          </a:p>
          <a:p>
            <a:r>
              <a:rPr lang="en-US" b="1" dirty="0"/>
              <a:t>Stream processing </a:t>
            </a:r>
            <a:r>
              <a:rPr lang="en-US" dirty="0"/>
              <a:t>focuses on input processing, and it requires analysis of the data stream as it enters the system. In some situations, large volumes of data can enter the system at such a rapid pace that it is not feasible to try to store all data. The data must be processed and filtered as it enters the system to determine which data to keep and which data to discard. </a:t>
            </a:r>
            <a:r>
              <a:rPr lang="en-US" i="1" dirty="0"/>
              <a:t>For example, at the CERN Large Hadron Collider, the largest and most powerful particle accelerator in the world, experiments produce about 600 TB per second of raw data. Scientists have created algorithms to decide ahead of time which data will be kept. These algorithms are applied in a two-step process to filter the data down to only about 1 GB per second of data that will actually be stored.</a:t>
            </a:r>
          </a:p>
          <a:p>
            <a:endParaRPr lang="en-US" dirty="0"/>
          </a:p>
          <a:p>
            <a:r>
              <a:rPr lang="en-US" b="1" dirty="0"/>
              <a:t>Feedback loop processing </a:t>
            </a:r>
            <a:r>
              <a:rPr lang="en-US" dirty="0"/>
              <a:t>refers to the analysis of the data to produce actionable results. While stream processing could be thought of as focused on inputs, feedback loop processing can be thought of as focused on outputs. The process of capturing the data, processing it into usable information, and then acting on that information is a feedback loop. This figure shows a feedback loop for providing recommendations for book purchases. Feedback loop processing to provide immediate results requires analyzing large amounts of data within just a few seconds so that the results of the analysis can become a part of the product delivered to the user in real time. </a:t>
            </a:r>
          </a:p>
        </p:txBody>
      </p:sp>
      <p:sp>
        <p:nvSpPr>
          <p:cNvPr id="4" name="Slide Number Placeholder 3"/>
          <p:cNvSpPr>
            <a:spLocks noGrp="1"/>
          </p:cNvSpPr>
          <p:nvPr>
            <p:ph type="sldNum" sz="quarter" idx="5"/>
          </p:nvPr>
        </p:nvSpPr>
        <p:spPr/>
        <p:txBody>
          <a:bodyPr/>
          <a:lstStyle/>
          <a:p>
            <a:fld id="{7B547B85-5C92-49FC-98A0-16FD07ABB6F8}" type="slidenum">
              <a:rPr lang="en-US" smtClean="0"/>
              <a:t>4</a:t>
            </a:fld>
            <a:endParaRPr lang="en-US" dirty="0"/>
          </a:p>
        </p:txBody>
      </p:sp>
    </p:spTree>
    <p:extLst>
      <p:ext uri="{BB962C8B-B14F-4D97-AF65-F5344CB8AC3E}">
        <p14:creationId xmlns:p14="http://schemas.microsoft.com/office/powerpoint/2010/main" val="2318039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Big Data context, variety refers to the vast array of formats and structures in which the data may be captured. Data can be structured, unstructured, or </a:t>
            </a:r>
            <a:r>
              <a:rPr lang="en-US" dirty="0" err="1"/>
              <a:t>semistructured</a:t>
            </a:r>
            <a:r>
              <a:rPr lang="en-US" dirty="0"/>
              <a:t>. Structured data is organized to fit a predefined data model. Unstructured data is not organized to fit into a predefined data model. </a:t>
            </a:r>
            <a:r>
              <a:rPr lang="en-US" dirty="0" err="1"/>
              <a:t>Semistructured</a:t>
            </a:r>
            <a:r>
              <a:rPr lang="en-US" dirty="0"/>
              <a:t> data combines elements of both—some parts of the data fit a predefined model while other parts do not. </a:t>
            </a:r>
          </a:p>
          <a:p>
            <a:endParaRPr lang="en-US" dirty="0"/>
          </a:p>
          <a:p>
            <a:r>
              <a:rPr lang="en-US" dirty="0"/>
              <a:t>Relational databases rely on structured data. A data model is created by the database designer based on the business rules. As data enters the database, the data is decomposed and routed for storage in the corresponding tables and columns as defined in the data model. Although much of the transactional data that organizations use works well in a structured environment, most of the data in the world is </a:t>
            </a:r>
            <a:r>
              <a:rPr lang="en-US" dirty="0" err="1"/>
              <a:t>semistructured</a:t>
            </a:r>
            <a:r>
              <a:rPr lang="en-US" dirty="0"/>
              <a:t> or unstructured. </a:t>
            </a:r>
          </a:p>
          <a:p>
            <a:endParaRPr lang="en-US" dirty="0"/>
          </a:p>
          <a:p>
            <a:r>
              <a:rPr lang="en-US" dirty="0"/>
              <a:t>Unstructured data includes maps, images, emails, texts, tweets, videos, transcripts, and a whole host of other data forms. Over the decades that the relational model has been dominant, relational databases have evolved to address some forms of unstructured data. For example, most large-scale RDBMSs support a binary large object (BLOB) data type that allows the storage of unstructured objects like audio, video, and graphic data as a single, atomic value. One problem with binary large object (BLOB) data is that the semantic value of the data is inaccessible and uninterpretable by data processing. </a:t>
            </a:r>
          </a:p>
          <a:p>
            <a:endParaRPr lang="en-US" dirty="0"/>
          </a:p>
          <a:p>
            <a:r>
              <a:rPr lang="en-US" dirty="0"/>
              <a:t>Big Data requires that the data be captured in whatever format it naturally exists, without any attempt to impose a data model or structure to the data. This is one of the key differences between processing data in a relational database and Big Data processing. Relational databases impose a structure on the data when the data is captured and stored. Big Data processing imposes a structure on the data as needed for applications as a part of retrieval and processing. One advantage to providing structure during retrieval and processing is the flexibility of being able to structure the data in different ways for different applications.</a:t>
            </a:r>
          </a:p>
        </p:txBody>
      </p:sp>
      <p:sp>
        <p:nvSpPr>
          <p:cNvPr id="4" name="Slide Number Placeholder 3"/>
          <p:cNvSpPr>
            <a:spLocks noGrp="1"/>
          </p:cNvSpPr>
          <p:nvPr>
            <p:ph type="sldNum" sz="quarter" idx="5"/>
          </p:nvPr>
        </p:nvSpPr>
        <p:spPr/>
        <p:txBody>
          <a:bodyPr/>
          <a:lstStyle/>
          <a:p>
            <a:fld id="{7B547B85-5C92-49FC-98A0-16FD07ABB6F8}" type="slidenum">
              <a:rPr lang="en-US" smtClean="0"/>
              <a:t>5</a:t>
            </a:fld>
            <a:endParaRPr lang="en-US"/>
          </a:p>
        </p:txBody>
      </p:sp>
    </p:spTree>
    <p:extLst>
      <p:ext uri="{BB962C8B-B14F-4D97-AF65-F5344CB8AC3E}">
        <p14:creationId xmlns:p14="http://schemas.microsoft.com/office/powerpoint/2010/main" val="40388851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Characterizing Big Data with the 3 Vs is fairly standard. However, as the industry matures, other characteristics have been put forward as being equally important. Here are some examples. </a:t>
            </a:r>
            <a:r>
              <a:rPr lang="en-US" b="1" dirty="0"/>
              <a:t>Variability</a:t>
            </a:r>
            <a:r>
              <a:rPr lang="en-US" dirty="0"/>
              <a:t> refers to the changes in the meaning of the data based on context. </a:t>
            </a:r>
            <a:r>
              <a:rPr lang="en-US" i="1" dirty="0"/>
              <a:t>While variety and variability are similar terms, they mean distinctly different things in Big Data. Variety is about differences in structure. Variability is about differences in meaning. </a:t>
            </a:r>
            <a:r>
              <a:rPr lang="en-US" dirty="0"/>
              <a:t>Variability is especially relevant in areas such as sentiment analysis that attempt to understand the meanings of words. </a:t>
            </a:r>
            <a:r>
              <a:rPr lang="en-US" i="1" dirty="0"/>
              <a:t>For example, the statements, “I just bought a new smartphone—I love it!” and “The screen on my new smart-phone shattered the first time I dropped it—I love it!” In the first statement the presence of the phrase “I love it” might help an algorithm correctly interpret the statement as expressing a positive attitude. However, the second statement uses sarcasm to express a negative attitude, so the presence of the phrase “I love it” may cause the analysis to interpret the meaning of the phrase incorrectly. </a:t>
            </a:r>
          </a:p>
          <a:p>
            <a:endParaRPr lang="en-US" dirty="0"/>
          </a:p>
          <a:p>
            <a:r>
              <a:rPr lang="en-US" b="1" dirty="0"/>
              <a:t>Veracity</a:t>
            </a:r>
            <a:r>
              <a:rPr lang="en-US" dirty="0"/>
              <a:t> refers to the trustworthiness of the data. Can decision makers reasonably rely on the accuracy of the data and the information generated from it? This is especially pertinent given the automation of data capture and some of the analysis. Uncertainty about the data can arise from several causes, such as having to capture only selected portions of the data due to high velocity. </a:t>
            </a:r>
            <a:r>
              <a:rPr lang="en-US" i="1" dirty="0"/>
              <a:t>Also, in terms of sentiment analysis, customers’ opinions and preferences can change over time, so comments at one point in time might not be suitable for action at another point in time.</a:t>
            </a:r>
          </a:p>
          <a:p>
            <a:endParaRPr lang="en-US" dirty="0"/>
          </a:p>
          <a:p>
            <a:r>
              <a:rPr lang="en-US" b="1" dirty="0"/>
              <a:t>Value</a:t>
            </a:r>
            <a:r>
              <a:rPr lang="en-US" dirty="0"/>
              <a:t> refers to the degree to which the data can be analyzed to provide meaningful information that can add value to the organization. Just because a set of data can be captured does not mean that it should be captured. Organizations should only include data that can form the basis for analysis potentially impacting organizational behavior. </a:t>
            </a:r>
          </a:p>
          <a:p>
            <a:endParaRPr lang="en-US" dirty="0"/>
          </a:p>
          <a:p>
            <a:r>
              <a:rPr lang="en-US" b="1" dirty="0"/>
              <a:t>Visualization</a:t>
            </a:r>
            <a:r>
              <a:rPr lang="en-US" dirty="0"/>
              <a:t> is the ability to graphically present the data in such a way as to make it understandable. Volumes of data can leave decision makers awash in facts but with little understanding of what the facts mean. Visualization is a way of presenting the facts so that decision makers can comprehend the meaning of the information to gain insights.</a:t>
            </a:r>
          </a:p>
          <a:p>
            <a:endParaRPr lang="en-US" dirty="0"/>
          </a:p>
          <a:p>
            <a:r>
              <a:rPr lang="en-US" dirty="0"/>
              <a:t>An argument could be made that these additional Vs are not necessarily characteristics of Big Data; or, perhaps more accurately, they are not characteristics of only Big Data. </a:t>
            </a:r>
            <a:r>
              <a:rPr lang="en-US" i="1" dirty="0"/>
              <a:t>Veracity of data is an issue with even the smallest data store, which is why data management is so important in relational databases. Value of data also applies to traditional, structured data in a relational database. One of the keys to data modeling is that only the data that is of interest to the users should be included in the data model. Data that is not of value should not be recorded in any data store—Big Data or not. Visualization is an important tool in working with data warehouses, which are often maintained as structured data stores in RDBMS products. The important thing to remember is that these characteristics that play an important part in working with data in the relational model are universal and also apply to Big Data.</a:t>
            </a:r>
          </a:p>
          <a:p>
            <a:endParaRPr lang="en-US" dirty="0"/>
          </a:p>
          <a:p>
            <a:r>
              <a:rPr lang="en-US" dirty="0"/>
              <a:t>Even with the emergence of big data, relational databases are still widely used to store and manage structured data. But relational databases are not necessarily the best way for storing and managing all data. Now, the decision of whether to use a relational database at all is a real question. This has led to the coexistence of a variety of data storage and management technologies within an organization’s infrastructure. Scaling up is often considered a viable option as relational databases grow. However, it has practical limits and cost considerations that make it infeasible for many Big Data installations. Scaling out into clusters is the dominant approach that organizations are currently pursuing for Big Data management. As a result, new technologies not based on the relational model have been developed.</a:t>
            </a:r>
          </a:p>
          <a:p>
            <a:endParaRPr lang="en-US" dirty="0"/>
          </a:p>
          <a:p>
            <a:r>
              <a:rPr lang="en-US" dirty="0"/>
              <a:t>Next, we will discuss two specific categories of technologies that have become known as core infrastructure elements of big data solutions: NoSQL and Hadoop.</a:t>
            </a:r>
          </a:p>
          <a:p>
            <a:endParaRPr lang="en-US" dirty="0"/>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6</a:t>
            </a:fld>
            <a:endParaRPr lang="en-US"/>
          </a:p>
        </p:txBody>
      </p:sp>
    </p:spTree>
    <p:extLst>
      <p:ext uri="{BB962C8B-B14F-4D97-AF65-F5344CB8AC3E}">
        <p14:creationId xmlns:p14="http://schemas.microsoft.com/office/powerpoint/2010/main" val="2519523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The challenges of dealing with big data have led to the development of NoSQL databases. NoSQL databases reject many of the underlying assumptions of the relational model. NoSQL stands for not only SQL. NoSQL is a category of recently introduced data storage and retrieval technologies that are not based on the relational model. We will first learn about the general characteristics of these technologies and then explore them at a more detailed level using a widely used categorization into key-value, document, columnar, and graph databases. This tables provides some examples of NoSQL databases and their developers in each category. Interestingly, as shown in this table, many NoSQL DBMSs are based on technologies that have emerged from open source communities; for enterprise use, they are offered with commercial support. </a:t>
            </a:r>
          </a:p>
          <a:p>
            <a:pPr eaLnBrk="1" hangingPunct="1"/>
            <a:endParaRPr lang="en-US" altLang="en-US" dirty="0"/>
          </a:p>
          <a:p>
            <a:pPr eaLnBrk="1" hangingPunct="1"/>
            <a:r>
              <a:rPr lang="en-US" altLang="en-US" dirty="0"/>
              <a:t>In the relational database which we have been focusing on in this semester, we are trying to avoid duplication to save storage space. However, with the storage technologies improve, the price of storage is greatly reduced and minimizing storage space is no longer a key design consideration. Instead, we focus more on the scalability, flexibility, agility, and versatility. We also need to support complex analytics. This shift leads to the development of database models that provide an alternative to relational model. </a:t>
            </a:r>
            <a:r>
              <a:rPr lang="en-US" altLang="zh-CN" dirty="0"/>
              <a:t>We often use an umbrella term of NoSQL to represent the special interest in contexts that require versatile processing of a rich variety of data types and structures.</a:t>
            </a:r>
          </a:p>
          <a:p>
            <a:pPr eaLnBrk="1" hangingPunct="1"/>
            <a:endParaRPr lang="en-US" altLang="en-US" dirty="0"/>
          </a:p>
          <a:p>
            <a:pPr eaLnBrk="1" hangingPunct="1"/>
            <a:r>
              <a:rPr lang="en-US" altLang="en-US" dirty="0"/>
              <a:t>Different from the relational databases (that focus on “scaling up”, which requires large stepwise investments in larger and larger hardware), NoSQL databases allow “scaling out” through the use of a large number of commodity servers that can be easily added to the architectural solution. In a NoSQL database, the distributed nature ensures that the failure of a single component will not lead to the failure of entire system. This model can be easily implemented in a cloud environment.</a:t>
            </a:r>
          </a:p>
          <a:p>
            <a:pPr eaLnBrk="1" hangingPunct="1"/>
            <a:endParaRPr lang="en-US" altLang="en-US" dirty="0"/>
          </a:p>
          <a:p>
            <a:pPr eaLnBrk="1" hangingPunct="1"/>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2826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NoSQL systems provides the opportunities for the use of the “schema on read” model instead of the “schema on write” model. </a:t>
            </a:r>
            <a:r>
              <a:rPr lang="en-US" altLang="zh-CN" dirty="0"/>
              <a:t>Looking at this illustrative figure, in a relational database, schema on write means that we start from collecting requirements and then go through the linear process of conceptual data modeling and logical data modeling, which emphasize on the definition of database schema. We then use the database by writing queries based on the predefined schema. In contrast, with a schema on read approach, we firstly collect large amounts of data with logically defined structure and then store them in a data lake. We will structure and organize the data when we actually need to analyze them. </a:t>
            </a:r>
          </a:p>
          <a:p>
            <a:endParaRPr lang="en-US" dirty="0"/>
          </a:p>
          <a:p>
            <a:r>
              <a:rPr lang="en-US" dirty="0"/>
              <a:t>Thus, most NoSQL DBMSs do not support the ACID (atomicity, consistency, isolation, and durability) properties of transactions, which are typically considered important in the relational DBMS. Rather, NoSQL DBMS focus on the BASE principle, which stands for basically available, soft state, and eventually consistent, as we explained in the “schema on read”. </a:t>
            </a:r>
          </a:p>
        </p:txBody>
      </p:sp>
      <p:sp>
        <p:nvSpPr>
          <p:cNvPr id="4" name="Slide Number Placeholder 3"/>
          <p:cNvSpPr>
            <a:spLocks noGrp="1"/>
          </p:cNvSpPr>
          <p:nvPr>
            <p:ph type="sldNum" sz="quarter" idx="5"/>
          </p:nvPr>
        </p:nvSpPr>
        <p:spPr/>
        <p:txBody>
          <a:bodyPr/>
          <a:lstStyle/>
          <a:p>
            <a:fld id="{7B547B85-5C92-49FC-98A0-16FD07ABB6F8}" type="slidenum">
              <a:rPr lang="en-US" smtClean="0"/>
              <a:t>8</a:t>
            </a:fld>
            <a:endParaRPr lang="en-US"/>
          </a:p>
        </p:txBody>
      </p:sp>
    </p:spTree>
    <p:extLst>
      <p:ext uri="{BB962C8B-B14F-4D97-AF65-F5344CB8AC3E}">
        <p14:creationId xmlns:p14="http://schemas.microsoft.com/office/powerpoint/2010/main" val="26283437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Key-value (KV) databases are conceptually the simplest of the NoSQL data models. It stores data as a collection of key-value pairs. The key acts as an identifier for the value. The value can be anything such as text, an XML document, or an image. The database does not attempt to understand the contents of the value component or its meaning—the database simply stores whatever value is provided for the key. There are no foreign keys; in fact, relationships cannot be tracked among keys at all. This greatly simplifies the work that the DBMS must perform, making key-value databases extremely fast and scalable for basic processing.</a:t>
            </a:r>
          </a:p>
          <a:p>
            <a:pPr eaLnBrk="1" hangingPunct="1"/>
            <a:endParaRPr lang="en-US" altLang="en-US" dirty="0"/>
          </a:p>
          <a:p>
            <a:pPr eaLnBrk="1" hangingPunct="1"/>
            <a:r>
              <a:rPr lang="en-US" altLang="en-US" dirty="0"/>
              <a:t>Key-value pairs are typically organized into “buckets”, which can roughly be thought of as the key-value database equivalent of a table. A bucket is a logical grouping of keys. Key values must be unique within a bucket, but they can be duplicated across buckets. All data operations are based on the bucket plus the key. In other words, it is not possible to query the data based on anything in the value component of the key-value pair. All queries are performed by specifying the bucket and key.</a:t>
            </a:r>
          </a:p>
          <a:p>
            <a:pPr eaLnBrk="1" hangingPunct="1"/>
            <a:endParaRPr lang="en-US" altLang="en-US" dirty="0"/>
          </a:p>
          <a:p>
            <a:pPr eaLnBrk="1" hangingPunct="1"/>
            <a:r>
              <a:rPr lang="en-US" altLang="en-US" dirty="0"/>
              <a:t>This figure shows a customer bucket with three key-value pairs. Since the key-value model does not allow queries based on data in the value component, it is not possible to query for a key-value pair based on customer last name, for example. In fact, the key-value DBMS does not even know that there is such a thing as a customer last name because it does not understand the content of the value component. An application could issue a </a:t>
            </a:r>
            <a:r>
              <a:rPr lang="en-US" altLang="en-US" i="1" dirty="0"/>
              <a:t>get</a:t>
            </a:r>
            <a:r>
              <a:rPr lang="en-US" altLang="en-US" dirty="0"/>
              <a:t> command to have the key-value DBMS return the key-value pair for bucket customer and key 10011, but it would be up to the application to know how to parse the value component to find the customer’s last name, first name, and other characteristics. </a:t>
            </a:r>
            <a:r>
              <a:rPr lang="en-US" altLang="en-US" i="1" dirty="0"/>
              <a:t>(Note: Be aware that although key-value pairs appear in tabular form in the figure, the tabular format is just a convenience to help visually distinguish the components. Actual key-value pairs are not stored in a table-like structure.)</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6587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Document databases are conceptually similar to key-value databases, and they can almost be considered a subtype of key-value databases. It stores data in tagged documents in key-value pairs. Unlike a key-value database where the value component can contain any type of data, a document database always stores a document in the value component. The document can be in any encoded format, such as XML, </a:t>
            </a:r>
            <a:r>
              <a:rPr lang="en-US" altLang="en-US" dirty="0" err="1"/>
              <a:t>JSon</a:t>
            </a:r>
            <a:r>
              <a:rPr lang="en-US" altLang="en-US" dirty="0"/>
              <a:t>(JavaScript object notation), or </a:t>
            </a:r>
            <a:r>
              <a:rPr lang="en-US" altLang="en-US" dirty="0" err="1"/>
              <a:t>bSon</a:t>
            </a:r>
            <a:r>
              <a:rPr lang="en-US" altLang="en-US" dirty="0"/>
              <a:t>(binary </a:t>
            </a:r>
            <a:r>
              <a:rPr lang="en-US" altLang="en-US" dirty="0" err="1"/>
              <a:t>JSon</a:t>
            </a:r>
            <a:r>
              <a:rPr lang="en-US" altLang="en-US" dirty="0"/>
              <a:t>). Another important difference is that while key-value databases do not attempt to understand the content of the value component, document databases do. Tags are named portions of a document. For example, a document may have tags to identify which text in the document represents the title, author, and body of the document. Within the body of the document, there may be additional tags to indicate chapters and sections. Despite the use of tags in documents, document databases are considered schema-less, that is, they do not impose a predefined structure on the data that is stored. For a document database, being schema-less means that although all documents have tags, not all documents are required to have the same tags, so each document can have its own structure. The tags in a document database are extremely important because they are the basis for most of the additional capabilities that document databases have over key-value databases. Tags inside the document are accessible to the DBMS, which makes sophisticated querying possible. </a:t>
            </a:r>
          </a:p>
          <a:p>
            <a:pPr eaLnBrk="1" hangingPunct="1"/>
            <a:endParaRPr lang="en-US" altLang="en-US" dirty="0"/>
          </a:p>
          <a:p>
            <a:pPr eaLnBrk="1" hangingPunct="1"/>
            <a:r>
              <a:rPr lang="en-US" altLang="en-US" dirty="0"/>
              <a:t>Document databases group documents into logical groups called collections. While a document may be retrieved by specifying the collection and key, it is also possible to query based on the contents of tags. For example, this figure represents the same data from the figure in last slide, but in a tagged format for a document database. Because the DBMS is aware of the tags within the documents, it is possible to write queries that retrieve all of the documents where the Balance tag has the value 0. Document databases even support some aggregate functions such as summing or averaging balances in queries. </a:t>
            </a:r>
          </a:p>
          <a:p>
            <a:pPr eaLnBrk="1" hangingPunct="1"/>
            <a:endParaRPr lang="en-US" altLang="en-US" dirty="0"/>
          </a:p>
          <a:p>
            <a:pPr eaLnBrk="1" hangingPunct="1"/>
            <a:r>
              <a:rPr lang="en-US" altLang="en-US" dirty="0"/>
              <a:t>We will get some hands-on practices of some basic operations in the MongoDB document database later in this chapter. There will be a separate MongoDB hands-on tutorial. </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546078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Columnar database can refer to two different sets of technologies that are often confused with each other. In one sense, columnar database can refer to traditional, relational database technologies that use column-centric storage instead of row-centric storage. Relational databases present data in logical tables; however, the data is actually stored in data blocks containing rows of data. All of the data for a given row is stored together in sequence with many rows in the same data block. If a table has many rows of data, the rows will be spread across many data blocks. Looking at this figure as an example. It illustrates a relational table with 10 rows of data that is physically stored across five data blocks. Row-centric storage minimizes the number of disk reads necessary to retrieve a row of data. Retrieving one row of data requires accessing just one data block, as shown in the figure. </a:t>
            </a:r>
          </a:p>
          <a:p>
            <a:pPr eaLnBrk="1" hangingPunct="1"/>
            <a:endParaRPr lang="en-US" altLang="en-US" dirty="0"/>
          </a:p>
          <a:p>
            <a:pPr eaLnBrk="1" hangingPunct="1"/>
            <a:r>
              <a:rPr lang="en-US" altLang="en-US" dirty="0"/>
              <a:t>However, in queries that retrieve a small set of columns across a large set of rows, a large number of disk accesses are required. For example, a query that wants to retrieve only the city and state of every customer will have to access every data block that contains a customer row to retrieve that data. In this figure, that would mean accessing five data blocks to get the city and state of every customer.</a:t>
            </a:r>
          </a:p>
          <a:p>
            <a:pPr eaLnBrk="1" hangingPunct="1"/>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344379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use of the term columnar database, also called column family database, is to describe a type of NoSQL database that takes the concept of column-centric storage beyond the confines of the relational model. As NoSQL databases, these products do not require the data to conform to predefined structures nor do they support SQL for queries. This database model originated with Google’s </a:t>
            </a:r>
            <a:r>
              <a:rPr lang="en-US" dirty="0" err="1"/>
              <a:t>BigTable</a:t>
            </a:r>
            <a:r>
              <a:rPr lang="en-US" dirty="0"/>
              <a:t> product. Other columnar database products include HBase, </a:t>
            </a:r>
            <a:r>
              <a:rPr lang="en-US" dirty="0" err="1"/>
              <a:t>Hypertable</a:t>
            </a:r>
            <a:r>
              <a:rPr lang="en-US" dirty="0"/>
              <a:t>, and Cassandra. A column family database organizes data in key-value pairs with keys mapped to a set of columns in the value component. While column family databases use many of the same terms as relational databases, the terms don’t mean quite the same things. A column is a key-value pair that is similar to a cell of data in a relational database. The key is the name of the column, and the value component is the data that is stored in that column. Therefore, “</a:t>
            </a:r>
            <a:r>
              <a:rPr lang="en-US" dirty="0" err="1"/>
              <a:t>cus_lname</a:t>
            </a:r>
            <a:r>
              <a:rPr lang="en-US" dirty="0"/>
              <a:t>: </a:t>
            </a:r>
            <a:r>
              <a:rPr lang="en-US" dirty="0" err="1"/>
              <a:t>Ramas</a:t>
            </a:r>
            <a:r>
              <a:rPr lang="en-US" dirty="0"/>
              <a:t>” is a column; </a:t>
            </a:r>
            <a:r>
              <a:rPr lang="en-US" dirty="0" err="1"/>
              <a:t>cus_lname</a:t>
            </a:r>
            <a:r>
              <a:rPr lang="en-US" dirty="0"/>
              <a:t> is the name of the column, and </a:t>
            </a:r>
            <a:r>
              <a:rPr lang="en-US" dirty="0" err="1"/>
              <a:t>Ramas</a:t>
            </a:r>
            <a:r>
              <a:rPr lang="en-US" dirty="0"/>
              <a:t> is the data value in the column. Similarly, “</a:t>
            </a:r>
            <a:r>
              <a:rPr lang="en-US" dirty="0" err="1"/>
              <a:t>cus_city</a:t>
            </a:r>
            <a:r>
              <a:rPr lang="en-US" dirty="0"/>
              <a:t>: Nashville” is another column, with </a:t>
            </a:r>
            <a:r>
              <a:rPr lang="en-US" dirty="0" err="1"/>
              <a:t>cus_city</a:t>
            </a:r>
            <a:r>
              <a:rPr lang="en-US"/>
              <a:t> as </a:t>
            </a:r>
            <a:r>
              <a:rPr lang="en-US" dirty="0"/>
              <a:t>the column name and Nashville as the data value.</a:t>
            </a:r>
          </a:p>
          <a:p>
            <a:endParaRPr lang="en-US" dirty="0"/>
          </a:p>
          <a:p>
            <a:r>
              <a:rPr lang="en-US" dirty="0"/>
              <a:t>As more columns are added, it becomes clear that some columns form natural groups, such as </a:t>
            </a:r>
            <a:r>
              <a:rPr lang="en-US" dirty="0" err="1"/>
              <a:t>cus_fname</a:t>
            </a:r>
            <a:r>
              <a:rPr lang="en-US" dirty="0"/>
              <a:t>, </a:t>
            </a:r>
            <a:r>
              <a:rPr lang="en-US" dirty="0" err="1"/>
              <a:t>cus_lname</a:t>
            </a:r>
            <a:r>
              <a:rPr lang="en-US" dirty="0"/>
              <a:t>, and </a:t>
            </a:r>
            <a:r>
              <a:rPr lang="en-US" dirty="0" err="1"/>
              <a:t>cus_initial</a:t>
            </a:r>
            <a:r>
              <a:rPr lang="en-US" dirty="0"/>
              <a:t>, which would logically group together to form a customer’s name. Similarly, </a:t>
            </a:r>
            <a:r>
              <a:rPr lang="en-US" dirty="0" err="1"/>
              <a:t>cus_street</a:t>
            </a:r>
            <a:r>
              <a:rPr lang="en-US" dirty="0"/>
              <a:t>, </a:t>
            </a:r>
            <a:r>
              <a:rPr lang="en-US" dirty="0" err="1"/>
              <a:t>cus_city</a:t>
            </a:r>
            <a:r>
              <a:rPr lang="en-US" dirty="0"/>
              <a:t>, </a:t>
            </a:r>
            <a:r>
              <a:rPr lang="en-US" dirty="0" err="1"/>
              <a:t>cus_state</a:t>
            </a:r>
            <a:r>
              <a:rPr lang="en-US" dirty="0"/>
              <a:t>, and </a:t>
            </a:r>
            <a:r>
              <a:rPr lang="en-US" dirty="0" err="1"/>
              <a:t>cus_zip</a:t>
            </a:r>
            <a:r>
              <a:rPr lang="en-US" dirty="0"/>
              <a:t> would logically group together to form a customer’s address. These groupings are used to create </a:t>
            </a:r>
            <a:r>
              <a:rPr lang="en-US" b="1" dirty="0"/>
              <a:t>super columns</a:t>
            </a:r>
            <a:r>
              <a:rPr lang="en-US" dirty="0"/>
              <a:t>. A super column is a group of columns that are logically related. Row keys are created to identify objects in the environment. All of the columns or super columns that describe these objects are grouped together to create a column family; therefore, a column family is conceptually similar to a table in the relational model. Although a column family is similar in concept to a relational table, this figure shows that it is structurally very different. Notice in the figure that each row key in the column family can have different columns. </a:t>
            </a:r>
          </a:p>
        </p:txBody>
      </p:sp>
      <p:sp>
        <p:nvSpPr>
          <p:cNvPr id="4" name="Slide Number Placeholder 3"/>
          <p:cNvSpPr>
            <a:spLocks noGrp="1"/>
          </p:cNvSpPr>
          <p:nvPr>
            <p:ph type="sldNum" sz="quarter" idx="5"/>
          </p:nvPr>
        </p:nvSpPr>
        <p:spPr/>
        <p:txBody>
          <a:bodyPr/>
          <a:lstStyle/>
          <a:p>
            <a:fld id="{7B547B85-5C92-49FC-98A0-16FD07ABB6F8}" type="slidenum">
              <a:rPr lang="en-US" smtClean="0"/>
              <a:t>12</a:t>
            </a:fld>
            <a:endParaRPr lang="en-US"/>
          </a:p>
        </p:txBody>
      </p:sp>
    </p:spTree>
    <p:extLst>
      <p:ext uri="{BB962C8B-B14F-4D97-AF65-F5344CB8AC3E}">
        <p14:creationId xmlns:p14="http://schemas.microsoft.com/office/powerpoint/2010/main" val="25092405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A graph database is based on graph theory to store data about relationship-rich environments. Graph theory models relationships, or edges, between objects called nodes. Interest in graph databases originated in the area of social networks, which has a wide range of applications beyond the typical Facebook, Twitter, and Instagram that immediately come to mind. Dating websites, knowledge management, logistics and routing, master data management, and identity and access management are all areas that rely heavily on tracking complex relationships among objects. </a:t>
            </a:r>
          </a:p>
          <a:p>
            <a:pPr eaLnBrk="1" hangingPunct="1"/>
            <a:endParaRPr lang="en-US" altLang="en-US" dirty="0"/>
          </a:p>
          <a:p>
            <a:pPr eaLnBrk="1" hangingPunct="1"/>
            <a:r>
              <a:rPr lang="en-US" altLang="en-US" dirty="0"/>
              <a:t>The primary components of graph databases are nodes, edges, and properties, as shown in the figure. A node corresponds to the idea of a relational entity instance. The node is a specific instance of something we want to keep data about. Each node represents a single agent. Properties are like attributes; they are the data that we need to store about the node. All agent nodes might have properties like first name and last name, but all nodes are not required to have the same properties. An edge is a relationship between nodes. Edges (shown as arrows in the figure) can be in one direction, or they can be bidirectional. </a:t>
            </a:r>
          </a:p>
          <a:p>
            <a:pPr eaLnBrk="1" hangingPunct="1"/>
            <a:endParaRPr lang="en-US" altLang="en-US" dirty="0"/>
          </a:p>
          <a:p>
            <a:pPr eaLnBrk="1" hangingPunct="1"/>
            <a:r>
              <a:rPr lang="en-US" altLang="en-US" dirty="0"/>
              <a:t>For example, in this figure, the friends relationships are bidirectional, but the likes relationships are not. Note that edges can also have properties. In the figure, the date on which customer Alfred </a:t>
            </a:r>
            <a:r>
              <a:rPr lang="en-US" altLang="en-US" dirty="0" err="1"/>
              <a:t>Ramas</a:t>
            </a:r>
            <a:r>
              <a:rPr lang="en-US" altLang="en-US" dirty="0"/>
              <a:t> liked agent Alex Alby is recorded in the graph database. A query in a graph database is called a traversal. Instead of querying the data-base, the correct terminology would be traversing the graph. Graph databases excel at traversals that focus on relationships between nodes, such as shortest path and degree of connectedness.</a:t>
            </a:r>
          </a:p>
          <a:p>
            <a:pPr eaLnBrk="1" hangingPunct="1"/>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130795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probably no current data management product or platform discussed as broadly as Hadoop. This section of the chapter is to give you an overview of Hadoop and its ecosystem in order to help you better understand its importance and how to effectively use it. </a:t>
            </a:r>
          </a:p>
          <a:p>
            <a:endParaRPr lang="en-US" dirty="0"/>
          </a:p>
          <a:p>
            <a:r>
              <a:rPr lang="en-US" dirty="0"/>
              <a:t>Hadoop provides significant benefits for many big data management tasks.</a:t>
            </a:r>
            <a:r>
              <a:rPr lang="zh-CN" altLang="en-US" dirty="0"/>
              <a:t> </a:t>
            </a:r>
            <a:r>
              <a:rPr lang="en-US" altLang="zh-CN" dirty="0"/>
              <a:t>It</a:t>
            </a:r>
            <a:r>
              <a:rPr lang="zh-CN" altLang="en-US" dirty="0"/>
              <a:t> </a:t>
            </a:r>
            <a:r>
              <a:rPr lang="en-US" dirty="0"/>
              <a:t>has helped organizations achieve important analytics results in many industries such as retail, banking &amp; finance, manufacturing, and healthcare. Companies including Facebook,</a:t>
            </a:r>
            <a:r>
              <a:rPr lang="zh-CN" altLang="en-US" dirty="0"/>
              <a:t> </a:t>
            </a:r>
            <a:r>
              <a:rPr lang="en-US" altLang="zh-CN" dirty="0"/>
              <a:t>Twitter, LinkedIn, Yahoo!, eBay, Adobe, Rackspace, Spotify … are all taking advantages of the Hadoop technologies. </a:t>
            </a:r>
            <a:endParaRPr lang="en-US" dirty="0"/>
          </a:p>
          <a:p>
            <a:endParaRPr lang="en-US" dirty="0"/>
          </a:p>
          <a:p>
            <a:r>
              <a:rPr lang="en-US" dirty="0"/>
              <a:t>However, it is also important to know that one does not fit all. Hadoop is one option in big data management toolbox that needs to be used for the right purposes. </a:t>
            </a:r>
          </a:p>
          <a:p>
            <a:endParaRPr lang="en-US" dirty="0"/>
          </a:p>
          <a:p>
            <a:r>
              <a:rPr lang="en-US" dirty="0"/>
              <a:t>A key feature of big data is highly distributed processing. The Internet allows you to do this,</a:t>
            </a:r>
            <a:r>
              <a:rPr lang="en-US" baseline="0" dirty="0"/>
              <a:t> by sharing tasks across hundreds or thousands of computers. </a:t>
            </a:r>
            <a:r>
              <a:rPr lang="en-US" sz="1200" b="0" i="0" u="none" strike="noStrike" kern="1200" cap="none" baseline="0" dirty="0">
                <a:solidFill>
                  <a:schemeClr val="tx1"/>
                </a:solidFill>
                <a:latin typeface="Times New Roman" pitchFamily="18" charset="0"/>
                <a:ea typeface="Arial"/>
                <a:cs typeface="Arial" charset="0"/>
                <a:sym typeface="Arial"/>
              </a:rPr>
              <a:t>Hadoop’s essence is in processing very large amounts (terabytes or petabytes) of data by distributing the data and processing tasks among a large number of low-cost </a:t>
            </a:r>
            <a:r>
              <a:rPr lang="en-US" sz="1200" b="1" i="0" u="none" strike="noStrike" kern="1200" cap="none" baseline="0" dirty="0">
                <a:solidFill>
                  <a:schemeClr val="tx1"/>
                </a:solidFill>
                <a:latin typeface="Times New Roman" pitchFamily="18" charset="0"/>
                <a:ea typeface="Arial"/>
                <a:cs typeface="Arial" charset="0"/>
                <a:sym typeface="Arial"/>
              </a:rPr>
              <a:t>commodity servers</a:t>
            </a:r>
            <a:r>
              <a:rPr lang="en-US" sz="1200" b="0" i="0" u="none" strike="noStrike" kern="1200" cap="none" baseline="0" dirty="0">
                <a:solidFill>
                  <a:schemeClr val="tx1"/>
                </a:solidFill>
                <a:latin typeface="Times New Roman" pitchFamily="18" charset="0"/>
                <a:ea typeface="Arial"/>
                <a:cs typeface="Arial" charset="0"/>
                <a:sym typeface="Arial"/>
              </a:rPr>
              <a:t>. That means plain old PCs and servers. With the growing interest of big data analytics in organizations and the open source nature of Hadoop components, Hadoop is facilitating a large ecosystem consisting of more add-on open source projects for advanced analytics functionalities and needs, open source developers, commercial companies including both big public firms and raising startups, and end-users.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219550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Hadoop is made up of the</a:t>
            </a:r>
            <a:r>
              <a:rPr lang="en-US" sz="1200" baseline="0" dirty="0"/>
              <a:t> MapReduce engine and HDFS clusters, which are regarded as the core Hadoop components. The MapReduce engine includes an overall </a:t>
            </a:r>
            <a:r>
              <a:rPr lang="en-US" sz="1200" b="1" baseline="0" dirty="0"/>
              <a:t>job tracker </a:t>
            </a:r>
            <a:r>
              <a:rPr lang="en-US" sz="1200" baseline="0" dirty="0"/>
              <a:t>to manage activity on the entire cluster in the master server, and </a:t>
            </a:r>
            <a:r>
              <a:rPr lang="en-US" sz="1200" b="1" baseline="0" dirty="0"/>
              <a:t>task trackers </a:t>
            </a:r>
            <a:r>
              <a:rPr lang="en-US" sz="1200" baseline="0" dirty="0"/>
              <a:t>for each slave of the cluster. Each slave is a data node, and the master is a name node. Let’s look at this in more detail. </a:t>
            </a:r>
            <a:endParaRPr lang="en-US" sz="1200" dirty="0"/>
          </a:p>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154354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First, How does a HDFS cluster work? With a large sized data, </a:t>
            </a:r>
            <a:r>
              <a:rPr lang="en-US" sz="1200" dirty="0">
                <a:solidFill>
                  <a:srgbClr val="000000"/>
                </a:solidFill>
              </a:rPr>
              <a:t>HDFS firstly breaks it into </a:t>
            </a:r>
            <a:r>
              <a:rPr lang="en-US" sz="1200" b="1" dirty="0">
                <a:solidFill>
                  <a:srgbClr val="000000"/>
                </a:solidFill>
              </a:rPr>
              <a:t>blocks</a:t>
            </a:r>
            <a:r>
              <a:rPr lang="en-US" sz="1200" dirty="0">
                <a:solidFill>
                  <a:srgbClr val="000000"/>
                </a:solidFill>
              </a:rPr>
              <a:t> and are replicated to ensure fault tolerance.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0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rPr>
              <a:t>The replicated blocks are distributed on various </a:t>
            </a:r>
            <a:r>
              <a:rPr lang="en-US" sz="1200" b="1" dirty="0">
                <a:solidFill>
                  <a:srgbClr val="000000"/>
                </a:solidFill>
              </a:rPr>
              <a:t>nodes</a:t>
            </a:r>
            <a:r>
              <a:rPr lang="en-US" sz="1200" dirty="0">
                <a:solidFill>
                  <a:srgbClr val="000000"/>
                </a:solidFill>
              </a:rPr>
              <a:t> throughout a Hadoop </a:t>
            </a:r>
            <a:r>
              <a:rPr lang="en-US" sz="1200" b="1" dirty="0">
                <a:solidFill>
                  <a:srgbClr val="000000"/>
                </a:solidFill>
              </a:rPr>
              <a:t>cluster. </a:t>
            </a:r>
            <a:r>
              <a:rPr lang="en-US" sz="1200" b="0" i="0" dirty="0">
                <a:solidFill>
                  <a:srgbClr val="000000"/>
                </a:solidFill>
              </a:rPr>
              <a:t>In this example, the default replication factor of three, so each block appears on three data nodes. </a:t>
            </a:r>
            <a:r>
              <a:rPr lang="en-US" sz="1200" b="0" dirty="0">
                <a:solidFill>
                  <a:srgbClr val="000000"/>
                </a:solidFill>
              </a:rPr>
              <a:t>A node is just a computer that performs one or more types of tasks within the system. </a:t>
            </a: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16</a:t>
            </a:fld>
            <a:endParaRPr lang="en-US"/>
          </a:p>
        </p:txBody>
      </p:sp>
    </p:spTree>
    <p:extLst>
      <p:ext uri="{BB962C8B-B14F-4D97-AF65-F5344CB8AC3E}">
        <p14:creationId xmlns:p14="http://schemas.microsoft.com/office/powerpoint/2010/main" val="42562857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Within the HDFS, there are three types of nodes. First, data nodes store the actual file data within the HDFS. Due to the replication of blocks, there are one or more data nodes in a Hadoop cluster. </a:t>
            </a:r>
          </a:p>
          <a:p>
            <a:endParaRPr lang="en-US" dirty="0"/>
          </a:p>
          <a:p>
            <a:r>
              <a:rPr lang="en-US" dirty="0"/>
              <a:t>Second, the name node contains the metadata for the file system. There is typically only one name node within a HDFS cluster. The metadata is designed to be small, simple, and easily recoverable. Keeping the metadata small allows the name node to hold all of the metadata in memory to reduce disk accesses and improve system performance. The metadata is composed primarily of the name of each file, the block numbers, and the desired replication factor for each file. </a:t>
            </a:r>
          </a:p>
          <a:p>
            <a:endParaRPr lang="en-US" dirty="0"/>
          </a:p>
          <a:p>
            <a:r>
              <a:rPr lang="en-US" dirty="0"/>
              <a:t>Third, the client node makes requests to the file system, either to read files or to write new files, as needed to support the user application.</a:t>
            </a:r>
          </a:p>
          <a:p>
            <a:endParaRPr lang="en-US" dirty="0"/>
          </a:p>
          <a:p>
            <a:r>
              <a:rPr lang="en-US" dirty="0"/>
              <a:t>Next, we describe the process of a HDFS task: when a client node needs to create a new file, it communicates with the name node. </a:t>
            </a:r>
          </a:p>
          <a:p>
            <a:endParaRPr lang="en-US" dirty="0"/>
          </a:p>
          <a:p>
            <a:r>
              <a:rPr lang="en-US" dirty="0"/>
              <a:t>The name node adds the new file name to the metadata; determines a new block number for the file; determines a list of which data nodes the block will be stored; and finally pass the information back to the client node.</a:t>
            </a:r>
          </a:p>
          <a:p>
            <a:endParaRPr lang="en-US" dirty="0"/>
          </a:p>
          <a:p>
            <a:r>
              <a:rPr lang="en-US" dirty="0"/>
              <a:t>The client node contact the first data node specified by the name node and begins writing the file on that data node. At the same time, the client node sends the data node the list of other data nodes that will be replicating the block. As the data is received from the client node, the data node contacts the next data node in the list and begins sending the data to this node for replication. This second data node then contacts the next data node in the list and the process continues with the data being streamed across all of the data nodes that are storing the block. Once the first block is written, the client node can get another block number and list of data nodes from the name node for the next block. When the entire file has been written, the client node informs the name node that the file is closed. The client node’s reading files will follow the same pattern of activities.</a:t>
            </a:r>
          </a:p>
          <a:p>
            <a:endParaRPr lang="en-US" dirty="0"/>
          </a:p>
          <a:p>
            <a:r>
              <a:rPr lang="en-US" dirty="0"/>
              <a:t>Periodically, each data node communicates with the name node. The data nodes send block reports and heartbeats. A block report is sent every 6 hours and informs the name node of which blocks are on that data node. Heartbeats are sent every 3 seconds and are used to let the name node know that the data node is still available, </a:t>
            </a:r>
          </a:p>
          <a:p>
            <a:endParaRPr lang="en-US" dirty="0"/>
          </a:p>
          <a:p>
            <a:r>
              <a:rPr lang="en-US" dirty="0"/>
              <a:t>Taken together, HDFS produces a powerful, yet highly specialized distributed file system that works well for the specialized processing requirements of big data applications. Next, we will consider how MapReduce provides data processing to complement data storage of HDFS.</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17</a:t>
            </a:fld>
            <a:endParaRPr lang="en-US"/>
          </a:p>
        </p:txBody>
      </p:sp>
    </p:spTree>
    <p:extLst>
      <p:ext uri="{BB962C8B-B14F-4D97-AF65-F5344CB8AC3E}">
        <p14:creationId xmlns:p14="http://schemas.microsoft.com/office/powerpoint/2010/main" val="37900746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MapReduce enables parallelization of data storage and computational problem solving via many commodity servers. The core idea of MapReduce is to divide a computing task so that multiple nodes can work on local data doing local processing at the same time. As the name suggested, there are two major steps: Map and Reduce. The map stage divided for local processing, and the reduce stage integrates the results of the individual map processes.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r>
              <a:rPr lang="en-US" sz="1200" dirty="0"/>
              <a:t>Let’s look at this example with </a:t>
            </a:r>
            <a:r>
              <a:rPr lang="en-US" sz="1200" baseline="0" dirty="0"/>
              <a:t>the form of data in key-value pairs. So, the keys in the figure are k1, k2, etc. Assume that the problem is to get an overall count of how many times the key appears in the data. For example, consider that the keys are customer IDs and the values are individual orders for each customer. So, we’re trying to figure out how many orders each customer made. Also assume that the original input data is very, very, very large. In other words, bigger than what a single relational DBMS can handle.</a:t>
            </a:r>
            <a:endParaRPr lang="en-US" sz="1200" dirty="0"/>
          </a:p>
          <a:p>
            <a:endParaRPr lang="en-US" sz="1200" dirty="0"/>
          </a:p>
          <a:p>
            <a:r>
              <a:rPr lang="en-US" sz="1200" dirty="0"/>
              <a:t>The original</a:t>
            </a:r>
            <a:r>
              <a:rPr lang="en-US" sz="1200" baseline="0" dirty="0"/>
              <a:t> input data is received at the master and then divided into subsets, each of which goes to an individual slave node. So, each slave node gets some number of sales orders. This is the map process. There may be hundreds of these nodes.</a:t>
            </a:r>
          </a:p>
          <a:p>
            <a:endParaRPr lang="en-US" sz="1200" baseline="0" dirty="0"/>
          </a:p>
          <a:p>
            <a:r>
              <a:rPr lang="en-US" sz="1200" baseline="0" dirty="0"/>
              <a:t>Each node works on its subset of the data. Its task is to find out how many orders for each customer. So for example, the node at the bottom found 3 k1 orders and 2 k5 orders. Note that multiple nodes may have found examples of the same key. For instance, k2 is found in two of the nodes.</a:t>
            </a:r>
          </a:p>
          <a:p>
            <a:endParaRPr lang="en-US" sz="1200" baseline="0" dirty="0"/>
          </a:p>
          <a:p>
            <a:r>
              <a:rPr lang="en-US" sz="1200" baseline="0" dirty="0"/>
              <a:t>The shuffle step is at the end of mapping, and merges all the map outputs and packages them for the reduce phase. At this point, we’ve collected all results and grouped them by key value.</a:t>
            </a:r>
          </a:p>
          <a:p>
            <a:endParaRPr lang="en-US" sz="1200" baseline="0" dirty="0"/>
          </a:p>
          <a:p>
            <a:r>
              <a:rPr lang="en-US" sz="1200" baseline="0" dirty="0"/>
              <a:t>The reduce stage </a:t>
            </a:r>
            <a:r>
              <a:rPr lang="en-US" sz="1200" b="0" i="0" u="none" strike="noStrike" kern="1200" cap="none" baseline="0" dirty="0">
                <a:solidFill>
                  <a:schemeClr val="tx1"/>
                </a:solidFill>
                <a:latin typeface="Times New Roman" pitchFamily="18" charset="0"/>
                <a:ea typeface="Arial"/>
                <a:cs typeface="Arial" charset="0"/>
                <a:sym typeface="Arial"/>
              </a:rPr>
              <a:t>integrates the results of each of the map</a:t>
            </a:r>
            <a:r>
              <a:rPr lang="en-US" sz="1200" b="0" i="1" u="none" strike="noStrike" kern="1200" cap="none" baseline="0" dirty="0">
                <a:solidFill>
                  <a:schemeClr val="tx1"/>
                </a:solidFill>
                <a:latin typeface="Times New Roman" pitchFamily="18" charset="0"/>
                <a:ea typeface="Arial"/>
                <a:cs typeface="Arial" charset="0"/>
                <a:sym typeface="Arial"/>
              </a:rPr>
              <a:t> </a:t>
            </a:r>
            <a:r>
              <a:rPr lang="en-US" sz="1200" b="0" i="0" u="none" strike="noStrike" kern="1200" cap="none" baseline="0" dirty="0">
                <a:solidFill>
                  <a:schemeClr val="tx1"/>
                </a:solidFill>
                <a:latin typeface="Times New Roman" pitchFamily="18" charset="0"/>
                <a:ea typeface="Arial"/>
                <a:cs typeface="Arial" charset="0"/>
                <a:sym typeface="Arial"/>
              </a:rPr>
              <a:t>processes, creating the final result</a:t>
            </a:r>
          </a:p>
          <a:p>
            <a:endParaRPr lang="en-US" sz="1200" baseline="0" dirty="0"/>
          </a:p>
          <a:p>
            <a:r>
              <a:rPr lang="en-US" sz="1200" b="0" i="0" u="none" strike="noStrike" kern="1200" cap="none" baseline="0" dirty="0">
                <a:solidFill>
                  <a:schemeClr val="tx1"/>
                </a:solidFill>
                <a:latin typeface="Times New Roman" pitchFamily="18" charset="0"/>
                <a:ea typeface="Arial"/>
                <a:cs typeface="Arial" charset="0"/>
                <a:sym typeface="Arial"/>
              </a:rPr>
              <a:t>It is up to the developer to define the mapper and the reducer so that they together get the work done. So, MapReduce programming involves writing code to do the mapping and writing code to do the reducing.</a:t>
            </a: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7B547B85-5C92-49FC-98A0-16FD07ABB6F8}" type="slidenum">
              <a:rPr lang="en-US" smtClean="0"/>
              <a:t>18</a:t>
            </a:fld>
            <a:endParaRPr lang="en-US"/>
          </a:p>
        </p:txBody>
      </p:sp>
    </p:spTree>
    <p:extLst>
      <p:ext uri="{BB962C8B-B14F-4D97-AF65-F5344CB8AC3E}">
        <p14:creationId xmlns:p14="http://schemas.microsoft.com/office/powerpoint/2010/main" val="26083242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Hadoop ecosystem consists of more big data analytics projects beyond the HDFS and MapReduce. </a:t>
            </a:r>
          </a:p>
          <a:p>
            <a:endParaRPr lang="en-US" dirty="0"/>
          </a:p>
          <a:p>
            <a:r>
              <a:rPr lang="en-US" dirty="0"/>
              <a:t>HDFS </a:t>
            </a:r>
            <a:r>
              <a:rPr lang="en-US" sz="1200" kern="1200" dirty="0">
                <a:solidFill>
                  <a:schemeClr val="tx1"/>
                </a:solidFill>
                <a:effectLst/>
                <a:latin typeface="+mn-lt"/>
                <a:ea typeface="+mn-ea"/>
                <a:cs typeface="+mn-cs"/>
              </a:rPr>
              <a:t>stores large files on a cluster of commodity hardware. Similarly for storage purpose, there are various NoSQL databases are developed to store unstructured data, including columnar, key-value, document, and graph databases such as HBase, Cassandra, and MongoDB.</a:t>
            </a:r>
          </a:p>
          <a:p>
            <a:endParaRPr lang="en-US" sz="1200" kern="1200" dirty="0">
              <a:solidFill>
                <a:schemeClr val="tx1"/>
              </a:solidFill>
              <a:effectLst/>
              <a:latin typeface="+mn-lt"/>
              <a:ea typeface="+mn-ea"/>
              <a:cs typeface="+mn-cs"/>
            </a:endParaRPr>
          </a:p>
          <a:p>
            <a:r>
              <a:rPr lang="en-US" dirty="0"/>
              <a:t>On top of data storage, Hadoop provides MapReduce and YARN for data processing; MapReduce is the software programming model for processing data stored in HDFS. YARN provides resource management, and allows multiple data processing engines, for example real-time streaming, data science, and batch processing.</a:t>
            </a:r>
          </a:p>
          <a:p>
            <a:endParaRPr lang="en-US" dirty="0"/>
          </a:p>
          <a:p>
            <a:r>
              <a:rPr lang="en-US" dirty="0"/>
              <a:t>After the big data is processed, we can analyze and query the processed data, implementing structured queries and analytics algorithms. Some projects belonging to this layer include: Hive, A data warehouse infrastructure that provides data summarization and ad hoc querying; Pig, A high-level data-flow language and execution framework for parallel computation; Mahout, A Scalable machine learning and data mining library; Avro, data serialization system. </a:t>
            </a:r>
            <a:r>
              <a:rPr lang="en-US" dirty="0" err="1"/>
              <a:t>Solr</a:t>
            </a:r>
            <a:r>
              <a:rPr lang="en-US" dirty="0"/>
              <a:t>: </a:t>
            </a:r>
            <a:r>
              <a:rPr lang="en-US" dirty="0" err="1"/>
              <a:t>Solr</a:t>
            </a:r>
            <a:r>
              <a:rPr lang="en-US" dirty="0"/>
              <a:t> is highly reliable, scalable and fault tolerant, providing distributed indexing, replication and load-balanced querying, automated failover and recovery, centralized configuration and more. </a:t>
            </a:r>
            <a:r>
              <a:rPr lang="en-US" dirty="0" err="1"/>
              <a:t>Solr</a:t>
            </a:r>
            <a:r>
              <a:rPr lang="en-US" dirty="0"/>
              <a:t> powers the search and navigation features of many of the world's largest internet sites.</a:t>
            </a:r>
          </a:p>
          <a:p>
            <a:endParaRPr lang="en-US" dirty="0"/>
          </a:p>
          <a:p>
            <a:r>
              <a:rPr lang="en-US" dirty="0"/>
              <a:t>At the data management layer is where we manage the analytics process and Hadoop clusters. For example, </a:t>
            </a:r>
            <a:r>
              <a:rPr lang="en-US" dirty="0" err="1"/>
              <a:t>ZooKepper</a:t>
            </a:r>
            <a:r>
              <a:rPr lang="en-US" dirty="0"/>
              <a:t> offers coordination services for distributed applications such as maintaining configuration information, naming, providing distributed synchronization, and providing group services. Ambari makes Hadoop management simpler by developing software for provisioning, managing, deploying, and monitoring Hadoop clusters. Oozie is a workflow scheduler </a:t>
            </a:r>
            <a:r>
              <a:rPr lang="en-US" sz="1200" kern="1200" dirty="0">
                <a:solidFill>
                  <a:schemeClr val="tx1"/>
                </a:solidFill>
                <a:effectLst/>
                <a:latin typeface="+mn-lt"/>
                <a:ea typeface="+mn-ea"/>
                <a:cs typeface="+mn-cs"/>
              </a:rPr>
              <a:t>system to manage Hadoop jobs.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Since organizations often have their data from different sources in multiple formats such as ERP systems, relational databases, and other external sources. Hadoop has a data governance layer focusing on data integration, meta-data exchange, data formats, data streaming, and data injection, etc.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Hadoop also cares about </a:t>
            </a:r>
            <a:r>
              <a:rPr lang="en-US" sz="1200" kern="1200">
                <a:solidFill>
                  <a:schemeClr val="tx1"/>
                </a:solidFill>
                <a:effectLst/>
                <a:latin typeface="+mn-lt"/>
                <a:ea typeface="+mn-ea"/>
                <a:cs typeface="+mn-cs"/>
              </a:rPr>
              <a:t>data security. </a:t>
            </a:r>
            <a:r>
              <a:rPr lang="en-US" sz="1200" kern="1200" dirty="0">
                <a:solidFill>
                  <a:schemeClr val="tx1"/>
                </a:solidFill>
                <a:effectLst/>
                <a:latin typeface="+mn-lt"/>
                <a:ea typeface="+mn-ea"/>
                <a:cs typeface="+mn-cs"/>
              </a:rPr>
              <a:t>This layer focuses on the security of Hadoop-related workflows. It enhances the security of data and information.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There are also some vendors offering hardware appliances and cloud platforms for Hadoop-related projects such as HP, Dell, and AWS.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Since Hadoop is an open source platform, there are open resources aiming at supporting developers’ product development, which we label as development tool layer.</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7B547B85-5C92-49FC-98A0-16FD07ABB6F8}" type="slidenum">
              <a:rPr lang="en-US" smtClean="0"/>
              <a:t>19</a:t>
            </a:fld>
            <a:endParaRPr lang="en-US"/>
          </a:p>
        </p:txBody>
      </p:sp>
    </p:spTree>
    <p:extLst>
      <p:ext uri="{BB962C8B-B14F-4D97-AF65-F5344CB8AC3E}">
        <p14:creationId xmlns:p14="http://schemas.microsoft.com/office/powerpoint/2010/main" val="21373673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layered architecture of the Hadoop platform provides entrepreneurial opportunities. Firms focusing on producing Hadoop-related products/service can have unique strategies of developing their business models. Firms like Cloudera and Hortonworks provide software solutions while HP offers hardware appliances, and Google Cloud Platform and Amazon Web Services develop cloud platforms. Firms such as DataStax may focus on a single layer of Hadoop architecture; meanwhile, Hortonworks, Cloudera, and </a:t>
            </a:r>
            <a:r>
              <a:rPr lang="en-US" sz="1200" kern="1200" dirty="0" err="1">
                <a:solidFill>
                  <a:schemeClr val="tx1"/>
                </a:solidFill>
                <a:effectLst/>
                <a:latin typeface="+mn-lt"/>
                <a:ea typeface="+mn-ea"/>
                <a:cs typeface="+mn-cs"/>
              </a:rPr>
              <a:t>MapR</a:t>
            </a:r>
            <a:r>
              <a:rPr lang="en-US" sz="1200" kern="1200" dirty="0">
                <a:solidFill>
                  <a:schemeClr val="tx1"/>
                </a:solidFill>
                <a:effectLst/>
                <a:latin typeface="+mn-lt"/>
                <a:ea typeface="+mn-ea"/>
                <a:cs typeface="+mn-cs"/>
              </a:rPr>
              <a:t> Technologies work with multiple layers. </a:t>
            </a:r>
          </a:p>
          <a:p>
            <a:endParaRPr lang="en-US" sz="1200" kern="1200" dirty="0">
              <a:solidFill>
                <a:schemeClr val="tx1"/>
              </a:solidFill>
              <a:effectLst/>
              <a:latin typeface="+mn-lt"/>
              <a:ea typeface="+mn-ea"/>
              <a:cs typeface="+mn-cs"/>
            </a:endParaRPr>
          </a:p>
          <a:p>
            <a:r>
              <a:rPr lang="en-US" dirty="0"/>
              <a:t>As a consequence, companies who don’t have sufficient big data analytics capabilities can buy from these commercial vendors. Well, companies with stronger R&amp;D or technical capacities can take advantage of the open source Hadoop framework to customize their own internal solutions. </a:t>
            </a:r>
          </a:p>
        </p:txBody>
      </p:sp>
      <p:sp>
        <p:nvSpPr>
          <p:cNvPr id="4" name="Slide Number Placeholder 3"/>
          <p:cNvSpPr>
            <a:spLocks noGrp="1"/>
          </p:cNvSpPr>
          <p:nvPr>
            <p:ph type="sldNum" sz="quarter" idx="5"/>
          </p:nvPr>
        </p:nvSpPr>
        <p:spPr/>
        <p:txBody>
          <a:bodyPr/>
          <a:lstStyle/>
          <a:p>
            <a:fld id="{7B547B85-5C92-49FC-98A0-16FD07ABB6F8}" type="slidenum">
              <a:rPr lang="en-US" smtClean="0"/>
              <a:t>20</a:t>
            </a:fld>
            <a:endParaRPr lang="en-US"/>
          </a:p>
        </p:txBody>
      </p:sp>
    </p:spTree>
    <p:extLst>
      <p:ext uri="{BB962C8B-B14F-4D97-AF65-F5344CB8AC3E}">
        <p14:creationId xmlns:p14="http://schemas.microsoft.com/office/powerpoint/2010/main" val="182419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11/1/2021</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a:p>
        </p:txBody>
      </p:sp>
    </p:spTree>
    <p:extLst>
      <p:ext uri="{BB962C8B-B14F-4D97-AF65-F5344CB8AC3E}">
        <p14:creationId xmlns:p14="http://schemas.microsoft.com/office/powerpoint/2010/main" val="3463434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11/1/2021</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a:p>
        </p:txBody>
      </p:sp>
    </p:spTree>
    <p:extLst>
      <p:ext uri="{BB962C8B-B14F-4D97-AF65-F5344CB8AC3E}">
        <p14:creationId xmlns:p14="http://schemas.microsoft.com/office/powerpoint/2010/main" val="2493032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11/1/2021</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a:p>
        </p:txBody>
      </p:sp>
    </p:spTree>
    <p:extLst>
      <p:ext uri="{BB962C8B-B14F-4D97-AF65-F5344CB8AC3E}">
        <p14:creationId xmlns:p14="http://schemas.microsoft.com/office/powerpoint/2010/main" val="3415353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11/1/2021</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a:p>
        </p:txBody>
      </p:sp>
    </p:spTree>
    <p:extLst>
      <p:ext uri="{BB962C8B-B14F-4D97-AF65-F5344CB8AC3E}">
        <p14:creationId xmlns:p14="http://schemas.microsoft.com/office/powerpoint/2010/main" val="830493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11/1/2021</a:t>
            </a:fld>
            <a:endParaRPr lang="en-US"/>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a:p>
        </p:txBody>
      </p:sp>
    </p:spTree>
    <p:extLst>
      <p:ext uri="{BB962C8B-B14F-4D97-AF65-F5344CB8AC3E}">
        <p14:creationId xmlns:p14="http://schemas.microsoft.com/office/powerpoint/2010/main" val="185088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11/1/2021</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a:p>
        </p:txBody>
      </p:sp>
    </p:spTree>
    <p:extLst>
      <p:ext uri="{BB962C8B-B14F-4D97-AF65-F5344CB8AC3E}">
        <p14:creationId xmlns:p14="http://schemas.microsoft.com/office/powerpoint/2010/main" val="3562739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11/1/2021</a:t>
            </a:fld>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a:p>
        </p:txBody>
      </p:sp>
    </p:spTree>
    <p:extLst>
      <p:ext uri="{BB962C8B-B14F-4D97-AF65-F5344CB8AC3E}">
        <p14:creationId xmlns:p14="http://schemas.microsoft.com/office/powerpoint/2010/main" val="1829627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11/1/2021</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a:p>
        </p:txBody>
      </p:sp>
    </p:spTree>
    <p:extLst>
      <p:ext uri="{BB962C8B-B14F-4D97-AF65-F5344CB8AC3E}">
        <p14:creationId xmlns:p14="http://schemas.microsoft.com/office/powerpoint/2010/main" val="554588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11/1/2021</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a:p>
        </p:txBody>
      </p:sp>
    </p:spTree>
    <p:extLst>
      <p:ext uri="{BB962C8B-B14F-4D97-AF65-F5344CB8AC3E}">
        <p14:creationId xmlns:p14="http://schemas.microsoft.com/office/powerpoint/2010/main" val="1531925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11/1/2021</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a:p>
        </p:txBody>
      </p:sp>
    </p:spTree>
    <p:extLst>
      <p:ext uri="{BB962C8B-B14F-4D97-AF65-F5344CB8AC3E}">
        <p14:creationId xmlns:p14="http://schemas.microsoft.com/office/powerpoint/2010/main" val="3981457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11/1/2021</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a:p>
        </p:txBody>
      </p:sp>
    </p:spTree>
    <p:extLst>
      <p:ext uri="{BB962C8B-B14F-4D97-AF65-F5344CB8AC3E}">
        <p14:creationId xmlns:p14="http://schemas.microsoft.com/office/powerpoint/2010/main" val="2327240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9290" y="276841"/>
            <a:ext cx="6879252" cy="58157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49289" y="1166018"/>
            <a:ext cx="8770776" cy="555545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39FB7B91-891E-4F4F-AEDD-728B3681EBB8}"/>
              </a:ext>
            </a:extLst>
          </p:cNvPr>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7028542" y="50192"/>
            <a:ext cx="2049470" cy="808224"/>
          </a:xfrm>
          <a:prstGeom prst="rect">
            <a:avLst/>
          </a:prstGeom>
          <a:noFill/>
          <a:ln>
            <a:noFill/>
          </a:ln>
        </p:spPr>
      </p:pic>
    </p:spTree>
    <p:extLst>
      <p:ext uri="{BB962C8B-B14F-4D97-AF65-F5344CB8AC3E}">
        <p14:creationId xmlns:p14="http://schemas.microsoft.com/office/powerpoint/2010/main" val="12309350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200" b="1" kern="1200">
          <a:solidFill>
            <a:schemeClr val="tx1"/>
          </a:solidFill>
          <a:latin typeface="Arial Nova" panose="020B0504020202020204" pitchFamily="34" charset="0"/>
          <a:ea typeface="+mj-ea"/>
          <a:cs typeface="+mj-cs"/>
        </a:defRPr>
      </a:lvl1pPr>
    </p:titleStyle>
    <p:bodyStyle>
      <a:lvl1pPr marL="342900" indent="-342900" algn="l" defTabSz="457200" rtl="0" eaLnBrk="1" latinLnBrk="0" hangingPunct="1">
        <a:spcBef>
          <a:spcPct val="20000"/>
        </a:spcBef>
        <a:buFont typeface="Arial"/>
        <a:buChar char="•"/>
        <a:defRPr sz="28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microsoft.com/office/2007/relationships/hdphoto" Target="../media/hdphoto2.wdp"/></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microsoft.com/office/2007/relationships/hdphoto" Target="../media/hdphoto3.wdp"/></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microsoft.com/office/2007/relationships/hdphoto" Target="../media/hdphoto4.wdp"/></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microsoft.com/office/2007/relationships/hdphoto" Target="../media/hdphoto5.wdp"/><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hyperlink" Target="https://research.google.com/archive/mapreduce-osdi04-slides/index-auto-0007.html" TargetMode="External"/><Relationship Id="rId4" Type="http://schemas.microsoft.com/office/2007/relationships/hdphoto" Target="../media/hdphoto6.wdp"/></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0" y="0"/>
            <a:ext cx="9169400" cy="6862836"/>
            <a:chOff x="0" y="0"/>
            <a:chExt cx="9169400" cy="6862836"/>
          </a:xfrm>
        </p:grpSpPr>
        <p:grpSp>
          <p:nvGrpSpPr>
            <p:cNvPr id="2" name="Group 1"/>
            <p:cNvGrpSpPr/>
            <p:nvPr/>
          </p:nvGrpSpPr>
          <p:grpSpPr>
            <a:xfrm>
              <a:off x="0" y="0"/>
              <a:ext cx="9169400" cy="6862836"/>
              <a:chOff x="0" y="0"/>
              <a:chExt cx="9169400" cy="6862836"/>
            </a:xfrm>
          </p:grpSpPr>
          <p:sp>
            <p:nvSpPr>
              <p:cNvPr id="12" name="Rectangle 11"/>
              <p:cNvSpPr/>
              <p:nvPr/>
            </p:nvSpPr>
            <p:spPr>
              <a:xfrm>
                <a:off x="0" y="0"/>
                <a:ext cx="9144000" cy="6862836"/>
              </a:xfrm>
              <a:prstGeom prst="rect">
                <a:avLst/>
              </a:prstGeom>
              <a:solidFill>
                <a:srgbClr val="EA6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5" name="Straight Connector 4"/>
              <p:cNvCxnSpPr/>
              <p:nvPr/>
            </p:nvCxnSpPr>
            <p:spPr>
              <a:xfrm>
                <a:off x="25400" y="6106282"/>
                <a:ext cx="9144000" cy="0"/>
              </a:xfrm>
              <a:prstGeom prst="line">
                <a:avLst/>
              </a:prstGeom>
              <a:ln cap="rnd">
                <a:noFill/>
                <a:prstDash val="dot"/>
              </a:ln>
            </p:spPr>
            <p:style>
              <a:lnRef idx="2">
                <a:schemeClr val="accent1"/>
              </a:lnRef>
              <a:fillRef idx="0">
                <a:schemeClr val="accent1"/>
              </a:fillRef>
              <a:effectRef idx="1">
                <a:schemeClr val="accent1"/>
              </a:effectRef>
              <a:fontRef idx="minor">
                <a:schemeClr val="tx1"/>
              </a:fontRef>
            </p:style>
          </p:cxnSp>
          <p:cxnSp>
            <p:nvCxnSpPr>
              <p:cNvPr id="6" name="Straight Connector 5"/>
              <p:cNvCxnSpPr/>
              <p:nvPr/>
            </p:nvCxnSpPr>
            <p:spPr>
              <a:xfrm>
                <a:off x="25400" y="5854699"/>
                <a:ext cx="9144000" cy="0"/>
              </a:xfrm>
              <a:prstGeom prst="line">
                <a:avLst/>
              </a:prstGeom>
              <a:ln cap="rnd">
                <a:noFill/>
                <a:prstDash val="dot"/>
              </a:ln>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25401" y="5979282"/>
                <a:ext cx="9143999" cy="0"/>
              </a:xfrm>
              <a:prstGeom prst="line">
                <a:avLst/>
              </a:prstGeom>
              <a:ln cap="rnd">
                <a:noFill/>
                <a:prstDash val="dot"/>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25400" y="6489700"/>
                <a:ext cx="9144000" cy="0"/>
              </a:xfrm>
              <a:prstGeom prst="line">
                <a:avLst/>
              </a:prstGeom>
              <a:ln cap="rnd">
                <a:noFill/>
                <a:prstDash val="dot"/>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25400" y="6362700"/>
                <a:ext cx="9144000" cy="0"/>
              </a:xfrm>
              <a:prstGeom prst="line">
                <a:avLst/>
              </a:prstGeom>
              <a:ln cap="rnd">
                <a:noFill/>
                <a:prstDash val="dot"/>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25400" y="6238118"/>
                <a:ext cx="9144000" cy="0"/>
              </a:xfrm>
              <a:prstGeom prst="line">
                <a:avLst/>
              </a:prstGeom>
              <a:ln cap="rnd">
                <a:noFill/>
                <a:prstDash val="dot"/>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50976" y="684143"/>
                <a:ext cx="2565400" cy="5842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bg1"/>
                  </a:solidFill>
                </a:endParaRPr>
              </a:p>
            </p:txBody>
          </p:sp>
          <p:pic>
            <p:nvPicPr>
              <p:cNvPr id="56" name="Picture 55" descr="Untitled2.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976" y="176800"/>
                <a:ext cx="3194304" cy="560832"/>
              </a:xfrm>
              <a:prstGeom prst="rect">
                <a:avLst/>
              </a:prstGeom>
              <a:ln>
                <a:noFill/>
              </a:ln>
            </p:spPr>
          </p:pic>
          <p:pic>
            <p:nvPicPr>
              <p:cNvPr id="57" name="Picture 56" descr="Untitled.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0976" y="587115"/>
                <a:ext cx="2645664" cy="719328"/>
              </a:xfrm>
              <a:prstGeom prst="rect">
                <a:avLst/>
              </a:prstGeom>
              <a:ln>
                <a:noFill/>
              </a:ln>
            </p:spPr>
          </p:pic>
        </p:grpSp>
        <p:cxnSp>
          <p:nvCxnSpPr>
            <p:cNvPr id="16" name="Straight Connector 15"/>
            <p:cNvCxnSpPr/>
            <p:nvPr/>
          </p:nvCxnSpPr>
          <p:spPr>
            <a:xfrm>
              <a:off x="25400" y="6106282"/>
              <a:ext cx="9144000" cy="0"/>
            </a:xfrm>
            <a:prstGeom prst="line">
              <a:avLst/>
            </a:prstGeom>
            <a:ln w="25400" cap="rnd">
              <a:solidFill>
                <a:schemeClr val="bg1"/>
              </a:solidFill>
              <a:prstDash val="dot"/>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25400" y="5854699"/>
              <a:ext cx="9144000" cy="0"/>
            </a:xfrm>
            <a:prstGeom prst="line">
              <a:avLst/>
            </a:prstGeom>
            <a:ln w="25400" cap="rnd">
              <a:solidFill>
                <a:schemeClr val="bg1"/>
              </a:solidFill>
              <a:prstDash val="dot"/>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25401" y="5979282"/>
              <a:ext cx="9143999" cy="0"/>
            </a:xfrm>
            <a:prstGeom prst="line">
              <a:avLst/>
            </a:prstGeom>
            <a:ln w="25400" cap="rnd">
              <a:solidFill>
                <a:schemeClr val="bg1"/>
              </a:solidFill>
              <a:prstDash val="dot"/>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25400" y="6489700"/>
              <a:ext cx="9144000" cy="0"/>
            </a:xfrm>
            <a:prstGeom prst="line">
              <a:avLst/>
            </a:prstGeom>
            <a:ln w="25400" cap="rnd">
              <a:solidFill>
                <a:schemeClr val="bg1"/>
              </a:solidFill>
              <a:prstDash val="dot"/>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25400" y="6362700"/>
              <a:ext cx="9144000" cy="0"/>
            </a:xfrm>
            <a:prstGeom prst="line">
              <a:avLst/>
            </a:prstGeom>
            <a:ln w="25400" cap="rnd">
              <a:solidFill>
                <a:schemeClr val="bg1"/>
              </a:solidFill>
              <a:prstDash val="dot"/>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25400" y="6238118"/>
              <a:ext cx="9144000" cy="0"/>
            </a:xfrm>
            <a:prstGeom prst="line">
              <a:avLst/>
            </a:prstGeom>
            <a:ln w="25400" cap="rnd">
              <a:solidFill>
                <a:schemeClr val="bg1"/>
              </a:solidFill>
              <a:prstDash val="dot"/>
            </a:ln>
          </p:spPr>
          <p:style>
            <a:lnRef idx="2">
              <a:schemeClr val="accent1"/>
            </a:lnRef>
            <a:fillRef idx="0">
              <a:schemeClr val="accent1"/>
            </a:fillRef>
            <a:effectRef idx="1">
              <a:schemeClr val="accent1"/>
            </a:effectRef>
            <a:fontRef idx="minor">
              <a:schemeClr val="tx1"/>
            </a:fontRef>
          </p:style>
        </p:cxnSp>
      </p:grpSp>
      <p:sp>
        <p:nvSpPr>
          <p:cNvPr id="3" name="Title 2"/>
          <p:cNvSpPr>
            <a:spLocks noGrp="1"/>
          </p:cNvSpPr>
          <p:nvPr>
            <p:ph type="ctrTitle"/>
          </p:nvPr>
        </p:nvSpPr>
        <p:spPr>
          <a:xfrm>
            <a:off x="0" y="1939925"/>
            <a:ext cx="9143999" cy="1470025"/>
          </a:xfrm>
        </p:spPr>
        <p:txBody>
          <a:bodyPr>
            <a:normAutofit/>
          </a:bodyPr>
          <a:lstStyle/>
          <a:p>
            <a:pPr algn="ctr"/>
            <a:r>
              <a:rPr lang="en-US" altLang="zh-CN" sz="3600" b="1" dirty="0">
                <a:solidFill>
                  <a:srgbClr val="FFFFFF"/>
                </a:solidFill>
                <a:latin typeface="Goudy Old Style"/>
                <a:cs typeface="Goudy Old Style"/>
              </a:rPr>
              <a:t>Chapter 7</a:t>
            </a:r>
            <a:br>
              <a:rPr lang="en-US" altLang="zh-CN" sz="4000" b="1" dirty="0">
                <a:solidFill>
                  <a:srgbClr val="FFFFFF"/>
                </a:solidFill>
                <a:latin typeface="Goudy Old Style"/>
                <a:cs typeface="Goudy Old Style"/>
              </a:rPr>
            </a:br>
            <a:r>
              <a:rPr lang="en-US" altLang="zh-CN" sz="4400" b="1" dirty="0">
                <a:solidFill>
                  <a:srgbClr val="FFFFFF"/>
                </a:solidFill>
                <a:latin typeface="Goudy Old Style"/>
                <a:cs typeface="Goudy Old Style"/>
              </a:rPr>
              <a:t>Big Data</a:t>
            </a:r>
            <a:endParaRPr lang="en-US" sz="4000" b="1" dirty="0">
              <a:solidFill>
                <a:srgbClr val="FFFFFF"/>
              </a:solidFill>
              <a:latin typeface="Goudy Old Style"/>
              <a:cs typeface="Goudy Old Style"/>
            </a:endParaRPr>
          </a:p>
        </p:txBody>
      </p:sp>
      <p:sp>
        <p:nvSpPr>
          <p:cNvPr id="4" name="Subtitle 3"/>
          <p:cNvSpPr>
            <a:spLocks noGrp="1"/>
          </p:cNvSpPr>
          <p:nvPr>
            <p:ph type="subTitle" idx="1"/>
          </p:nvPr>
        </p:nvSpPr>
        <p:spPr>
          <a:xfrm>
            <a:off x="0" y="4343402"/>
            <a:ext cx="9143999" cy="1386710"/>
          </a:xfrm>
        </p:spPr>
        <p:txBody>
          <a:bodyPr>
            <a:normAutofit/>
          </a:bodyPr>
          <a:lstStyle/>
          <a:p>
            <a:r>
              <a:rPr lang="en-US" sz="2800" dirty="0">
                <a:solidFill>
                  <a:srgbClr val="FFFFFF"/>
                </a:solidFill>
                <a:latin typeface="Goudy Old Style"/>
                <a:cs typeface="Goudy Old Style"/>
              </a:rPr>
              <a:t>Instructor: He Li</a:t>
            </a:r>
          </a:p>
        </p:txBody>
      </p:sp>
    </p:spTree>
    <p:extLst>
      <p:ext uri="{BB962C8B-B14F-4D97-AF65-F5344CB8AC3E}">
        <p14:creationId xmlns:p14="http://schemas.microsoft.com/office/powerpoint/2010/main" val="3992025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715BA-4B35-4549-A3BB-F171AE83A7AE}"/>
              </a:ext>
            </a:extLst>
          </p:cNvPr>
          <p:cNvSpPr>
            <a:spLocks noGrp="1"/>
          </p:cNvSpPr>
          <p:nvPr>
            <p:ph type="title"/>
          </p:nvPr>
        </p:nvSpPr>
        <p:spPr>
          <a:xfrm>
            <a:off x="149290" y="225895"/>
            <a:ext cx="6879252" cy="581575"/>
          </a:xfrm>
        </p:spPr>
        <p:txBody>
          <a:bodyPr/>
          <a:lstStyle/>
          <a:p>
            <a:r>
              <a:rPr lang="en-US" dirty="0"/>
              <a:t>Big Data</a:t>
            </a:r>
          </a:p>
        </p:txBody>
      </p:sp>
      <p:sp>
        <p:nvSpPr>
          <p:cNvPr id="3" name="Content Placeholder 2">
            <a:extLst>
              <a:ext uri="{FF2B5EF4-FFF2-40B4-BE49-F238E27FC236}">
                <a16:creationId xmlns:a16="http://schemas.microsoft.com/office/drawing/2014/main" id="{60D3D714-C8FC-498E-87CF-183B55D21090}"/>
              </a:ext>
            </a:extLst>
          </p:cNvPr>
          <p:cNvSpPr>
            <a:spLocks noGrp="1"/>
          </p:cNvSpPr>
          <p:nvPr>
            <p:ph idx="1"/>
          </p:nvPr>
        </p:nvSpPr>
        <p:spPr>
          <a:xfrm>
            <a:off x="253574" y="988291"/>
            <a:ext cx="8859946" cy="1320146"/>
          </a:xfrm>
        </p:spPr>
        <p:txBody>
          <a:bodyPr>
            <a:normAutofit/>
          </a:bodyPr>
          <a:lstStyle/>
          <a:p>
            <a:pPr marL="0" indent="0">
              <a:buNone/>
            </a:pPr>
            <a:r>
              <a:rPr lang="en-US" sz="2000" b="1" dirty="0"/>
              <a:t>Definition: </a:t>
            </a:r>
            <a:r>
              <a:rPr lang="en-US" altLang="en-US" sz="2000" dirty="0"/>
              <a:t>Data that exist in very large volumes and many different varieties (data types) that need to be processed at a very high velocity (speed).</a:t>
            </a:r>
          </a:p>
          <a:p>
            <a:endParaRPr lang="en-US" sz="2400" dirty="0"/>
          </a:p>
        </p:txBody>
      </p:sp>
      <p:graphicFrame>
        <p:nvGraphicFramePr>
          <p:cNvPr id="10" name="Diagram 9">
            <a:extLst>
              <a:ext uri="{FF2B5EF4-FFF2-40B4-BE49-F238E27FC236}">
                <a16:creationId xmlns:a16="http://schemas.microsoft.com/office/drawing/2014/main" id="{165AC15A-2CE7-41CD-8B7E-2CB94A949152}"/>
              </a:ext>
            </a:extLst>
          </p:cNvPr>
          <p:cNvGraphicFramePr/>
          <p:nvPr>
            <p:extLst>
              <p:ext uri="{D42A27DB-BD31-4B8C-83A1-F6EECF244321}">
                <p14:modId xmlns:p14="http://schemas.microsoft.com/office/powerpoint/2010/main" val="2415426839"/>
              </p:ext>
            </p:extLst>
          </p:nvPr>
        </p:nvGraphicFramePr>
        <p:xfrm>
          <a:off x="-97652" y="1796672"/>
          <a:ext cx="8636852" cy="35988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76924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Image result for big data scaling up vs scaling out">
            <a:extLst>
              <a:ext uri="{FF2B5EF4-FFF2-40B4-BE49-F238E27FC236}">
                <a16:creationId xmlns:a16="http://schemas.microsoft.com/office/drawing/2014/main" id="{6A890A7E-3525-4D16-84CE-EA5D41E6F9D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023" b="39071"/>
          <a:stretch/>
        </p:blipFill>
        <p:spPr bwMode="auto">
          <a:xfrm>
            <a:off x="2192138" y="1026990"/>
            <a:ext cx="6851342" cy="233878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A40E1D4-9C43-41DA-9510-15D088B5658A}"/>
              </a:ext>
            </a:extLst>
          </p:cNvPr>
          <p:cNvSpPr>
            <a:spLocks noGrp="1"/>
          </p:cNvSpPr>
          <p:nvPr>
            <p:ph type="title"/>
          </p:nvPr>
        </p:nvSpPr>
        <p:spPr>
          <a:xfrm>
            <a:off x="82678" y="119138"/>
            <a:ext cx="6879252" cy="581575"/>
          </a:xfrm>
        </p:spPr>
        <p:txBody>
          <a:bodyPr>
            <a:noAutofit/>
          </a:bodyPr>
          <a:lstStyle/>
          <a:p>
            <a:r>
              <a:rPr lang="en-US" altLang="en-US" sz="2400" dirty="0"/>
              <a:t>Big Data – Volume </a:t>
            </a:r>
            <a:r>
              <a:rPr lang="en-US" altLang="en-US" sz="2000" b="0" dirty="0"/>
              <a:t>(extremely large storage capacities)</a:t>
            </a:r>
            <a:endParaRPr lang="en-US" sz="2800" b="0" dirty="0"/>
          </a:p>
        </p:txBody>
      </p:sp>
      <p:pic>
        <p:nvPicPr>
          <p:cNvPr id="1026" name="Picture 2" descr="Image result for big data scaling up vs scaling out">
            <a:extLst>
              <a:ext uri="{FF2B5EF4-FFF2-40B4-BE49-F238E27FC236}">
                <a16:creationId xmlns:a16="http://schemas.microsoft.com/office/drawing/2014/main" id="{932EF990-0F68-4F0F-AF2A-5C70B5AD056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100" t="64984"/>
          <a:stretch/>
        </p:blipFill>
        <p:spPr bwMode="auto">
          <a:xfrm>
            <a:off x="1772157" y="4348052"/>
            <a:ext cx="6924011" cy="1344115"/>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BB25F313-FBC7-497A-A54C-D5EF51EE7A1A}"/>
              </a:ext>
            </a:extLst>
          </p:cNvPr>
          <p:cNvSpPr txBox="1">
            <a:spLocks/>
          </p:cNvSpPr>
          <p:nvPr/>
        </p:nvSpPr>
        <p:spPr>
          <a:xfrm>
            <a:off x="248280" y="1079883"/>
            <a:ext cx="5147285" cy="833695"/>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ct val="20000"/>
              </a:spcBef>
              <a:buFont typeface="Arial"/>
              <a:buChar char="•"/>
              <a:defRPr sz="28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1" indent="0">
              <a:buNone/>
            </a:pPr>
            <a:r>
              <a:rPr lang="en-US" sz="2000" b="1" dirty="0"/>
              <a:t>Scaling up: </a:t>
            </a:r>
            <a:r>
              <a:rPr lang="en-US" sz="2000" dirty="0"/>
              <a:t>keeping the same number of systems but migrating each one to a larger system</a:t>
            </a:r>
          </a:p>
          <a:p>
            <a:endParaRPr lang="en-US" dirty="0"/>
          </a:p>
        </p:txBody>
      </p:sp>
      <p:sp>
        <p:nvSpPr>
          <p:cNvPr id="6" name="Content Placeholder 2">
            <a:extLst>
              <a:ext uri="{FF2B5EF4-FFF2-40B4-BE49-F238E27FC236}">
                <a16:creationId xmlns:a16="http://schemas.microsoft.com/office/drawing/2014/main" id="{9A3D29DC-B379-4E18-9CB0-A70A7E0E2B2E}"/>
              </a:ext>
            </a:extLst>
          </p:cNvPr>
          <p:cNvSpPr txBox="1">
            <a:spLocks/>
          </p:cNvSpPr>
          <p:nvPr/>
        </p:nvSpPr>
        <p:spPr>
          <a:xfrm>
            <a:off x="248280" y="3767130"/>
            <a:ext cx="5038285" cy="814885"/>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ct val="20000"/>
              </a:spcBef>
              <a:buFont typeface="Arial"/>
              <a:buChar char="•"/>
              <a:defRPr sz="28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1" indent="0">
              <a:buNone/>
            </a:pPr>
            <a:r>
              <a:rPr lang="en-US" sz="2000" b="1" dirty="0"/>
              <a:t>Scaling out: </a:t>
            </a:r>
            <a:r>
              <a:rPr lang="en-US" sz="2000" dirty="0"/>
              <a:t>when the workload exceeds server capacity, it is spread out across many servers</a:t>
            </a:r>
          </a:p>
          <a:p>
            <a:endParaRPr lang="en-US" dirty="0"/>
          </a:p>
        </p:txBody>
      </p:sp>
    </p:spTree>
    <p:extLst>
      <p:ext uri="{BB962C8B-B14F-4D97-AF65-F5344CB8AC3E}">
        <p14:creationId xmlns:p14="http://schemas.microsoft.com/office/powerpoint/2010/main" val="675475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F491E-8540-409C-9E16-B8C3D9DDCCDC}"/>
              </a:ext>
            </a:extLst>
          </p:cNvPr>
          <p:cNvSpPr>
            <a:spLocks noGrp="1"/>
          </p:cNvSpPr>
          <p:nvPr>
            <p:ph type="title"/>
          </p:nvPr>
        </p:nvSpPr>
        <p:spPr>
          <a:xfrm>
            <a:off x="94789" y="97340"/>
            <a:ext cx="6879252" cy="754953"/>
          </a:xfrm>
        </p:spPr>
        <p:txBody>
          <a:bodyPr>
            <a:normAutofit fontScale="90000"/>
          </a:bodyPr>
          <a:lstStyle/>
          <a:p>
            <a:r>
              <a:rPr lang="en-US" altLang="en-US" sz="2700" dirty="0"/>
              <a:t>Big Data – Velocity </a:t>
            </a:r>
            <a:r>
              <a:rPr lang="en-US" altLang="en-US" sz="2200" b="0" dirty="0"/>
              <a:t>(speed at which data is entered into system and must be processed)</a:t>
            </a:r>
            <a:endParaRPr lang="en-US" sz="2400" b="0" dirty="0"/>
          </a:p>
        </p:txBody>
      </p:sp>
      <p:pic>
        <p:nvPicPr>
          <p:cNvPr id="5" name="Picture 4">
            <a:extLst>
              <a:ext uri="{FF2B5EF4-FFF2-40B4-BE49-F238E27FC236}">
                <a16:creationId xmlns:a16="http://schemas.microsoft.com/office/drawing/2014/main" id="{E6F53BDB-4E1F-4175-AAE9-53EB62375CEB}"/>
              </a:ext>
            </a:extLst>
          </p:cNvPr>
          <p:cNvPicPr>
            <a:picLocks noChangeAspect="1"/>
          </p:cNvPicPr>
          <p:nvPr/>
        </p:nvPicPr>
        <p:blipFill rotWithShape="1">
          <a:blip r:embed="rId3">
            <a:extLst>
              <a:ext uri="{BEBA8EAE-BF5A-486C-A8C5-ECC9F3942E4B}">
                <a14:imgProps xmlns:a14="http://schemas.microsoft.com/office/drawing/2010/main">
                  <a14:imgLayer r:embed="rId4">
                    <a14:imgEffect>
                      <a14:colorTemperature colorTemp="4700"/>
                    </a14:imgEffect>
                  </a14:imgLayer>
                </a14:imgProps>
              </a:ext>
            </a:extLst>
          </a:blip>
          <a:srcRect l="7333" t="12460" r="6666" b="3716"/>
          <a:stretch/>
        </p:blipFill>
        <p:spPr>
          <a:xfrm>
            <a:off x="1465617" y="2415525"/>
            <a:ext cx="7579360" cy="3535076"/>
          </a:xfrm>
          <a:prstGeom prst="rect">
            <a:avLst/>
          </a:prstGeom>
        </p:spPr>
      </p:pic>
      <p:sp>
        <p:nvSpPr>
          <p:cNvPr id="6" name="Content Placeholder 2">
            <a:extLst>
              <a:ext uri="{FF2B5EF4-FFF2-40B4-BE49-F238E27FC236}">
                <a16:creationId xmlns:a16="http://schemas.microsoft.com/office/drawing/2014/main" id="{9D236F49-79F6-4081-A162-C0C266C17825}"/>
              </a:ext>
            </a:extLst>
          </p:cNvPr>
          <p:cNvSpPr txBox="1">
            <a:spLocks/>
          </p:cNvSpPr>
          <p:nvPr/>
        </p:nvSpPr>
        <p:spPr>
          <a:xfrm>
            <a:off x="149289" y="1092980"/>
            <a:ext cx="8770776" cy="73742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t>Stream processing: </a:t>
            </a:r>
            <a:r>
              <a:rPr lang="en-US" sz="2000" dirty="0"/>
              <a:t>focuses on input processing and requires analysis of data stream as it enters the system</a:t>
            </a:r>
          </a:p>
        </p:txBody>
      </p:sp>
      <p:sp>
        <p:nvSpPr>
          <p:cNvPr id="7" name="Content Placeholder 2">
            <a:extLst>
              <a:ext uri="{FF2B5EF4-FFF2-40B4-BE49-F238E27FC236}">
                <a16:creationId xmlns:a16="http://schemas.microsoft.com/office/drawing/2014/main" id="{9E6E872F-1246-40FB-8AED-14C7F65E703F}"/>
              </a:ext>
            </a:extLst>
          </p:cNvPr>
          <p:cNvSpPr txBox="1">
            <a:spLocks/>
          </p:cNvSpPr>
          <p:nvPr/>
        </p:nvSpPr>
        <p:spPr>
          <a:xfrm>
            <a:off x="149289" y="1919985"/>
            <a:ext cx="8770776" cy="75495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t>Feedback loop processing: </a:t>
            </a:r>
            <a:r>
              <a:rPr lang="en-US" sz="2000" dirty="0"/>
              <a:t>analysis of data to produce actionable results</a:t>
            </a:r>
          </a:p>
          <a:p>
            <a:endParaRPr lang="en-US" sz="2400" dirty="0"/>
          </a:p>
        </p:txBody>
      </p:sp>
    </p:spTree>
    <p:extLst>
      <p:ext uri="{BB962C8B-B14F-4D97-AF65-F5344CB8AC3E}">
        <p14:creationId xmlns:p14="http://schemas.microsoft.com/office/powerpoint/2010/main" val="3789426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9B43D-2CCB-4724-8963-02EE1267EB01}"/>
              </a:ext>
            </a:extLst>
          </p:cNvPr>
          <p:cNvSpPr>
            <a:spLocks noGrp="1"/>
          </p:cNvSpPr>
          <p:nvPr>
            <p:ph type="title"/>
          </p:nvPr>
        </p:nvSpPr>
        <p:spPr>
          <a:xfrm>
            <a:off x="149290" y="123391"/>
            <a:ext cx="6879252" cy="510391"/>
          </a:xfrm>
        </p:spPr>
        <p:txBody>
          <a:bodyPr>
            <a:normAutofit/>
          </a:bodyPr>
          <a:lstStyle/>
          <a:p>
            <a:r>
              <a:rPr lang="en-US" altLang="en-US" sz="2400" dirty="0"/>
              <a:t>Big Data – Variety</a:t>
            </a:r>
            <a:endParaRPr lang="en-US" sz="2400" dirty="0"/>
          </a:p>
        </p:txBody>
      </p:sp>
      <p:pic>
        <p:nvPicPr>
          <p:cNvPr id="2050" name="Picture 2" descr="Image result for structure unstructured and semi structured data">
            <a:extLst>
              <a:ext uri="{FF2B5EF4-FFF2-40B4-BE49-F238E27FC236}">
                <a16:creationId xmlns:a16="http://schemas.microsoft.com/office/drawing/2014/main" id="{61A2F13F-1AAA-4D9E-95F4-E491F24F903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1291"/>
          <a:stretch/>
        </p:blipFill>
        <p:spPr bwMode="auto">
          <a:xfrm>
            <a:off x="326138" y="2575873"/>
            <a:ext cx="8634846" cy="297386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F89065EA-8B2A-4F37-A8E3-A0AE660E7A56}"/>
              </a:ext>
            </a:extLst>
          </p:cNvPr>
          <p:cNvSpPr/>
          <p:nvPr/>
        </p:nvSpPr>
        <p:spPr>
          <a:xfrm>
            <a:off x="6147332" y="1722213"/>
            <a:ext cx="2600893" cy="923330"/>
          </a:xfrm>
          <a:prstGeom prst="rect">
            <a:avLst/>
          </a:prstGeom>
        </p:spPr>
        <p:txBody>
          <a:bodyPr wrap="square">
            <a:spAutoFit/>
          </a:bodyPr>
          <a:lstStyle/>
          <a:p>
            <a:pPr marL="0" lvl="1" algn="ctr"/>
            <a:r>
              <a:rPr lang="en-US" b="1" dirty="0">
                <a:solidFill>
                  <a:srgbClr val="522D80"/>
                </a:solidFill>
                <a:latin typeface="Arial" panose="020B0604020202020204" pitchFamily="34" charset="0"/>
                <a:cs typeface="Arial" panose="020B0604020202020204" pitchFamily="34" charset="0"/>
              </a:rPr>
              <a:t>Structured data: </a:t>
            </a:r>
          </a:p>
          <a:p>
            <a:pPr marL="0" lvl="1" algn="ctr"/>
            <a:r>
              <a:rPr lang="en-US" dirty="0">
                <a:latin typeface="Arial" panose="020B0604020202020204" pitchFamily="34" charset="0"/>
                <a:cs typeface="Arial" panose="020B0604020202020204" pitchFamily="34" charset="0"/>
              </a:rPr>
              <a:t>fits into a predefined data model</a:t>
            </a:r>
          </a:p>
        </p:txBody>
      </p:sp>
      <p:sp>
        <p:nvSpPr>
          <p:cNvPr id="5" name="Rectangle 4">
            <a:extLst>
              <a:ext uri="{FF2B5EF4-FFF2-40B4-BE49-F238E27FC236}">
                <a16:creationId xmlns:a16="http://schemas.microsoft.com/office/drawing/2014/main" id="{FFF31BA3-4057-431B-A611-13E0A44504D3}"/>
              </a:ext>
            </a:extLst>
          </p:cNvPr>
          <p:cNvSpPr/>
          <p:nvPr/>
        </p:nvSpPr>
        <p:spPr>
          <a:xfrm>
            <a:off x="326138" y="768997"/>
            <a:ext cx="2443446" cy="1754326"/>
          </a:xfrm>
          <a:prstGeom prst="rect">
            <a:avLst/>
          </a:prstGeom>
        </p:spPr>
        <p:txBody>
          <a:bodyPr wrap="square">
            <a:spAutoFit/>
          </a:bodyPr>
          <a:lstStyle/>
          <a:p>
            <a:pPr algn="ctr"/>
            <a:r>
              <a:rPr lang="en-US" b="1" dirty="0">
                <a:solidFill>
                  <a:srgbClr val="522D80"/>
                </a:solidFill>
                <a:latin typeface="Arial" panose="020B0604020202020204" pitchFamily="34" charset="0"/>
                <a:cs typeface="Arial" panose="020B0604020202020204" pitchFamily="34" charset="0"/>
              </a:rPr>
              <a:t>Unstructured data: </a:t>
            </a:r>
          </a:p>
          <a:p>
            <a:pPr algn="ctr"/>
            <a:r>
              <a:rPr lang="en-US" dirty="0">
                <a:latin typeface="Arial" panose="020B0604020202020204" pitchFamily="34" charset="0"/>
                <a:cs typeface="Arial" panose="020B0604020202020204" pitchFamily="34" charset="0"/>
              </a:rPr>
              <a:t>does not fit into a predefined model </a:t>
            </a:r>
          </a:p>
          <a:p>
            <a:pPr algn="ctr"/>
            <a:r>
              <a:rPr lang="en-US" dirty="0">
                <a:latin typeface="Arial" panose="020B0604020202020204" pitchFamily="34" charset="0"/>
                <a:cs typeface="Arial" panose="020B0604020202020204" pitchFamily="34" charset="0"/>
              </a:rPr>
              <a:t>(e.g., maps, satellite images, emails, texts, tweets, and videos)</a:t>
            </a:r>
          </a:p>
        </p:txBody>
      </p:sp>
      <p:sp>
        <p:nvSpPr>
          <p:cNvPr id="6" name="Rectangle 5">
            <a:extLst>
              <a:ext uri="{FF2B5EF4-FFF2-40B4-BE49-F238E27FC236}">
                <a16:creationId xmlns:a16="http://schemas.microsoft.com/office/drawing/2014/main" id="{31A6413D-E146-46BB-8F8D-58D595CC5752}"/>
              </a:ext>
            </a:extLst>
          </p:cNvPr>
          <p:cNvSpPr/>
          <p:nvPr/>
        </p:nvSpPr>
        <p:spPr>
          <a:xfrm>
            <a:off x="3158012" y="1322994"/>
            <a:ext cx="2600892" cy="1200329"/>
          </a:xfrm>
          <a:prstGeom prst="rect">
            <a:avLst/>
          </a:prstGeom>
        </p:spPr>
        <p:txBody>
          <a:bodyPr wrap="square">
            <a:spAutoFit/>
          </a:bodyPr>
          <a:lstStyle/>
          <a:p>
            <a:pPr marL="0" lvl="1" algn="ctr"/>
            <a:r>
              <a:rPr lang="en-US" b="1" dirty="0" err="1">
                <a:solidFill>
                  <a:srgbClr val="522D80"/>
                </a:solidFill>
                <a:latin typeface="Arial" panose="020B0604020202020204" pitchFamily="34" charset="0"/>
                <a:cs typeface="Arial" panose="020B0604020202020204" pitchFamily="34" charset="0"/>
              </a:rPr>
              <a:t>Semistructured</a:t>
            </a:r>
            <a:r>
              <a:rPr lang="en-US" b="1" dirty="0">
                <a:solidFill>
                  <a:srgbClr val="522D80"/>
                </a:solidFill>
                <a:latin typeface="Arial" panose="020B0604020202020204" pitchFamily="34" charset="0"/>
                <a:cs typeface="Arial" panose="020B0604020202020204" pitchFamily="34" charset="0"/>
              </a:rPr>
              <a:t> data: </a:t>
            </a:r>
          </a:p>
          <a:p>
            <a:pPr marL="0" lvl="1" algn="ctr"/>
            <a:r>
              <a:rPr lang="en-US" dirty="0">
                <a:latin typeface="Arial" panose="020B0604020202020204" pitchFamily="34" charset="0"/>
                <a:cs typeface="Arial" panose="020B0604020202020204" pitchFamily="34" charset="0"/>
              </a:rPr>
              <a:t>some parts of the data fit a predefined model while other parts do not</a:t>
            </a:r>
          </a:p>
        </p:txBody>
      </p:sp>
    </p:spTree>
    <p:extLst>
      <p:ext uri="{BB962C8B-B14F-4D97-AF65-F5344CB8AC3E}">
        <p14:creationId xmlns:p14="http://schemas.microsoft.com/office/powerpoint/2010/main" val="2140108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B61B6-6C7B-4BAF-BF89-06A5E4A73622}"/>
              </a:ext>
            </a:extLst>
          </p:cNvPr>
          <p:cNvSpPr>
            <a:spLocks noGrp="1"/>
          </p:cNvSpPr>
          <p:nvPr>
            <p:ph type="title"/>
          </p:nvPr>
        </p:nvSpPr>
        <p:spPr/>
        <p:txBody>
          <a:bodyPr>
            <a:normAutofit/>
          </a:bodyPr>
          <a:lstStyle/>
          <a:p>
            <a:r>
              <a:rPr lang="en-US" dirty="0"/>
              <a:t>Other Characteristics of Big Data</a:t>
            </a:r>
          </a:p>
        </p:txBody>
      </p:sp>
      <p:sp>
        <p:nvSpPr>
          <p:cNvPr id="3" name="Content Placeholder 2">
            <a:extLst>
              <a:ext uri="{FF2B5EF4-FFF2-40B4-BE49-F238E27FC236}">
                <a16:creationId xmlns:a16="http://schemas.microsoft.com/office/drawing/2014/main" id="{5C0164FC-ACC0-495B-8441-D6322C6ADF36}"/>
              </a:ext>
            </a:extLst>
          </p:cNvPr>
          <p:cNvSpPr>
            <a:spLocks noGrp="1"/>
          </p:cNvSpPr>
          <p:nvPr>
            <p:ph idx="1"/>
          </p:nvPr>
        </p:nvSpPr>
        <p:spPr/>
        <p:txBody>
          <a:bodyPr>
            <a:normAutofit/>
          </a:bodyPr>
          <a:lstStyle/>
          <a:p>
            <a:r>
              <a:rPr lang="en-US" sz="2200" b="1" dirty="0"/>
              <a:t>Variability:</a:t>
            </a:r>
            <a:r>
              <a:rPr lang="en-US" sz="2200" dirty="0"/>
              <a:t> changes in meaning of data based on context</a:t>
            </a:r>
          </a:p>
          <a:p>
            <a:r>
              <a:rPr lang="en-US" sz="2200" b="1" dirty="0"/>
              <a:t>Veracity:</a:t>
            </a:r>
            <a:r>
              <a:rPr lang="en-US" sz="2200" dirty="0"/>
              <a:t> trustworthiness of data</a:t>
            </a:r>
          </a:p>
          <a:p>
            <a:r>
              <a:rPr lang="en-US" sz="2200" b="1" dirty="0"/>
              <a:t>Value:</a:t>
            </a:r>
            <a:r>
              <a:rPr lang="en-US" sz="2200" dirty="0"/>
              <a:t> degree data can be analyzed for meaningful insight</a:t>
            </a:r>
          </a:p>
          <a:p>
            <a:r>
              <a:rPr lang="en-US" sz="2200" b="1" dirty="0"/>
              <a:t>Visualization: </a:t>
            </a:r>
            <a:r>
              <a:rPr lang="en-US" sz="2200" dirty="0"/>
              <a:t>ability to graphically resent data to make it understandable</a:t>
            </a:r>
          </a:p>
          <a:p>
            <a:endParaRPr lang="en-US" sz="2200" dirty="0"/>
          </a:p>
          <a:p>
            <a:r>
              <a:rPr lang="en-US" sz="2200" dirty="0"/>
              <a:t>Relational databases are not necessarily the best for storing and managing all organizational data</a:t>
            </a:r>
          </a:p>
          <a:p>
            <a:pPr lvl="1"/>
            <a:r>
              <a:rPr lang="en-US" sz="2200" dirty="0"/>
              <a:t>Polyglot persistence: coexistence of a variety of data storage and management technologies within an organization’s infrastructure</a:t>
            </a:r>
          </a:p>
          <a:p>
            <a:endParaRPr lang="en-US" sz="2200" dirty="0"/>
          </a:p>
        </p:txBody>
      </p:sp>
    </p:spTree>
    <p:extLst>
      <p:ext uri="{BB962C8B-B14F-4D97-AF65-F5344CB8AC3E}">
        <p14:creationId xmlns:p14="http://schemas.microsoft.com/office/powerpoint/2010/main" val="3461125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No</a:t>
            </a:r>
            <a:r>
              <a:rPr lang="en-US" sz="100" dirty="0"/>
              <a:t> </a:t>
            </a:r>
            <a:r>
              <a:rPr lang="en-US" dirty="0"/>
              <a:t>S</a:t>
            </a:r>
            <a:r>
              <a:rPr lang="en-US" sz="100" dirty="0"/>
              <a:t> </a:t>
            </a:r>
            <a:r>
              <a:rPr lang="en-US" dirty="0"/>
              <a:t>Q</a:t>
            </a:r>
            <a:r>
              <a:rPr lang="en-US" sz="100" dirty="0"/>
              <a:t> </a:t>
            </a:r>
            <a:r>
              <a:rPr lang="en-US" dirty="0"/>
              <a:t>L </a:t>
            </a:r>
            <a:r>
              <a:rPr lang="en-US" sz="2800" b="0" dirty="0"/>
              <a:t>(</a:t>
            </a:r>
            <a:r>
              <a:rPr lang="en-US" sz="2800" b="0" i="1" dirty="0"/>
              <a:t>Not Only SQL</a:t>
            </a:r>
            <a:r>
              <a:rPr lang="en-US" sz="2800" b="0" dirty="0"/>
              <a:t>)</a:t>
            </a:r>
            <a:endParaRPr lang="en-US" sz="2000" b="0" dirty="0"/>
          </a:p>
        </p:txBody>
      </p:sp>
      <p:sp>
        <p:nvSpPr>
          <p:cNvPr id="5" name="Text Placeholder 4"/>
          <p:cNvSpPr>
            <a:spLocks noGrp="1"/>
          </p:cNvSpPr>
          <p:nvPr>
            <p:ph type="body" idx="1"/>
          </p:nvPr>
        </p:nvSpPr>
        <p:spPr>
          <a:xfrm>
            <a:off x="149289" y="969661"/>
            <a:ext cx="8770776" cy="1332105"/>
          </a:xfrm>
        </p:spPr>
        <p:txBody>
          <a:bodyPr>
            <a:normAutofit/>
          </a:bodyPr>
          <a:lstStyle/>
          <a:p>
            <a:r>
              <a:rPr lang="en-US" sz="2200" dirty="0"/>
              <a:t>Scaling out rather than scaling up</a:t>
            </a:r>
          </a:p>
          <a:p>
            <a:r>
              <a:rPr lang="en-US" sz="2200" dirty="0"/>
              <a:t>Natural for a cloud environment</a:t>
            </a:r>
          </a:p>
          <a:p>
            <a:r>
              <a:rPr lang="en-US" sz="2200" dirty="0"/>
              <a:t>Largely open source</a:t>
            </a:r>
          </a:p>
        </p:txBody>
      </p:sp>
      <p:graphicFrame>
        <p:nvGraphicFramePr>
          <p:cNvPr id="2" name="Table 1">
            <a:extLst>
              <a:ext uri="{FF2B5EF4-FFF2-40B4-BE49-F238E27FC236}">
                <a16:creationId xmlns:a16="http://schemas.microsoft.com/office/drawing/2014/main" id="{12478B2C-D6ED-41C3-A9FB-A464F5FDDD92}"/>
              </a:ext>
            </a:extLst>
          </p:cNvPr>
          <p:cNvGraphicFramePr>
            <a:graphicFrameLocks noGrp="1"/>
          </p:cNvGraphicFramePr>
          <p:nvPr>
            <p:extLst>
              <p:ext uri="{D42A27DB-BD31-4B8C-83A1-F6EECF244321}">
                <p14:modId xmlns:p14="http://schemas.microsoft.com/office/powerpoint/2010/main" val="1762666469"/>
              </p:ext>
            </p:extLst>
          </p:nvPr>
        </p:nvGraphicFramePr>
        <p:xfrm>
          <a:off x="212353" y="2301766"/>
          <a:ext cx="8696130" cy="3505200"/>
        </p:xfrm>
        <a:graphic>
          <a:graphicData uri="http://schemas.openxmlformats.org/drawingml/2006/table">
            <a:tbl>
              <a:tblPr firstRow="1" bandRow="1">
                <a:tableStyleId>{8EC20E35-A176-4012-BC5E-935CFFF8708E}</a:tableStyleId>
              </a:tblPr>
              <a:tblGrid>
                <a:gridCol w="2967405">
                  <a:extLst>
                    <a:ext uri="{9D8B030D-6E8A-4147-A177-3AD203B41FA5}">
                      <a16:colId xmlns:a16="http://schemas.microsoft.com/office/drawing/2014/main" val="3882530377"/>
                    </a:ext>
                  </a:extLst>
                </a:gridCol>
                <a:gridCol w="3008244">
                  <a:extLst>
                    <a:ext uri="{9D8B030D-6E8A-4147-A177-3AD203B41FA5}">
                      <a16:colId xmlns:a16="http://schemas.microsoft.com/office/drawing/2014/main" val="1512964474"/>
                    </a:ext>
                  </a:extLst>
                </a:gridCol>
                <a:gridCol w="2720481">
                  <a:extLst>
                    <a:ext uri="{9D8B030D-6E8A-4147-A177-3AD203B41FA5}">
                      <a16:colId xmlns:a16="http://schemas.microsoft.com/office/drawing/2014/main" val="1246564240"/>
                    </a:ext>
                  </a:extLst>
                </a:gridCol>
              </a:tblGrid>
              <a:tr h="370840">
                <a:tc>
                  <a:txBody>
                    <a:bodyPr/>
                    <a:lstStyle/>
                    <a:p>
                      <a:pPr algn="ctr"/>
                      <a:r>
                        <a:rPr lang="en-US" sz="2000" dirty="0">
                          <a:latin typeface="Arial Nova" panose="020B0504020202020204" pitchFamily="34" charset="0"/>
                        </a:rPr>
                        <a:t>NoSQL Category</a:t>
                      </a:r>
                    </a:p>
                  </a:txBody>
                  <a:tcPr/>
                </a:tc>
                <a:tc>
                  <a:txBody>
                    <a:bodyPr/>
                    <a:lstStyle/>
                    <a:p>
                      <a:pPr algn="ctr"/>
                      <a:r>
                        <a:rPr lang="en-US" sz="2000" dirty="0">
                          <a:latin typeface="Arial Nova" panose="020B0504020202020204" pitchFamily="34" charset="0"/>
                        </a:rPr>
                        <a:t>Example Databases</a:t>
                      </a:r>
                    </a:p>
                  </a:txBody>
                  <a:tcPr/>
                </a:tc>
                <a:tc>
                  <a:txBody>
                    <a:bodyPr/>
                    <a:lstStyle/>
                    <a:p>
                      <a:pPr algn="ctr"/>
                      <a:r>
                        <a:rPr lang="en-US" sz="2000" dirty="0">
                          <a:latin typeface="Arial Nova" panose="020B0504020202020204" pitchFamily="34" charset="0"/>
                        </a:rPr>
                        <a:t>Developer</a:t>
                      </a:r>
                    </a:p>
                  </a:txBody>
                  <a:tcPr/>
                </a:tc>
                <a:extLst>
                  <a:ext uri="{0D108BD9-81ED-4DB2-BD59-A6C34878D82A}">
                    <a16:rowId xmlns:a16="http://schemas.microsoft.com/office/drawing/2014/main" val="1984049226"/>
                  </a:ext>
                </a:extLst>
              </a:tr>
              <a:tr h="370840">
                <a:tc>
                  <a:txBody>
                    <a:bodyPr/>
                    <a:lstStyle/>
                    <a:p>
                      <a:r>
                        <a:rPr lang="en-US" sz="2000" dirty="0">
                          <a:latin typeface="Arial Nova" panose="020B0504020202020204" pitchFamily="34" charset="0"/>
                        </a:rPr>
                        <a:t>Key-Value Databases</a:t>
                      </a:r>
                    </a:p>
                  </a:txBody>
                  <a:tcPr/>
                </a:tc>
                <a:tc>
                  <a:txBody>
                    <a:bodyPr/>
                    <a:lstStyle/>
                    <a:p>
                      <a:r>
                        <a:rPr lang="en-US" sz="2000" dirty="0">
                          <a:latin typeface="Arial Nova" panose="020B0504020202020204" pitchFamily="34" charset="0"/>
                        </a:rPr>
                        <a:t>Redis</a:t>
                      </a:r>
                    </a:p>
                    <a:p>
                      <a:r>
                        <a:rPr lang="en-US" sz="2000" dirty="0">
                          <a:latin typeface="Arial Nova" panose="020B0504020202020204" pitchFamily="34" charset="0"/>
                        </a:rPr>
                        <a:t>Dynamo</a:t>
                      </a:r>
                    </a:p>
                  </a:txBody>
                  <a:tcPr/>
                </a:tc>
                <a:tc>
                  <a:txBody>
                    <a:bodyPr/>
                    <a:lstStyle/>
                    <a:p>
                      <a:r>
                        <a:rPr lang="en-US" sz="2000" dirty="0">
                          <a:latin typeface="Arial Nova" panose="020B0504020202020204" pitchFamily="34" charset="0"/>
                        </a:rPr>
                        <a:t>Redis Labs</a:t>
                      </a:r>
                    </a:p>
                    <a:p>
                      <a:r>
                        <a:rPr lang="en-US" sz="2000" dirty="0">
                          <a:latin typeface="Arial Nova" panose="020B0504020202020204" pitchFamily="34" charset="0"/>
                        </a:rPr>
                        <a:t>Amazon</a:t>
                      </a:r>
                    </a:p>
                  </a:txBody>
                  <a:tcPr/>
                </a:tc>
                <a:extLst>
                  <a:ext uri="{0D108BD9-81ED-4DB2-BD59-A6C34878D82A}">
                    <a16:rowId xmlns:a16="http://schemas.microsoft.com/office/drawing/2014/main" val="1179840298"/>
                  </a:ext>
                </a:extLst>
              </a:tr>
              <a:tr h="370840">
                <a:tc>
                  <a:txBody>
                    <a:bodyPr/>
                    <a:lstStyle/>
                    <a:p>
                      <a:r>
                        <a:rPr lang="en-US" sz="2000" dirty="0">
                          <a:latin typeface="Arial Nova" panose="020B0504020202020204" pitchFamily="34" charset="0"/>
                        </a:rPr>
                        <a:t>Document Databases</a:t>
                      </a:r>
                    </a:p>
                  </a:txBody>
                  <a:tcPr/>
                </a:tc>
                <a:tc>
                  <a:txBody>
                    <a:bodyPr/>
                    <a:lstStyle/>
                    <a:p>
                      <a:r>
                        <a:rPr lang="en-US" sz="2000" dirty="0">
                          <a:latin typeface="Arial Nova" panose="020B0504020202020204" pitchFamily="34" charset="0"/>
                        </a:rPr>
                        <a:t>MongoDB</a:t>
                      </a:r>
                    </a:p>
                    <a:p>
                      <a:r>
                        <a:rPr lang="en-US" sz="2000" dirty="0">
                          <a:latin typeface="Arial Nova" panose="020B0504020202020204" pitchFamily="34" charset="0"/>
                        </a:rPr>
                        <a:t>CouchDB</a:t>
                      </a:r>
                    </a:p>
                  </a:txBody>
                  <a:tcPr/>
                </a:tc>
                <a:tc>
                  <a:txBody>
                    <a:bodyPr/>
                    <a:lstStyle/>
                    <a:p>
                      <a:r>
                        <a:rPr lang="en-US" sz="2000" dirty="0" err="1">
                          <a:latin typeface="Arial Nova" panose="020B0504020202020204" pitchFamily="34" charset="0"/>
                        </a:rPr>
                        <a:t>MongDB</a:t>
                      </a:r>
                      <a:r>
                        <a:rPr lang="en-US" sz="2000" dirty="0">
                          <a:latin typeface="Arial Nova" panose="020B0504020202020204" pitchFamily="34" charset="0"/>
                        </a:rPr>
                        <a:t>, Inc</a:t>
                      </a:r>
                    </a:p>
                    <a:p>
                      <a:r>
                        <a:rPr lang="en-US" sz="2000" dirty="0">
                          <a:latin typeface="Arial Nova" panose="020B0504020202020204" pitchFamily="34" charset="0"/>
                        </a:rPr>
                        <a:t>Apache</a:t>
                      </a:r>
                    </a:p>
                  </a:txBody>
                  <a:tcPr/>
                </a:tc>
                <a:extLst>
                  <a:ext uri="{0D108BD9-81ED-4DB2-BD59-A6C34878D82A}">
                    <a16:rowId xmlns:a16="http://schemas.microsoft.com/office/drawing/2014/main" val="1657993590"/>
                  </a:ext>
                </a:extLst>
              </a:tr>
              <a:tr h="370840">
                <a:tc>
                  <a:txBody>
                    <a:bodyPr/>
                    <a:lstStyle/>
                    <a:p>
                      <a:r>
                        <a:rPr lang="en-US" sz="2000" dirty="0">
                          <a:latin typeface="Arial Nova" panose="020B0504020202020204" pitchFamily="34" charset="0"/>
                        </a:rPr>
                        <a:t>Columnar Databases</a:t>
                      </a:r>
                    </a:p>
                  </a:txBody>
                  <a:tcPr/>
                </a:tc>
                <a:tc>
                  <a:txBody>
                    <a:bodyPr/>
                    <a:lstStyle/>
                    <a:p>
                      <a:r>
                        <a:rPr lang="en-US" sz="2000" dirty="0" err="1">
                          <a:latin typeface="Arial Nova" panose="020B0504020202020204" pitchFamily="34" charset="0"/>
                        </a:rPr>
                        <a:t>Hbase</a:t>
                      </a:r>
                      <a:endParaRPr lang="en-US" sz="2000" dirty="0">
                        <a:latin typeface="Arial Nova" panose="020B0504020202020204" pitchFamily="34" charset="0"/>
                      </a:endParaRPr>
                    </a:p>
                    <a:p>
                      <a:r>
                        <a:rPr lang="en-US" sz="2000" dirty="0">
                          <a:latin typeface="Arial Nova" panose="020B0504020202020204" pitchFamily="34" charset="0"/>
                        </a:rPr>
                        <a:t>Cassandra</a:t>
                      </a:r>
                    </a:p>
                  </a:txBody>
                  <a:tcPr/>
                </a:tc>
                <a:tc>
                  <a:txBody>
                    <a:bodyPr/>
                    <a:lstStyle/>
                    <a:p>
                      <a:r>
                        <a:rPr lang="en-US" sz="2000" dirty="0">
                          <a:latin typeface="Arial Nova" panose="020B0504020202020204" pitchFamily="34" charset="0"/>
                        </a:rPr>
                        <a:t>A</a:t>
                      </a:r>
                      <a:r>
                        <a:rPr lang="en-US" altLang="zh-CN" sz="2000" dirty="0">
                          <a:latin typeface="Arial Nova" panose="020B0504020202020204" pitchFamily="34" charset="0"/>
                        </a:rPr>
                        <a:t>pache</a:t>
                      </a:r>
                    </a:p>
                    <a:p>
                      <a:r>
                        <a:rPr lang="en-US" sz="2000" dirty="0">
                          <a:latin typeface="Arial Nova" panose="020B0504020202020204" pitchFamily="34" charset="0"/>
                        </a:rPr>
                        <a:t>Apache (Originally Facebook)</a:t>
                      </a:r>
                    </a:p>
                  </a:txBody>
                  <a:tcPr/>
                </a:tc>
                <a:extLst>
                  <a:ext uri="{0D108BD9-81ED-4DB2-BD59-A6C34878D82A}">
                    <a16:rowId xmlns:a16="http://schemas.microsoft.com/office/drawing/2014/main" val="4191666139"/>
                  </a:ext>
                </a:extLst>
              </a:tr>
              <a:tr h="370840">
                <a:tc>
                  <a:txBody>
                    <a:bodyPr/>
                    <a:lstStyle/>
                    <a:p>
                      <a:r>
                        <a:rPr lang="en-US" sz="2000" dirty="0">
                          <a:latin typeface="Arial Nova" panose="020B0504020202020204" pitchFamily="34" charset="0"/>
                        </a:rPr>
                        <a:t>Graph Databases</a:t>
                      </a:r>
                    </a:p>
                  </a:txBody>
                  <a:tcPr/>
                </a:tc>
                <a:tc>
                  <a:txBody>
                    <a:bodyPr/>
                    <a:lstStyle/>
                    <a:p>
                      <a:r>
                        <a:rPr lang="en-US" sz="2000" dirty="0">
                          <a:latin typeface="Arial Nova" panose="020B0504020202020204" pitchFamily="34" charset="0"/>
                        </a:rPr>
                        <a:t>Neo4J</a:t>
                      </a:r>
                    </a:p>
                    <a:p>
                      <a:r>
                        <a:rPr lang="en-US" altLang="zh-CN" sz="2000" dirty="0" err="1">
                          <a:latin typeface="Arial Nova" panose="020B0504020202020204" pitchFamily="34" charset="0"/>
                        </a:rPr>
                        <a:t>GraphBase</a:t>
                      </a:r>
                      <a:endParaRPr lang="en-US" sz="2000" dirty="0">
                        <a:latin typeface="Arial Nova" panose="020B0504020202020204" pitchFamily="34" charset="0"/>
                      </a:endParaRPr>
                    </a:p>
                  </a:txBody>
                  <a:tcPr/>
                </a:tc>
                <a:tc>
                  <a:txBody>
                    <a:bodyPr/>
                    <a:lstStyle/>
                    <a:p>
                      <a:r>
                        <a:rPr lang="en-US" sz="2000" dirty="0">
                          <a:latin typeface="Arial Nova" panose="020B0504020202020204" pitchFamily="34" charset="0"/>
                        </a:rPr>
                        <a:t>Neo4j</a:t>
                      </a:r>
                    </a:p>
                    <a:p>
                      <a:r>
                        <a:rPr lang="en-US" sz="2000" dirty="0" err="1">
                          <a:latin typeface="Arial Nova" panose="020B0504020202020204" pitchFamily="34" charset="0"/>
                        </a:rPr>
                        <a:t>FactNexus</a:t>
                      </a:r>
                      <a:endParaRPr lang="en-US" sz="2000" dirty="0">
                        <a:latin typeface="Arial Nova" panose="020B0504020202020204" pitchFamily="34" charset="0"/>
                      </a:endParaRPr>
                    </a:p>
                  </a:txBody>
                  <a:tcPr/>
                </a:tc>
                <a:extLst>
                  <a:ext uri="{0D108BD9-81ED-4DB2-BD59-A6C34878D82A}">
                    <a16:rowId xmlns:a16="http://schemas.microsoft.com/office/drawing/2014/main" val="1714294923"/>
                  </a:ext>
                </a:extLst>
              </a:tr>
            </a:tbl>
          </a:graphicData>
        </a:graphic>
      </p:graphicFrame>
    </p:spTree>
    <p:extLst>
      <p:ext uri="{BB962C8B-B14F-4D97-AF65-F5344CB8AC3E}">
        <p14:creationId xmlns:p14="http://schemas.microsoft.com/office/powerpoint/2010/main" val="32539847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0B6AC-02C6-44FC-BB65-34F822D44BDF}"/>
              </a:ext>
            </a:extLst>
          </p:cNvPr>
          <p:cNvSpPr>
            <a:spLocks noGrp="1"/>
          </p:cNvSpPr>
          <p:nvPr>
            <p:ph type="title"/>
          </p:nvPr>
        </p:nvSpPr>
        <p:spPr/>
        <p:txBody>
          <a:bodyPr/>
          <a:lstStyle/>
          <a:p>
            <a:r>
              <a:rPr lang="en-US" dirty="0"/>
              <a:t>NoSQL</a:t>
            </a:r>
          </a:p>
        </p:txBody>
      </p:sp>
      <p:sp>
        <p:nvSpPr>
          <p:cNvPr id="3" name="Content Placeholder 2">
            <a:extLst>
              <a:ext uri="{FF2B5EF4-FFF2-40B4-BE49-F238E27FC236}">
                <a16:creationId xmlns:a16="http://schemas.microsoft.com/office/drawing/2014/main" id="{445456CC-8959-483A-AD71-A94696BEC1A1}"/>
              </a:ext>
            </a:extLst>
          </p:cNvPr>
          <p:cNvSpPr>
            <a:spLocks noGrp="1"/>
          </p:cNvSpPr>
          <p:nvPr>
            <p:ph idx="1"/>
          </p:nvPr>
        </p:nvSpPr>
        <p:spPr>
          <a:xfrm>
            <a:off x="-1" y="1171903"/>
            <a:ext cx="3011215" cy="3626602"/>
          </a:xfrm>
        </p:spPr>
        <p:txBody>
          <a:bodyPr>
            <a:normAutofit/>
          </a:bodyPr>
          <a:lstStyle/>
          <a:p>
            <a:r>
              <a:rPr lang="en-US" sz="2000" dirty="0"/>
              <a:t>Supports schema on read</a:t>
            </a:r>
          </a:p>
          <a:p>
            <a:endParaRPr lang="en-US" sz="2000" dirty="0"/>
          </a:p>
          <a:p>
            <a:r>
              <a:rPr lang="en-US" sz="2000" dirty="0"/>
              <a:t>Not ACID compliant!</a:t>
            </a:r>
          </a:p>
          <a:p>
            <a:endParaRPr lang="en-US" sz="2000" dirty="0"/>
          </a:p>
          <a:p>
            <a:r>
              <a:rPr lang="en-US" sz="2000" dirty="0"/>
              <a:t>BASE – basically available, soft state, eventually consistent</a:t>
            </a:r>
          </a:p>
          <a:p>
            <a:endParaRPr lang="en-US" sz="2000" dirty="0"/>
          </a:p>
          <a:p>
            <a:endParaRPr lang="en-US" sz="2000" dirty="0"/>
          </a:p>
        </p:txBody>
      </p:sp>
      <p:pic>
        <p:nvPicPr>
          <p:cNvPr id="6" name="Picture 5" descr="An illustration depicts the difference between Schema on write and Schema on read. The schema on write model shows four steps, flowing from one to another in the following order. Requirements gathering and structuring. Formal data modeling process. Database schema. Database use based on the predefined schema. Schema on read model shows four steps which flow from one to another in the following order. Collecting large amounts of data with locally defined structures, for example using J SON or X M L. Storing the data in a data lake. Analyzing the stored data to identify meaningful ways to structure it. Structuring and organizing the data during the data analysis process.">
            <a:extLst>
              <a:ext uri="{FF2B5EF4-FFF2-40B4-BE49-F238E27FC236}">
                <a16:creationId xmlns:a16="http://schemas.microsoft.com/office/drawing/2014/main" id="{A524308D-66B9-47B8-803B-AEDD9E70E6A5}"/>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saturation sat="0"/>
                    </a14:imgEffect>
                    <a14:imgEffect>
                      <a14:brightnessContrast bright="20000" contrast="-40000"/>
                    </a14:imgEffect>
                  </a14:imgLayer>
                </a14:imgProps>
              </a:ext>
            </a:extLst>
          </a:blip>
          <a:stretch>
            <a:fillRect/>
          </a:stretch>
        </p:blipFill>
        <p:spPr>
          <a:xfrm>
            <a:off x="3034964" y="858416"/>
            <a:ext cx="5959746" cy="4222906"/>
          </a:xfrm>
          <a:prstGeom prst="rect">
            <a:avLst/>
          </a:prstGeom>
        </p:spPr>
      </p:pic>
      <p:sp>
        <p:nvSpPr>
          <p:cNvPr id="4" name="Text Placeholder 3">
            <a:extLst>
              <a:ext uri="{FF2B5EF4-FFF2-40B4-BE49-F238E27FC236}">
                <a16:creationId xmlns:a16="http://schemas.microsoft.com/office/drawing/2014/main" id="{C3C9BA5A-4513-47DA-853B-67F72FA55785}"/>
              </a:ext>
            </a:extLst>
          </p:cNvPr>
          <p:cNvSpPr txBox="1">
            <a:spLocks/>
          </p:cNvSpPr>
          <p:nvPr/>
        </p:nvSpPr>
        <p:spPr>
          <a:xfrm>
            <a:off x="3421604" y="3429000"/>
            <a:ext cx="1836757" cy="103981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1800" b="1" dirty="0">
                <a:solidFill>
                  <a:srgbClr val="EA6A20"/>
                </a:solidFill>
              </a:rPr>
              <a:t>The big data approach</a:t>
            </a:r>
          </a:p>
        </p:txBody>
      </p:sp>
      <p:sp>
        <p:nvSpPr>
          <p:cNvPr id="5" name="Text Placeholder 2">
            <a:extLst>
              <a:ext uri="{FF2B5EF4-FFF2-40B4-BE49-F238E27FC236}">
                <a16:creationId xmlns:a16="http://schemas.microsoft.com/office/drawing/2014/main" id="{AA1B33FB-749F-44FA-A860-4ED3CC107D5D}"/>
              </a:ext>
            </a:extLst>
          </p:cNvPr>
          <p:cNvSpPr txBox="1">
            <a:spLocks/>
          </p:cNvSpPr>
          <p:nvPr/>
        </p:nvSpPr>
        <p:spPr>
          <a:xfrm>
            <a:off x="3421604" y="1363304"/>
            <a:ext cx="1836756" cy="1047999"/>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01600" indent="0">
              <a:buFont typeface="Arial"/>
              <a:buNone/>
            </a:pPr>
            <a:r>
              <a:rPr lang="en-US" sz="1800" b="1" dirty="0">
                <a:solidFill>
                  <a:srgbClr val="522D80"/>
                </a:solidFill>
              </a:rPr>
              <a:t>Traditional database design</a:t>
            </a:r>
          </a:p>
        </p:txBody>
      </p:sp>
      <p:cxnSp>
        <p:nvCxnSpPr>
          <p:cNvPr id="8" name="Straight Connector 7">
            <a:extLst>
              <a:ext uri="{FF2B5EF4-FFF2-40B4-BE49-F238E27FC236}">
                <a16:creationId xmlns:a16="http://schemas.microsoft.com/office/drawing/2014/main" id="{48FDA5E9-9F88-4EC2-86B8-4BB8F393619B}"/>
              </a:ext>
            </a:extLst>
          </p:cNvPr>
          <p:cNvCxnSpPr>
            <a:cxnSpLocks/>
          </p:cNvCxnSpPr>
          <p:nvPr/>
        </p:nvCxnSpPr>
        <p:spPr>
          <a:xfrm>
            <a:off x="3034964" y="2765778"/>
            <a:ext cx="6109036" cy="0"/>
          </a:xfrm>
          <a:prstGeom prst="line">
            <a:avLst/>
          </a:prstGeom>
          <a:ln w="2540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522698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9290" y="402022"/>
            <a:ext cx="6879252" cy="581575"/>
          </a:xfrm>
        </p:spPr>
        <p:txBody>
          <a:bodyPr>
            <a:normAutofit fontScale="90000"/>
          </a:bodyPr>
          <a:lstStyle/>
          <a:p>
            <a:r>
              <a:rPr lang="en-US" dirty="0"/>
              <a:t>No</a:t>
            </a:r>
            <a:r>
              <a:rPr lang="en-US" sz="100" dirty="0"/>
              <a:t> </a:t>
            </a:r>
            <a:r>
              <a:rPr lang="en-US" dirty="0"/>
              <a:t>S</a:t>
            </a:r>
            <a:r>
              <a:rPr lang="en-US" sz="100" dirty="0"/>
              <a:t> </a:t>
            </a:r>
            <a:r>
              <a:rPr lang="en-US" dirty="0"/>
              <a:t>Q</a:t>
            </a:r>
            <a:r>
              <a:rPr lang="en-US" sz="100" dirty="0"/>
              <a:t> </a:t>
            </a:r>
            <a:r>
              <a:rPr lang="en-US" dirty="0"/>
              <a:t>L Classifications: Key-Value Databases</a:t>
            </a:r>
            <a:endParaRPr lang="en-US" sz="2000" b="0" dirty="0"/>
          </a:p>
        </p:txBody>
      </p:sp>
      <p:sp>
        <p:nvSpPr>
          <p:cNvPr id="5" name="Text Placeholder 4"/>
          <p:cNvSpPr>
            <a:spLocks noGrp="1"/>
          </p:cNvSpPr>
          <p:nvPr>
            <p:ph type="body" idx="1"/>
          </p:nvPr>
        </p:nvSpPr>
        <p:spPr>
          <a:xfrm>
            <a:off x="252765" y="1419448"/>
            <a:ext cx="8655708" cy="1812768"/>
          </a:xfrm>
        </p:spPr>
        <p:txBody>
          <a:bodyPr>
            <a:normAutofit/>
          </a:bodyPr>
          <a:lstStyle/>
          <a:p>
            <a:r>
              <a:rPr lang="en-US" sz="2200" dirty="0">
                <a:solidFill>
                  <a:schemeClr val="tx1"/>
                </a:solidFill>
              </a:rPr>
              <a:t>A simple pair of a key and an associated collection of values. Key is usually a string. Database has no knowledge of the structure or meaning of the values.</a:t>
            </a:r>
          </a:p>
          <a:p>
            <a:r>
              <a:rPr lang="en-US" sz="2200" dirty="0">
                <a:solidFill>
                  <a:schemeClr val="tx1"/>
                </a:solidFill>
              </a:rPr>
              <a:t>Example: Redis</a:t>
            </a:r>
          </a:p>
        </p:txBody>
      </p:sp>
      <p:pic>
        <p:nvPicPr>
          <p:cNvPr id="6" name="Picture 5" descr="Figure 14.7 shows key-value database storage in a customer bucket with three key-value pairs.&#10;" title="Figure 14.7">
            <a:extLst>
              <a:ext uri="{FF2B5EF4-FFF2-40B4-BE49-F238E27FC236}">
                <a16:creationId xmlns:a16="http://schemas.microsoft.com/office/drawing/2014/main" id="{0BD94BF7-AE1C-46FC-980C-6F8A033943DD}"/>
              </a:ext>
            </a:extLst>
          </p:cNvPr>
          <p:cNvPicPr>
            <a:picLocks noChangeAspect="1"/>
          </p:cNvPicPr>
          <p:nvPr/>
        </p:nvPicPr>
        <p:blipFill rotWithShape="1">
          <a:blip r:embed="rId3">
            <a:extLst>
              <a:ext uri="{BEBA8EAE-BF5A-486C-A8C5-ECC9F3942E4B}">
                <a14:imgProps xmlns:a14="http://schemas.microsoft.com/office/drawing/2010/main">
                  <a14:imgLayer r:embed="rId4">
                    <a14:imgEffect>
                      <a14:sharpenSoften amount="50000"/>
                    </a14:imgEffect>
                    <a14:imgEffect>
                      <a14:saturation sat="0"/>
                    </a14:imgEffect>
                    <a14:imgEffect>
                      <a14:brightnessContrast bright="40000" contrast="-40000"/>
                    </a14:imgEffect>
                  </a14:imgLayer>
                </a14:imgProps>
              </a:ext>
            </a:extLst>
          </a:blip>
          <a:srcRect l="11767" t="16036" r="9915" b="7065"/>
          <a:stretch/>
        </p:blipFill>
        <p:spPr>
          <a:xfrm>
            <a:off x="2963985" y="2771944"/>
            <a:ext cx="5944488" cy="2808497"/>
          </a:xfrm>
          <a:prstGeom prst="rect">
            <a:avLst/>
          </a:prstGeom>
        </p:spPr>
      </p:pic>
    </p:spTree>
    <p:extLst>
      <p:ext uri="{BB962C8B-B14F-4D97-AF65-F5344CB8AC3E}">
        <p14:creationId xmlns:p14="http://schemas.microsoft.com/office/powerpoint/2010/main" val="4110255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1316" y="193148"/>
            <a:ext cx="6643306" cy="876311"/>
          </a:xfrm>
        </p:spPr>
        <p:txBody>
          <a:bodyPr>
            <a:normAutofit fontScale="90000"/>
          </a:bodyPr>
          <a:lstStyle/>
          <a:p>
            <a:r>
              <a:rPr lang="en-US" dirty="0"/>
              <a:t>No</a:t>
            </a:r>
            <a:r>
              <a:rPr lang="en-US" sz="100" dirty="0"/>
              <a:t> </a:t>
            </a:r>
            <a:r>
              <a:rPr lang="en-US" dirty="0"/>
              <a:t>S</a:t>
            </a:r>
            <a:r>
              <a:rPr lang="en-US" sz="100" dirty="0"/>
              <a:t> </a:t>
            </a:r>
            <a:r>
              <a:rPr lang="en-US" dirty="0"/>
              <a:t>Q</a:t>
            </a:r>
            <a:r>
              <a:rPr lang="en-US" sz="100" dirty="0"/>
              <a:t> </a:t>
            </a:r>
            <a:r>
              <a:rPr lang="en-US" dirty="0"/>
              <a:t>L Classifications: Document Databases</a:t>
            </a:r>
            <a:endParaRPr lang="en-US" sz="2000" b="0" dirty="0"/>
          </a:p>
        </p:txBody>
      </p:sp>
      <p:sp>
        <p:nvSpPr>
          <p:cNvPr id="5" name="Text Placeholder 4"/>
          <p:cNvSpPr>
            <a:spLocks noGrp="1"/>
          </p:cNvSpPr>
          <p:nvPr>
            <p:ph type="body" idx="1"/>
          </p:nvPr>
        </p:nvSpPr>
        <p:spPr>
          <a:xfrm>
            <a:off x="141316" y="1430306"/>
            <a:ext cx="8736676" cy="4412672"/>
          </a:xfrm>
        </p:spPr>
        <p:txBody>
          <a:bodyPr>
            <a:normAutofit/>
          </a:bodyPr>
          <a:lstStyle/>
          <a:p>
            <a:pPr>
              <a:buClr>
                <a:schemeClr val="tx2"/>
              </a:buClr>
            </a:pPr>
            <a:r>
              <a:rPr lang="en-US" sz="2200" dirty="0"/>
              <a:t>Like a key-value store, but “document” goes further than “value”. Document is structured so specific elements can be manipulated separately.</a:t>
            </a:r>
          </a:p>
          <a:p>
            <a:pPr>
              <a:buClr>
                <a:schemeClr val="tx2"/>
              </a:buClr>
            </a:pPr>
            <a:r>
              <a:rPr lang="en-US" sz="2200" dirty="0"/>
              <a:t>Example: Mongo DB</a:t>
            </a:r>
          </a:p>
        </p:txBody>
      </p:sp>
      <p:pic>
        <p:nvPicPr>
          <p:cNvPr id="6" name="Picture 5" descr="Figure 14.8 represents the same data from Figure 14.7, key-value database storage in a customer bucket with three key-value pairs, in a tagged format for a document database.&#10;" title="Figure 14.8">
            <a:extLst>
              <a:ext uri="{FF2B5EF4-FFF2-40B4-BE49-F238E27FC236}">
                <a16:creationId xmlns:a16="http://schemas.microsoft.com/office/drawing/2014/main" id="{2888B1AE-1E84-4C89-B687-5F6416DC37D2}"/>
              </a:ext>
            </a:extLst>
          </p:cNvPr>
          <p:cNvPicPr>
            <a:picLocks noChangeAspect="1"/>
          </p:cNvPicPr>
          <p:nvPr/>
        </p:nvPicPr>
        <p:blipFill rotWithShape="1">
          <a:blip r:embed="rId3">
            <a:extLst>
              <a:ext uri="{BEBA8EAE-BF5A-486C-A8C5-ECC9F3942E4B}">
                <a14:imgProps xmlns:a14="http://schemas.microsoft.com/office/drawing/2010/main">
                  <a14:imgLayer r:embed="rId4">
                    <a14:imgEffect>
                      <a14:sharpenSoften amount="50000"/>
                    </a14:imgEffect>
                    <a14:imgEffect>
                      <a14:saturation sat="0"/>
                    </a14:imgEffect>
                    <a14:imgEffect>
                      <a14:brightnessContrast bright="40000" contrast="-40000"/>
                    </a14:imgEffect>
                  </a14:imgLayer>
                </a14:imgProps>
              </a:ext>
            </a:extLst>
          </a:blip>
          <a:srcRect l="14824" t="16224" r="9692" b="7194"/>
          <a:stretch/>
        </p:blipFill>
        <p:spPr>
          <a:xfrm>
            <a:off x="3630112" y="2473575"/>
            <a:ext cx="5372572" cy="2954119"/>
          </a:xfrm>
          <a:prstGeom prst="rect">
            <a:avLst/>
          </a:prstGeom>
        </p:spPr>
      </p:pic>
    </p:spTree>
    <p:extLst>
      <p:ext uri="{BB962C8B-B14F-4D97-AF65-F5344CB8AC3E}">
        <p14:creationId xmlns:p14="http://schemas.microsoft.com/office/powerpoint/2010/main" val="1723794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8856" y="215371"/>
            <a:ext cx="6770928" cy="847886"/>
          </a:xfrm>
        </p:spPr>
        <p:txBody>
          <a:bodyPr>
            <a:normAutofit fontScale="90000"/>
          </a:bodyPr>
          <a:lstStyle/>
          <a:p>
            <a:r>
              <a:rPr lang="en-US" dirty="0"/>
              <a:t>No</a:t>
            </a:r>
            <a:r>
              <a:rPr lang="en-US" sz="100" dirty="0"/>
              <a:t> </a:t>
            </a:r>
            <a:r>
              <a:rPr lang="en-US" dirty="0"/>
              <a:t>S</a:t>
            </a:r>
            <a:r>
              <a:rPr lang="en-US" sz="100" dirty="0"/>
              <a:t> </a:t>
            </a:r>
            <a:r>
              <a:rPr lang="en-US" dirty="0"/>
              <a:t>Q</a:t>
            </a:r>
            <a:r>
              <a:rPr lang="en-US" sz="100" dirty="0"/>
              <a:t> </a:t>
            </a:r>
            <a:r>
              <a:rPr lang="en-US" dirty="0"/>
              <a:t>L Classifications: Columnar Databases</a:t>
            </a:r>
            <a:endParaRPr lang="en-US" sz="2000" b="0" dirty="0"/>
          </a:p>
        </p:txBody>
      </p:sp>
      <p:sp>
        <p:nvSpPr>
          <p:cNvPr id="5" name="Text Placeholder 4"/>
          <p:cNvSpPr>
            <a:spLocks noGrp="1"/>
          </p:cNvSpPr>
          <p:nvPr>
            <p:ph type="body" idx="1"/>
          </p:nvPr>
        </p:nvSpPr>
        <p:spPr>
          <a:xfrm>
            <a:off x="148856" y="1408815"/>
            <a:ext cx="4423144" cy="4662054"/>
          </a:xfrm>
        </p:spPr>
        <p:txBody>
          <a:bodyPr>
            <a:normAutofit/>
          </a:bodyPr>
          <a:lstStyle/>
          <a:p>
            <a:r>
              <a:rPr lang="en-US" sz="2200" dirty="0">
                <a:solidFill>
                  <a:schemeClr val="tx1"/>
                </a:solidFill>
              </a:rPr>
              <a:t>Rows and columns. Distribution of data based on both key values (records or rows) and columns, using “column groups/families”</a:t>
            </a:r>
          </a:p>
          <a:p>
            <a:endParaRPr lang="en-US" sz="2200" dirty="0">
              <a:solidFill>
                <a:schemeClr val="tx1"/>
              </a:solidFill>
            </a:endParaRPr>
          </a:p>
          <a:p>
            <a:r>
              <a:rPr lang="en-US" sz="2200" dirty="0">
                <a:solidFill>
                  <a:schemeClr val="tx1"/>
                </a:solidFill>
              </a:rPr>
              <a:t>Example: Apache Cassandra</a:t>
            </a:r>
          </a:p>
        </p:txBody>
      </p:sp>
      <p:pic>
        <p:nvPicPr>
          <p:cNvPr id="6" name="Picture 5" descr="Figure 14.9 illustrates a CUSTOMER relational table with ten rows of data that is physically stored across five data blocks; row-centric storage and column-centric storage is also highlighted. &#10;" title="Figure 14.9">
            <a:extLst>
              <a:ext uri="{FF2B5EF4-FFF2-40B4-BE49-F238E27FC236}">
                <a16:creationId xmlns:a16="http://schemas.microsoft.com/office/drawing/2014/main" id="{A614AAE5-8A64-40F8-A338-651EBC115B3C}"/>
              </a:ext>
            </a:extLst>
          </p:cNvPr>
          <p:cNvPicPr>
            <a:picLocks noChangeAspect="1"/>
          </p:cNvPicPr>
          <p:nvPr/>
        </p:nvPicPr>
        <p:blipFill rotWithShape="1">
          <a:blip r:embed="rId3"/>
          <a:srcRect l="3155" t="62059" r="2479"/>
          <a:stretch/>
        </p:blipFill>
        <p:spPr>
          <a:xfrm>
            <a:off x="263473" y="4310890"/>
            <a:ext cx="8745788" cy="2311771"/>
          </a:xfrm>
          <a:prstGeom prst="rect">
            <a:avLst/>
          </a:prstGeom>
        </p:spPr>
      </p:pic>
      <p:pic>
        <p:nvPicPr>
          <p:cNvPr id="7" name="Picture 6" descr="Figure 14.9 illustrates a CUSTOMER relational table with ten rows of data that is physically stored across five data blocks; row-centric storage and column-centric storage is also highlighted. &#10;" title="Figure 14.9">
            <a:extLst>
              <a:ext uri="{FF2B5EF4-FFF2-40B4-BE49-F238E27FC236}">
                <a16:creationId xmlns:a16="http://schemas.microsoft.com/office/drawing/2014/main" id="{F957D035-F99E-489A-94DE-0BAD388EAE92}"/>
              </a:ext>
            </a:extLst>
          </p:cNvPr>
          <p:cNvPicPr>
            <a:picLocks noChangeAspect="1"/>
          </p:cNvPicPr>
          <p:nvPr/>
        </p:nvPicPr>
        <p:blipFill rotWithShape="1">
          <a:blip r:embed="rId4">
            <a:extLst>
              <a:ext uri="{BEBA8EAE-BF5A-486C-A8C5-ECC9F3942E4B}">
                <a14:imgProps xmlns:a14="http://schemas.microsoft.com/office/drawing/2010/main">
                  <a14:imgLayer r:embed="rId5">
                    <a14:imgEffect>
                      <a14:sharpenSoften amount="50000"/>
                    </a14:imgEffect>
                    <a14:imgEffect>
                      <a14:saturation sat="0"/>
                    </a14:imgEffect>
                    <a14:imgEffect>
                      <a14:brightnessContrast bright="40000" contrast="-40000"/>
                    </a14:imgEffect>
                  </a14:imgLayer>
                </a14:imgProps>
              </a:ext>
            </a:extLst>
          </a:blip>
          <a:srcRect l="26374" t="7839" r="28226" b="39322"/>
          <a:stretch/>
        </p:blipFill>
        <p:spPr>
          <a:xfrm>
            <a:off x="4740614" y="1063257"/>
            <a:ext cx="4119181" cy="3151896"/>
          </a:xfrm>
          <a:prstGeom prst="rect">
            <a:avLst/>
          </a:prstGeom>
        </p:spPr>
      </p:pic>
    </p:spTree>
    <p:extLst>
      <p:ext uri="{BB962C8B-B14F-4D97-AF65-F5344CB8AC3E}">
        <p14:creationId xmlns:p14="http://schemas.microsoft.com/office/powerpoint/2010/main" val="31214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04369-409F-4E2B-AE45-2818DD12211E}"/>
              </a:ext>
            </a:extLst>
          </p:cNvPr>
          <p:cNvSpPr>
            <a:spLocks noGrp="1"/>
          </p:cNvSpPr>
          <p:nvPr>
            <p:ph type="title"/>
          </p:nvPr>
        </p:nvSpPr>
        <p:spPr/>
        <p:txBody>
          <a:bodyPr>
            <a:normAutofit fontScale="90000"/>
          </a:bodyPr>
          <a:lstStyle/>
          <a:p>
            <a:r>
              <a:rPr lang="en-US" dirty="0"/>
              <a:t>No</a:t>
            </a:r>
            <a:r>
              <a:rPr lang="en-US" sz="100" dirty="0"/>
              <a:t> </a:t>
            </a:r>
            <a:r>
              <a:rPr lang="en-US" dirty="0"/>
              <a:t>S</a:t>
            </a:r>
            <a:r>
              <a:rPr lang="en-US" sz="100" dirty="0"/>
              <a:t> </a:t>
            </a:r>
            <a:r>
              <a:rPr lang="en-US" dirty="0"/>
              <a:t>Q</a:t>
            </a:r>
            <a:r>
              <a:rPr lang="en-US" sz="100" dirty="0"/>
              <a:t> </a:t>
            </a:r>
            <a:r>
              <a:rPr lang="en-US" dirty="0"/>
              <a:t>L Classifications: Columnar Databases</a:t>
            </a:r>
          </a:p>
        </p:txBody>
      </p:sp>
      <p:pic>
        <p:nvPicPr>
          <p:cNvPr id="5" name="Picture 4">
            <a:extLst>
              <a:ext uri="{FF2B5EF4-FFF2-40B4-BE49-F238E27FC236}">
                <a16:creationId xmlns:a16="http://schemas.microsoft.com/office/drawing/2014/main" id="{354D7CC1-6F56-4BE9-B5EB-23E9F0DB3CF4}"/>
              </a:ext>
            </a:extLst>
          </p:cNvPr>
          <p:cNvPicPr>
            <a:picLocks noChangeAspect="1"/>
          </p:cNvPicPr>
          <p:nvPr/>
        </p:nvPicPr>
        <p:blipFill rotWithShape="1">
          <a:blip r:embed="rId3"/>
          <a:srcRect l="10915" t="8485" r="11301" b="4036"/>
          <a:stretch/>
        </p:blipFill>
        <p:spPr>
          <a:xfrm>
            <a:off x="2310936" y="882668"/>
            <a:ext cx="6379937" cy="5698491"/>
          </a:xfrm>
          <a:prstGeom prst="rect">
            <a:avLst/>
          </a:prstGeom>
        </p:spPr>
      </p:pic>
    </p:spTree>
    <p:extLst>
      <p:ext uri="{BB962C8B-B14F-4D97-AF65-F5344CB8AC3E}">
        <p14:creationId xmlns:p14="http://schemas.microsoft.com/office/powerpoint/2010/main" val="1355370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6750" y="215372"/>
            <a:ext cx="6798320" cy="810996"/>
          </a:xfrm>
        </p:spPr>
        <p:txBody>
          <a:bodyPr>
            <a:normAutofit fontScale="90000"/>
          </a:bodyPr>
          <a:lstStyle/>
          <a:p>
            <a:r>
              <a:rPr lang="en-US" dirty="0"/>
              <a:t>No</a:t>
            </a:r>
            <a:r>
              <a:rPr lang="en-US" sz="100" dirty="0"/>
              <a:t> </a:t>
            </a:r>
            <a:r>
              <a:rPr lang="en-US" dirty="0"/>
              <a:t>S</a:t>
            </a:r>
            <a:r>
              <a:rPr lang="en-US" sz="100" dirty="0"/>
              <a:t> </a:t>
            </a:r>
            <a:r>
              <a:rPr lang="en-US" dirty="0"/>
              <a:t>Q</a:t>
            </a:r>
            <a:r>
              <a:rPr lang="en-US" sz="100" dirty="0"/>
              <a:t> </a:t>
            </a:r>
            <a:r>
              <a:rPr lang="en-US" dirty="0"/>
              <a:t>L Classifications: Graph Databases</a:t>
            </a:r>
            <a:endParaRPr lang="en-US" sz="2000" b="0" dirty="0"/>
          </a:p>
        </p:txBody>
      </p:sp>
      <p:sp>
        <p:nvSpPr>
          <p:cNvPr id="5" name="Text Placeholder 4"/>
          <p:cNvSpPr>
            <a:spLocks noGrp="1"/>
          </p:cNvSpPr>
          <p:nvPr>
            <p:ph type="body" idx="1"/>
          </p:nvPr>
        </p:nvSpPr>
        <p:spPr>
          <a:xfrm>
            <a:off x="96750" y="1249327"/>
            <a:ext cx="9047249" cy="4662054"/>
          </a:xfrm>
        </p:spPr>
        <p:txBody>
          <a:bodyPr>
            <a:normAutofit/>
          </a:bodyPr>
          <a:lstStyle/>
          <a:p>
            <a:r>
              <a:rPr lang="en-US" sz="2200" dirty="0">
                <a:solidFill>
                  <a:schemeClr val="tx1"/>
                </a:solidFill>
              </a:rPr>
              <a:t>Maintain information regarding the relationships between data items. Nodes with properties. Connections between nodes (relationships) can also have properties.</a:t>
            </a:r>
          </a:p>
          <a:p>
            <a:r>
              <a:rPr lang="en-US" sz="2200" dirty="0">
                <a:solidFill>
                  <a:schemeClr val="tx1"/>
                </a:solidFill>
              </a:rPr>
              <a:t>Example: Neo4j</a:t>
            </a:r>
          </a:p>
        </p:txBody>
      </p:sp>
      <p:pic>
        <p:nvPicPr>
          <p:cNvPr id="6" name="Picture 5" descr="The primary components (nodes, edges, and properties) and interactions in a graph database are illustrated in Figure 14.11." title="Figure 14.11">
            <a:extLst>
              <a:ext uri="{FF2B5EF4-FFF2-40B4-BE49-F238E27FC236}">
                <a16:creationId xmlns:a16="http://schemas.microsoft.com/office/drawing/2014/main" id="{75E9F956-4D2E-42E0-A274-E33A6716A0C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8361"/>
          <a:stretch/>
        </p:blipFill>
        <p:spPr>
          <a:xfrm>
            <a:off x="1945758" y="2984827"/>
            <a:ext cx="6649607" cy="3723907"/>
          </a:xfrm>
          <a:prstGeom prst="rect">
            <a:avLst/>
          </a:prstGeom>
        </p:spPr>
      </p:pic>
    </p:spTree>
    <p:extLst>
      <p:ext uri="{BB962C8B-B14F-4D97-AF65-F5344CB8AC3E}">
        <p14:creationId xmlns:p14="http://schemas.microsoft.com/office/powerpoint/2010/main" val="15137250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sf - Revision 1881586: /hadoop/logos/out_rgb">
            <a:extLst>
              <a:ext uri="{FF2B5EF4-FFF2-40B4-BE49-F238E27FC236}">
                <a16:creationId xmlns:a16="http://schemas.microsoft.com/office/drawing/2014/main" id="{3F4DAC12-AE2D-4F1B-8A04-E272698260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288" y="1507458"/>
            <a:ext cx="2870317" cy="67871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7EBDBEB4-75D6-4C97-A024-F747D4AC0B5B}"/>
              </a:ext>
            </a:extLst>
          </p:cNvPr>
          <p:cNvSpPr/>
          <p:nvPr/>
        </p:nvSpPr>
        <p:spPr>
          <a:xfrm>
            <a:off x="3161573" y="835858"/>
            <a:ext cx="5982425" cy="1938992"/>
          </a:xfrm>
          <a:prstGeom prst="rect">
            <a:avLst/>
          </a:prstGeom>
        </p:spPr>
        <p:txBody>
          <a:bodyPr wrap="square">
            <a:spAutoFit/>
          </a:bodyPr>
          <a:lstStyle/>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an open source implementation framework of MapReduce </a:t>
            </a:r>
          </a:p>
          <a:p>
            <a:pPr marL="342900" indent="-34290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the most talked about Big-Data data management product today</a:t>
            </a:r>
          </a:p>
        </p:txBody>
      </p:sp>
      <p:pic>
        <p:nvPicPr>
          <p:cNvPr id="1032" name="Picture 8" descr="hadoop-users– J2eeDev">
            <a:extLst>
              <a:ext uri="{FF2B5EF4-FFF2-40B4-BE49-F238E27FC236}">
                <a16:creationId xmlns:a16="http://schemas.microsoft.com/office/drawing/2014/main" id="{CC01B175-A39D-42A0-A7F0-B044E48F35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0833" y="3196025"/>
            <a:ext cx="3865291" cy="280780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B732F643-13C9-421D-9F13-A9A27F399D4A}"/>
              </a:ext>
            </a:extLst>
          </p:cNvPr>
          <p:cNvSpPr/>
          <p:nvPr/>
        </p:nvSpPr>
        <p:spPr>
          <a:xfrm>
            <a:off x="170361" y="3137969"/>
            <a:ext cx="5982425" cy="461665"/>
          </a:xfrm>
          <a:prstGeom prst="rect">
            <a:avLst/>
          </a:prstGeom>
        </p:spPr>
        <p:txBody>
          <a:bodyPr wrap="square">
            <a:spAutoFit/>
          </a:bodyPr>
          <a:lstStyle/>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widely adopted in companies:</a:t>
            </a:r>
          </a:p>
        </p:txBody>
      </p:sp>
    </p:spTree>
    <p:extLst>
      <p:ext uri="{BB962C8B-B14F-4D97-AF65-F5344CB8AC3E}">
        <p14:creationId xmlns:p14="http://schemas.microsoft.com/office/powerpoint/2010/main" val="18843291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8694E7-6409-4053-82FB-2BC84D838F8F}"/>
              </a:ext>
            </a:extLst>
          </p:cNvPr>
          <p:cNvPicPr>
            <a:picLocks noChangeAspect="1"/>
          </p:cNvPicPr>
          <p:nvPr/>
        </p:nvPicPr>
        <p:blipFill>
          <a:blip r:embed="rId3"/>
          <a:stretch>
            <a:fillRect/>
          </a:stretch>
        </p:blipFill>
        <p:spPr>
          <a:xfrm>
            <a:off x="11723" y="953098"/>
            <a:ext cx="8102286" cy="5139373"/>
          </a:xfrm>
          <a:prstGeom prst="rect">
            <a:avLst/>
          </a:prstGeom>
        </p:spPr>
      </p:pic>
      <p:sp>
        <p:nvSpPr>
          <p:cNvPr id="9" name="Rectangle 8">
            <a:extLst>
              <a:ext uri="{FF2B5EF4-FFF2-40B4-BE49-F238E27FC236}">
                <a16:creationId xmlns:a16="http://schemas.microsoft.com/office/drawing/2014/main" id="{4CEC8322-8701-402B-AEA1-4FDE153B9155}"/>
              </a:ext>
            </a:extLst>
          </p:cNvPr>
          <p:cNvSpPr/>
          <p:nvPr/>
        </p:nvSpPr>
        <p:spPr>
          <a:xfrm>
            <a:off x="11723" y="397648"/>
            <a:ext cx="4399264" cy="923330"/>
          </a:xfrm>
          <a:prstGeom prst="rect">
            <a:avLst/>
          </a:prstGeom>
        </p:spPr>
        <p:txBody>
          <a:bodyPr wrap="square">
            <a:spAutoFit/>
          </a:bodyPr>
          <a:lstStyle/>
          <a:p>
            <a:r>
              <a:rPr lang="en-US" b="1" dirty="0">
                <a:solidFill>
                  <a:srgbClr val="522D80"/>
                </a:solidFill>
                <a:latin typeface="Arial" panose="020B0604020202020204" pitchFamily="34" charset="0"/>
                <a:cs typeface="Arial" panose="020B0604020202020204" pitchFamily="34" charset="0"/>
              </a:rPr>
              <a:t>MapReduce: </a:t>
            </a:r>
            <a:r>
              <a:rPr lang="en-US" dirty="0">
                <a:solidFill>
                  <a:srgbClr val="522D80"/>
                </a:solidFill>
                <a:latin typeface="Arial" panose="020B0604020202020204" pitchFamily="34" charset="0"/>
                <a:cs typeface="Arial" panose="020B0604020202020204" pitchFamily="34" charset="0"/>
              </a:rPr>
              <a:t>an algorithm for massive parallel processing of various types of computing tasks</a:t>
            </a:r>
          </a:p>
        </p:txBody>
      </p:sp>
      <p:sp>
        <p:nvSpPr>
          <p:cNvPr id="10" name="Rectangle 9">
            <a:extLst>
              <a:ext uri="{FF2B5EF4-FFF2-40B4-BE49-F238E27FC236}">
                <a16:creationId xmlns:a16="http://schemas.microsoft.com/office/drawing/2014/main" id="{0DEB4AF7-A027-4590-9329-5BB0CEA3CD78}"/>
              </a:ext>
            </a:extLst>
          </p:cNvPr>
          <p:cNvSpPr/>
          <p:nvPr/>
        </p:nvSpPr>
        <p:spPr>
          <a:xfrm>
            <a:off x="6808082" y="765528"/>
            <a:ext cx="2417980" cy="1477328"/>
          </a:xfrm>
          <a:prstGeom prst="rect">
            <a:avLst/>
          </a:prstGeom>
        </p:spPr>
        <p:txBody>
          <a:bodyPr wrap="square">
            <a:spAutoFit/>
          </a:bodyPr>
          <a:lstStyle/>
          <a:p>
            <a:r>
              <a:rPr lang="en-US" b="1" dirty="0">
                <a:solidFill>
                  <a:srgbClr val="522D80"/>
                </a:solidFill>
                <a:latin typeface="Arial" panose="020B0604020202020204" pitchFamily="34" charset="0"/>
                <a:cs typeface="Arial" panose="020B0604020202020204" pitchFamily="34" charset="0"/>
              </a:rPr>
              <a:t>HDFS: </a:t>
            </a:r>
            <a:r>
              <a:rPr lang="en-US" dirty="0">
                <a:solidFill>
                  <a:srgbClr val="522D80"/>
                </a:solidFill>
                <a:latin typeface="Arial" panose="020B0604020202020204" pitchFamily="34" charset="0"/>
                <a:cs typeface="Arial" panose="020B0604020202020204" pitchFamily="34" charset="0"/>
              </a:rPr>
              <a:t>a file system designed for managing many large files in a distributed environment</a:t>
            </a:r>
          </a:p>
        </p:txBody>
      </p:sp>
    </p:spTree>
    <p:extLst>
      <p:ext uri="{BB962C8B-B14F-4D97-AF65-F5344CB8AC3E}">
        <p14:creationId xmlns:p14="http://schemas.microsoft.com/office/powerpoint/2010/main" val="3874654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E6480-443B-4EBE-992C-962A9DABB308}"/>
              </a:ext>
            </a:extLst>
          </p:cNvPr>
          <p:cNvSpPr>
            <a:spLocks noGrp="1"/>
          </p:cNvSpPr>
          <p:nvPr>
            <p:ph type="title"/>
          </p:nvPr>
        </p:nvSpPr>
        <p:spPr>
          <a:xfrm>
            <a:off x="86603" y="186116"/>
            <a:ext cx="6879252" cy="581575"/>
          </a:xfrm>
        </p:spPr>
        <p:txBody>
          <a:bodyPr/>
          <a:lstStyle/>
          <a:p>
            <a:r>
              <a:rPr lang="en-US" dirty="0"/>
              <a:t>How Does HDFS Work?</a:t>
            </a:r>
          </a:p>
        </p:txBody>
      </p:sp>
      <p:sp>
        <p:nvSpPr>
          <p:cNvPr id="6" name="Rectangle 5">
            <a:extLst>
              <a:ext uri="{FF2B5EF4-FFF2-40B4-BE49-F238E27FC236}">
                <a16:creationId xmlns:a16="http://schemas.microsoft.com/office/drawing/2014/main" id="{4ECDB0D6-DEB5-430C-9FE2-5B47AFFD352A}"/>
              </a:ext>
            </a:extLst>
          </p:cNvPr>
          <p:cNvSpPr/>
          <p:nvPr/>
        </p:nvSpPr>
        <p:spPr>
          <a:xfrm>
            <a:off x="631516" y="2249608"/>
            <a:ext cx="822960"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1</a:t>
            </a:r>
          </a:p>
        </p:txBody>
      </p:sp>
      <p:sp>
        <p:nvSpPr>
          <p:cNvPr id="7" name="Rectangle 6">
            <a:extLst>
              <a:ext uri="{FF2B5EF4-FFF2-40B4-BE49-F238E27FC236}">
                <a16:creationId xmlns:a16="http://schemas.microsoft.com/office/drawing/2014/main" id="{E451B58C-2AB8-48FE-8D4A-4B368409CE2A}"/>
              </a:ext>
            </a:extLst>
          </p:cNvPr>
          <p:cNvSpPr/>
          <p:nvPr/>
        </p:nvSpPr>
        <p:spPr>
          <a:xfrm>
            <a:off x="1939966" y="2249608"/>
            <a:ext cx="822960"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2</a:t>
            </a:r>
          </a:p>
        </p:txBody>
      </p:sp>
      <p:sp>
        <p:nvSpPr>
          <p:cNvPr id="8" name="Rectangle 7">
            <a:extLst>
              <a:ext uri="{FF2B5EF4-FFF2-40B4-BE49-F238E27FC236}">
                <a16:creationId xmlns:a16="http://schemas.microsoft.com/office/drawing/2014/main" id="{5775F670-645B-4ED5-AA8D-CF38C28CD221}"/>
              </a:ext>
            </a:extLst>
          </p:cNvPr>
          <p:cNvSpPr/>
          <p:nvPr/>
        </p:nvSpPr>
        <p:spPr>
          <a:xfrm>
            <a:off x="3248416" y="2249608"/>
            <a:ext cx="822960"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3</a:t>
            </a:r>
          </a:p>
        </p:txBody>
      </p:sp>
      <p:sp>
        <p:nvSpPr>
          <p:cNvPr id="9" name="Rectangle 8">
            <a:extLst>
              <a:ext uri="{FF2B5EF4-FFF2-40B4-BE49-F238E27FC236}">
                <a16:creationId xmlns:a16="http://schemas.microsoft.com/office/drawing/2014/main" id="{DA16843F-04D5-4353-A4A4-48A4C7A2BDCF}"/>
              </a:ext>
            </a:extLst>
          </p:cNvPr>
          <p:cNvSpPr/>
          <p:nvPr/>
        </p:nvSpPr>
        <p:spPr>
          <a:xfrm>
            <a:off x="4556866" y="2249608"/>
            <a:ext cx="822960"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4</a:t>
            </a:r>
          </a:p>
        </p:txBody>
      </p:sp>
      <p:sp>
        <p:nvSpPr>
          <p:cNvPr id="10" name="Rectangle 9">
            <a:extLst>
              <a:ext uri="{FF2B5EF4-FFF2-40B4-BE49-F238E27FC236}">
                <a16:creationId xmlns:a16="http://schemas.microsoft.com/office/drawing/2014/main" id="{EDE6A553-B86C-4355-8C23-39AD5A8EA018}"/>
              </a:ext>
            </a:extLst>
          </p:cNvPr>
          <p:cNvSpPr/>
          <p:nvPr/>
        </p:nvSpPr>
        <p:spPr>
          <a:xfrm>
            <a:off x="5865316" y="2249608"/>
            <a:ext cx="822960"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5</a:t>
            </a:r>
          </a:p>
        </p:txBody>
      </p:sp>
      <p:sp>
        <p:nvSpPr>
          <p:cNvPr id="13" name="Rectangle 12">
            <a:extLst>
              <a:ext uri="{FF2B5EF4-FFF2-40B4-BE49-F238E27FC236}">
                <a16:creationId xmlns:a16="http://schemas.microsoft.com/office/drawing/2014/main" id="{8425877F-7E7B-430F-AE71-BF649D8D597E}"/>
              </a:ext>
            </a:extLst>
          </p:cNvPr>
          <p:cNvSpPr/>
          <p:nvPr/>
        </p:nvSpPr>
        <p:spPr>
          <a:xfrm>
            <a:off x="7215001" y="2249608"/>
            <a:ext cx="822960"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6</a:t>
            </a:r>
          </a:p>
        </p:txBody>
      </p:sp>
      <p:sp>
        <p:nvSpPr>
          <p:cNvPr id="14" name="Rectangle 13">
            <a:extLst>
              <a:ext uri="{FF2B5EF4-FFF2-40B4-BE49-F238E27FC236}">
                <a16:creationId xmlns:a16="http://schemas.microsoft.com/office/drawing/2014/main" id="{270CE11C-6AF1-438D-BDD8-F8B212826E29}"/>
              </a:ext>
            </a:extLst>
          </p:cNvPr>
          <p:cNvSpPr/>
          <p:nvPr/>
        </p:nvSpPr>
        <p:spPr>
          <a:xfrm>
            <a:off x="3105450" y="930224"/>
            <a:ext cx="2759866" cy="940233"/>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3200" b="1" dirty="0">
                <a:latin typeface="Arial" panose="020B0604020202020204" pitchFamily="34" charset="0"/>
                <a:cs typeface="Arial" panose="020B0604020202020204" pitchFamily="34" charset="0"/>
              </a:rPr>
              <a:t>Data</a:t>
            </a:r>
          </a:p>
        </p:txBody>
      </p:sp>
      <p:sp>
        <p:nvSpPr>
          <p:cNvPr id="78" name="Rectangle 77">
            <a:extLst>
              <a:ext uri="{FF2B5EF4-FFF2-40B4-BE49-F238E27FC236}">
                <a16:creationId xmlns:a16="http://schemas.microsoft.com/office/drawing/2014/main" id="{1D21B99B-54AF-4416-AE12-2AF3A1367D4A}"/>
              </a:ext>
            </a:extLst>
          </p:cNvPr>
          <p:cNvSpPr/>
          <p:nvPr/>
        </p:nvSpPr>
        <p:spPr>
          <a:xfrm>
            <a:off x="226963" y="4078296"/>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1</a:t>
            </a:r>
          </a:p>
        </p:txBody>
      </p:sp>
      <p:sp>
        <p:nvSpPr>
          <p:cNvPr id="79" name="Rectangle 78">
            <a:extLst>
              <a:ext uri="{FF2B5EF4-FFF2-40B4-BE49-F238E27FC236}">
                <a16:creationId xmlns:a16="http://schemas.microsoft.com/office/drawing/2014/main" id="{45536773-5E35-4BF5-AF25-3953F1A54896}"/>
              </a:ext>
            </a:extLst>
          </p:cNvPr>
          <p:cNvSpPr/>
          <p:nvPr/>
        </p:nvSpPr>
        <p:spPr>
          <a:xfrm>
            <a:off x="1180163" y="4078296"/>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2</a:t>
            </a:r>
          </a:p>
        </p:txBody>
      </p:sp>
      <p:sp>
        <p:nvSpPr>
          <p:cNvPr id="128" name="Rectangle 127">
            <a:extLst>
              <a:ext uri="{FF2B5EF4-FFF2-40B4-BE49-F238E27FC236}">
                <a16:creationId xmlns:a16="http://schemas.microsoft.com/office/drawing/2014/main" id="{DCA6D64A-2B36-43B0-9B68-1DD77624159C}"/>
              </a:ext>
            </a:extLst>
          </p:cNvPr>
          <p:cNvSpPr/>
          <p:nvPr/>
        </p:nvSpPr>
        <p:spPr>
          <a:xfrm>
            <a:off x="2515522" y="4077014"/>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1</a:t>
            </a:r>
          </a:p>
        </p:txBody>
      </p:sp>
      <p:sp>
        <p:nvSpPr>
          <p:cNvPr id="129" name="Rectangle 128">
            <a:extLst>
              <a:ext uri="{FF2B5EF4-FFF2-40B4-BE49-F238E27FC236}">
                <a16:creationId xmlns:a16="http://schemas.microsoft.com/office/drawing/2014/main" id="{BC5D20AC-FA0B-4DE7-A2F7-261A9478143E}"/>
              </a:ext>
            </a:extLst>
          </p:cNvPr>
          <p:cNvSpPr/>
          <p:nvPr/>
        </p:nvSpPr>
        <p:spPr>
          <a:xfrm>
            <a:off x="3468722" y="4077014"/>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3</a:t>
            </a:r>
          </a:p>
        </p:txBody>
      </p:sp>
      <p:sp>
        <p:nvSpPr>
          <p:cNvPr id="130" name="Rectangle 129">
            <a:extLst>
              <a:ext uri="{FF2B5EF4-FFF2-40B4-BE49-F238E27FC236}">
                <a16:creationId xmlns:a16="http://schemas.microsoft.com/office/drawing/2014/main" id="{B00DF9AC-9E58-4734-83E6-495EE91253BB}"/>
              </a:ext>
            </a:extLst>
          </p:cNvPr>
          <p:cNvSpPr/>
          <p:nvPr/>
        </p:nvSpPr>
        <p:spPr>
          <a:xfrm>
            <a:off x="4820584" y="4077014"/>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2</a:t>
            </a:r>
          </a:p>
        </p:txBody>
      </p:sp>
      <p:sp>
        <p:nvSpPr>
          <p:cNvPr id="131" name="Rectangle 130">
            <a:extLst>
              <a:ext uri="{FF2B5EF4-FFF2-40B4-BE49-F238E27FC236}">
                <a16:creationId xmlns:a16="http://schemas.microsoft.com/office/drawing/2014/main" id="{D9A8EF3E-014C-4C07-9A88-974026E1D531}"/>
              </a:ext>
            </a:extLst>
          </p:cNvPr>
          <p:cNvSpPr/>
          <p:nvPr/>
        </p:nvSpPr>
        <p:spPr>
          <a:xfrm>
            <a:off x="5773784" y="4077014"/>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3</a:t>
            </a:r>
          </a:p>
        </p:txBody>
      </p:sp>
      <p:sp>
        <p:nvSpPr>
          <p:cNvPr id="132" name="Rectangle 131">
            <a:extLst>
              <a:ext uri="{FF2B5EF4-FFF2-40B4-BE49-F238E27FC236}">
                <a16:creationId xmlns:a16="http://schemas.microsoft.com/office/drawing/2014/main" id="{F7B89B9F-13E2-44AC-824A-9CB929AAFD66}"/>
              </a:ext>
            </a:extLst>
          </p:cNvPr>
          <p:cNvSpPr/>
          <p:nvPr/>
        </p:nvSpPr>
        <p:spPr>
          <a:xfrm>
            <a:off x="7122793" y="4077014"/>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1</a:t>
            </a:r>
          </a:p>
        </p:txBody>
      </p:sp>
      <p:sp>
        <p:nvSpPr>
          <p:cNvPr id="133" name="Rectangle 132">
            <a:extLst>
              <a:ext uri="{FF2B5EF4-FFF2-40B4-BE49-F238E27FC236}">
                <a16:creationId xmlns:a16="http://schemas.microsoft.com/office/drawing/2014/main" id="{42A21F13-3221-4AF3-A12C-EF46B9E9AA87}"/>
              </a:ext>
            </a:extLst>
          </p:cNvPr>
          <p:cNvSpPr/>
          <p:nvPr/>
        </p:nvSpPr>
        <p:spPr>
          <a:xfrm>
            <a:off x="8075993" y="4077014"/>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2</a:t>
            </a:r>
          </a:p>
        </p:txBody>
      </p:sp>
      <p:sp>
        <p:nvSpPr>
          <p:cNvPr id="134" name="Rectangle 133">
            <a:extLst>
              <a:ext uri="{FF2B5EF4-FFF2-40B4-BE49-F238E27FC236}">
                <a16:creationId xmlns:a16="http://schemas.microsoft.com/office/drawing/2014/main" id="{7A9D592A-C994-4DBE-9E2F-636EF2A38B08}"/>
              </a:ext>
            </a:extLst>
          </p:cNvPr>
          <p:cNvSpPr/>
          <p:nvPr/>
        </p:nvSpPr>
        <p:spPr>
          <a:xfrm>
            <a:off x="226963" y="4813553"/>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4</a:t>
            </a:r>
          </a:p>
        </p:txBody>
      </p:sp>
      <p:sp>
        <p:nvSpPr>
          <p:cNvPr id="135" name="Rectangle 134">
            <a:extLst>
              <a:ext uri="{FF2B5EF4-FFF2-40B4-BE49-F238E27FC236}">
                <a16:creationId xmlns:a16="http://schemas.microsoft.com/office/drawing/2014/main" id="{3008876D-95CC-4115-8112-A8C5CC1BE1FA}"/>
              </a:ext>
            </a:extLst>
          </p:cNvPr>
          <p:cNvSpPr/>
          <p:nvPr/>
        </p:nvSpPr>
        <p:spPr>
          <a:xfrm>
            <a:off x="1180163" y="4813553"/>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5</a:t>
            </a:r>
          </a:p>
        </p:txBody>
      </p:sp>
      <p:sp>
        <p:nvSpPr>
          <p:cNvPr id="136" name="Rectangle 135">
            <a:extLst>
              <a:ext uri="{FF2B5EF4-FFF2-40B4-BE49-F238E27FC236}">
                <a16:creationId xmlns:a16="http://schemas.microsoft.com/office/drawing/2014/main" id="{90A4DCAC-0A3A-4AEA-960D-6F1C572DFC7C}"/>
              </a:ext>
            </a:extLst>
          </p:cNvPr>
          <p:cNvSpPr/>
          <p:nvPr/>
        </p:nvSpPr>
        <p:spPr>
          <a:xfrm>
            <a:off x="2515522" y="4812271"/>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5</a:t>
            </a:r>
          </a:p>
        </p:txBody>
      </p:sp>
      <p:sp>
        <p:nvSpPr>
          <p:cNvPr id="137" name="Rectangle 136">
            <a:extLst>
              <a:ext uri="{FF2B5EF4-FFF2-40B4-BE49-F238E27FC236}">
                <a16:creationId xmlns:a16="http://schemas.microsoft.com/office/drawing/2014/main" id="{0D5D831E-D730-4612-BC7B-EDD9DA709848}"/>
              </a:ext>
            </a:extLst>
          </p:cNvPr>
          <p:cNvSpPr/>
          <p:nvPr/>
        </p:nvSpPr>
        <p:spPr>
          <a:xfrm>
            <a:off x="3468722" y="4812271"/>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4</a:t>
            </a:r>
          </a:p>
        </p:txBody>
      </p:sp>
      <p:sp>
        <p:nvSpPr>
          <p:cNvPr id="138" name="Rectangle 137">
            <a:extLst>
              <a:ext uri="{FF2B5EF4-FFF2-40B4-BE49-F238E27FC236}">
                <a16:creationId xmlns:a16="http://schemas.microsoft.com/office/drawing/2014/main" id="{B5D596D9-345D-4B3A-A020-5872097B7BB4}"/>
              </a:ext>
            </a:extLst>
          </p:cNvPr>
          <p:cNvSpPr/>
          <p:nvPr/>
        </p:nvSpPr>
        <p:spPr>
          <a:xfrm>
            <a:off x="4820584" y="4812271"/>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5</a:t>
            </a:r>
          </a:p>
        </p:txBody>
      </p:sp>
      <p:sp>
        <p:nvSpPr>
          <p:cNvPr id="139" name="Rectangle 138">
            <a:extLst>
              <a:ext uri="{FF2B5EF4-FFF2-40B4-BE49-F238E27FC236}">
                <a16:creationId xmlns:a16="http://schemas.microsoft.com/office/drawing/2014/main" id="{E6AEC5AF-07EC-49B5-B811-0A133752F634}"/>
              </a:ext>
            </a:extLst>
          </p:cNvPr>
          <p:cNvSpPr/>
          <p:nvPr/>
        </p:nvSpPr>
        <p:spPr>
          <a:xfrm>
            <a:off x="5773784" y="4812271"/>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4</a:t>
            </a:r>
          </a:p>
        </p:txBody>
      </p:sp>
      <p:sp>
        <p:nvSpPr>
          <p:cNvPr id="140" name="Rectangle 139">
            <a:extLst>
              <a:ext uri="{FF2B5EF4-FFF2-40B4-BE49-F238E27FC236}">
                <a16:creationId xmlns:a16="http://schemas.microsoft.com/office/drawing/2014/main" id="{3F3F8F4D-29E3-4D19-8366-46B087730EF7}"/>
              </a:ext>
            </a:extLst>
          </p:cNvPr>
          <p:cNvSpPr/>
          <p:nvPr/>
        </p:nvSpPr>
        <p:spPr>
          <a:xfrm>
            <a:off x="7122793" y="4812271"/>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3</a:t>
            </a:r>
          </a:p>
        </p:txBody>
      </p:sp>
      <p:sp>
        <p:nvSpPr>
          <p:cNvPr id="141" name="Rectangle 140">
            <a:extLst>
              <a:ext uri="{FF2B5EF4-FFF2-40B4-BE49-F238E27FC236}">
                <a16:creationId xmlns:a16="http://schemas.microsoft.com/office/drawing/2014/main" id="{93224260-1004-40C1-A9DF-AA51AB3349BD}"/>
              </a:ext>
            </a:extLst>
          </p:cNvPr>
          <p:cNvSpPr/>
          <p:nvPr/>
        </p:nvSpPr>
        <p:spPr>
          <a:xfrm>
            <a:off x="8075993" y="4812271"/>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6</a:t>
            </a:r>
          </a:p>
        </p:txBody>
      </p:sp>
      <p:sp>
        <p:nvSpPr>
          <p:cNvPr id="142" name="Rectangle 141">
            <a:extLst>
              <a:ext uri="{FF2B5EF4-FFF2-40B4-BE49-F238E27FC236}">
                <a16:creationId xmlns:a16="http://schemas.microsoft.com/office/drawing/2014/main" id="{0230AE2A-43C4-4909-AEAD-0C3D88423DC4}"/>
              </a:ext>
            </a:extLst>
          </p:cNvPr>
          <p:cNvSpPr/>
          <p:nvPr/>
        </p:nvSpPr>
        <p:spPr>
          <a:xfrm>
            <a:off x="226963" y="5578903"/>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6</a:t>
            </a:r>
          </a:p>
        </p:txBody>
      </p:sp>
      <p:sp>
        <p:nvSpPr>
          <p:cNvPr id="144" name="Rectangle 143">
            <a:extLst>
              <a:ext uri="{FF2B5EF4-FFF2-40B4-BE49-F238E27FC236}">
                <a16:creationId xmlns:a16="http://schemas.microsoft.com/office/drawing/2014/main" id="{62D665DD-25F7-446A-9C2D-558D4F37A588}"/>
              </a:ext>
            </a:extLst>
          </p:cNvPr>
          <p:cNvSpPr/>
          <p:nvPr/>
        </p:nvSpPr>
        <p:spPr>
          <a:xfrm>
            <a:off x="2515522" y="5577621"/>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6</a:t>
            </a:r>
          </a:p>
        </p:txBody>
      </p:sp>
      <p:sp>
        <p:nvSpPr>
          <p:cNvPr id="1075" name="Rectangle 1074">
            <a:extLst>
              <a:ext uri="{FF2B5EF4-FFF2-40B4-BE49-F238E27FC236}">
                <a16:creationId xmlns:a16="http://schemas.microsoft.com/office/drawing/2014/main" id="{02FC17D5-D765-4A3F-B63E-AC1A5205CDBC}"/>
              </a:ext>
            </a:extLst>
          </p:cNvPr>
          <p:cNvSpPr/>
          <p:nvPr/>
        </p:nvSpPr>
        <p:spPr>
          <a:xfrm>
            <a:off x="86603" y="3866496"/>
            <a:ext cx="2049624" cy="2503714"/>
          </a:xfrm>
          <a:prstGeom prst="rect">
            <a:avLst/>
          </a:prstGeom>
          <a:noFill/>
          <a:ln w="190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AD57FFB3-CF23-4336-AB39-8B26D303AEBE}"/>
              </a:ext>
            </a:extLst>
          </p:cNvPr>
          <p:cNvSpPr/>
          <p:nvPr/>
        </p:nvSpPr>
        <p:spPr>
          <a:xfrm>
            <a:off x="2373072" y="3877382"/>
            <a:ext cx="2049624" cy="2503714"/>
          </a:xfrm>
          <a:prstGeom prst="rect">
            <a:avLst/>
          </a:prstGeom>
          <a:noFill/>
          <a:ln w="190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3D3D9F58-068C-4972-848A-04C9E2263BFC}"/>
              </a:ext>
            </a:extLst>
          </p:cNvPr>
          <p:cNvSpPr/>
          <p:nvPr/>
        </p:nvSpPr>
        <p:spPr>
          <a:xfrm>
            <a:off x="4697061" y="3888268"/>
            <a:ext cx="2049624" cy="2503714"/>
          </a:xfrm>
          <a:prstGeom prst="rect">
            <a:avLst/>
          </a:prstGeom>
          <a:noFill/>
          <a:ln w="190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9DF53CD4-A1A1-43A3-B1CA-703410BAF3E5}"/>
              </a:ext>
            </a:extLst>
          </p:cNvPr>
          <p:cNvSpPr/>
          <p:nvPr/>
        </p:nvSpPr>
        <p:spPr>
          <a:xfrm>
            <a:off x="6969043" y="3888268"/>
            <a:ext cx="2049624" cy="2503714"/>
          </a:xfrm>
          <a:prstGeom prst="rect">
            <a:avLst/>
          </a:prstGeom>
          <a:noFill/>
          <a:ln w="190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76" name="Rectangle: Rounded Corners 1075">
            <a:extLst>
              <a:ext uri="{FF2B5EF4-FFF2-40B4-BE49-F238E27FC236}">
                <a16:creationId xmlns:a16="http://schemas.microsoft.com/office/drawing/2014/main" id="{B9004013-B211-4DD0-81C6-4E9FFB2ED3CC}"/>
              </a:ext>
            </a:extLst>
          </p:cNvPr>
          <p:cNvSpPr/>
          <p:nvPr/>
        </p:nvSpPr>
        <p:spPr>
          <a:xfrm>
            <a:off x="156784" y="3424309"/>
            <a:ext cx="1909262" cy="562099"/>
          </a:xfrm>
          <a:prstGeom prst="roundRect">
            <a:avLst/>
          </a:prstGeom>
          <a:solidFill>
            <a:srgbClr val="522D8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Data Node 1</a:t>
            </a:r>
          </a:p>
        </p:txBody>
      </p:sp>
      <p:sp>
        <p:nvSpPr>
          <p:cNvPr id="156" name="Rectangle: Rounded Corners 155">
            <a:extLst>
              <a:ext uri="{FF2B5EF4-FFF2-40B4-BE49-F238E27FC236}">
                <a16:creationId xmlns:a16="http://schemas.microsoft.com/office/drawing/2014/main" id="{5953399E-E3A3-47F7-A3A2-5C40994D4E3C}"/>
              </a:ext>
            </a:extLst>
          </p:cNvPr>
          <p:cNvSpPr/>
          <p:nvPr/>
        </p:nvSpPr>
        <p:spPr>
          <a:xfrm>
            <a:off x="2422673" y="3424309"/>
            <a:ext cx="1909262" cy="562099"/>
          </a:xfrm>
          <a:prstGeom prst="roundRect">
            <a:avLst/>
          </a:prstGeom>
          <a:solidFill>
            <a:srgbClr val="522D8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Data Node 2</a:t>
            </a:r>
          </a:p>
        </p:txBody>
      </p:sp>
      <p:sp>
        <p:nvSpPr>
          <p:cNvPr id="157" name="Rectangle: Rounded Corners 156">
            <a:extLst>
              <a:ext uri="{FF2B5EF4-FFF2-40B4-BE49-F238E27FC236}">
                <a16:creationId xmlns:a16="http://schemas.microsoft.com/office/drawing/2014/main" id="{1EE92110-E3FF-4AD8-AB6C-F564392625D0}"/>
              </a:ext>
            </a:extLst>
          </p:cNvPr>
          <p:cNvSpPr/>
          <p:nvPr/>
        </p:nvSpPr>
        <p:spPr>
          <a:xfrm>
            <a:off x="4767242" y="3424565"/>
            <a:ext cx="1909262" cy="562099"/>
          </a:xfrm>
          <a:prstGeom prst="roundRect">
            <a:avLst/>
          </a:prstGeom>
          <a:solidFill>
            <a:srgbClr val="522D8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Data Node 3</a:t>
            </a:r>
          </a:p>
        </p:txBody>
      </p:sp>
      <p:sp>
        <p:nvSpPr>
          <p:cNvPr id="158" name="Rectangle: Rounded Corners 157">
            <a:extLst>
              <a:ext uri="{FF2B5EF4-FFF2-40B4-BE49-F238E27FC236}">
                <a16:creationId xmlns:a16="http://schemas.microsoft.com/office/drawing/2014/main" id="{C083F16D-562E-4B4B-BE5B-1FDB38DC6655}"/>
              </a:ext>
            </a:extLst>
          </p:cNvPr>
          <p:cNvSpPr/>
          <p:nvPr/>
        </p:nvSpPr>
        <p:spPr>
          <a:xfrm>
            <a:off x="7039224" y="3413678"/>
            <a:ext cx="1909262" cy="562099"/>
          </a:xfrm>
          <a:prstGeom prst="roundRect">
            <a:avLst/>
          </a:prstGeom>
          <a:solidFill>
            <a:srgbClr val="522D8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Data Node 4</a:t>
            </a:r>
          </a:p>
        </p:txBody>
      </p:sp>
    </p:spTree>
    <p:extLst>
      <p:ext uri="{BB962C8B-B14F-4D97-AF65-F5344CB8AC3E}">
        <p14:creationId xmlns:p14="http://schemas.microsoft.com/office/powerpoint/2010/main" val="1563637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700" fill="hold"/>
                                        <p:tgtEl>
                                          <p:spTgt spid="14"/>
                                        </p:tgtEl>
                                        <p:attrNameLst>
                                          <p:attrName>ppt_w</p:attrName>
                                        </p:attrNameLst>
                                      </p:cBhvr>
                                      <p:tavLst>
                                        <p:tav tm="0">
                                          <p:val>
                                            <p:fltVal val="0"/>
                                          </p:val>
                                        </p:tav>
                                        <p:tav tm="100000">
                                          <p:val>
                                            <p:strVal val="#ppt_w"/>
                                          </p:val>
                                        </p:tav>
                                      </p:tavLst>
                                    </p:anim>
                                    <p:anim calcmode="lin" valueType="num">
                                      <p:cBhvr>
                                        <p:cTn id="8" dur="700" fill="hold"/>
                                        <p:tgtEl>
                                          <p:spTgt spid="14"/>
                                        </p:tgtEl>
                                        <p:attrNameLst>
                                          <p:attrName>ppt_h</p:attrName>
                                        </p:attrNameLst>
                                      </p:cBhvr>
                                      <p:tavLst>
                                        <p:tav tm="0">
                                          <p:val>
                                            <p:fltVal val="0"/>
                                          </p:val>
                                        </p:tav>
                                        <p:tav tm="100000">
                                          <p:val>
                                            <p:strVal val="#ppt_h"/>
                                          </p:val>
                                        </p:tav>
                                      </p:tavLst>
                                    </p:anim>
                                    <p:anim calcmode="lin" valueType="num">
                                      <p:cBhvr>
                                        <p:cTn id="9" dur="700" fill="hold"/>
                                        <p:tgtEl>
                                          <p:spTgt spid="14"/>
                                        </p:tgtEl>
                                        <p:attrNameLst>
                                          <p:attrName>style.rotation</p:attrName>
                                        </p:attrNameLst>
                                      </p:cBhvr>
                                      <p:tavLst>
                                        <p:tav tm="0">
                                          <p:val>
                                            <p:fltVal val="90"/>
                                          </p:val>
                                        </p:tav>
                                        <p:tav tm="100000">
                                          <p:val>
                                            <p:fltVal val="0"/>
                                          </p:val>
                                        </p:tav>
                                      </p:tavLst>
                                    </p:anim>
                                    <p:animEffect transition="in" filter="fade">
                                      <p:cBhvr>
                                        <p:cTn id="10" dur="7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xit" presetSubtype="0" fill="hold" grpId="1" nodeType="clickEffect">
                                  <p:stCondLst>
                                    <p:cond delay="0"/>
                                  </p:stCondLst>
                                  <p:childTnLst>
                                    <p:animEffect transition="out" filter="fade">
                                      <p:cBhvr>
                                        <p:cTn id="14" dur="700"/>
                                        <p:tgtEl>
                                          <p:spTgt spid="14"/>
                                        </p:tgtEl>
                                      </p:cBhvr>
                                    </p:animEffect>
                                    <p:anim calcmode="lin" valueType="num">
                                      <p:cBhvr>
                                        <p:cTn id="15" dur="700"/>
                                        <p:tgtEl>
                                          <p:spTgt spid="14"/>
                                        </p:tgtEl>
                                        <p:attrNameLst>
                                          <p:attrName>ppt_x</p:attrName>
                                        </p:attrNameLst>
                                      </p:cBhvr>
                                      <p:tavLst>
                                        <p:tav tm="0">
                                          <p:val>
                                            <p:strVal val="ppt_x"/>
                                          </p:val>
                                        </p:tav>
                                        <p:tav tm="100000">
                                          <p:val>
                                            <p:strVal val="ppt_x"/>
                                          </p:val>
                                        </p:tav>
                                      </p:tavLst>
                                    </p:anim>
                                    <p:anim calcmode="lin" valueType="num">
                                      <p:cBhvr>
                                        <p:cTn id="16" dur="700"/>
                                        <p:tgtEl>
                                          <p:spTgt spid="14"/>
                                        </p:tgtEl>
                                        <p:attrNameLst>
                                          <p:attrName>ppt_y</p:attrName>
                                        </p:attrNameLst>
                                      </p:cBhvr>
                                      <p:tavLst>
                                        <p:tav tm="0">
                                          <p:val>
                                            <p:strVal val="ppt_y"/>
                                          </p:val>
                                        </p:tav>
                                        <p:tav tm="100000">
                                          <p:val>
                                            <p:strVal val="ppt_y+.1"/>
                                          </p:val>
                                        </p:tav>
                                      </p:tavLst>
                                    </p:anim>
                                    <p:set>
                                      <p:cBhvr>
                                        <p:cTn id="17" dur="1" fill="hold">
                                          <p:stCondLst>
                                            <p:cond delay="699"/>
                                          </p:stCondLst>
                                        </p:cTn>
                                        <p:tgtEl>
                                          <p:spTgt spid="14"/>
                                        </p:tgtEl>
                                        <p:attrNameLst>
                                          <p:attrName>style.visibility</p:attrName>
                                        </p:attrNameLst>
                                      </p:cBhvr>
                                      <p:to>
                                        <p:strVal val="hidden"/>
                                      </p:to>
                                    </p:set>
                                  </p:childTnLst>
                                </p:cTn>
                              </p:par>
                            </p:childTnLst>
                          </p:cTn>
                        </p:par>
                        <p:par>
                          <p:cTn id="18" fill="hold">
                            <p:stCondLst>
                              <p:cond delay="700"/>
                            </p:stCondLst>
                            <p:childTnLst>
                              <p:par>
                                <p:cTn id="19" presetID="22" presetClass="entr" presetSubtype="4"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down)">
                                      <p:cBhvr>
                                        <p:cTn id="21" dur="500"/>
                                        <p:tgtEl>
                                          <p:spTgt spid="6"/>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down)">
                                      <p:cBhvr>
                                        <p:cTn id="24" dur="500"/>
                                        <p:tgtEl>
                                          <p:spTgt spid="7"/>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down)">
                                      <p:cBhvr>
                                        <p:cTn id="30" dur="500"/>
                                        <p:tgtEl>
                                          <p:spTgt spid="9"/>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down)">
                                      <p:cBhvr>
                                        <p:cTn id="33" dur="500"/>
                                        <p:tgtEl>
                                          <p:spTgt spid="10"/>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down)">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path" presetSubtype="0" accel="50000" decel="50000" fill="hold" grpId="1" nodeType="clickEffect">
                                  <p:stCondLst>
                                    <p:cond delay="0"/>
                                  </p:stCondLst>
                                  <p:childTnLst>
                                    <p:animMotion origin="layout" path="M -0.00121 -3.7037E-7 L -0.04653 0.26644 " pathEditMode="relative" rAng="0" ptsTypes="AA">
                                      <p:cBhvr>
                                        <p:cTn id="40" dur="500" fill="hold"/>
                                        <p:tgtEl>
                                          <p:spTgt spid="6"/>
                                        </p:tgtEl>
                                        <p:attrNameLst>
                                          <p:attrName>ppt_x</p:attrName>
                                          <p:attrName>ppt_y</p:attrName>
                                        </p:attrNameLst>
                                      </p:cBhvr>
                                      <p:rCtr x="-2274" y="13310"/>
                                    </p:animMotion>
                                  </p:childTnLst>
                                </p:cTn>
                              </p:par>
                            </p:childTnLst>
                          </p:cTn>
                        </p:par>
                        <p:par>
                          <p:cTn id="41" fill="hold">
                            <p:stCondLst>
                              <p:cond delay="500"/>
                            </p:stCondLst>
                            <p:childTnLst>
                              <p:par>
                                <p:cTn id="42" presetID="1" presetClass="entr" presetSubtype="0" fill="hold" grpId="0" nodeType="afterEffect">
                                  <p:stCondLst>
                                    <p:cond delay="0"/>
                                  </p:stCondLst>
                                  <p:childTnLst>
                                    <p:set>
                                      <p:cBhvr>
                                        <p:cTn id="43" dur="1" fill="hold">
                                          <p:stCondLst>
                                            <p:cond delay="0"/>
                                          </p:stCondLst>
                                        </p:cTn>
                                        <p:tgtEl>
                                          <p:spTgt spid="78"/>
                                        </p:tgtEl>
                                        <p:attrNameLst>
                                          <p:attrName>style.visibility</p:attrName>
                                        </p:attrNameLst>
                                      </p:cBhvr>
                                      <p:to>
                                        <p:strVal val="visible"/>
                                      </p:to>
                                    </p:set>
                                  </p:childTnLst>
                                </p:cTn>
                              </p:par>
                            </p:childTnLst>
                          </p:cTn>
                        </p:par>
                        <p:par>
                          <p:cTn id="44" fill="hold">
                            <p:stCondLst>
                              <p:cond delay="500"/>
                            </p:stCondLst>
                            <p:childTnLst>
                              <p:par>
                                <p:cTn id="45" presetID="42" presetClass="path" presetSubtype="0" accel="50000" decel="50000" fill="hold" grpId="2" nodeType="afterEffect">
                                  <p:stCondLst>
                                    <p:cond delay="0"/>
                                  </p:stCondLst>
                                  <p:childTnLst>
                                    <p:animMotion origin="layout" path="M -4.44444E-6 2.59259E-6 L 0.20521 0.2662 " pathEditMode="relative" rAng="0" ptsTypes="AA">
                                      <p:cBhvr>
                                        <p:cTn id="46" dur="500" fill="hold"/>
                                        <p:tgtEl>
                                          <p:spTgt spid="6"/>
                                        </p:tgtEl>
                                        <p:attrNameLst>
                                          <p:attrName>ppt_x</p:attrName>
                                          <p:attrName>ppt_y</p:attrName>
                                        </p:attrNameLst>
                                      </p:cBhvr>
                                      <p:rCtr x="10295" y="13333"/>
                                    </p:animMotion>
                                  </p:childTnLst>
                                </p:cTn>
                              </p:par>
                            </p:childTnLst>
                          </p:cTn>
                        </p:par>
                        <p:par>
                          <p:cTn id="47" fill="hold">
                            <p:stCondLst>
                              <p:cond delay="1000"/>
                            </p:stCondLst>
                            <p:childTnLst>
                              <p:par>
                                <p:cTn id="48" presetID="1" presetClass="entr" presetSubtype="0" fill="hold" grpId="0" nodeType="afterEffect">
                                  <p:stCondLst>
                                    <p:cond delay="0"/>
                                  </p:stCondLst>
                                  <p:childTnLst>
                                    <p:set>
                                      <p:cBhvr>
                                        <p:cTn id="49" dur="1" fill="hold">
                                          <p:stCondLst>
                                            <p:cond delay="0"/>
                                          </p:stCondLst>
                                        </p:cTn>
                                        <p:tgtEl>
                                          <p:spTgt spid="128"/>
                                        </p:tgtEl>
                                        <p:attrNameLst>
                                          <p:attrName>style.visibility</p:attrName>
                                        </p:attrNameLst>
                                      </p:cBhvr>
                                      <p:to>
                                        <p:strVal val="visible"/>
                                      </p:to>
                                    </p:set>
                                  </p:childTnLst>
                                </p:cTn>
                              </p:par>
                            </p:childTnLst>
                          </p:cTn>
                        </p:par>
                        <p:par>
                          <p:cTn id="50" fill="hold">
                            <p:stCondLst>
                              <p:cond delay="1000"/>
                            </p:stCondLst>
                            <p:childTnLst>
                              <p:par>
                                <p:cTn id="51" presetID="42" presetClass="path" presetSubtype="0" accel="50000" decel="50000" fill="hold" grpId="3" nodeType="afterEffect">
                                  <p:stCondLst>
                                    <p:cond delay="0"/>
                                  </p:stCondLst>
                                  <p:childTnLst>
                                    <p:animMotion origin="layout" path="M -2.5E-6 -3.7037E-7 L 0.70851 0.26782 " pathEditMode="relative" rAng="0" ptsTypes="AA">
                                      <p:cBhvr>
                                        <p:cTn id="52" dur="500" fill="hold"/>
                                        <p:tgtEl>
                                          <p:spTgt spid="6"/>
                                        </p:tgtEl>
                                        <p:attrNameLst>
                                          <p:attrName>ppt_x</p:attrName>
                                          <p:attrName>ppt_y</p:attrName>
                                        </p:attrNameLst>
                                      </p:cBhvr>
                                      <p:rCtr x="35417" y="13380"/>
                                    </p:animMotion>
                                  </p:childTnLst>
                                </p:cTn>
                              </p:par>
                            </p:childTnLst>
                          </p:cTn>
                        </p:par>
                        <p:par>
                          <p:cTn id="53" fill="hold">
                            <p:stCondLst>
                              <p:cond delay="1500"/>
                            </p:stCondLst>
                            <p:childTnLst>
                              <p:par>
                                <p:cTn id="54" presetID="1" presetClass="entr" presetSubtype="0" fill="hold" grpId="0" nodeType="afterEffect">
                                  <p:stCondLst>
                                    <p:cond delay="0"/>
                                  </p:stCondLst>
                                  <p:childTnLst>
                                    <p:set>
                                      <p:cBhvr>
                                        <p:cTn id="55" dur="1" fill="hold">
                                          <p:stCondLst>
                                            <p:cond delay="0"/>
                                          </p:stCondLst>
                                        </p:cTn>
                                        <p:tgtEl>
                                          <p:spTgt spid="132"/>
                                        </p:tgtEl>
                                        <p:attrNameLst>
                                          <p:attrName>style.visibility</p:attrName>
                                        </p:attrNameLst>
                                      </p:cBhvr>
                                      <p:to>
                                        <p:strVal val="visible"/>
                                      </p:to>
                                    </p:set>
                                  </p:childTnLst>
                                </p:cTn>
                              </p:par>
                              <p:par>
                                <p:cTn id="56" presetID="42" presetClass="path" presetSubtype="0" accel="50000" decel="50000" fill="hold" grpId="1" nodeType="withEffect">
                                  <p:stCondLst>
                                    <p:cond delay="0"/>
                                  </p:stCondLst>
                                  <p:childTnLst>
                                    <p:animMotion origin="layout" path="M 1.94444E-6 -3.7037E-7 L -0.08455 0.2662 " pathEditMode="relative" rAng="0" ptsTypes="AA">
                                      <p:cBhvr>
                                        <p:cTn id="57" dur="500" fill="hold"/>
                                        <p:tgtEl>
                                          <p:spTgt spid="7"/>
                                        </p:tgtEl>
                                        <p:attrNameLst>
                                          <p:attrName>ppt_x</p:attrName>
                                          <p:attrName>ppt_y</p:attrName>
                                        </p:attrNameLst>
                                      </p:cBhvr>
                                      <p:rCtr x="-4236" y="13310"/>
                                    </p:animMotion>
                                  </p:childTnLst>
                                </p:cTn>
                              </p:par>
                            </p:childTnLst>
                          </p:cTn>
                        </p:par>
                        <p:par>
                          <p:cTn id="58" fill="hold">
                            <p:stCondLst>
                              <p:cond delay="2000"/>
                            </p:stCondLst>
                            <p:childTnLst>
                              <p:par>
                                <p:cTn id="59" presetID="1" presetClass="entr" presetSubtype="0" fill="hold" grpId="0" nodeType="afterEffect">
                                  <p:stCondLst>
                                    <p:cond delay="0"/>
                                  </p:stCondLst>
                                  <p:childTnLst>
                                    <p:set>
                                      <p:cBhvr>
                                        <p:cTn id="60" dur="1" fill="hold">
                                          <p:stCondLst>
                                            <p:cond delay="0"/>
                                          </p:stCondLst>
                                        </p:cTn>
                                        <p:tgtEl>
                                          <p:spTgt spid="79"/>
                                        </p:tgtEl>
                                        <p:attrNameLst>
                                          <p:attrName>style.visibility</p:attrName>
                                        </p:attrNameLst>
                                      </p:cBhvr>
                                      <p:to>
                                        <p:strVal val="visible"/>
                                      </p:to>
                                    </p:set>
                                  </p:childTnLst>
                                </p:cTn>
                              </p:par>
                            </p:childTnLst>
                          </p:cTn>
                        </p:par>
                        <p:par>
                          <p:cTn id="61" fill="hold">
                            <p:stCondLst>
                              <p:cond delay="2000"/>
                            </p:stCondLst>
                            <p:childTnLst>
                              <p:par>
                                <p:cTn id="62" presetID="42" presetClass="path" presetSubtype="0" accel="50000" decel="50000" fill="hold" grpId="2" nodeType="afterEffect">
                                  <p:stCondLst>
                                    <p:cond delay="0"/>
                                  </p:stCondLst>
                                  <p:childTnLst>
                                    <p:animMotion origin="layout" path="M 1.94444E-6 -3.7037E-7 L 0.31666 0.26921 " pathEditMode="relative" rAng="0" ptsTypes="AA">
                                      <p:cBhvr>
                                        <p:cTn id="63" dur="500" fill="hold"/>
                                        <p:tgtEl>
                                          <p:spTgt spid="7"/>
                                        </p:tgtEl>
                                        <p:attrNameLst>
                                          <p:attrName>ppt_x</p:attrName>
                                          <p:attrName>ppt_y</p:attrName>
                                        </p:attrNameLst>
                                      </p:cBhvr>
                                      <p:rCtr x="15833" y="13449"/>
                                    </p:animMotion>
                                  </p:childTnLst>
                                </p:cTn>
                              </p:par>
                            </p:childTnLst>
                          </p:cTn>
                        </p:par>
                        <p:par>
                          <p:cTn id="64" fill="hold">
                            <p:stCondLst>
                              <p:cond delay="2500"/>
                            </p:stCondLst>
                            <p:childTnLst>
                              <p:par>
                                <p:cTn id="65" presetID="1" presetClass="entr" presetSubtype="0" fill="hold" grpId="0" nodeType="afterEffect">
                                  <p:stCondLst>
                                    <p:cond delay="0"/>
                                  </p:stCondLst>
                                  <p:childTnLst>
                                    <p:set>
                                      <p:cBhvr>
                                        <p:cTn id="66" dur="1" fill="hold">
                                          <p:stCondLst>
                                            <p:cond delay="0"/>
                                          </p:stCondLst>
                                        </p:cTn>
                                        <p:tgtEl>
                                          <p:spTgt spid="130"/>
                                        </p:tgtEl>
                                        <p:attrNameLst>
                                          <p:attrName>style.visibility</p:attrName>
                                        </p:attrNameLst>
                                      </p:cBhvr>
                                      <p:to>
                                        <p:strVal val="visible"/>
                                      </p:to>
                                    </p:set>
                                  </p:childTnLst>
                                </p:cTn>
                              </p:par>
                            </p:childTnLst>
                          </p:cTn>
                        </p:par>
                        <p:par>
                          <p:cTn id="67" fill="hold">
                            <p:stCondLst>
                              <p:cond delay="2500"/>
                            </p:stCondLst>
                            <p:childTnLst>
                              <p:par>
                                <p:cTn id="68" presetID="42" presetClass="path" presetSubtype="0" accel="50000" decel="50000" fill="hold" grpId="3" nodeType="afterEffect">
                                  <p:stCondLst>
                                    <p:cond delay="0"/>
                                  </p:stCondLst>
                                  <p:childTnLst>
                                    <p:animMotion origin="layout" path="M 1.94444E-6 -3.7037E-7 L 0.67378 0.27083 " pathEditMode="relative" rAng="0" ptsTypes="AA">
                                      <p:cBhvr>
                                        <p:cTn id="69" dur="500" fill="hold"/>
                                        <p:tgtEl>
                                          <p:spTgt spid="7"/>
                                        </p:tgtEl>
                                        <p:attrNameLst>
                                          <p:attrName>ppt_x</p:attrName>
                                          <p:attrName>ppt_y</p:attrName>
                                        </p:attrNameLst>
                                      </p:cBhvr>
                                      <p:rCtr x="33681" y="13542"/>
                                    </p:animMotion>
                                  </p:childTnLst>
                                </p:cTn>
                              </p:par>
                            </p:childTnLst>
                          </p:cTn>
                        </p:par>
                        <p:par>
                          <p:cTn id="70" fill="hold">
                            <p:stCondLst>
                              <p:cond delay="3000"/>
                            </p:stCondLst>
                            <p:childTnLst>
                              <p:par>
                                <p:cTn id="71" presetID="1" presetClass="entr" presetSubtype="0" fill="hold" grpId="0" nodeType="afterEffect">
                                  <p:stCondLst>
                                    <p:cond delay="0"/>
                                  </p:stCondLst>
                                  <p:childTnLst>
                                    <p:set>
                                      <p:cBhvr>
                                        <p:cTn id="72" dur="1" fill="hold">
                                          <p:stCondLst>
                                            <p:cond delay="0"/>
                                          </p:stCondLst>
                                        </p:cTn>
                                        <p:tgtEl>
                                          <p:spTgt spid="133"/>
                                        </p:tgtEl>
                                        <p:attrNameLst>
                                          <p:attrName>style.visibility</p:attrName>
                                        </p:attrNameLst>
                                      </p:cBhvr>
                                      <p:to>
                                        <p:strVal val="visible"/>
                                      </p:to>
                                    </p:set>
                                  </p:childTnLst>
                                </p:cTn>
                              </p:par>
                              <p:par>
                                <p:cTn id="73" presetID="42" presetClass="path" presetSubtype="0" accel="50000" decel="50000" fill="hold" grpId="1" nodeType="withEffect">
                                  <p:stCondLst>
                                    <p:cond delay="0"/>
                                  </p:stCondLst>
                                  <p:childTnLst>
                                    <p:animMotion origin="layout" path="M -3.61111E-6 -3.7037E-7 L 0.02952 0.26782 " pathEditMode="relative" rAng="0" ptsTypes="AA">
                                      <p:cBhvr>
                                        <p:cTn id="74" dur="500" fill="hold"/>
                                        <p:tgtEl>
                                          <p:spTgt spid="8"/>
                                        </p:tgtEl>
                                        <p:attrNameLst>
                                          <p:attrName>ppt_x</p:attrName>
                                          <p:attrName>ppt_y</p:attrName>
                                        </p:attrNameLst>
                                      </p:cBhvr>
                                      <p:rCtr x="1476" y="13380"/>
                                    </p:animMotion>
                                  </p:childTnLst>
                                </p:cTn>
                              </p:par>
                            </p:childTnLst>
                          </p:cTn>
                        </p:par>
                        <p:par>
                          <p:cTn id="75" fill="hold">
                            <p:stCondLst>
                              <p:cond delay="3500"/>
                            </p:stCondLst>
                            <p:childTnLst>
                              <p:par>
                                <p:cTn id="76" presetID="1" presetClass="entr" presetSubtype="0" fill="hold" grpId="0" nodeType="afterEffect">
                                  <p:stCondLst>
                                    <p:cond delay="0"/>
                                  </p:stCondLst>
                                  <p:childTnLst>
                                    <p:set>
                                      <p:cBhvr>
                                        <p:cTn id="77" dur="1" fill="hold">
                                          <p:stCondLst>
                                            <p:cond delay="0"/>
                                          </p:stCondLst>
                                        </p:cTn>
                                        <p:tgtEl>
                                          <p:spTgt spid="129"/>
                                        </p:tgtEl>
                                        <p:attrNameLst>
                                          <p:attrName>style.visibility</p:attrName>
                                        </p:attrNameLst>
                                      </p:cBhvr>
                                      <p:to>
                                        <p:strVal val="visible"/>
                                      </p:to>
                                    </p:set>
                                  </p:childTnLst>
                                </p:cTn>
                              </p:par>
                            </p:childTnLst>
                          </p:cTn>
                        </p:par>
                        <p:par>
                          <p:cTn id="78" fill="hold">
                            <p:stCondLst>
                              <p:cond delay="3500"/>
                            </p:stCondLst>
                            <p:childTnLst>
                              <p:par>
                                <p:cTn id="79" presetID="42" presetClass="path" presetSubtype="0" accel="50000" decel="50000" fill="hold" grpId="2" nodeType="afterEffect">
                                  <p:stCondLst>
                                    <p:cond delay="0"/>
                                  </p:stCondLst>
                                  <p:childTnLst>
                                    <p:animMotion origin="layout" path="M -3.61111E-6 -3.7037E-7 L 0.27605 0.2662 " pathEditMode="relative" rAng="0" ptsTypes="AA">
                                      <p:cBhvr>
                                        <p:cTn id="80" dur="500" fill="hold"/>
                                        <p:tgtEl>
                                          <p:spTgt spid="8"/>
                                        </p:tgtEl>
                                        <p:attrNameLst>
                                          <p:attrName>ppt_x</p:attrName>
                                          <p:attrName>ppt_y</p:attrName>
                                        </p:attrNameLst>
                                      </p:cBhvr>
                                      <p:rCtr x="13802" y="13310"/>
                                    </p:animMotion>
                                  </p:childTnLst>
                                </p:cTn>
                              </p:par>
                            </p:childTnLst>
                          </p:cTn>
                        </p:par>
                        <p:par>
                          <p:cTn id="81" fill="hold">
                            <p:stCondLst>
                              <p:cond delay="4000"/>
                            </p:stCondLst>
                            <p:childTnLst>
                              <p:par>
                                <p:cTn id="82" presetID="1" presetClass="entr" presetSubtype="0" fill="hold" grpId="0" nodeType="afterEffect">
                                  <p:stCondLst>
                                    <p:cond delay="0"/>
                                  </p:stCondLst>
                                  <p:childTnLst>
                                    <p:set>
                                      <p:cBhvr>
                                        <p:cTn id="83" dur="1" fill="hold">
                                          <p:stCondLst>
                                            <p:cond delay="0"/>
                                          </p:stCondLst>
                                        </p:cTn>
                                        <p:tgtEl>
                                          <p:spTgt spid="131"/>
                                        </p:tgtEl>
                                        <p:attrNameLst>
                                          <p:attrName>style.visibility</p:attrName>
                                        </p:attrNameLst>
                                      </p:cBhvr>
                                      <p:to>
                                        <p:strVal val="visible"/>
                                      </p:to>
                                    </p:set>
                                  </p:childTnLst>
                                </p:cTn>
                              </p:par>
                            </p:childTnLst>
                          </p:cTn>
                        </p:par>
                        <p:par>
                          <p:cTn id="84" fill="hold">
                            <p:stCondLst>
                              <p:cond delay="4000"/>
                            </p:stCondLst>
                            <p:childTnLst>
                              <p:par>
                                <p:cTn id="85" presetID="42" presetClass="path" presetSubtype="0" accel="50000" decel="50000" fill="hold" grpId="3" nodeType="afterEffect">
                                  <p:stCondLst>
                                    <p:cond delay="0"/>
                                  </p:stCondLst>
                                  <p:childTnLst>
                                    <p:animMotion origin="layout" path="M -3.61111E-6 -3.7037E-7 L 0.4224 0.37732 " pathEditMode="relative" rAng="0" ptsTypes="AA">
                                      <p:cBhvr>
                                        <p:cTn id="86" dur="500" fill="hold"/>
                                        <p:tgtEl>
                                          <p:spTgt spid="8"/>
                                        </p:tgtEl>
                                        <p:attrNameLst>
                                          <p:attrName>ppt_x</p:attrName>
                                          <p:attrName>ppt_y</p:attrName>
                                        </p:attrNameLst>
                                      </p:cBhvr>
                                      <p:rCtr x="21111" y="18866"/>
                                    </p:animMotion>
                                  </p:childTnLst>
                                </p:cTn>
                              </p:par>
                            </p:childTnLst>
                          </p:cTn>
                        </p:par>
                        <p:par>
                          <p:cTn id="87" fill="hold">
                            <p:stCondLst>
                              <p:cond delay="4500"/>
                            </p:stCondLst>
                            <p:childTnLst>
                              <p:par>
                                <p:cTn id="88" presetID="1" presetClass="entr" presetSubtype="0" fill="hold" grpId="0" nodeType="afterEffect">
                                  <p:stCondLst>
                                    <p:cond delay="0"/>
                                  </p:stCondLst>
                                  <p:childTnLst>
                                    <p:set>
                                      <p:cBhvr>
                                        <p:cTn id="89" dur="1" fill="hold">
                                          <p:stCondLst>
                                            <p:cond delay="0"/>
                                          </p:stCondLst>
                                        </p:cTn>
                                        <p:tgtEl>
                                          <p:spTgt spid="140"/>
                                        </p:tgtEl>
                                        <p:attrNameLst>
                                          <p:attrName>style.visibility</p:attrName>
                                        </p:attrNameLst>
                                      </p:cBhvr>
                                      <p:to>
                                        <p:strVal val="visible"/>
                                      </p:to>
                                    </p:set>
                                  </p:childTnLst>
                                </p:cTn>
                              </p:par>
                              <p:par>
                                <p:cTn id="90" presetID="42" presetClass="path" presetSubtype="0" accel="50000" decel="50000" fill="hold" grpId="1" nodeType="withEffect">
                                  <p:stCondLst>
                                    <p:cond delay="0"/>
                                  </p:stCondLst>
                                  <p:childTnLst>
                                    <p:animMotion origin="layout" path="M 8.33333E-7 -3.7037E-7 L -0.47413 0.37732 " pathEditMode="relative" rAng="0" ptsTypes="AA">
                                      <p:cBhvr>
                                        <p:cTn id="91" dur="500" fill="hold"/>
                                        <p:tgtEl>
                                          <p:spTgt spid="9"/>
                                        </p:tgtEl>
                                        <p:attrNameLst>
                                          <p:attrName>ppt_x</p:attrName>
                                          <p:attrName>ppt_y</p:attrName>
                                        </p:attrNameLst>
                                      </p:cBhvr>
                                      <p:rCtr x="-23715" y="18866"/>
                                    </p:animMotion>
                                  </p:childTnLst>
                                </p:cTn>
                              </p:par>
                            </p:childTnLst>
                          </p:cTn>
                        </p:par>
                        <p:par>
                          <p:cTn id="92" fill="hold">
                            <p:stCondLst>
                              <p:cond delay="5000"/>
                            </p:stCondLst>
                            <p:childTnLst>
                              <p:par>
                                <p:cTn id="93" presetID="1" presetClass="entr" presetSubtype="0" fill="hold" grpId="0" nodeType="afterEffect">
                                  <p:stCondLst>
                                    <p:cond delay="0"/>
                                  </p:stCondLst>
                                  <p:childTnLst>
                                    <p:set>
                                      <p:cBhvr>
                                        <p:cTn id="94" dur="1" fill="hold">
                                          <p:stCondLst>
                                            <p:cond delay="0"/>
                                          </p:stCondLst>
                                        </p:cTn>
                                        <p:tgtEl>
                                          <p:spTgt spid="134"/>
                                        </p:tgtEl>
                                        <p:attrNameLst>
                                          <p:attrName>style.visibility</p:attrName>
                                        </p:attrNameLst>
                                      </p:cBhvr>
                                      <p:to>
                                        <p:strVal val="visible"/>
                                      </p:to>
                                    </p:set>
                                  </p:childTnLst>
                                </p:cTn>
                              </p:par>
                            </p:childTnLst>
                          </p:cTn>
                        </p:par>
                        <p:par>
                          <p:cTn id="95" fill="hold">
                            <p:stCondLst>
                              <p:cond delay="5000"/>
                            </p:stCondLst>
                            <p:childTnLst>
                              <p:par>
                                <p:cTn id="96" presetID="42" presetClass="path" presetSubtype="0" accel="50000" decel="50000" fill="hold" grpId="2" nodeType="afterEffect">
                                  <p:stCondLst>
                                    <p:cond delay="0"/>
                                  </p:stCondLst>
                                  <p:childTnLst>
                                    <p:animMotion origin="layout" path="M 8.33333E-7 -3.7037E-7 L -0.12205 0.36505 " pathEditMode="relative" rAng="0" ptsTypes="AA">
                                      <p:cBhvr>
                                        <p:cTn id="97" dur="500" fill="hold"/>
                                        <p:tgtEl>
                                          <p:spTgt spid="9"/>
                                        </p:tgtEl>
                                        <p:attrNameLst>
                                          <p:attrName>ppt_x</p:attrName>
                                          <p:attrName>ppt_y</p:attrName>
                                        </p:attrNameLst>
                                      </p:cBhvr>
                                      <p:rCtr x="-6111" y="18241"/>
                                    </p:animMotion>
                                  </p:childTnLst>
                                </p:cTn>
                              </p:par>
                            </p:childTnLst>
                          </p:cTn>
                        </p:par>
                        <p:par>
                          <p:cTn id="98" fill="hold">
                            <p:stCondLst>
                              <p:cond delay="5500"/>
                            </p:stCondLst>
                            <p:childTnLst>
                              <p:par>
                                <p:cTn id="99" presetID="1" presetClass="entr" presetSubtype="0" fill="hold" grpId="0" nodeType="afterEffect">
                                  <p:stCondLst>
                                    <p:cond delay="0"/>
                                  </p:stCondLst>
                                  <p:childTnLst>
                                    <p:set>
                                      <p:cBhvr>
                                        <p:cTn id="100" dur="1" fill="hold">
                                          <p:stCondLst>
                                            <p:cond delay="0"/>
                                          </p:stCondLst>
                                        </p:cTn>
                                        <p:tgtEl>
                                          <p:spTgt spid="137"/>
                                        </p:tgtEl>
                                        <p:attrNameLst>
                                          <p:attrName>style.visibility</p:attrName>
                                        </p:attrNameLst>
                                      </p:cBhvr>
                                      <p:to>
                                        <p:strVal val="visible"/>
                                      </p:to>
                                    </p:set>
                                  </p:childTnLst>
                                </p:cTn>
                              </p:par>
                            </p:childTnLst>
                          </p:cTn>
                        </p:par>
                        <p:par>
                          <p:cTn id="101" fill="hold">
                            <p:stCondLst>
                              <p:cond delay="5500"/>
                            </p:stCondLst>
                            <p:childTnLst>
                              <p:par>
                                <p:cTn id="102" presetID="42" presetClass="path" presetSubtype="0" accel="50000" decel="50000" fill="hold" grpId="3" nodeType="afterEffect">
                                  <p:stCondLst>
                                    <p:cond delay="0"/>
                                  </p:stCondLst>
                                  <p:childTnLst>
                                    <p:animMotion origin="layout" path="M 8.33333E-7 -3.7037E-7 L 0.13003 0.37732 " pathEditMode="relative" rAng="0" ptsTypes="AA">
                                      <p:cBhvr>
                                        <p:cTn id="103" dur="500" fill="hold"/>
                                        <p:tgtEl>
                                          <p:spTgt spid="9"/>
                                        </p:tgtEl>
                                        <p:attrNameLst>
                                          <p:attrName>ppt_x</p:attrName>
                                          <p:attrName>ppt_y</p:attrName>
                                        </p:attrNameLst>
                                      </p:cBhvr>
                                      <p:rCtr x="6493" y="18866"/>
                                    </p:animMotion>
                                  </p:childTnLst>
                                </p:cTn>
                              </p:par>
                            </p:childTnLst>
                          </p:cTn>
                        </p:par>
                        <p:par>
                          <p:cTn id="104" fill="hold">
                            <p:stCondLst>
                              <p:cond delay="6000"/>
                            </p:stCondLst>
                            <p:childTnLst>
                              <p:par>
                                <p:cTn id="105" presetID="1" presetClass="entr" presetSubtype="0" fill="hold" grpId="0" nodeType="afterEffect">
                                  <p:stCondLst>
                                    <p:cond delay="0"/>
                                  </p:stCondLst>
                                  <p:childTnLst>
                                    <p:set>
                                      <p:cBhvr>
                                        <p:cTn id="106" dur="1" fill="hold">
                                          <p:stCondLst>
                                            <p:cond delay="0"/>
                                          </p:stCondLst>
                                        </p:cTn>
                                        <p:tgtEl>
                                          <p:spTgt spid="139"/>
                                        </p:tgtEl>
                                        <p:attrNameLst>
                                          <p:attrName>style.visibility</p:attrName>
                                        </p:attrNameLst>
                                      </p:cBhvr>
                                      <p:to>
                                        <p:strVal val="visible"/>
                                      </p:to>
                                    </p:set>
                                  </p:childTnLst>
                                </p:cTn>
                              </p:par>
                              <p:par>
                                <p:cTn id="107" presetID="42" presetClass="path" presetSubtype="0" accel="50000" decel="50000" fill="hold" grpId="1" nodeType="withEffect">
                                  <p:stCondLst>
                                    <p:cond delay="0"/>
                                  </p:stCondLst>
                                  <p:childTnLst>
                                    <p:animMotion origin="layout" path="M 1.66667E-6 -3.7037E-7 L -0.51563 0.37732 " pathEditMode="relative" rAng="0" ptsTypes="AA">
                                      <p:cBhvr>
                                        <p:cTn id="108" dur="500" fill="hold"/>
                                        <p:tgtEl>
                                          <p:spTgt spid="10"/>
                                        </p:tgtEl>
                                        <p:attrNameLst>
                                          <p:attrName>ppt_x</p:attrName>
                                          <p:attrName>ppt_y</p:attrName>
                                        </p:attrNameLst>
                                      </p:cBhvr>
                                      <p:rCtr x="-25781" y="18866"/>
                                    </p:animMotion>
                                  </p:childTnLst>
                                </p:cTn>
                              </p:par>
                            </p:childTnLst>
                          </p:cTn>
                        </p:par>
                        <p:par>
                          <p:cTn id="109" fill="hold">
                            <p:stCondLst>
                              <p:cond delay="6500"/>
                            </p:stCondLst>
                            <p:childTnLst>
                              <p:par>
                                <p:cTn id="110" presetID="1" presetClass="entr" presetSubtype="0" fill="hold" grpId="0" nodeType="afterEffect">
                                  <p:stCondLst>
                                    <p:cond delay="0"/>
                                  </p:stCondLst>
                                  <p:childTnLst>
                                    <p:set>
                                      <p:cBhvr>
                                        <p:cTn id="111" dur="1" fill="hold">
                                          <p:stCondLst>
                                            <p:cond delay="0"/>
                                          </p:stCondLst>
                                        </p:cTn>
                                        <p:tgtEl>
                                          <p:spTgt spid="135"/>
                                        </p:tgtEl>
                                        <p:attrNameLst>
                                          <p:attrName>style.visibility</p:attrName>
                                        </p:attrNameLst>
                                      </p:cBhvr>
                                      <p:to>
                                        <p:strVal val="visible"/>
                                      </p:to>
                                    </p:set>
                                  </p:childTnLst>
                                </p:cTn>
                              </p:par>
                            </p:childTnLst>
                          </p:cTn>
                        </p:par>
                        <p:par>
                          <p:cTn id="112" fill="hold">
                            <p:stCondLst>
                              <p:cond delay="6500"/>
                            </p:stCondLst>
                            <p:childTnLst>
                              <p:par>
                                <p:cTn id="113" presetID="42" presetClass="path" presetSubtype="0" accel="50000" decel="50000" fill="hold" grpId="2" nodeType="afterEffect">
                                  <p:stCondLst>
                                    <p:cond delay="0"/>
                                  </p:stCondLst>
                                  <p:childTnLst>
                                    <p:animMotion origin="layout" path="M 1.66667E-6 -3.7037E-7 L -0.36754 0.37732 " pathEditMode="relative" rAng="0" ptsTypes="AA">
                                      <p:cBhvr>
                                        <p:cTn id="114" dur="500" fill="hold"/>
                                        <p:tgtEl>
                                          <p:spTgt spid="10"/>
                                        </p:tgtEl>
                                        <p:attrNameLst>
                                          <p:attrName>ppt_x</p:attrName>
                                          <p:attrName>ppt_y</p:attrName>
                                        </p:attrNameLst>
                                      </p:cBhvr>
                                      <p:rCtr x="-18385" y="18866"/>
                                    </p:animMotion>
                                  </p:childTnLst>
                                </p:cTn>
                              </p:par>
                            </p:childTnLst>
                          </p:cTn>
                        </p:par>
                        <p:par>
                          <p:cTn id="115" fill="hold">
                            <p:stCondLst>
                              <p:cond delay="7000"/>
                            </p:stCondLst>
                            <p:childTnLst>
                              <p:par>
                                <p:cTn id="116" presetID="1" presetClass="entr" presetSubtype="0" fill="hold" grpId="0" nodeType="afterEffect">
                                  <p:stCondLst>
                                    <p:cond delay="0"/>
                                  </p:stCondLst>
                                  <p:childTnLst>
                                    <p:set>
                                      <p:cBhvr>
                                        <p:cTn id="117" dur="1" fill="hold">
                                          <p:stCondLst>
                                            <p:cond delay="0"/>
                                          </p:stCondLst>
                                        </p:cTn>
                                        <p:tgtEl>
                                          <p:spTgt spid="136"/>
                                        </p:tgtEl>
                                        <p:attrNameLst>
                                          <p:attrName>style.visibility</p:attrName>
                                        </p:attrNameLst>
                                      </p:cBhvr>
                                      <p:to>
                                        <p:strVal val="visible"/>
                                      </p:to>
                                    </p:set>
                                  </p:childTnLst>
                                </p:cTn>
                              </p:par>
                            </p:childTnLst>
                          </p:cTn>
                        </p:par>
                        <p:par>
                          <p:cTn id="118" fill="hold">
                            <p:stCondLst>
                              <p:cond delay="7000"/>
                            </p:stCondLst>
                            <p:childTnLst>
                              <p:par>
                                <p:cTn id="119" presetID="42" presetClass="path" presetSubtype="0" accel="50000" decel="50000" fill="hold" grpId="3" nodeType="afterEffect">
                                  <p:stCondLst>
                                    <p:cond delay="0"/>
                                  </p:stCondLst>
                                  <p:childTnLst>
                                    <p:animMotion origin="layout" path="M 1.66667E-6 -3.7037E-7 L -0.11268 0.37894 " pathEditMode="relative" rAng="0" ptsTypes="AA">
                                      <p:cBhvr>
                                        <p:cTn id="120" dur="500" fill="hold"/>
                                        <p:tgtEl>
                                          <p:spTgt spid="10"/>
                                        </p:tgtEl>
                                        <p:attrNameLst>
                                          <p:attrName>ppt_x</p:attrName>
                                          <p:attrName>ppt_y</p:attrName>
                                        </p:attrNameLst>
                                      </p:cBhvr>
                                      <p:rCtr x="-5642" y="18935"/>
                                    </p:animMotion>
                                  </p:childTnLst>
                                </p:cTn>
                              </p:par>
                            </p:childTnLst>
                          </p:cTn>
                        </p:par>
                        <p:par>
                          <p:cTn id="121" fill="hold">
                            <p:stCondLst>
                              <p:cond delay="7500"/>
                            </p:stCondLst>
                            <p:childTnLst>
                              <p:par>
                                <p:cTn id="122" presetID="1" presetClass="entr" presetSubtype="0" fill="hold" grpId="0" nodeType="afterEffect">
                                  <p:stCondLst>
                                    <p:cond delay="0"/>
                                  </p:stCondLst>
                                  <p:childTnLst>
                                    <p:set>
                                      <p:cBhvr>
                                        <p:cTn id="123" dur="1" fill="hold">
                                          <p:stCondLst>
                                            <p:cond delay="0"/>
                                          </p:stCondLst>
                                        </p:cTn>
                                        <p:tgtEl>
                                          <p:spTgt spid="138"/>
                                        </p:tgtEl>
                                        <p:attrNameLst>
                                          <p:attrName>style.visibility</p:attrName>
                                        </p:attrNameLst>
                                      </p:cBhvr>
                                      <p:to>
                                        <p:strVal val="visible"/>
                                      </p:to>
                                    </p:set>
                                  </p:childTnLst>
                                </p:cTn>
                              </p:par>
                              <p:par>
                                <p:cTn id="124" presetID="42" presetClass="path" presetSubtype="0" accel="50000" decel="50000" fill="hold" grpId="1" nodeType="withEffect">
                                  <p:stCondLst>
                                    <p:cond delay="0"/>
                                  </p:stCondLst>
                                  <p:childTnLst>
                                    <p:animMotion origin="layout" path="M 2.22222E-6 -3.7037E-7 L 0.09097 0.37732 " pathEditMode="relative" rAng="0" ptsTypes="AA">
                                      <p:cBhvr>
                                        <p:cTn id="125" dur="500" fill="hold"/>
                                        <p:tgtEl>
                                          <p:spTgt spid="13"/>
                                        </p:tgtEl>
                                        <p:attrNameLst>
                                          <p:attrName>ppt_x</p:attrName>
                                          <p:attrName>ppt_y</p:attrName>
                                        </p:attrNameLst>
                                      </p:cBhvr>
                                      <p:rCtr x="4549" y="18866"/>
                                    </p:animMotion>
                                  </p:childTnLst>
                                </p:cTn>
                              </p:par>
                            </p:childTnLst>
                          </p:cTn>
                        </p:par>
                        <p:par>
                          <p:cTn id="126" fill="hold">
                            <p:stCondLst>
                              <p:cond delay="8000"/>
                            </p:stCondLst>
                            <p:childTnLst>
                              <p:par>
                                <p:cTn id="127" presetID="1" presetClass="entr" presetSubtype="0" fill="hold" grpId="0" nodeType="afterEffect">
                                  <p:stCondLst>
                                    <p:cond delay="0"/>
                                  </p:stCondLst>
                                  <p:childTnLst>
                                    <p:set>
                                      <p:cBhvr>
                                        <p:cTn id="128" dur="1" fill="hold">
                                          <p:stCondLst>
                                            <p:cond delay="0"/>
                                          </p:stCondLst>
                                        </p:cTn>
                                        <p:tgtEl>
                                          <p:spTgt spid="142"/>
                                        </p:tgtEl>
                                        <p:attrNameLst>
                                          <p:attrName>style.visibility</p:attrName>
                                        </p:attrNameLst>
                                      </p:cBhvr>
                                      <p:to>
                                        <p:strVal val="visible"/>
                                      </p:to>
                                    </p:set>
                                  </p:childTnLst>
                                </p:cTn>
                              </p:par>
                            </p:childTnLst>
                          </p:cTn>
                        </p:par>
                        <p:par>
                          <p:cTn id="129" fill="hold">
                            <p:stCondLst>
                              <p:cond delay="8000"/>
                            </p:stCondLst>
                            <p:childTnLst>
                              <p:par>
                                <p:cTn id="130" presetID="42" presetClass="path" presetSubtype="0" accel="50000" decel="50000" fill="hold" grpId="2" nodeType="afterEffect">
                                  <p:stCondLst>
                                    <p:cond delay="0"/>
                                  </p:stCondLst>
                                  <p:childTnLst>
                                    <p:animMotion origin="layout" path="M 2.22222E-6 -3.7037E-7 L -0.76493 0.48426 " pathEditMode="relative" rAng="0" ptsTypes="AA">
                                      <p:cBhvr>
                                        <p:cTn id="131" dur="500" fill="hold"/>
                                        <p:tgtEl>
                                          <p:spTgt spid="13"/>
                                        </p:tgtEl>
                                        <p:attrNameLst>
                                          <p:attrName>ppt_x</p:attrName>
                                          <p:attrName>ppt_y</p:attrName>
                                        </p:attrNameLst>
                                      </p:cBhvr>
                                      <p:rCtr x="-38247" y="24213"/>
                                    </p:animMotion>
                                  </p:childTnLst>
                                </p:cTn>
                              </p:par>
                            </p:childTnLst>
                          </p:cTn>
                        </p:par>
                        <p:par>
                          <p:cTn id="132" fill="hold">
                            <p:stCondLst>
                              <p:cond delay="8500"/>
                            </p:stCondLst>
                            <p:childTnLst>
                              <p:par>
                                <p:cTn id="133" presetID="1" presetClass="entr" presetSubtype="0" fill="hold" grpId="0" nodeType="afterEffect">
                                  <p:stCondLst>
                                    <p:cond delay="0"/>
                                  </p:stCondLst>
                                  <p:childTnLst>
                                    <p:set>
                                      <p:cBhvr>
                                        <p:cTn id="134" dur="1" fill="hold">
                                          <p:stCondLst>
                                            <p:cond delay="0"/>
                                          </p:stCondLst>
                                        </p:cTn>
                                        <p:tgtEl>
                                          <p:spTgt spid="144"/>
                                        </p:tgtEl>
                                        <p:attrNameLst>
                                          <p:attrName>style.visibility</p:attrName>
                                        </p:attrNameLst>
                                      </p:cBhvr>
                                      <p:to>
                                        <p:strVal val="visible"/>
                                      </p:to>
                                    </p:set>
                                  </p:childTnLst>
                                </p:cTn>
                              </p:par>
                            </p:childTnLst>
                          </p:cTn>
                        </p:par>
                        <p:par>
                          <p:cTn id="135" fill="hold">
                            <p:stCondLst>
                              <p:cond delay="8500"/>
                            </p:stCondLst>
                            <p:childTnLst>
                              <p:par>
                                <p:cTn id="136" presetID="42" presetClass="path" presetSubtype="0" accel="50000" decel="50000" fill="hold" grpId="3" nodeType="afterEffect">
                                  <p:stCondLst>
                                    <p:cond delay="0"/>
                                  </p:stCondLst>
                                  <p:childTnLst>
                                    <p:animMotion origin="layout" path="M 2.22222E-6 -3.7037E-7 L -0.51632 0.48426 " pathEditMode="relative" rAng="0" ptsTypes="AA">
                                      <p:cBhvr>
                                        <p:cTn id="137" dur="500" fill="hold"/>
                                        <p:tgtEl>
                                          <p:spTgt spid="13"/>
                                        </p:tgtEl>
                                        <p:attrNameLst>
                                          <p:attrName>ppt_x</p:attrName>
                                          <p:attrName>ppt_y</p:attrName>
                                        </p:attrNameLst>
                                      </p:cBhvr>
                                      <p:rCtr x="-25816" y="24213"/>
                                    </p:animMotion>
                                  </p:childTnLst>
                                </p:cTn>
                              </p:par>
                            </p:childTnLst>
                          </p:cTn>
                        </p:par>
                        <p:par>
                          <p:cTn id="138" fill="hold">
                            <p:stCondLst>
                              <p:cond delay="9000"/>
                            </p:stCondLst>
                            <p:childTnLst>
                              <p:par>
                                <p:cTn id="139" presetID="1" presetClass="entr" presetSubtype="0" fill="hold" grpId="0" nodeType="afterEffect">
                                  <p:stCondLst>
                                    <p:cond delay="0"/>
                                  </p:stCondLst>
                                  <p:childTnLst>
                                    <p:set>
                                      <p:cBhvr>
                                        <p:cTn id="140" dur="1" fill="hold">
                                          <p:stCondLst>
                                            <p:cond delay="0"/>
                                          </p:stCondLst>
                                        </p:cTn>
                                        <p:tgtEl>
                                          <p:spTgt spid="141"/>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1075"/>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076"/>
                                        </p:tgtEl>
                                        <p:attrNameLst>
                                          <p:attrName>style.visibility</p:attrName>
                                        </p:attrNameLst>
                                      </p:cBhvr>
                                      <p:to>
                                        <p:strVal val="visible"/>
                                      </p:to>
                                    </p:set>
                                  </p:childTnLst>
                                </p:cTn>
                              </p:par>
                            </p:childTnLst>
                          </p:cTn>
                        </p:par>
                        <p:par>
                          <p:cTn id="147" fill="hold">
                            <p:stCondLst>
                              <p:cond delay="0"/>
                            </p:stCondLst>
                            <p:childTnLst>
                              <p:par>
                                <p:cTn id="148" presetID="1" presetClass="entr" presetSubtype="0" fill="hold" grpId="0" nodeType="afterEffect">
                                  <p:stCondLst>
                                    <p:cond delay="0"/>
                                  </p:stCondLst>
                                  <p:childTnLst>
                                    <p:set>
                                      <p:cBhvr>
                                        <p:cTn id="149" dur="1" fill="hold">
                                          <p:stCondLst>
                                            <p:cond delay="0"/>
                                          </p:stCondLst>
                                        </p:cTn>
                                        <p:tgtEl>
                                          <p:spTgt spid="151"/>
                                        </p:tgtEl>
                                        <p:attrNameLst>
                                          <p:attrName>style.visibility</p:attrName>
                                        </p:attrNameLst>
                                      </p:cBhvr>
                                      <p:to>
                                        <p:strVal val="visible"/>
                                      </p:to>
                                    </p:set>
                                  </p:childTnLst>
                                </p:cTn>
                              </p:par>
                              <p:par>
                                <p:cTn id="150" presetID="1" presetClass="entr" presetSubtype="0" fill="hold" grpId="0" nodeType="withEffect">
                                  <p:stCondLst>
                                    <p:cond delay="0"/>
                                  </p:stCondLst>
                                  <p:childTnLst>
                                    <p:set>
                                      <p:cBhvr>
                                        <p:cTn id="151" dur="1" fill="hold">
                                          <p:stCondLst>
                                            <p:cond delay="0"/>
                                          </p:stCondLst>
                                        </p:cTn>
                                        <p:tgtEl>
                                          <p:spTgt spid="156"/>
                                        </p:tgtEl>
                                        <p:attrNameLst>
                                          <p:attrName>style.visibility</p:attrName>
                                        </p:attrNameLst>
                                      </p:cBhvr>
                                      <p:to>
                                        <p:strVal val="visible"/>
                                      </p:to>
                                    </p:set>
                                  </p:childTnLst>
                                </p:cTn>
                              </p:par>
                            </p:childTnLst>
                          </p:cTn>
                        </p:par>
                        <p:par>
                          <p:cTn id="152" fill="hold">
                            <p:stCondLst>
                              <p:cond delay="0"/>
                            </p:stCondLst>
                            <p:childTnLst>
                              <p:par>
                                <p:cTn id="153" presetID="1" presetClass="entr" presetSubtype="0" fill="hold" grpId="0" nodeType="afterEffect">
                                  <p:stCondLst>
                                    <p:cond delay="0"/>
                                  </p:stCondLst>
                                  <p:childTnLst>
                                    <p:set>
                                      <p:cBhvr>
                                        <p:cTn id="154" dur="1" fill="hold">
                                          <p:stCondLst>
                                            <p:cond delay="0"/>
                                          </p:stCondLst>
                                        </p:cTn>
                                        <p:tgtEl>
                                          <p:spTgt spid="152"/>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157"/>
                                        </p:tgtEl>
                                        <p:attrNameLst>
                                          <p:attrName>style.visibility</p:attrName>
                                        </p:attrNameLst>
                                      </p:cBhvr>
                                      <p:to>
                                        <p:strVal val="visible"/>
                                      </p:to>
                                    </p:set>
                                  </p:childTnLst>
                                </p:cTn>
                              </p:par>
                            </p:childTnLst>
                          </p:cTn>
                        </p:par>
                        <p:par>
                          <p:cTn id="157" fill="hold">
                            <p:stCondLst>
                              <p:cond delay="0"/>
                            </p:stCondLst>
                            <p:childTnLst>
                              <p:par>
                                <p:cTn id="158" presetID="1" presetClass="entr" presetSubtype="0" fill="hold" grpId="0" nodeType="afterEffect">
                                  <p:stCondLst>
                                    <p:cond delay="0"/>
                                  </p:stCondLst>
                                  <p:childTnLst>
                                    <p:set>
                                      <p:cBhvr>
                                        <p:cTn id="159" dur="1" fill="hold">
                                          <p:stCondLst>
                                            <p:cond delay="0"/>
                                          </p:stCondLst>
                                        </p:cTn>
                                        <p:tgtEl>
                                          <p:spTgt spid="153"/>
                                        </p:tgtEl>
                                        <p:attrNameLst>
                                          <p:attrName>style.visibility</p:attrName>
                                        </p:attrNameLst>
                                      </p:cBhvr>
                                      <p:to>
                                        <p:strVal val="visible"/>
                                      </p:to>
                                    </p:set>
                                  </p:childTnLst>
                                </p:cTn>
                              </p:par>
                              <p:par>
                                <p:cTn id="160" presetID="1" presetClass="entr" presetSubtype="0" fill="hold" grpId="0" nodeType="withEffect">
                                  <p:stCondLst>
                                    <p:cond delay="0"/>
                                  </p:stCondLst>
                                  <p:childTnLst>
                                    <p:set>
                                      <p:cBhvr>
                                        <p:cTn id="161" dur="1" fill="hold">
                                          <p:stCondLst>
                                            <p:cond delay="0"/>
                                          </p:stCondLst>
                                        </p:cTn>
                                        <p:tgtEl>
                                          <p:spTgt spid="1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P spid="6" grpId="3" animBg="1"/>
      <p:bldP spid="7" grpId="0" animBg="1"/>
      <p:bldP spid="7" grpId="1" animBg="1"/>
      <p:bldP spid="7" grpId="2" animBg="1"/>
      <p:bldP spid="7" grpId="3" animBg="1"/>
      <p:bldP spid="8" grpId="0" animBg="1"/>
      <p:bldP spid="8" grpId="1" animBg="1"/>
      <p:bldP spid="8" grpId="2" animBg="1"/>
      <p:bldP spid="8" grpId="3" animBg="1"/>
      <p:bldP spid="9" grpId="0" animBg="1"/>
      <p:bldP spid="9" grpId="1" animBg="1"/>
      <p:bldP spid="9" grpId="2" animBg="1"/>
      <p:bldP spid="9" grpId="3" animBg="1"/>
      <p:bldP spid="10" grpId="0" animBg="1"/>
      <p:bldP spid="10" grpId="1" animBg="1"/>
      <p:bldP spid="10" grpId="2" animBg="1"/>
      <p:bldP spid="10" grpId="3" animBg="1"/>
      <p:bldP spid="13" grpId="0" animBg="1"/>
      <p:bldP spid="13" grpId="1" animBg="1"/>
      <p:bldP spid="13" grpId="2" animBg="1"/>
      <p:bldP spid="13" grpId="3" animBg="1"/>
      <p:bldP spid="14" grpId="0" animBg="1"/>
      <p:bldP spid="14" grpId="1" animBg="1"/>
      <p:bldP spid="78" grpId="0" animBg="1"/>
      <p:bldP spid="79"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4" grpId="0" animBg="1"/>
      <p:bldP spid="1075" grpId="0" animBg="1"/>
      <p:bldP spid="151" grpId="0" animBg="1"/>
      <p:bldP spid="152" grpId="0" animBg="1"/>
      <p:bldP spid="153" grpId="0" animBg="1"/>
      <p:bldP spid="1076" grpId="0" animBg="1"/>
      <p:bldP spid="156" grpId="0" animBg="1"/>
      <p:bldP spid="157" grpId="0" animBg="1"/>
      <p:bldP spid="15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E6480-443B-4EBE-992C-962A9DABB308}"/>
              </a:ext>
            </a:extLst>
          </p:cNvPr>
          <p:cNvSpPr>
            <a:spLocks noGrp="1"/>
          </p:cNvSpPr>
          <p:nvPr>
            <p:ph type="title"/>
          </p:nvPr>
        </p:nvSpPr>
        <p:spPr/>
        <p:txBody>
          <a:bodyPr/>
          <a:lstStyle/>
          <a:p>
            <a:r>
              <a:rPr lang="en-US" dirty="0"/>
              <a:t>How Does HDFS Work?</a:t>
            </a:r>
          </a:p>
        </p:txBody>
      </p:sp>
      <p:sp>
        <p:nvSpPr>
          <p:cNvPr id="78" name="Rectangle 77">
            <a:extLst>
              <a:ext uri="{FF2B5EF4-FFF2-40B4-BE49-F238E27FC236}">
                <a16:creationId xmlns:a16="http://schemas.microsoft.com/office/drawing/2014/main" id="{1D21B99B-54AF-4416-AE12-2AF3A1367D4A}"/>
              </a:ext>
            </a:extLst>
          </p:cNvPr>
          <p:cNvSpPr/>
          <p:nvPr/>
        </p:nvSpPr>
        <p:spPr>
          <a:xfrm>
            <a:off x="226963" y="4078296"/>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1</a:t>
            </a:r>
          </a:p>
        </p:txBody>
      </p:sp>
      <p:sp>
        <p:nvSpPr>
          <p:cNvPr id="79" name="Rectangle 78">
            <a:extLst>
              <a:ext uri="{FF2B5EF4-FFF2-40B4-BE49-F238E27FC236}">
                <a16:creationId xmlns:a16="http://schemas.microsoft.com/office/drawing/2014/main" id="{45536773-5E35-4BF5-AF25-3953F1A54896}"/>
              </a:ext>
            </a:extLst>
          </p:cNvPr>
          <p:cNvSpPr/>
          <p:nvPr/>
        </p:nvSpPr>
        <p:spPr>
          <a:xfrm>
            <a:off x="1180163" y="4078296"/>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2</a:t>
            </a:r>
          </a:p>
        </p:txBody>
      </p:sp>
      <p:sp>
        <p:nvSpPr>
          <p:cNvPr id="128" name="Rectangle 127">
            <a:extLst>
              <a:ext uri="{FF2B5EF4-FFF2-40B4-BE49-F238E27FC236}">
                <a16:creationId xmlns:a16="http://schemas.microsoft.com/office/drawing/2014/main" id="{DCA6D64A-2B36-43B0-9B68-1DD77624159C}"/>
              </a:ext>
            </a:extLst>
          </p:cNvPr>
          <p:cNvSpPr/>
          <p:nvPr/>
        </p:nvSpPr>
        <p:spPr>
          <a:xfrm>
            <a:off x="2515522" y="4077014"/>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1</a:t>
            </a:r>
          </a:p>
        </p:txBody>
      </p:sp>
      <p:sp>
        <p:nvSpPr>
          <p:cNvPr id="129" name="Rectangle 128">
            <a:extLst>
              <a:ext uri="{FF2B5EF4-FFF2-40B4-BE49-F238E27FC236}">
                <a16:creationId xmlns:a16="http://schemas.microsoft.com/office/drawing/2014/main" id="{BC5D20AC-FA0B-4DE7-A2F7-261A9478143E}"/>
              </a:ext>
            </a:extLst>
          </p:cNvPr>
          <p:cNvSpPr/>
          <p:nvPr/>
        </p:nvSpPr>
        <p:spPr>
          <a:xfrm>
            <a:off x="3468722" y="4077014"/>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3</a:t>
            </a:r>
          </a:p>
        </p:txBody>
      </p:sp>
      <p:sp>
        <p:nvSpPr>
          <p:cNvPr id="130" name="Rectangle 129">
            <a:extLst>
              <a:ext uri="{FF2B5EF4-FFF2-40B4-BE49-F238E27FC236}">
                <a16:creationId xmlns:a16="http://schemas.microsoft.com/office/drawing/2014/main" id="{B00DF9AC-9E58-4734-83E6-495EE91253BB}"/>
              </a:ext>
            </a:extLst>
          </p:cNvPr>
          <p:cNvSpPr/>
          <p:nvPr/>
        </p:nvSpPr>
        <p:spPr>
          <a:xfrm>
            <a:off x="4820584" y="4077014"/>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2</a:t>
            </a:r>
          </a:p>
        </p:txBody>
      </p:sp>
      <p:sp>
        <p:nvSpPr>
          <p:cNvPr id="131" name="Rectangle 130">
            <a:extLst>
              <a:ext uri="{FF2B5EF4-FFF2-40B4-BE49-F238E27FC236}">
                <a16:creationId xmlns:a16="http://schemas.microsoft.com/office/drawing/2014/main" id="{D9A8EF3E-014C-4C07-9A88-974026E1D531}"/>
              </a:ext>
            </a:extLst>
          </p:cNvPr>
          <p:cNvSpPr/>
          <p:nvPr/>
        </p:nvSpPr>
        <p:spPr>
          <a:xfrm>
            <a:off x="5773784" y="4077014"/>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3</a:t>
            </a:r>
          </a:p>
        </p:txBody>
      </p:sp>
      <p:sp>
        <p:nvSpPr>
          <p:cNvPr id="132" name="Rectangle 131">
            <a:extLst>
              <a:ext uri="{FF2B5EF4-FFF2-40B4-BE49-F238E27FC236}">
                <a16:creationId xmlns:a16="http://schemas.microsoft.com/office/drawing/2014/main" id="{F7B89B9F-13E2-44AC-824A-9CB929AAFD66}"/>
              </a:ext>
            </a:extLst>
          </p:cNvPr>
          <p:cNvSpPr/>
          <p:nvPr/>
        </p:nvSpPr>
        <p:spPr>
          <a:xfrm>
            <a:off x="7122793" y="4077014"/>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1</a:t>
            </a:r>
          </a:p>
        </p:txBody>
      </p:sp>
      <p:sp>
        <p:nvSpPr>
          <p:cNvPr id="133" name="Rectangle 132">
            <a:extLst>
              <a:ext uri="{FF2B5EF4-FFF2-40B4-BE49-F238E27FC236}">
                <a16:creationId xmlns:a16="http://schemas.microsoft.com/office/drawing/2014/main" id="{42A21F13-3221-4AF3-A12C-EF46B9E9AA87}"/>
              </a:ext>
            </a:extLst>
          </p:cNvPr>
          <p:cNvSpPr/>
          <p:nvPr/>
        </p:nvSpPr>
        <p:spPr>
          <a:xfrm>
            <a:off x="8075993" y="4077014"/>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2</a:t>
            </a:r>
          </a:p>
        </p:txBody>
      </p:sp>
      <p:sp>
        <p:nvSpPr>
          <p:cNvPr id="134" name="Rectangle 133">
            <a:extLst>
              <a:ext uri="{FF2B5EF4-FFF2-40B4-BE49-F238E27FC236}">
                <a16:creationId xmlns:a16="http://schemas.microsoft.com/office/drawing/2014/main" id="{7A9D592A-C994-4DBE-9E2F-636EF2A38B08}"/>
              </a:ext>
            </a:extLst>
          </p:cNvPr>
          <p:cNvSpPr/>
          <p:nvPr/>
        </p:nvSpPr>
        <p:spPr>
          <a:xfrm>
            <a:off x="226963" y="4813553"/>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4</a:t>
            </a:r>
          </a:p>
        </p:txBody>
      </p:sp>
      <p:sp>
        <p:nvSpPr>
          <p:cNvPr id="135" name="Rectangle 134">
            <a:extLst>
              <a:ext uri="{FF2B5EF4-FFF2-40B4-BE49-F238E27FC236}">
                <a16:creationId xmlns:a16="http://schemas.microsoft.com/office/drawing/2014/main" id="{3008876D-95CC-4115-8112-A8C5CC1BE1FA}"/>
              </a:ext>
            </a:extLst>
          </p:cNvPr>
          <p:cNvSpPr/>
          <p:nvPr/>
        </p:nvSpPr>
        <p:spPr>
          <a:xfrm>
            <a:off x="1180163" y="4813553"/>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5</a:t>
            </a:r>
          </a:p>
        </p:txBody>
      </p:sp>
      <p:sp>
        <p:nvSpPr>
          <p:cNvPr id="136" name="Rectangle 135">
            <a:extLst>
              <a:ext uri="{FF2B5EF4-FFF2-40B4-BE49-F238E27FC236}">
                <a16:creationId xmlns:a16="http://schemas.microsoft.com/office/drawing/2014/main" id="{90A4DCAC-0A3A-4AEA-960D-6F1C572DFC7C}"/>
              </a:ext>
            </a:extLst>
          </p:cNvPr>
          <p:cNvSpPr/>
          <p:nvPr/>
        </p:nvSpPr>
        <p:spPr>
          <a:xfrm>
            <a:off x="2515522" y="4812271"/>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5</a:t>
            </a:r>
          </a:p>
        </p:txBody>
      </p:sp>
      <p:sp>
        <p:nvSpPr>
          <p:cNvPr id="137" name="Rectangle 136">
            <a:extLst>
              <a:ext uri="{FF2B5EF4-FFF2-40B4-BE49-F238E27FC236}">
                <a16:creationId xmlns:a16="http://schemas.microsoft.com/office/drawing/2014/main" id="{0D5D831E-D730-4612-BC7B-EDD9DA709848}"/>
              </a:ext>
            </a:extLst>
          </p:cNvPr>
          <p:cNvSpPr/>
          <p:nvPr/>
        </p:nvSpPr>
        <p:spPr>
          <a:xfrm>
            <a:off x="3468722" y="4812271"/>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4</a:t>
            </a:r>
          </a:p>
        </p:txBody>
      </p:sp>
      <p:sp>
        <p:nvSpPr>
          <p:cNvPr id="138" name="Rectangle 137">
            <a:extLst>
              <a:ext uri="{FF2B5EF4-FFF2-40B4-BE49-F238E27FC236}">
                <a16:creationId xmlns:a16="http://schemas.microsoft.com/office/drawing/2014/main" id="{B5D596D9-345D-4B3A-A020-5872097B7BB4}"/>
              </a:ext>
            </a:extLst>
          </p:cNvPr>
          <p:cNvSpPr/>
          <p:nvPr/>
        </p:nvSpPr>
        <p:spPr>
          <a:xfrm>
            <a:off x="4820584" y="4812271"/>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5</a:t>
            </a:r>
          </a:p>
        </p:txBody>
      </p:sp>
      <p:sp>
        <p:nvSpPr>
          <p:cNvPr id="139" name="Rectangle 138">
            <a:extLst>
              <a:ext uri="{FF2B5EF4-FFF2-40B4-BE49-F238E27FC236}">
                <a16:creationId xmlns:a16="http://schemas.microsoft.com/office/drawing/2014/main" id="{E6AEC5AF-07EC-49B5-B811-0A133752F634}"/>
              </a:ext>
            </a:extLst>
          </p:cNvPr>
          <p:cNvSpPr/>
          <p:nvPr/>
        </p:nvSpPr>
        <p:spPr>
          <a:xfrm>
            <a:off x="5773784" y="4812271"/>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4</a:t>
            </a:r>
          </a:p>
        </p:txBody>
      </p:sp>
      <p:sp>
        <p:nvSpPr>
          <p:cNvPr id="140" name="Rectangle 139">
            <a:extLst>
              <a:ext uri="{FF2B5EF4-FFF2-40B4-BE49-F238E27FC236}">
                <a16:creationId xmlns:a16="http://schemas.microsoft.com/office/drawing/2014/main" id="{3F3F8F4D-29E3-4D19-8366-46B087730EF7}"/>
              </a:ext>
            </a:extLst>
          </p:cNvPr>
          <p:cNvSpPr/>
          <p:nvPr/>
        </p:nvSpPr>
        <p:spPr>
          <a:xfrm>
            <a:off x="7122793" y="4812271"/>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3</a:t>
            </a:r>
          </a:p>
        </p:txBody>
      </p:sp>
      <p:sp>
        <p:nvSpPr>
          <p:cNvPr id="141" name="Rectangle 140">
            <a:extLst>
              <a:ext uri="{FF2B5EF4-FFF2-40B4-BE49-F238E27FC236}">
                <a16:creationId xmlns:a16="http://schemas.microsoft.com/office/drawing/2014/main" id="{93224260-1004-40C1-A9DF-AA51AB3349BD}"/>
              </a:ext>
            </a:extLst>
          </p:cNvPr>
          <p:cNvSpPr/>
          <p:nvPr/>
        </p:nvSpPr>
        <p:spPr>
          <a:xfrm>
            <a:off x="8075993" y="4812271"/>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6</a:t>
            </a:r>
          </a:p>
        </p:txBody>
      </p:sp>
      <p:sp>
        <p:nvSpPr>
          <p:cNvPr id="142" name="Rectangle 141">
            <a:extLst>
              <a:ext uri="{FF2B5EF4-FFF2-40B4-BE49-F238E27FC236}">
                <a16:creationId xmlns:a16="http://schemas.microsoft.com/office/drawing/2014/main" id="{0230AE2A-43C4-4909-AEAD-0C3D88423DC4}"/>
              </a:ext>
            </a:extLst>
          </p:cNvPr>
          <p:cNvSpPr/>
          <p:nvPr/>
        </p:nvSpPr>
        <p:spPr>
          <a:xfrm>
            <a:off x="226963" y="5578903"/>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6</a:t>
            </a:r>
          </a:p>
        </p:txBody>
      </p:sp>
      <p:sp>
        <p:nvSpPr>
          <p:cNvPr id="144" name="Rectangle 143">
            <a:extLst>
              <a:ext uri="{FF2B5EF4-FFF2-40B4-BE49-F238E27FC236}">
                <a16:creationId xmlns:a16="http://schemas.microsoft.com/office/drawing/2014/main" id="{62D665DD-25F7-446A-9C2D-558D4F37A588}"/>
              </a:ext>
            </a:extLst>
          </p:cNvPr>
          <p:cNvSpPr/>
          <p:nvPr/>
        </p:nvSpPr>
        <p:spPr>
          <a:xfrm>
            <a:off x="2515522" y="5577621"/>
            <a:ext cx="808375" cy="581575"/>
          </a:xfrm>
          <a:prstGeom prst="rect">
            <a:avLst/>
          </a:prstGeom>
          <a:solidFill>
            <a:srgbClr val="EA6A20"/>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atin typeface="Arial" panose="020B0604020202020204" pitchFamily="34" charset="0"/>
                <a:cs typeface="Arial" panose="020B0604020202020204" pitchFamily="34" charset="0"/>
              </a:rPr>
              <a:t>Block 6</a:t>
            </a:r>
          </a:p>
        </p:txBody>
      </p:sp>
      <p:sp>
        <p:nvSpPr>
          <p:cNvPr id="1075" name="Rectangle 1074">
            <a:extLst>
              <a:ext uri="{FF2B5EF4-FFF2-40B4-BE49-F238E27FC236}">
                <a16:creationId xmlns:a16="http://schemas.microsoft.com/office/drawing/2014/main" id="{02FC17D5-D765-4A3F-B63E-AC1A5205CDBC}"/>
              </a:ext>
            </a:extLst>
          </p:cNvPr>
          <p:cNvSpPr/>
          <p:nvPr/>
        </p:nvSpPr>
        <p:spPr>
          <a:xfrm>
            <a:off x="86603" y="3866496"/>
            <a:ext cx="2049624" cy="2503714"/>
          </a:xfrm>
          <a:prstGeom prst="rect">
            <a:avLst/>
          </a:prstGeom>
          <a:noFill/>
          <a:ln w="190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AD57FFB3-CF23-4336-AB39-8B26D303AEBE}"/>
              </a:ext>
            </a:extLst>
          </p:cNvPr>
          <p:cNvSpPr/>
          <p:nvPr/>
        </p:nvSpPr>
        <p:spPr>
          <a:xfrm>
            <a:off x="2373072" y="3877382"/>
            <a:ext cx="2049624" cy="2503714"/>
          </a:xfrm>
          <a:prstGeom prst="rect">
            <a:avLst/>
          </a:prstGeom>
          <a:noFill/>
          <a:ln w="190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3D3D9F58-068C-4972-848A-04C9E2263BFC}"/>
              </a:ext>
            </a:extLst>
          </p:cNvPr>
          <p:cNvSpPr/>
          <p:nvPr/>
        </p:nvSpPr>
        <p:spPr>
          <a:xfrm>
            <a:off x="4697061" y="3888268"/>
            <a:ext cx="2049624" cy="2503714"/>
          </a:xfrm>
          <a:prstGeom prst="rect">
            <a:avLst/>
          </a:prstGeom>
          <a:noFill/>
          <a:ln w="190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9DF53CD4-A1A1-43A3-B1CA-703410BAF3E5}"/>
              </a:ext>
            </a:extLst>
          </p:cNvPr>
          <p:cNvSpPr/>
          <p:nvPr/>
        </p:nvSpPr>
        <p:spPr>
          <a:xfrm>
            <a:off x="6969043" y="3888268"/>
            <a:ext cx="2049624" cy="2503714"/>
          </a:xfrm>
          <a:prstGeom prst="rect">
            <a:avLst/>
          </a:prstGeom>
          <a:noFill/>
          <a:ln w="190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76" name="Rectangle: Rounded Corners 1075">
            <a:extLst>
              <a:ext uri="{FF2B5EF4-FFF2-40B4-BE49-F238E27FC236}">
                <a16:creationId xmlns:a16="http://schemas.microsoft.com/office/drawing/2014/main" id="{B9004013-B211-4DD0-81C6-4E9FFB2ED3CC}"/>
              </a:ext>
            </a:extLst>
          </p:cNvPr>
          <p:cNvSpPr/>
          <p:nvPr/>
        </p:nvSpPr>
        <p:spPr>
          <a:xfrm>
            <a:off x="156784" y="3424309"/>
            <a:ext cx="1909262" cy="562099"/>
          </a:xfrm>
          <a:prstGeom prst="roundRect">
            <a:avLst/>
          </a:prstGeom>
          <a:solidFill>
            <a:srgbClr val="522D8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Data Node 1</a:t>
            </a:r>
          </a:p>
        </p:txBody>
      </p:sp>
      <p:sp>
        <p:nvSpPr>
          <p:cNvPr id="156" name="Rectangle: Rounded Corners 155">
            <a:extLst>
              <a:ext uri="{FF2B5EF4-FFF2-40B4-BE49-F238E27FC236}">
                <a16:creationId xmlns:a16="http://schemas.microsoft.com/office/drawing/2014/main" id="{5953399E-E3A3-47F7-A3A2-5C40994D4E3C}"/>
              </a:ext>
            </a:extLst>
          </p:cNvPr>
          <p:cNvSpPr/>
          <p:nvPr/>
        </p:nvSpPr>
        <p:spPr>
          <a:xfrm>
            <a:off x="2422673" y="3424309"/>
            <a:ext cx="1909262" cy="562099"/>
          </a:xfrm>
          <a:prstGeom prst="roundRect">
            <a:avLst/>
          </a:prstGeom>
          <a:solidFill>
            <a:srgbClr val="522D8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Data Node 2</a:t>
            </a:r>
          </a:p>
        </p:txBody>
      </p:sp>
      <p:sp>
        <p:nvSpPr>
          <p:cNvPr id="157" name="Rectangle: Rounded Corners 156">
            <a:extLst>
              <a:ext uri="{FF2B5EF4-FFF2-40B4-BE49-F238E27FC236}">
                <a16:creationId xmlns:a16="http://schemas.microsoft.com/office/drawing/2014/main" id="{1EE92110-E3FF-4AD8-AB6C-F564392625D0}"/>
              </a:ext>
            </a:extLst>
          </p:cNvPr>
          <p:cNvSpPr/>
          <p:nvPr/>
        </p:nvSpPr>
        <p:spPr>
          <a:xfrm>
            <a:off x="4767242" y="3424565"/>
            <a:ext cx="1909262" cy="562099"/>
          </a:xfrm>
          <a:prstGeom prst="roundRect">
            <a:avLst/>
          </a:prstGeom>
          <a:solidFill>
            <a:srgbClr val="522D8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Data Node 3</a:t>
            </a:r>
          </a:p>
        </p:txBody>
      </p:sp>
      <p:sp>
        <p:nvSpPr>
          <p:cNvPr id="158" name="Rectangle: Rounded Corners 157">
            <a:extLst>
              <a:ext uri="{FF2B5EF4-FFF2-40B4-BE49-F238E27FC236}">
                <a16:creationId xmlns:a16="http://schemas.microsoft.com/office/drawing/2014/main" id="{C083F16D-562E-4B4B-BE5B-1FDB38DC6655}"/>
              </a:ext>
            </a:extLst>
          </p:cNvPr>
          <p:cNvSpPr/>
          <p:nvPr/>
        </p:nvSpPr>
        <p:spPr>
          <a:xfrm>
            <a:off x="7039224" y="3413678"/>
            <a:ext cx="1909262" cy="562099"/>
          </a:xfrm>
          <a:prstGeom prst="roundRect">
            <a:avLst/>
          </a:prstGeom>
          <a:solidFill>
            <a:srgbClr val="522D8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solidFill>
                  <a:schemeClr val="bg1"/>
                </a:solidFill>
                <a:latin typeface="Arial" panose="020B0604020202020204" pitchFamily="34" charset="0"/>
                <a:cs typeface="Arial" panose="020B0604020202020204" pitchFamily="34" charset="0"/>
              </a:rPr>
              <a:t>Data Node 4</a:t>
            </a:r>
          </a:p>
        </p:txBody>
      </p:sp>
      <p:sp>
        <p:nvSpPr>
          <p:cNvPr id="36" name="Rectangle: Rounded Corners 35">
            <a:extLst>
              <a:ext uri="{FF2B5EF4-FFF2-40B4-BE49-F238E27FC236}">
                <a16:creationId xmlns:a16="http://schemas.microsoft.com/office/drawing/2014/main" id="{671B92FC-7ACA-40A0-91BD-276228F4F8E6}"/>
              </a:ext>
            </a:extLst>
          </p:cNvPr>
          <p:cNvSpPr/>
          <p:nvPr/>
        </p:nvSpPr>
        <p:spPr>
          <a:xfrm>
            <a:off x="3617369" y="1212610"/>
            <a:ext cx="1909262" cy="562099"/>
          </a:xfrm>
          <a:prstGeom prst="roundRect">
            <a:avLst/>
          </a:prstGeom>
          <a:solidFill>
            <a:srgbClr val="8689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solidFill>
                  <a:schemeClr val="tx1"/>
                </a:solidFill>
                <a:latin typeface="Arial" panose="020B0604020202020204" pitchFamily="34" charset="0"/>
                <a:cs typeface="Arial" panose="020B0604020202020204" pitchFamily="34" charset="0"/>
              </a:rPr>
              <a:t>Name Node</a:t>
            </a:r>
          </a:p>
        </p:txBody>
      </p:sp>
      <p:sp>
        <p:nvSpPr>
          <p:cNvPr id="37" name="Rectangle: Rounded Corners 36">
            <a:extLst>
              <a:ext uri="{FF2B5EF4-FFF2-40B4-BE49-F238E27FC236}">
                <a16:creationId xmlns:a16="http://schemas.microsoft.com/office/drawing/2014/main" id="{BCA4BF8B-58B7-4108-8CA0-835E77AB96FE}"/>
              </a:ext>
            </a:extLst>
          </p:cNvPr>
          <p:cNvSpPr/>
          <p:nvPr/>
        </p:nvSpPr>
        <p:spPr>
          <a:xfrm>
            <a:off x="463810" y="1212611"/>
            <a:ext cx="1909262" cy="562099"/>
          </a:xfrm>
          <a:prstGeom prst="roundRect">
            <a:avLst/>
          </a:prstGeom>
          <a:solidFill>
            <a:schemeClr val="bg1"/>
          </a:solidFill>
          <a:ln w="254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solidFill>
                  <a:schemeClr val="tx1"/>
                </a:solidFill>
                <a:latin typeface="Arial" panose="020B0604020202020204" pitchFamily="34" charset="0"/>
                <a:cs typeface="Arial" panose="020B0604020202020204" pitchFamily="34" charset="0"/>
              </a:rPr>
              <a:t>Client Node</a:t>
            </a:r>
          </a:p>
        </p:txBody>
      </p:sp>
      <p:sp>
        <p:nvSpPr>
          <p:cNvPr id="3" name="TextBox 2">
            <a:extLst>
              <a:ext uri="{FF2B5EF4-FFF2-40B4-BE49-F238E27FC236}">
                <a16:creationId xmlns:a16="http://schemas.microsoft.com/office/drawing/2014/main" id="{9BC60EA3-2A68-49A8-AD91-27DE49C116DA}"/>
              </a:ext>
            </a:extLst>
          </p:cNvPr>
          <p:cNvSpPr txBox="1"/>
          <p:nvPr/>
        </p:nvSpPr>
        <p:spPr>
          <a:xfrm>
            <a:off x="5916762" y="948766"/>
            <a:ext cx="2944628" cy="1015663"/>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Metadata</a:t>
            </a:r>
          </a:p>
          <a:p>
            <a:r>
              <a:rPr lang="en-US" sz="2000" dirty="0">
                <a:latin typeface="Arial" panose="020B0604020202020204" pitchFamily="34" charset="0"/>
                <a:cs typeface="Arial" panose="020B0604020202020204" pitchFamily="34" charset="0"/>
              </a:rPr>
              <a:t>File1: Blocks 1,3,4: r3</a:t>
            </a:r>
          </a:p>
          <a:p>
            <a:r>
              <a:rPr lang="en-US" sz="2000" dirty="0">
                <a:latin typeface="Arial" panose="020B0604020202020204" pitchFamily="34" charset="0"/>
                <a:cs typeface="Arial" panose="020B0604020202020204" pitchFamily="34" charset="0"/>
              </a:rPr>
              <a:t>File 2: Blocks 2, 5, 6: r3</a:t>
            </a:r>
          </a:p>
        </p:txBody>
      </p:sp>
      <p:cxnSp>
        <p:nvCxnSpPr>
          <p:cNvPr id="5" name="Straight Arrow Connector 4">
            <a:extLst>
              <a:ext uri="{FF2B5EF4-FFF2-40B4-BE49-F238E27FC236}">
                <a16:creationId xmlns:a16="http://schemas.microsoft.com/office/drawing/2014/main" id="{F6E9E624-1F7A-447F-B6D0-D70F32F978E3}"/>
              </a:ext>
            </a:extLst>
          </p:cNvPr>
          <p:cNvCxnSpPr>
            <a:cxnSpLocks/>
            <a:stCxn id="37" idx="3"/>
            <a:endCxn id="36" idx="1"/>
          </p:cNvCxnSpPr>
          <p:nvPr/>
        </p:nvCxnSpPr>
        <p:spPr>
          <a:xfrm flipV="1">
            <a:off x="2373072" y="1493660"/>
            <a:ext cx="1244297" cy="1"/>
          </a:xfrm>
          <a:prstGeom prst="straightConnector1">
            <a:avLst/>
          </a:prstGeom>
          <a:ln>
            <a:solidFill>
              <a:schemeClr val="tx1"/>
            </a:solidFill>
            <a:headEnd type="stealth" w="lg" len="lg"/>
            <a:tailEnd type="stealth" w="lg" len="lg"/>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F7553F65-07FF-4C05-8F93-85B5FA161501}"/>
              </a:ext>
            </a:extLst>
          </p:cNvPr>
          <p:cNvCxnSpPr>
            <a:stCxn id="36" idx="2"/>
            <a:endCxn id="1076" idx="0"/>
          </p:cNvCxnSpPr>
          <p:nvPr/>
        </p:nvCxnSpPr>
        <p:spPr>
          <a:xfrm flipH="1">
            <a:off x="1111415" y="1774709"/>
            <a:ext cx="3460585" cy="1649600"/>
          </a:xfrm>
          <a:prstGeom prst="straightConnector1">
            <a:avLst/>
          </a:prstGeom>
          <a:ln>
            <a:solidFill>
              <a:schemeClr val="tx1"/>
            </a:solidFill>
            <a:headEnd type="stealth" w="lg" len="lg"/>
            <a:tailEnd type="stealth" w="lg" len="lg"/>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8E5C299B-BDD4-4615-9B02-F691C32837CA}"/>
              </a:ext>
            </a:extLst>
          </p:cNvPr>
          <p:cNvCxnSpPr>
            <a:stCxn id="36" idx="2"/>
            <a:endCxn id="156" idx="0"/>
          </p:cNvCxnSpPr>
          <p:nvPr/>
        </p:nvCxnSpPr>
        <p:spPr>
          <a:xfrm flipH="1">
            <a:off x="3377304" y="1774709"/>
            <a:ext cx="1194696" cy="1649600"/>
          </a:xfrm>
          <a:prstGeom prst="straightConnector1">
            <a:avLst/>
          </a:prstGeom>
          <a:ln>
            <a:solidFill>
              <a:schemeClr val="tx1"/>
            </a:solidFill>
            <a:headEnd type="stealth" w="lg" len="lg"/>
            <a:tailEnd type="stealth"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E147881D-633B-4520-BDB1-97F9772558E6}"/>
              </a:ext>
            </a:extLst>
          </p:cNvPr>
          <p:cNvCxnSpPr>
            <a:stCxn id="36" idx="2"/>
            <a:endCxn id="157" idx="0"/>
          </p:cNvCxnSpPr>
          <p:nvPr/>
        </p:nvCxnSpPr>
        <p:spPr>
          <a:xfrm>
            <a:off x="4572000" y="1774709"/>
            <a:ext cx="1149873" cy="1649856"/>
          </a:xfrm>
          <a:prstGeom prst="straightConnector1">
            <a:avLst/>
          </a:prstGeom>
          <a:ln>
            <a:solidFill>
              <a:schemeClr val="tx1"/>
            </a:solidFill>
            <a:headEnd type="stealth" w="lg" len="lg"/>
            <a:tailEnd type="stealth" w="lg" len="lg"/>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654D3456-9537-4074-8B37-0C72427BC14A}"/>
              </a:ext>
            </a:extLst>
          </p:cNvPr>
          <p:cNvCxnSpPr>
            <a:cxnSpLocks/>
            <a:stCxn id="36" idx="2"/>
            <a:endCxn id="158" idx="0"/>
          </p:cNvCxnSpPr>
          <p:nvPr/>
        </p:nvCxnSpPr>
        <p:spPr>
          <a:xfrm>
            <a:off x="4572000" y="1774709"/>
            <a:ext cx="3421855" cy="1638969"/>
          </a:xfrm>
          <a:prstGeom prst="straightConnector1">
            <a:avLst/>
          </a:prstGeom>
          <a:ln>
            <a:solidFill>
              <a:schemeClr val="tx1"/>
            </a:solidFill>
            <a:headEnd type="stealth" w="lg" len="lg"/>
            <a:tailEnd type="stealth" w="lg" len="lg"/>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D839265-70DA-4A90-8BBE-07034E176DEB}"/>
              </a:ext>
            </a:extLst>
          </p:cNvPr>
          <p:cNvCxnSpPr>
            <a:stCxn id="37" idx="2"/>
            <a:endCxn id="1076" idx="0"/>
          </p:cNvCxnSpPr>
          <p:nvPr/>
        </p:nvCxnSpPr>
        <p:spPr>
          <a:xfrm flipH="1">
            <a:off x="1111415" y="1774710"/>
            <a:ext cx="307026" cy="1649599"/>
          </a:xfrm>
          <a:prstGeom prst="straightConnector1">
            <a:avLst/>
          </a:prstGeom>
          <a:ln>
            <a:solidFill>
              <a:schemeClr val="tx1"/>
            </a:solidFill>
            <a:prstDash val="dash"/>
            <a:headEnd type="triangle" w="lg" len="lg"/>
            <a:tailEnd type="triangle" w="lg" len="lg"/>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B88B535F-4F74-4C2B-BFB2-7CFB80642A2A}"/>
              </a:ext>
            </a:extLst>
          </p:cNvPr>
          <p:cNvCxnSpPr>
            <a:stCxn id="37" idx="2"/>
            <a:endCxn id="156" idx="0"/>
          </p:cNvCxnSpPr>
          <p:nvPr/>
        </p:nvCxnSpPr>
        <p:spPr>
          <a:xfrm>
            <a:off x="1418441" y="1774710"/>
            <a:ext cx="1958863" cy="1649599"/>
          </a:xfrm>
          <a:prstGeom prst="straightConnector1">
            <a:avLst/>
          </a:prstGeom>
          <a:ln>
            <a:solidFill>
              <a:schemeClr val="tx1"/>
            </a:solidFill>
            <a:prstDash val="dash"/>
            <a:headEnd type="triangle" w="lg" len="lg"/>
            <a:tailEnd type="triangle" w="lg" len="lg"/>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289CD96B-1912-4D66-B74B-AC7A40A825A7}"/>
              </a:ext>
            </a:extLst>
          </p:cNvPr>
          <p:cNvCxnSpPr>
            <a:stCxn id="37" idx="2"/>
            <a:endCxn id="157" idx="0"/>
          </p:cNvCxnSpPr>
          <p:nvPr/>
        </p:nvCxnSpPr>
        <p:spPr>
          <a:xfrm>
            <a:off x="1418441" y="1774710"/>
            <a:ext cx="4303432" cy="1649855"/>
          </a:xfrm>
          <a:prstGeom prst="straightConnector1">
            <a:avLst/>
          </a:prstGeom>
          <a:ln>
            <a:solidFill>
              <a:schemeClr val="tx1"/>
            </a:solidFill>
            <a:prstDash val="dash"/>
            <a:headEnd type="triangle" w="lg" len="lg"/>
            <a:tailEnd type="triangle" w="lg" len="lg"/>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739769AF-F8CA-4DC2-9C22-34D01BCC3D97}"/>
              </a:ext>
            </a:extLst>
          </p:cNvPr>
          <p:cNvCxnSpPr>
            <a:stCxn id="37" idx="2"/>
            <a:endCxn id="158" idx="0"/>
          </p:cNvCxnSpPr>
          <p:nvPr/>
        </p:nvCxnSpPr>
        <p:spPr>
          <a:xfrm>
            <a:off x="1418441" y="1774710"/>
            <a:ext cx="6575414" cy="1638968"/>
          </a:xfrm>
          <a:prstGeom prst="straightConnector1">
            <a:avLst/>
          </a:prstGeom>
          <a:ln>
            <a:solidFill>
              <a:schemeClr val="tx1"/>
            </a:solidFill>
            <a:prstDash val="dash"/>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B32069E6-5A05-4BC6-866E-F54C209DBE49}"/>
              </a:ext>
            </a:extLst>
          </p:cNvPr>
          <p:cNvSpPr txBox="1"/>
          <p:nvPr/>
        </p:nvSpPr>
        <p:spPr>
          <a:xfrm>
            <a:off x="71476" y="2206592"/>
            <a:ext cx="2283907" cy="707886"/>
          </a:xfrm>
          <a:prstGeom prst="rect">
            <a:avLst/>
          </a:prstGeom>
          <a:solidFill>
            <a:schemeClr val="bg1"/>
          </a:solidFill>
        </p:spPr>
        <p:txBody>
          <a:bodyPr wrap="square" rtlCol="0">
            <a:spAutoFit/>
          </a:bodyPr>
          <a:lstStyle/>
          <a:p>
            <a:pPr marL="3429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Block Report</a:t>
            </a:r>
          </a:p>
          <a:p>
            <a:pPr marL="3429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Heartbeat</a:t>
            </a:r>
          </a:p>
        </p:txBody>
      </p:sp>
    </p:spTree>
    <p:extLst>
      <p:ext uri="{BB962C8B-B14F-4D97-AF65-F5344CB8AC3E}">
        <p14:creationId xmlns:p14="http://schemas.microsoft.com/office/powerpoint/2010/main" val="2414207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nodeType="after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nodeType="afterEffect">
                                  <p:stCondLst>
                                    <p:cond delay="0"/>
                                  </p:stCondLst>
                                  <p:childTnLst>
                                    <p:set>
                                      <p:cBhvr>
                                        <p:cTn id="31" dur="1" fill="hold">
                                          <p:stCondLst>
                                            <p:cond delay="0"/>
                                          </p:stCondLst>
                                        </p:cTn>
                                        <p:tgtEl>
                                          <p:spTgt spid="2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24"/>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26"/>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28"/>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30"/>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 grpId="0"/>
      <p:bldP spid="5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F1A76-1133-483D-9FA1-7D1579A378EE}"/>
              </a:ext>
            </a:extLst>
          </p:cNvPr>
          <p:cNvSpPr>
            <a:spLocks noGrp="1"/>
          </p:cNvSpPr>
          <p:nvPr>
            <p:ph type="title"/>
          </p:nvPr>
        </p:nvSpPr>
        <p:spPr/>
        <p:txBody>
          <a:bodyPr/>
          <a:lstStyle/>
          <a:p>
            <a:r>
              <a:rPr lang="en-US" dirty="0"/>
              <a:t>MapReduce</a:t>
            </a:r>
          </a:p>
        </p:txBody>
      </p:sp>
      <p:pic>
        <p:nvPicPr>
          <p:cNvPr id="4" name="Picture 3" descr="A drawing shows a schematic representation of Map Reduce. The drawing shows input data divided into multiple subsets, each of which is assigned to a map, M. The results from each of the maps are shuffled and passed on to the next component, Reduce, consisting of multiple subcomponents, R which integrate the results of all subsets to give one final result.">
            <a:extLst>
              <a:ext uri="{FF2B5EF4-FFF2-40B4-BE49-F238E27FC236}">
                <a16:creationId xmlns:a16="http://schemas.microsoft.com/office/drawing/2014/main" id="{F8E9E494-F89C-4A04-99AE-7FF96F8C369E}"/>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saturation sat="0"/>
                    </a14:imgEffect>
                    <a14:imgEffect>
                      <a14:brightnessContrast bright="20000" contrast="-40000"/>
                    </a14:imgEffect>
                  </a14:imgLayer>
                </a14:imgProps>
              </a:ext>
            </a:extLst>
          </a:blip>
          <a:stretch>
            <a:fillRect/>
          </a:stretch>
        </p:blipFill>
        <p:spPr>
          <a:xfrm>
            <a:off x="269302" y="1121072"/>
            <a:ext cx="8605395" cy="4970446"/>
          </a:xfrm>
          <a:prstGeom prst="rect">
            <a:avLst/>
          </a:prstGeom>
        </p:spPr>
      </p:pic>
      <p:sp>
        <p:nvSpPr>
          <p:cNvPr id="5" name="Text Placeholder 4">
            <a:extLst>
              <a:ext uri="{FF2B5EF4-FFF2-40B4-BE49-F238E27FC236}">
                <a16:creationId xmlns:a16="http://schemas.microsoft.com/office/drawing/2014/main" id="{EECE62E0-2E73-4126-960F-BE444DA44EC5}"/>
              </a:ext>
            </a:extLst>
          </p:cNvPr>
          <p:cNvSpPr txBox="1">
            <a:spLocks/>
          </p:cNvSpPr>
          <p:nvPr/>
        </p:nvSpPr>
        <p:spPr>
          <a:xfrm>
            <a:off x="93306" y="6276425"/>
            <a:ext cx="8985380" cy="581575"/>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1400" dirty="0"/>
              <a:t>MapReduce: Simplified Data Processing on Large Clusters, Jeff Dean, Sanjay Ghemawat, Google, </a:t>
            </a:r>
            <a:r>
              <a:rPr lang="fr-FR" sz="1400" dirty="0"/>
              <a:t>I n c., </a:t>
            </a:r>
            <a:r>
              <a:rPr lang="fr-FR" sz="1400" dirty="0">
                <a:hlinkClick r:id="rId5" tooltip="https://research.google.com/archive/mapreduce-osdi04-slides/index-auto-0007.html"/>
              </a:rPr>
              <a:t>https://research.google.com/archive/mapreduce-osdi04-slides/index-auto-0007.html</a:t>
            </a:r>
            <a:r>
              <a:rPr lang="en-US" sz="1400" dirty="0"/>
              <a:t>. Courtesy of the authors.</a:t>
            </a:r>
          </a:p>
        </p:txBody>
      </p:sp>
    </p:spTree>
    <p:extLst>
      <p:ext uri="{BB962C8B-B14F-4D97-AF65-F5344CB8AC3E}">
        <p14:creationId xmlns:p14="http://schemas.microsoft.com/office/powerpoint/2010/main" val="142863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8FF5D-E137-40CD-A158-0F9F9E76D4BF}"/>
              </a:ext>
            </a:extLst>
          </p:cNvPr>
          <p:cNvSpPr>
            <a:spLocks noGrp="1"/>
          </p:cNvSpPr>
          <p:nvPr>
            <p:ph type="title"/>
          </p:nvPr>
        </p:nvSpPr>
        <p:spPr/>
        <p:txBody>
          <a:bodyPr/>
          <a:lstStyle/>
          <a:p>
            <a:r>
              <a:rPr lang="en-US" dirty="0"/>
              <a:t>Hadoop Ecosystem</a:t>
            </a:r>
          </a:p>
        </p:txBody>
      </p:sp>
      <p:sp>
        <p:nvSpPr>
          <p:cNvPr id="4" name="Rectangle 3">
            <a:extLst>
              <a:ext uri="{FF2B5EF4-FFF2-40B4-BE49-F238E27FC236}">
                <a16:creationId xmlns:a16="http://schemas.microsoft.com/office/drawing/2014/main" id="{A7CDBC43-F8B1-4EEA-B163-3052881D3565}"/>
              </a:ext>
            </a:extLst>
          </p:cNvPr>
          <p:cNvSpPr/>
          <p:nvPr/>
        </p:nvSpPr>
        <p:spPr>
          <a:xfrm>
            <a:off x="2082690" y="4083268"/>
            <a:ext cx="1240220" cy="982716"/>
          </a:xfrm>
          <a:prstGeom prst="rect">
            <a:avLst/>
          </a:prstGeom>
          <a:solidFill>
            <a:srgbClr val="EA6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HDFS</a:t>
            </a:r>
          </a:p>
        </p:txBody>
      </p:sp>
      <p:sp>
        <p:nvSpPr>
          <p:cNvPr id="5" name="Rectangle 4">
            <a:extLst>
              <a:ext uri="{FF2B5EF4-FFF2-40B4-BE49-F238E27FC236}">
                <a16:creationId xmlns:a16="http://schemas.microsoft.com/office/drawing/2014/main" id="{B04492D9-D015-41E4-B6CD-084440AD421C}"/>
              </a:ext>
            </a:extLst>
          </p:cNvPr>
          <p:cNvSpPr/>
          <p:nvPr/>
        </p:nvSpPr>
        <p:spPr>
          <a:xfrm>
            <a:off x="3443779" y="4083268"/>
            <a:ext cx="2625075" cy="998483"/>
          </a:xfrm>
          <a:prstGeom prst="rect">
            <a:avLst/>
          </a:prstGeom>
          <a:solidFill>
            <a:srgbClr val="EA6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NoSQL Database</a:t>
            </a:r>
          </a:p>
          <a:p>
            <a:pPr algn="ctr"/>
            <a:r>
              <a:rPr lang="en-US" dirty="0">
                <a:solidFill>
                  <a:schemeClr val="tx1"/>
                </a:solidFill>
                <a:latin typeface="Arial" panose="020B0604020202020204" pitchFamily="34" charset="0"/>
                <a:cs typeface="Arial" panose="020B0604020202020204" pitchFamily="34" charset="0"/>
              </a:rPr>
              <a:t>(e.g., HBase; Cassandra; MongoDB)</a:t>
            </a:r>
          </a:p>
        </p:txBody>
      </p:sp>
      <p:sp>
        <p:nvSpPr>
          <p:cNvPr id="6" name="Rectangle 5">
            <a:extLst>
              <a:ext uri="{FF2B5EF4-FFF2-40B4-BE49-F238E27FC236}">
                <a16:creationId xmlns:a16="http://schemas.microsoft.com/office/drawing/2014/main" id="{3C94C601-0561-461E-A7F4-6EAD9FBCD687}"/>
              </a:ext>
            </a:extLst>
          </p:cNvPr>
          <p:cNvSpPr/>
          <p:nvPr/>
        </p:nvSpPr>
        <p:spPr>
          <a:xfrm>
            <a:off x="2082690" y="3216165"/>
            <a:ext cx="3986164" cy="735724"/>
          </a:xfrm>
          <a:prstGeom prst="rect">
            <a:avLst/>
          </a:prstGeom>
          <a:solidFill>
            <a:srgbClr val="522D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Data Processing</a:t>
            </a:r>
          </a:p>
          <a:p>
            <a:pPr algn="ctr"/>
            <a:r>
              <a:rPr lang="en-US" dirty="0">
                <a:solidFill>
                  <a:schemeClr val="bg1"/>
                </a:solidFill>
                <a:latin typeface="Arial" panose="020B0604020202020204" pitchFamily="34" charset="0"/>
                <a:cs typeface="Arial" panose="020B0604020202020204" pitchFamily="34" charset="0"/>
              </a:rPr>
              <a:t>(e.g., MapReduce; YARN)</a:t>
            </a:r>
          </a:p>
        </p:txBody>
      </p:sp>
      <p:sp>
        <p:nvSpPr>
          <p:cNvPr id="7" name="Rectangle 6">
            <a:extLst>
              <a:ext uri="{FF2B5EF4-FFF2-40B4-BE49-F238E27FC236}">
                <a16:creationId xmlns:a16="http://schemas.microsoft.com/office/drawing/2014/main" id="{EBDA3FAA-D6D8-4554-B67F-EDEC7FF0C445}"/>
              </a:ext>
            </a:extLst>
          </p:cNvPr>
          <p:cNvSpPr/>
          <p:nvPr/>
        </p:nvSpPr>
        <p:spPr>
          <a:xfrm>
            <a:off x="2082690" y="2351689"/>
            <a:ext cx="3986164" cy="735724"/>
          </a:xfrm>
          <a:prstGeom prst="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Data Access</a:t>
            </a:r>
          </a:p>
          <a:p>
            <a:pPr algn="ctr"/>
            <a:r>
              <a:rPr lang="en-US" dirty="0">
                <a:solidFill>
                  <a:schemeClr val="bg1"/>
                </a:solidFill>
                <a:latin typeface="Arial" panose="020B0604020202020204" pitchFamily="34" charset="0"/>
                <a:cs typeface="Arial" panose="020B0604020202020204" pitchFamily="34" charset="0"/>
              </a:rPr>
              <a:t>(e.g., Hive; Pig; Mahout; </a:t>
            </a:r>
            <a:r>
              <a:rPr lang="en-US" dirty="0" err="1">
                <a:solidFill>
                  <a:schemeClr val="bg1"/>
                </a:solidFill>
                <a:latin typeface="Arial" panose="020B0604020202020204" pitchFamily="34" charset="0"/>
                <a:cs typeface="Arial" panose="020B0604020202020204" pitchFamily="34" charset="0"/>
              </a:rPr>
              <a:t>Solr</a:t>
            </a:r>
            <a:r>
              <a:rPr lang="en-US" dirty="0">
                <a:solidFill>
                  <a:schemeClr val="bg1"/>
                </a:solidFill>
                <a:latin typeface="Arial" panose="020B0604020202020204" pitchFamily="34" charset="0"/>
                <a:cs typeface="Arial" panose="020B0604020202020204" pitchFamily="34" charset="0"/>
              </a:rPr>
              <a:t>)</a:t>
            </a:r>
          </a:p>
        </p:txBody>
      </p:sp>
      <p:sp>
        <p:nvSpPr>
          <p:cNvPr id="8" name="Rectangle 7">
            <a:extLst>
              <a:ext uri="{FF2B5EF4-FFF2-40B4-BE49-F238E27FC236}">
                <a16:creationId xmlns:a16="http://schemas.microsoft.com/office/drawing/2014/main" id="{DE3A2525-1B6E-4802-AF8D-4AB138E43777}"/>
              </a:ext>
            </a:extLst>
          </p:cNvPr>
          <p:cNvSpPr/>
          <p:nvPr/>
        </p:nvSpPr>
        <p:spPr>
          <a:xfrm>
            <a:off x="2082690" y="1484586"/>
            <a:ext cx="3986164" cy="73572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Data Management</a:t>
            </a:r>
          </a:p>
          <a:p>
            <a:pPr algn="ctr"/>
            <a:r>
              <a:rPr lang="en-US" dirty="0">
                <a:solidFill>
                  <a:schemeClr val="bg1"/>
                </a:solidFill>
                <a:latin typeface="Arial" panose="020B0604020202020204" pitchFamily="34" charset="0"/>
                <a:cs typeface="Arial" panose="020B0604020202020204" pitchFamily="34" charset="0"/>
              </a:rPr>
              <a:t>(e.g., </a:t>
            </a:r>
            <a:r>
              <a:rPr lang="en-US" dirty="0" err="1">
                <a:solidFill>
                  <a:schemeClr val="bg1"/>
                </a:solidFill>
                <a:latin typeface="Arial" panose="020B0604020202020204" pitchFamily="34" charset="0"/>
                <a:cs typeface="Arial" panose="020B0604020202020204" pitchFamily="34" charset="0"/>
              </a:rPr>
              <a:t>ZooKeeper</a:t>
            </a:r>
            <a:r>
              <a:rPr lang="en-US" dirty="0">
                <a:solidFill>
                  <a:schemeClr val="bg1"/>
                </a:solidFill>
                <a:latin typeface="Arial" panose="020B0604020202020204" pitchFamily="34" charset="0"/>
                <a:cs typeface="Arial" panose="020B0604020202020204" pitchFamily="34" charset="0"/>
              </a:rPr>
              <a:t>; Ambari; Oozie)</a:t>
            </a:r>
          </a:p>
        </p:txBody>
      </p:sp>
      <p:sp>
        <p:nvSpPr>
          <p:cNvPr id="9" name="Rectangle 8">
            <a:extLst>
              <a:ext uri="{FF2B5EF4-FFF2-40B4-BE49-F238E27FC236}">
                <a16:creationId xmlns:a16="http://schemas.microsoft.com/office/drawing/2014/main" id="{C19C6542-E06F-432F-BD21-841CEEE78CCE}"/>
              </a:ext>
            </a:extLst>
          </p:cNvPr>
          <p:cNvSpPr/>
          <p:nvPr/>
        </p:nvSpPr>
        <p:spPr>
          <a:xfrm rot="16200000">
            <a:off x="-204624" y="2915307"/>
            <a:ext cx="3597165" cy="735724"/>
          </a:xfrm>
          <a:prstGeom prst="rect">
            <a:avLst/>
          </a:prstGeom>
          <a:solidFill>
            <a:srgbClr val="8689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Data Governance</a:t>
            </a:r>
          </a:p>
          <a:p>
            <a:pPr algn="ctr"/>
            <a:r>
              <a:rPr lang="en-US" dirty="0">
                <a:solidFill>
                  <a:schemeClr val="tx1"/>
                </a:solidFill>
                <a:latin typeface="Arial" panose="020B0604020202020204" pitchFamily="34" charset="0"/>
                <a:cs typeface="Arial" panose="020B0604020202020204" pitchFamily="34" charset="0"/>
              </a:rPr>
              <a:t>(e.g. Kafka; Storm; Sqoop)</a:t>
            </a:r>
          </a:p>
        </p:txBody>
      </p:sp>
      <p:sp>
        <p:nvSpPr>
          <p:cNvPr id="10" name="Rectangle 9">
            <a:extLst>
              <a:ext uri="{FF2B5EF4-FFF2-40B4-BE49-F238E27FC236}">
                <a16:creationId xmlns:a16="http://schemas.microsoft.com/office/drawing/2014/main" id="{A2F43873-ED8F-440E-8670-E17E8B197626}"/>
              </a:ext>
            </a:extLst>
          </p:cNvPr>
          <p:cNvSpPr/>
          <p:nvPr/>
        </p:nvSpPr>
        <p:spPr>
          <a:xfrm rot="16200000">
            <a:off x="4820423" y="2915306"/>
            <a:ext cx="3597165" cy="735724"/>
          </a:xfrm>
          <a:prstGeom prst="rect">
            <a:avLst/>
          </a:prstGeom>
          <a:solidFill>
            <a:schemeClr val="accent4">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Data Security</a:t>
            </a:r>
          </a:p>
          <a:p>
            <a:pPr algn="ctr"/>
            <a:r>
              <a:rPr lang="en-US" dirty="0">
                <a:solidFill>
                  <a:schemeClr val="tx1"/>
                </a:solidFill>
                <a:latin typeface="Arial" panose="020B0604020202020204" pitchFamily="34" charset="0"/>
                <a:cs typeface="Arial" panose="020B0604020202020204" pitchFamily="34" charset="0"/>
              </a:rPr>
              <a:t>(e.g. Sentry; Knox Gateway)</a:t>
            </a:r>
          </a:p>
        </p:txBody>
      </p:sp>
      <p:sp>
        <p:nvSpPr>
          <p:cNvPr id="11" name="Rectangle 10">
            <a:extLst>
              <a:ext uri="{FF2B5EF4-FFF2-40B4-BE49-F238E27FC236}">
                <a16:creationId xmlns:a16="http://schemas.microsoft.com/office/drawing/2014/main" id="{978B4C4E-5744-4C40-98DF-2A0FD420F56F}"/>
              </a:ext>
            </a:extLst>
          </p:cNvPr>
          <p:cNvSpPr/>
          <p:nvPr/>
        </p:nvSpPr>
        <p:spPr>
          <a:xfrm>
            <a:off x="1226094" y="5269117"/>
            <a:ext cx="2785610" cy="581575"/>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Hardware</a:t>
            </a:r>
          </a:p>
        </p:txBody>
      </p:sp>
      <p:sp>
        <p:nvSpPr>
          <p:cNvPr id="13" name="Rectangle 12">
            <a:extLst>
              <a:ext uri="{FF2B5EF4-FFF2-40B4-BE49-F238E27FC236}">
                <a16:creationId xmlns:a16="http://schemas.microsoft.com/office/drawing/2014/main" id="{D9817CE9-A08C-4FA4-80BE-E42739FB25E2}"/>
              </a:ext>
            </a:extLst>
          </p:cNvPr>
          <p:cNvSpPr/>
          <p:nvPr/>
        </p:nvSpPr>
        <p:spPr>
          <a:xfrm>
            <a:off x="4242932" y="5279626"/>
            <a:ext cx="2785610" cy="581575"/>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Cloud</a:t>
            </a:r>
          </a:p>
        </p:txBody>
      </p:sp>
      <p:sp>
        <p:nvSpPr>
          <p:cNvPr id="14" name="Rectangle 13">
            <a:extLst>
              <a:ext uri="{FF2B5EF4-FFF2-40B4-BE49-F238E27FC236}">
                <a16:creationId xmlns:a16="http://schemas.microsoft.com/office/drawing/2014/main" id="{70A949B8-1DB4-4CB3-9390-5916B62E482A}"/>
              </a:ext>
            </a:extLst>
          </p:cNvPr>
          <p:cNvSpPr/>
          <p:nvPr/>
        </p:nvSpPr>
        <p:spPr>
          <a:xfrm rot="16200000">
            <a:off x="5323259" y="3354251"/>
            <a:ext cx="4376614" cy="637283"/>
          </a:xfrm>
          <a:prstGeom prst="rect">
            <a:avLst/>
          </a:prstGeom>
          <a:solidFill>
            <a:schemeClr val="accent3">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tx1"/>
                </a:solidFill>
                <a:latin typeface="Arial" panose="020B0604020202020204" pitchFamily="34" charset="0"/>
                <a:cs typeface="Arial" panose="020B0604020202020204" pitchFamily="34" charset="0"/>
              </a:rPr>
              <a:t>Development Tool</a:t>
            </a:r>
          </a:p>
        </p:txBody>
      </p:sp>
    </p:spTree>
    <p:extLst>
      <p:ext uri="{BB962C8B-B14F-4D97-AF65-F5344CB8AC3E}">
        <p14:creationId xmlns:p14="http://schemas.microsoft.com/office/powerpoint/2010/main" val="1305125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3" grpId="0" animBg="1"/>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1D46B-E26E-496E-9272-FA2538A09E31}"/>
              </a:ext>
            </a:extLst>
          </p:cNvPr>
          <p:cNvSpPr>
            <a:spLocks noGrp="1"/>
          </p:cNvSpPr>
          <p:nvPr>
            <p:ph type="title"/>
          </p:nvPr>
        </p:nvSpPr>
        <p:spPr/>
        <p:txBody>
          <a:bodyPr/>
          <a:lstStyle/>
          <a:p>
            <a:r>
              <a:rPr lang="en-US" dirty="0"/>
              <a:t>Hadoop Vendors</a:t>
            </a:r>
          </a:p>
        </p:txBody>
      </p:sp>
      <p:pic>
        <p:nvPicPr>
          <p:cNvPr id="2052" name="Picture 4" descr="Top 6 Hadoop Vendors providing Big Data Solutions in Open Data ...">
            <a:extLst>
              <a:ext uri="{FF2B5EF4-FFF2-40B4-BE49-F238E27FC236}">
                <a16:creationId xmlns:a16="http://schemas.microsoft.com/office/drawing/2014/main" id="{63E4836A-180B-46B5-B5E7-FFA103B795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5728" y="964504"/>
            <a:ext cx="7279027" cy="5626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3644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2419</TotalTime>
  <Words>7232</Words>
  <Application>Microsoft Office PowerPoint</Application>
  <PresentationFormat>On-screen Show (4:3)</PresentationFormat>
  <Paragraphs>314</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Arial Nova</vt:lpstr>
      <vt:lpstr>Calibri</vt:lpstr>
      <vt:lpstr>Goudy Old Style</vt:lpstr>
      <vt:lpstr>Times New Roman</vt:lpstr>
      <vt:lpstr>Office Theme</vt:lpstr>
      <vt:lpstr>Chapter 7 Big Data</vt:lpstr>
      <vt:lpstr>Big Data</vt:lpstr>
      <vt:lpstr>Big Data – Volume (extremely large storage capacities)</vt:lpstr>
      <vt:lpstr>Big Data – Velocity (speed at which data is entered into system and must be processed)</vt:lpstr>
      <vt:lpstr>Big Data – Variety</vt:lpstr>
      <vt:lpstr>Other Characteristics of Big Data</vt:lpstr>
      <vt:lpstr>No S Q L (Not Only SQL)</vt:lpstr>
      <vt:lpstr>NoSQL</vt:lpstr>
      <vt:lpstr>No S Q L Classifications: Key-Value Databases</vt:lpstr>
      <vt:lpstr>No S Q L Classifications: Document Databases</vt:lpstr>
      <vt:lpstr>No S Q L Classifications: Columnar Databases</vt:lpstr>
      <vt:lpstr>No S Q L Classifications: Columnar Databases</vt:lpstr>
      <vt:lpstr>No S Q L Classifications: Graph Databases</vt:lpstr>
      <vt:lpstr>PowerPoint Presentation</vt:lpstr>
      <vt:lpstr>PowerPoint Presentation</vt:lpstr>
      <vt:lpstr>How Does HDFS Work?</vt:lpstr>
      <vt:lpstr>How Does HDFS Work?</vt:lpstr>
      <vt:lpstr>MapReduce</vt:lpstr>
      <vt:lpstr>Hadoop Ecosystem</vt:lpstr>
      <vt:lpstr>Hadoop Vendors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Data Management</dc:title>
  <dc:creator>He Li</dc:creator>
  <cp:lastModifiedBy>He Li</cp:lastModifiedBy>
  <cp:revision>223</cp:revision>
  <dcterms:created xsi:type="dcterms:W3CDTF">2019-12-19T20:52:23Z</dcterms:created>
  <dcterms:modified xsi:type="dcterms:W3CDTF">2021-11-01T15:17:43Z</dcterms:modified>
</cp:coreProperties>
</file>