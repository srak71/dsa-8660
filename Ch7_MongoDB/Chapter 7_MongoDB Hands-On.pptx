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handoutMasterIdLst>
    <p:handoutMasterId r:id="rId69"/>
  </p:handoutMasterIdLst>
  <p:sldIdLst>
    <p:sldId id="488" r:id="rId2"/>
    <p:sldId id="258" r:id="rId3"/>
    <p:sldId id="404" r:id="rId4"/>
    <p:sldId id="405" r:id="rId5"/>
    <p:sldId id="406" r:id="rId6"/>
    <p:sldId id="470" r:id="rId7"/>
    <p:sldId id="408" r:id="rId8"/>
    <p:sldId id="409" r:id="rId9"/>
    <p:sldId id="410" r:id="rId10"/>
    <p:sldId id="412" r:id="rId11"/>
    <p:sldId id="413" r:id="rId12"/>
    <p:sldId id="414" r:id="rId13"/>
    <p:sldId id="490" r:id="rId14"/>
    <p:sldId id="491" r:id="rId15"/>
    <p:sldId id="407" r:id="rId16"/>
    <p:sldId id="416" r:id="rId17"/>
    <p:sldId id="418" r:id="rId18"/>
    <p:sldId id="419" r:id="rId19"/>
    <p:sldId id="420" r:id="rId20"/>
    <p:sldId id="421" r:id="rId21"/>
    <p:sldId id="422" r:id="rId22"/>
    <p:sldId id="423" r:id="rId23"/>
    <p:sldId id="424" r:id="rId24"/>
    <p:sldId id="425" r:id="rId25"/>
    <p:sldId id="426" r:id="rId26"/>
    <p:sldId id="427" r:id="rId27"/>
    <p:sldId id="430" r:id="rId28"/>
    <p:sldId id="428" r:id="rId29"/>
    <p:sldId id="429" r:id="rId30"/>
    <p:sldId id="431" r:id="rId31"/>
    <p:sldId id="432" r:id="rId32"/>
    <p:sldId id="433" r:id="rId33"/>
    <p:sldId id="434" r:id="rId34"/>
    <p:sldId id="435" r:id="rId35"/>
    <p:sldId id="436" r:id="rId36"/>
    <p:sldId id="437" r:id="rId37"/>
    <p:sldId id="438" r:id="rId38"/>
    <p:sldId id="439" r:id="rId39"/>
    <p:sldId id="440" r:id="rId40"/>
    <p:sldId id="441" r:id="rId41"/>
    <p:sldId id="442" r:id="rId42"/>
    <p:sldId id="489" r:id="rId43"/>
    <p:sldId id="443" r:id="rId44"/>
    <p:sldId id="444" r:id="rId45"/>
    <p:sldId id="445" r:id="rId46"/>
    <p:sldId id="450" r:id="rId47"/>
    <p:sldId id="446" r:id="rId48"/>
    <p:sldId id="447" r:id="rId49"/>
    <p:sldId id="448" r:id="rId50"/>
    <p:sldId id="449" r:id="rId51"/>
    <p:sldId id="451" r:id="rId52"/>
    <p:sldId id="452" r:id="rId53"/>
    <p:sldId id="453" r:id="rId54"/>
    <p:sldId id="454" r:id="rId55"/>
    <p:sldId id="455" r:id="rId56"/>
    <p:sldId id="456" r:id="rId57"/>
    <p:sldId id="459" r:id="rId58"/>
    <p:sldId id="460" r:id="rId59"/>
    <p:sldId id="461" r:id="rId60"/>
    <p:sldId id="462" r:id="rId61"/>
    <p:sldId id="463" r:id="rId62"/>
    <p:sldId id="464" r:id="rId63"/>
    <p:sldId id="465" r:id="rId64"/>
    <p:sldId id="466" r:id="rId65"/>
    <p:sldId id="457" r:id="rId66"/>
    <p:sldId id="458" r:id="rId6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2D80"/>
    <a:srgbClr val="EA6A20"/>
    <a:srgbClr val="86898C"/>
    <a:srgbClr val="D4C99E"/>
    <a:srgbClr val="ED6C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63" autoAdjust="0"/>
    <p:restoredTop sz="73146" autoAdjust="0"/>
  </p:normalViewPr>
  <p:slideViewPr>
    <p:cSldViewPr snapToGrid="0" snapToObjects="1">
      <p:cViewPr varScale="1">
        <p:scale>
          <a:sx n="113" d="100"/>
          <a:sy n="113" d="100"/>
        </p:scale>
        <p:origin x="147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62" d="100"/>
          <a:sy n="62" d="100"/>
        </p:scale>
        <p:origin x="3226" y="5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 Li" userId="d9c76fd2-938e-46d4-9025-cac18f4a4a12" providerId="ADAL" clId="{DBEBC809-AC24-446E-818A-2D4EDD6CF8AF}"/>
    <pc:docChg chg="undo custSel modSld">
      <pc:chgData name="He Li" userId="d9c76fd2-938e-46d4-9025-cac18f4a4a12" providerId="ADAL" clId="{DBEBC809-AC24-446E-818A-2D4EDD6CF8AF}" dt="2020-10-21T04:40:33.404" v="1186" actId="20577"/>
      <pc:docMkLst>
        <pc:docMk/>
      </pc:docMkLst>
      <pc:sldChg chg="modNotesTx">
        <pc:chgData name="He Li" userId="d9c76fd2-938e-46d4-9025-cac18f4a4a12" providerId="ADAL" clId="{DBEBC809-AC24-446E-818A-2D4EDD6CF8AF}" dt="2020-10-19T21:38:01.186" v="813" actId="20577"/>
        <pc:sldMkLst>
          <pc:docMk/>
          <pc:sldMk cId="3992025409" sldId="257"/>
        </pc:sldMkLst>
      </pc:sldChg>
      <pc:sldChg chg="modSp modNotesTx">
        <pc:chgData name="He Li" userId="d9c76fd2-938e-46d4-9025-cac18f4a4a12" providerId="ADAL" clId="{DBEBC809-AC24-446E-818A-2D4EDD6CF8AF}" dt="2020-10-19T21:21:10.562" v="722" actId="1038"/>
        <pc:sldMkLst>
          <pc:docMk/>
          <pc:sldMk cId="3253984770" sldId="374"/>
        </pc:sldMkLst>
      </pc:sldChg>
      <pc:sldChg chg="modSp">
        <pc:chgData name="He Li" userId="d9c76fd2-938e-46d4-9025-cac18f4a4a12" providerId="ADAL" clId="{DBEBC809-AC24-446E-818A-2D4EDD6CF8AF}" dt="2020-10-19T21:28:05.718" v="765"/>
        <pc:sldMkLst>
          <pc:docMk/>
          <pc:sldMk cId="4110255345" sldId="375"/>
        </pc:sldMkLst>
      </pc:sldChg>
      <pc:sldChg chg="addSp delSp modSp modNotesTx">
        <pc:chgData name="He Li" userId="d9c76fd2-938e-46d4-9025-cac18f4a4a12" providerId="ADAL" clId="{DBEBC809-AC24-446E-818A-2D4EDD6CF8AF}" dt="2020-10-20T00:23:10.674" v="1184" actId="1076"/>
        <pc:sldMkLst>
          <pc:docMk/>
          <pc:sldMk cId="1884329185" sldId="381"/>
        </pc:sldMkLst>
      </pc:sldChg>
      <pc:sldChg chg="addSp delSp modSp">
        <pc:chgData name="He Li" userId="d9c76fd2-938e-46d4-9025-cac18f4a4a12" providerId="ADAL" clId="{DBEBC809-AC24-446E-818A-2D4EDD6CF8AF}" dt="2020-10-20T00:18:35.187" v="1048" actId="207"/>
        <pc:sldMkLst>
          <pc:docMk/>
          <pc:sldMk cId="3874654464" sldId="383"/>
        </pc:sldMkLst>
      </pc:sldChg>
      <pc:sldChg chg="modSp">
        <pc:chgData name="He Li" userId="d9c76fd2-938e-46d4-9025-cac18f4a4a12" providerId="ADAL" clId="{DBEBC809-AC24-446E-818A-2D4EDD6CF8AF}" dt="2020-10-19T21:29:12.538" v="773"/>
        <pc:sldMkLst>
          <pc:docMk/>
          <pc:sldMk cId="1723794216" sldId="399"/>
        </pc:sldMkLst>
      </pc:sldChg>
      <pc:sldChg chg="modSp">
        <pc:chgData name="He Li" userId="d9c76fd2-938e-46d4-9025-cac18f4a4a12" providerId="ADAL" clId="{DBEBC809-AC24-446E-818A-2D4EDD6CF8AF}" dt="2020-10-19T21:30:33.869" v="782" actId="1076"/>
        <pc:sldMkLst>
          <pc:docMk/>
          <pc:sldMk cId="31214874" sldId="400"/>
        </pc:sldMkLst>
      </pc:sldChg>
      <pc:sldChg chg="addSp modSp">
        <pc:chgData name="He Li" userId="d9c76fd2-938e-46d4-9025-cac18f4a4a12" providerId="ADAL" clId="{DBEBC809-AC24-446E-818A-2D4EDD6CF8AF}" dt="2020-10-19T21:26:47.015" v="757" actId="20577"/>
        <pc:sldMkLst>
          <pc:docMk/>
          <pc:sldMk cId="1522698332" sldId="401"/>
        </pc:sldMkLst>
      </pc:sldChg>
      <pc:sldChg chg="modNotesTx">
        <pc:chgData name="He Li" userId="d9c76fd2-938e-46d4-9025-cac18f4a4a12" providerId="ADAL" clId="{DBEBC809-AC24-446E-818A-2D4EDD6CF8AF}" dt="2020-10-21T04:40:33.404" v="1186" actId="20577"/>
        <pc:sldMkLst>
          <pc:docMk/>
          <pc:sldMk cId="1355370046" sldId="402"/>
        </pc:sldMkLst>
      </pc:sldChg>
      <pc:sldChg chg="addSp delSp modSp modNotesTx">
        <pc:chgData name="He Li" userId="d9c76fd2-938e-46d4-9025-cac18f4a4a12" providerId="ADAL" clId="{DBEBC809-AC24-446E-818A-2D4EDD6CF8AF}" dt="2020-10-19T21:39:05.382" v="828" actId="20577"/>
        <pc:sldMkLst>
          <pc:docMk/>
          <pc:sldMk cId="2776924951" sldId="475"/>
        </pc:sldMkLst>
      </pc:sldChg>
      <pc:sldChg chg="addSp delSp modSp modAnim modNotesTx">
        <pc:chgData name="He Li" userId="d9c76fd2-938e-46d4-9025-cac18f4a4a12" providerId="ADAL" clId="{DBEBC809-AC24-446E-818A-2D4EDD6CF8AF}" dt="2020-10-18T01:26:11.590" v="433" actId="33524"/>
        <pc:sldMkLst>
          <pc:docMk/>
          <pc:sldMk cId="675475741" sldId="476"/>
        </pc:sldMkLst>
      </pc:sldChg>
      <pc:sldChg chg="addSp delSp modSp modNotesTx">
        <pc:chgData name="He Li" userId="d9c76fd2-938e-46d4-9025-cac18f4a4a12" providerId="ADAL" clId="{DBEBC809-AC24-446E-818A-2D4EDD6CF8AF}" dt="2020-10-18T01:31:34.455" v="474" actId="20577"/>
        <pc:sldMkLst>
          <pc:docMk/>
          <pc:sldMk cId="3789426395" sldId="477"/>
        </pc:sldMkLst>
      </pc:sldChg>
      <pc:sldChg chg="addSp delSp modSp modNotesTx">
        <pc:chgData name="He Li" userId="d9c76fd2-938e-46d4-9025-cac18f4a4a12" providerId="ADAL" clId="{DBEBC809-AC24-446E-818A-2D4EDD6CF8AF}" dt="2020-10-18T01:34:20.812" v="503" actId="20577"/>
        <pc:sldMkLst>
          <pc:docMk/>
          <pc:sldMk cId="2140108659" sldId="478"/>
        </pc:sldMkLst>
      </pc:sldChg>
      <pc:sldChg chg="modNotesTx">
        <pc:chgData name="He Li" userId="d9c76fd2-938e-46d4-9025-cac18f4a4a12" providerId="ADAL" clId="{DBEBC809-AC24-446E-818A-2D4EDD6CF8AF}" dt="2020-10-19T21:15:31.344" v="662" actId="20577"/>
        <pc:sldMkLst>
          <pc:docMk/>
          <pc:sldMk cId="3461125037" sldId="479"/>
        </pc:sldMkLst>
      </pc:sldChg>
      <pc:sldChg chg="modSp">
        <pc:chgData name="He Li" userId="d9c76fd2-938e-46d4-9025-cac18f4a4a12" providerId="ADAL" clId="{DBEBC809-AC24-446E-818A-2D4EDD6CF8AF}" dt="2020-10-19T22:33:42.504" v="833"/>
        <pc:sldMkLst>
          <pc:docMk/>
          <pc:sldMk cId="142863401" sldId="491"/>
        </pc:sldMkLst>
      </pc:sldChg>
      <pc:sldChg chg="modNotesTx">
        <pc:chgData name="He Li" userId="d9c76fd2-938e-46d4-9025-cac18f4a4a12" providerId="ADAL" clId="{DBEBC809-AC24-446E-818A-2D4EDD6CF8AF}" dt="2020-10-20T02:09:32.729" v="1185" actId="20577"/>
        <pc:sldMkLst>
          <pc:docMk/>
          <pc:sldMk cId="1305125891" sldId="492"/>
        </pc:sldMkLst>
      </pc:sldChg>
    </pc:docChg>
  </pc:docChgLst>
  <pc:docChgLst>
    <pc:chgData name="He Li" userId="d9c76fd2-938e-46d4-9025-cac18f4a4a12" providerId="ADAL" clId="{077A4E96-EC18-4B79-A593-BCD3E2E8B26A}"/>
    <pc:docChg chg="undo custSel addSld delSld modSld">
      <pc:chgData name="He Li" userId="d9c76fd2-938e-46d4-9025-cac18f4a4a12" providerId="ADAL" clId="{077A4E96-EC18-4B79-A593-BCD3E2E8B26A}" dt="2020-03-28T23:56:11.476" v="10611" actId="20577"/>
      <pc:docMkLst>
        <pc:docMk/>
      </pc:docMkLst>
      <pc:sldChg chg="modSp modNotesTx">
        <pc:chgData name="He Li" userId="d9c76fd2-938e-46d4-9025-cac18f4a4a12" providerId="ADAL" clId="{077A4E96-EC18-4B79-A593-BCD3E2E8B26A}" dt="2020-03-28T23:55:44.961" v="10605" actId="20577"/>
        <pc:sldMkLst>
          <pc:docMk/>
          <pc:sldMk cId="3992025409" sldId="257"/>
        </pc:sldMkLst>
      </pc:sldChg>
      <pc:sldChg chg="del">
        <pc:chgData name="He Li" userId="d9c76fd2-938e-46d4-9025-cac18f4a4a12" providerId="ADAL" clId="{077A4E96-EC18-4B79-A593-BCD3E2E8B26A}" dt="2020-03-27T21:28:07.297" v="6110" actId="2696"/>
        <pc:sldMkLst>
          <pc:docMk/>
          <pc:sldMk cId="0" sldId="335"/>
        </pc:sldMkLst>
      </pc:sldChg>
      <pc:sldChg chg="modSp">
        <pc:chgData name="He Li" userId="d9c76fd2-938e-46d4-9025-cac18f4a4a12" providerId="ADAL" clId="{077A4E96-EC18-4B79-A593-BCD3E2E8B26A}" dt="2020-03-27T19:02:44.947" v="25" actId="1076"/>
        <pc:sldMkLst>
          <pc:docMk/>
          <pc:sldMk cId="4110255345" sldId="375"/>
        </pc:sldMkLst>
      </pc:sldChg>
      <pc:sldChg chg="modSp modNotesTx">
        <pc:chgData name="He Li" userId="d9c76fd2-938e-46d4-9025-cac18f4a4a12" providerId="ADAL" clId="{077A4E96-EC18-4B79-A593-BCD3E2E8B26A}" dt="2020-03-27T21:39:07.733" v="6982" actId="20577"/>
        <pc:sldMkLst>
          <pc:docMk/>
          <pc:sldMk cId="1884329185" sldId="381"/>
        </pc:sldMkLst>
      </pc:sldChg>
      <pc:sldChg chg="modSp del modNotesTx">
        <pc:chgData name="He Li" userId="d9c76fd2-938e-46d4-9025-cac18f4a4a12" providerId="ADAL" clId="{077A4E96-EC18-4B79-A593-BCD3E2E8B26A}" dt="2020-03-27T22:14:11.391" v="9684" actId="2696"/>
        <pc:sldMkLst>
          <pc:docMk/>
          <pc:sldMk cId="2962661540" sldId="382"/>
        </pc:sldMkLst>
      </pc:sldChg>
      <pc:sldChg chg="modSp modNotesTx">
        <pc:chgData name="He Li" userId="d9c76fd2-938e-46d4-9025-cac18f4a4a12" providerId="ADAL" clId="{077A4E96-EC18-4B79-A593-BCD3E2E8B26A}" dt="2020-03-28T04:20:22.511" v="10409" actId="20577"/>
        <pc:sldMkLst>
          <pc:docMk/>
          <pc:sldMk cId="3874654464" sldId="383"/>
        </pc:sldMkLst>
      </pc:sldChg>
      <pc:sldChg chg="modSp del modNotesTx">
        <pc:chgData name="He Li" userId="d9c76fd2-938e-46d4-9025-cac18f4a4a12" providerId="ADAL" clId="{077A4E96-EC18-4B79-A593-BCD3E2E8B26A}" dt="2020-03-27T21:28:05.121" v="6108" actId="2696"/>
        <pc:sldMkLst>
          <pc:docMk/>
          <pc:sldMk cId="2812903565" sldId="384"/>
        </pc:sldMkLst>
      </pc:sldChg>
      <pc:sldChg chg="modSp del modNotesTx">
        <pc:chgData name="He Li" userId="d9c76fd2-938e-46d4-9025-cac18f4a4a12" providerId="ADAL" clId="{077A4E96-EC18-4B79-A593-BCD3E2E8B26A}" dt="2020-03-27T21:28:06.013" v="6109" actId="2696"/>
        <pc:sldMkLst>
          <pc:docMk/>
          <pc:sldMk cId="2931923768" sldId="385"/>
        </pc:sldMkLst>
      </pc:sldChg>
      <pc:sldChg chg="del">
        <pc:chgData name="He Li" userId="d9c76fd2-938e-46d4-9025-cac18f4a4a12" providerId="ADAL" clId="{077A4E96-EC18-4B79-A593-BCD3E2E8B26A}" dt="2020-03-27T22:13:58.876" v="9680" actId="2696"/>
        <pc:sldMkLst>
          <pc:docMk/>
          <pc:sldMk cId="1936941468" sldId="391"/>
        </pc:sldMkLst>
      </pc:sldChg>
      <pc:sldChg chg="del">
        <pc:chgData name="He Li" userId="d9c76fd2-938e-46d4-9025-cac18f4a4a12" providerId="ADAL" clId="{077A4E96-EC18-4B79-A593-BCD3E2E8B26A}" dt="2020-03-27T22:13:57.243" v="9678" actId="2696"/>
        <pc:sldMkLst>
          <pc:docMk/>
          <pc:sldMk cId="3834196379" sldId="392"/>
        </pc:sldMkLst>
      </pc:sldChg>
      <pc:sldChg chg="del">
        <pc:chgData name="He Li" userId="d9c76fd2-938e-46d4-9025-cac18f4a4a12" providerId="ADAL" clId="{077A4E96-EC18-4B79-A593-BCD3E2E8B26A}" dt="2020-03-27T22:13:55.219" v="9677" actId="2696"/>
        <pc:sldMkLst>
          <pc:docMk/>
          <pc:sldMk cId="3647137442" sldId="393"/>
        </pc:sldMkLst>
      </pc:sldChg>
      <pc:sldChg chg="del">
        <pc:chgData name="He Li" userId="d9c76fd2-938e-46d4-9025-cac18f4a4a12" providerId="ADAL" clId="{077A4E96-EC18-4B79-A593-BCD3E2E8B26A}" dt="2020-03-27T22:13:54.060" v="9676" actId="2696"/>
        <pc:sldMkLst>
          <pc:docMk/>
          <pc:sldMk cId="2861065840" sldId="394"/>
        </pc:sldMkLst>
      </pc:sldChg>
      <pc:sldChg chg="modSp">
        <pc:chgData name="He Li" userId="d9c76fd2-938e-46d4-9025-cac18f4a4a12" providerId="ADAL" clId="{077A4E96-EC18-4B79-A593-BCD3E2E8B26A}" dt="2020-03-28T19:34:55.320" v="10588" actId="113"/>
        <pc:sldMkLst>
          <pc:docMk/>
          <pc:sldMk cId="1522698332" sldId="401"/>
        </pc:sldMkLst>
      </pc:sldChg>
      <pc:sldChg chg="modNotesTx">
        <pc:chgData name="He Li" userId="d9c76fd2-938e-46d4-9025-cac18f4a4a12" providerId="ADAL" clId="{077A4E96-EC18-4B79-A593-BCD3E2E8B26A}" dt="2020-03-28T23:14:58.340" v="10604" actId="20577"/>
        <pc:sldMkLst>
          <pc:docMk/>
          <pc:sldMk cId="1355370046" sldId="402"/>
        </pc:sldMkLst>
      </pc:sldChg>
      <pc:sldChg chg="del">
        <pc:chgData name="He Li" userId="d9c76fd2-938e-46d4-9025-cac18f4a4a12" providerId="ADAL" clId="{077A4E96-EC18-4B79-A593-BCD3E2E8B26A}" dt="2020-03-27T19:13:05.970" v="162" actId="2696"/>
        <pc:sldMkLst>
          <pc:docMk/>
          <pc:sldMk cId="1711181395" sldId="403"/>
        </pc:sldMkLst>
      </pc:sldChg>
      <pc:sldChg chg="del">
        <pc:chgData name="He Li" userId="d9c76fd2-938e-46d4-9025-cac18f4a4a12" providerId="ADAL" clId="{077A4E96-EC18-4B79-A593-BCD3E2E8B26A}" dt="2020-03-20T23:16:48.694" v="1" actId="2696"/>
        <pc:sldMkLst>
          <pc:docMk/>
          <pc:sldMk cId="2150468621" sldId="471"/>
        </pc:sldMkLst>
      </pc:sldChg>
      <pc:sldChg chg="del">
        <pc:chgData name="He Li" userId="d9c76fd2-938e-46d4-9025-cac18f4a4a12" providerId="ADAL" clId="{077A4E96-EC18-4B79-A593-BCD3E2E8B26A}" dt="2020-03-20T23:16:47.208" v="0" actId="2696"/>
        <pc:sldMkLst>
          <pc:docMk/>
          <pc:sldMk cId="3275143797" sldId="472"/>
        </pc:sldMkLst>
      </pc:sldChg>
      <pc:sldChg chg="modSp modNotesTx">
        <pc:chgData name="He Li" userId="d9c76fd2-938e-46d4-9025-cac18f4a4a12" providerId="ADAL" clId="{077A4E96-EC18-4B79-A593-BCD3E2E8B26A}" dt="2020-03-28T01:37:51.014" v="10210" actId="20577"/>
        <pc:sldMkLst>
          <pc:docMk/>
          <pc:sldMk cId="2776924951" sldId="475"/>
        </pc:sldMkLst>
      </pc:sldChg>
      <pc:sldChg chg="addSp delSp modSp modAnim modNotesTx">
        <pc:chgData name="He Li" userId="d9c76fd2-938e-46d4-9025-cac18f4a4a12" providerId="ADAL" clId="{077A4E96-EC18-4B79-A593-BCD3E2E8B26A}" dt="2020-03-28T01:47:34.849" v="10304" actId="20577"/>
        <pc:sldMkLst>
          <pc:docMk/>
          <pc:sldMk cId="675475741" sldId="476"/>
        </pc:sldMkLst>
      </pc:sldChg>
      <pc:sldChg chg="addSp modSp modAnim modNotesTx">
        <pc:chgData name="He Li" userId="d9c76fd2-938e-46d4-9025-cac18f4a4a12" providerId="ADAL" clId="{077A4E96-EC18-4B79-A593-BCD3E2E8B26A}" dt="2020-03-28T01:54:32.398" v="10329" actId="114"/>
        <pc:sldMkLst>
          <pc:docMk/>
          <pc:sldMk cId="3789426395" sldId="477"/>
        </pc:sldMkLst>
      </pc:sldChg>
      <pc:sldChg chg="modNotesTx">
        <pc:chgData name="He Li" userId="d9c76fd2-938e-46d4-9025-cac18f4a4a12" providerId="ADAL" clId="{077A4E96-EC18-4B79-A593-BCD3E2E8B26A}" dt="2020-03-28T01:58:35.287" v="10330" actId="20577"/>
        <pc:sldMkLst>
          <pc:docMk/>
          <pc:sldMk cId="2140108659" sldId="478"/>
        </pc:sldMkLst>
      </pc:sldChg>
      <pc:sldChg chg="modNotesTx">
        <pc:chgData name="He Li" userId="d9c76fd2-938e-46d4-9025-cac18f4a4a12" providerId="ADAL" clId="{077A4E96-EC18-4B79-A593-BCD3E2E8B26A}" dt="2020-03-28T02:32:04.965" v="10366" actId="114"/>
        <pc:sldMkLst>
          <pc:docMk/>
          <pc:sldMk cId="3461125037" sldId="479"/>
        </pc:sldMkLst>
      </pc:sldChg>
      <pc:sldChg chg="del">
        <pc:chgData name="He Li" userId="d9c76fd2-938e-46d4-9025-cac18f4a4a12" providerId="ADAL" clId="{077A4E96-EC18-4B79-A593-BCD3E2E8B26A}" dt="2020-03-27T22:13:52.899" v="9675" actId="2696"/>
        <pc:sldMkLst>
          <pc:docMk/>
          <pc:sldMk cId="365586535" sldId="480"/>
        </pc:sldMkLst>
      </pc:sldChg>
      <pc:sldChg chg="del">
        <pc:chgData name="He Li" userId="d9c76fd2-938e-46d4-9025-cac18f4a4a12" providerId="ADAL" clId="{077A4E96-EC18-4B79-A593-BCD3E2E8B26A}" dt="2020-03-27T21:19:01.407" v="5849" actId="2696"/>
        <pc:sldMkLst>
          <pc:docMk/>
          <pc:sldMk cId="1348467066" sldId="481"/>
        </pc:sldMkLst>
      </pc:sldChg>
      <pc:sldChg chg="del">
        <pc:chgData name="He Li" userId="d9c76fd2-938e-46d4-9025-cac18f4a4a12" providerId="ADAL" clId="{077A4E96-EC18-4B79-A593-BCD3E2E8B26A}" dt="2020-03-27T21:28:08.378" v="6111" actId="2696"/>
        <pc:sldMkLst>
          <pc:docMk/>
          <pc:sldMk cId="2667879893" sldId="482"/>
        </pc:sldMkLst>
      </pc:sldChg>
      <pc:sldChg chg="del">
        <pc:chgData name="He Li" userId="d9c76fd2-938e-46d4-9025-cac18f4a4a12" providerId="ADAL" clId="{077A4E96-EC18-4B79-A593-BCD3E2E8B26A}" dt="2020-03-27T22:14:08.732" v="9682" actId="2696"/>
        <pc:sldMkLst>
          <pc:docMk/>
          <pc:sldMk cId="3696095296" sldId="483"/>
        </pc:sldMkLst>
      </pc:sldChg>
      <pc:sldChg chg="del">
        <pc:chgData name="He Li" userId="d9c76fd2-938e-46d4-9025-cac18f4a4a12" providerId="ADAL" clId="{077A4E96-EC18-4B79-A593-BCD3E2E8B26A}" dt="2020-03-27T22:14:00.558" v="9681" actId="2696"/>
        <pc:sldMkLst>
          <pc:docMk/>
          <pc:sldMk cId="1762072280" sldId="484"/>
        </pc:sldMkLst>
      </pc:sldChg>
      <pc:sldChg chg="modSp add">
        <pc:chgData name="He Li" userId="d9c76fd2-938e-46d4-9025-cac18f4a4a12" providerId="ADAL" clId="{077A4E96-EC18-4B79-A593-BCD3E2E8B26A}" dt="2020-03-28T23:55:51.907" v="10606" actId="20577"/>
        <pc:sldMkLst>
          <pc:docMk/>
          <pc:sldMk cId="10377788" sldId="485"/>
        </pc:sldMkLst>
      </pc:sldChg>
      <pc:sldChg chg="del">
        <pc:chgData name="He Li" userId="d9c76fd2-938e-46d4-9025-cac18f4a4a12" providerId="ADAL" clId="{077A4E96-EC18-4B79-A593-BCD3E2E8B26A}" dt="2020-03-20T23:16:49.385" v="2" actId="2696"/>
        <pc:sldMkLst>
          <pc:docMk/>
          <pc:sldMk cId="3447817885" sldId="485"/>
        </pc:sldMkLst>
      </pc:sldChg>
      <pc:sldChg chg="modSp add">
        <pc:chgData name="He Li" userId="d9c76fd2-938e-46d4-9025-cac18f4a4a12" providerId="ADAL" clId="{077A4E96-EC18-4B79-A593-BCD3E2E8B26A}" dt="2020-03-28T23:55:56.929" v="10607" actId="20577"/>
        <pc:sldMkLst>
          <pc:docMk/>
          <pc:sldMk cId="842128226" sldId="486"/>
        </pc:sldMkLst>
      </pc:sldChg>
      <pc:sldChg chg="del">
        <pc:chgData name="He Li" userId="d9c76fd2-938e-46d4-9025-cac18f4a4a12" providerId="ADAL" clId="{077A4E96-EC18-4B79-A593-BCD3E2E8B26A}" dt="2020-03-20T23:16:49.879" v="3" actId="2696"/>
        <pc:sldMkLst>
          <pc:docMk/>
          <pc:sldMk cId="3794289241" sldId="486"/>
        </pc:sldMkLst>
      </pc:sldChg>
      <pc:sldChg chg="modSp add">
        <pc:chgData name="He Li" userId="d9c76fd2-938e-46d4-9025-cac18f4a4a12" providerId="ADAL" clId="{077A4E96-EC18-4B79-A593-BCD3E2E8B26A}" dt="2020-03-28T23:56:05.179" v="10610" actId="20577"/>
        <pc:sldMkLst>
          <pc:docMk/>
          <pc:sldMk cId="2726147566" sldId="487"/>
        </pc:sldMkLst>
      </pc:sldChg>
      <pc:sldChg chg="del">
        <pc:chgData name="He Li" userId="d9c76fd2-938e-46d4-9025-cac18f4a4a12" providerId="ADAL" clId="{077A4E96-EC18-4B79-A593-BCD3E2E8B26A}" dt="2020-03-20T23:16:52.094" v="6" actId="2696"/>
        <pc:sldMkLst>
          <pc:docMk/>
          <pc:sldMk cId="3735038426" sldId="487"/>
        </pc:sldMkLst>
      </pc:sldChg>
      <pc:sldChg chg="del">
        <pc:chgData name="He Li" userId="d9c76fd2-938e-46d4-9025-cac18f4a4a12" providerId="ADAL" clId="{077A4E96-EC18-4B79-A593-BCD3E2E8B26A}" dt="2020-03-20T23:16:51.131" v="5" actId="2696"/>
        <pc:sldMkLst>
          <pc:docMk/>
          <pc:sldMk cId="3657202112" sldId="488"/>
        </pc:sldMkLst>
      </pc:sldChg>
      <pc:sldChg chg="modSp add">
        <pc:chgData name="He Li" userId="d9c76fd2-938e-46d4-9025-cac18f4a4a12" providerId="ADAL" clId="{077A4E96-EC18-4B79-A593-BCD3E2E8B26A}" dt="2020-03-28T23:56:11.476" v="10611" actId="20577"/>
        <pc:sldMkLst>
          <pc:docMk/>
          <pc:sldMk cId="3704163969" sldId="488"/>
        </pc:sldMkLst>
      </pc:sldChg>
      <pc:sldChg chg="addSp delSp modSp add del delAnim modAnim modNotesTx">
        <pc:chgData name="He Li" userId="d9c76fd2-938e-46d4-9025-cac18f4a4a12" providerId="ADAL" clId="{077A4E96-EC18-4B79-A593-BCD3E2E8B26A}" dt="2020-03-28T04:22:26.516" v="10443" actId="20577"/>
        <pc:sldMkLst>
          <pc:docMk/>
          <pc:sldMk cId="1563637958" sldId="489"/>
        </pc:sldMkLst>
      </pc:sldChg>
      <pc:sldChg chg="del">
        <pc:chgData name="He Li" userId="d9c76fd2-938e-46d4-9025-cac18f4a4a12" providerId="ADAL" clId="{077A4E96-EC18-4B79-A593-BCD3E2E8B26A}" dt="2020-03-20T23:16:50.466" v="4" actId="2696"/>
        <pc:sldMkLst>
          <pc:docMk/>
          <pc:sldMk cId="3378823722" sldId="489"/>
        </pc:sldMkLst>
      </pc:sldChg>
      <pc:sldChg chg="addSp delSp modSp add modAnim modNotesTx">
        <pc:chgData name="He Li" userId="d9c76fd2-938e-46d4-9025-cac18f4a4a12" providerId="ADAL" clId="{077A4E96-EC18-4B79-A593-BCD3E2E8B26A}" dt="2020-03-27T21:18:39.141" v="5848" actId="20577"/>
        <pc:sldMkLst>
          <pc:docMk/>
          <pc:sldMk cId="2414207451" sldId="490"/>
        </pc:sldMkLst>
      </pc:sldChg>
      <pc:sldChg chg="delSp add del">
        <pc:chgData name="He Li" userId="d9c76fd2-938e-46d4-9025-cac18f4a4a12" providerId="ADAL" clId="{077A4E96-EC18-4B79-A593-BCD3E2E8B26A}" dt="2020-03-27T20:34:38.838" v="1981" actId="2696"/>
        <pc:sldMkLst>
          <pc:docMk/>
          <pc:sldMk cId="3255301987" sldId="490"/>
        </pc:sldMkLst>
      </pc:sldChg>
      <pc:sldChg chg="addSp delSp modSp add modNotesTx">
        <pc:chgData name="He Li" userId="d9c76fd2-938e-46d4-9025-cac18f4a4a12" providerId="ADAL" clId="{077A4E96-EC18-4B79-A593-BCD3E2E8B26A}" dt="2020-03-27T21:27:11.275" v="6107"/>
        <pc:sldMkLst>
          <pc:docMk/>
          <pc:sldMk cId="142863401" sldId="491"/>
        </pc:sldMkLst>
      </pc:sldChg>
      <pc:sldChg chg="addSp delSp modSp add modAnim modNotesTx">
        <pc:chgData name="He Li" userId="d9c76fd2-938e-46d4-9025-cac18f4a4a12" providerId="ADAL" clId="{077A4E96-EC18-4B79-A593-BCD3E2E8B26A}" dt="2020-03-28T04:47:41.093" v="10552" actId="20577"/>
        <pc:sldMkLst>
          <pc:docMk/>
          <pc:sldMk cId="1305125891" sldId="492"/>
        </pc:sldMkLst>
      </pc:sldChg>
      <pc:sldChg chg="addSp delSp modSp add modNotesTx">
        <pc:chgData name="He Li" userId="d9c76fd2-938e-46d4-9025-cac18f4a4a12" providerId="ADAL" clId="{077A4E96-EC18-4B79-A593-BCD3E2E8B26A}" dt="2020-03-28T04:49:51.281" v="10584" actId="20577"/>
        <pc:sldMkLst>
          <pc:docMk/>
          <pc:sldMk cId="383364479" sldId="493"/>
        </pc:sldMkLst>
      </pc:sldChg>
      <pc:sldMasterChg chg="delSldLayout">
        <pc:chgData name="He Li" userId="d9c76fd2-938e-46d4-9025-cac18f4a4a12" providerId="ADAL" clId="{077A4E96-EC18-4B79-A593-BCD3E2E8B26A}" dt="2020-03-27T22:14:08.734" v="9683" actId="2696"/>
        <pc:sldMasterMkLst>
          <pc:docMk/>
          <pc:sldMasterMk cId="1230935043" sldId="2147483648"/>
        </pc:sldMasterMkLst>
        <pc:sldLayoutChg chg="del">
          <pc:chgData name="He Li" userId="d9c76fd2-938e-46d4-9025-cac18f4a4a12" providerId="ADAL" clId="{077A4E96-EC18-4B79-A593-BCD3E2E8B26A}" dt="2020-03-27T22:13:57.246" v="9679" actId="2696"/>
          <pc:sldLayoutMkLst>
            <pc:docMk/>
            <pc:sldMasterMk cId="1230935043" sldId="2147483648"/>
            <pc:sldLayoutMk cId="413912618" sldId="2147483660"/>
          </pc:sldLayoutMkLst>
        </pc:sldLayoutChg>
        <pc:sldLayoutChg chg="del">
          <pc:chgData name="He Li" userId="d9c76fd2-938e-46d4-9025-cac18f4a4a12" providerId="ADAL" clId="{077A4E96-EC18-4B79-A593-BCD3E2E8B26A}" dt="2020-03-27T22:14:08.734" v="9683" actId="2696"/>
          <pc:sldLayoutMkLst>
            <pc:docMk/>
            <pc:sldMasterMk cId="1230935043" sldId="2147483648"/>
            <pc:sldLayoutMk cId="2768469255" sldId="2147483661"/>
          </pc:sldLayoutMkLst>
        </pc:sldLayoutChg>
      </pc:sldMasterChg>
    </pc:docChg>
  </pc:docChgLst>
  <pc:docChgLst>
    <pc:chgData name="He Li" userId="d9c76fd2-938e-46d4-9025-cac18f4a4a12" providerId="ADAL" clId="{25CBD53F-0BE8-4D94-8089-87CC9E1E7A3F}"/>
    <pc:docChg chg="undo custSel addSld delSld modSld sldOrd">
      <pc:chgData name="He Li" userId="d9c76fd2-938e-46d4-9025-cac18f4a4a12" providerId="ADAL" clId="{25CBD53F-0BE8-4D94-8089-87CC9E1E7A3F}" dt="2020-11-04T19:11:26.321" v="1423" actId="2696"/>
      <pc:docMkLst>
        <pc:docMk/>
      </pc:docMkLst>
      <pc:sldChg chg="del">
        <pc:chgData name="He Li" userId="d9c76fd2-938e-46d4-9025-cac18f4a4a12" providerId="ADAL" clId="{25CBD53F-0BE8-4D94-8089-87CC9E1E7A3F}" dt="2020-10-25T02:25:52.631" v="0" actId="2696"/>
        <pc:sldMkLst>
          <pc:docMk/>
          <pc:sldMk cId="3992025409" sldId="257"/>
        </pc:sldMkLst>
      </pc:sldChg>
      <pc:sldChg chg="modNotesTx">
        <pc:chgData name="He Li" userId="d9c76fd2-938e-46d4-9025-cac18f4a4a12" providerId="ADAL" clId="{25CBD53F-0BE8-4D94-8089-87CC9E1E7A3F}" dt="2020-10-26T19:06:21.021" v="67" actId="20577"/>
        <pc:sldMkLst>
          <pc:docMk/>
          <pc:sldMk cId="3890081729" sldId="258"/>
        </pc:sldMkLst>
      </pc:sldChg>
      <pc:sldChg chg="del">
        <pc:chgData name="He Li" userId="d9c76fd2-938e-46d4-9025-cac18f4a4a12" providerId="ADAL" clId="{25CBD53F-0BE8-4D94-8089-87CC9E1E7A3F}" dt="2020-10-25T02:25:54.194" v="8" actId="2696"/>
        <pc:sldMkLst>
          <pc:docMk/>
          <pc:sldMk cId="3253984770" sldId="374"/>
        </pc:sldMkLst>
      </pc:sldChg>
      <pc:sldChg chg="del">
        <pc:chgData name="He Li" userId="d9c76fd2-938e-46d4-9025-cac18f4a4a12" providerId="ADAL" clId="{25CBD53F-0BE8-4D94-8089-87CC9E1E7A3F}" dt="2020-10-25T02:25:55.113" v="10" actId="2696"/>
        <pc:sldMkLst>
          <pc:docMk/>
          <pc:sldMk cId="4110255345" sldId="375"/>
        </pc:sldMkLst>
      </pc:sldChg>
      <pc:sldChg chg="del">
        <pc:chgData name="He Li" userId="d9c76fd2-938e-46d4-9025-cac18f4a4a12" providerId="ADAL" clId="{25CBD53F-0BE8-4D94-8089-87CC9E1E7A3F}" dt="2020-10-25T02:25:56.881" v="16" actId="2696"/>
        <pc:sldMkLst>
          <pc:docMk/>
          <pc:sldMk cId="1884329185" sldId="381"/>
        </pc:sldMkLst>
      </pc:sldChg>
      <pc:sldChg chg="del">
        <pc:chgData name="He Li" userId="d9c76fd2-938e-46d4-9025-cac18f4a4a12" providerId="ADAL" clId="{25CBD53F-0BE8-4D94-8089-87CC9E1E7A3F}" dt="2020-10-25T02:25:57.102" v="17" actId="2696"/>
        <pc:sldMkLst>
          <pc:docMk/>
          <pc:sldMk cId="3874654464" sldId="383"/>
        </pc:sldMkLst>
      </pc:sldChg>
      <pc:sldChg chg="del">
        <pc:chgData name="He Li" userId="d9c76fd2-938e-46d4-9025-cac18f4a4a12" providerId="ADAL" clId="{25CBD53F-0BE8-4D94-8089-87CC9E1E7A3F}" dt="2020-10-25T02:25:56.237" v="14" actId="2696"/>
        <pc:sldMkLst>
          <pc:docMk/>
          <pc:sldMk cId="1513725084" sldId="395"/>
        </pc:sldMkLst>
      </pc:sldChg>
      <pc:sldChg chg="del">
        <pc:chgData name="He Li" userId="d9c76fd2-938e-46d4-9025-cac18f4a4a12" providerId="ADAL" clId="{25CBD53F-0BE8-4D94-8089-87CC9E1E7A3F}" dt="2020-10-25T02:25:55.354" v="11" actId="2696"/>
        <pc:sldMkLst>
          <pc:docMk/>
          <pc:sldMk cId="1723794216" sldId="399"/>
        </pc:sldMkLst>
      </pc:sldChg>
      <pc:sldChg chg="del">
        <pc:chgData name="He Li" userId="d9c76fd2-938e-46d4-9025-cac18f4a4a12" providerId="ADAL" clId="{25CBD53F-0BE8-4D94-8089-87CC9E1E7A3F}" dt="2020-10-25T02:25:56.011" v="12" actId="2696"/>
        <pc:sldMkLst>
          <pc:docMk/>
          <pc:sldMk cId="31214874" sldId="400"/>
        </pc:sldMkLst>
      </pc:sldChg>
      <pc:sldChg chg="del">
        <pc:chgData name="He Li" userId="d9c76fd2-938e-46d4-9025-cac18f4a4a12" providerId="ADAL" clId="{25CBD53F-0BE8-4D94-8089-87CC9E1E7A3F}" dt="2020-10-25T02:25:54.377" v="9" actId="2696"/>
        <pc:sldMkLst>
          <pc:docMk/>
          <pc:sldMk cId="1522698332" sldId="401"/>
        </pc:sldMkLst>
      </pc:sldChg>
      <pc:sldChg chg="del">
        <pc:chgData name="He Li" userId="d9c76fd2-938e-46d4-9025-cac18f4a4a12" providerId="ADAL" clId="{25CBD53F-0BE8-4D94-8089-87CC9E1E7A3F}" dt="2020-10-25T02:25:56.081" v="13" actId="2696"/>
        <pc:sldMkLst>
          <pc:docMk/>
          <pc:sldMk cId="1355370046" sldId="402"/>
        </pc:sldMkLst>
      </pc:sldChg>
      <pc:sldChg chg="delSp delAnim modNotesTx">
        <pc:chgData name="He Li" userId="d9c76fd2-938e-46d4-9025-cac18f4a4a12" providerId="ADAL" clId="{25CBD53F-0BE8-4D94-8089-87CC9E1E7A3F}" dt="2020-10-26T19:15:17.259" v="106" actId="20577"/>
        <pc:sldMkLst>
          <pc:docMk/>
          <pc:sldMk cId="4256901252" sldId="404"/>
        </pc:sldMkLst>
      </pc:sldChg>
      <pc:sldChg chg="delSp delAnim">
        <pc:chgData name="He Li" userId="d9c76fd2-938e-46d4-9025-cac18f4a4a12" providerId="ADAL" clId="{25CBD53F-0BE8-4D94-8089-87CC9E1E7A3F}" dt="2020-10-26T19:18:32.895" v="109" actId="478"/>
        <pc:sldMkLst>
          <pc:docMk/>
          <pc:sldMk cId="3360803515" sldId="405"/>
        </pc:sldMkLst>
      </pc:sldChg>
      <pc:sldChg chg="modNotesTx">
        <pc:chgData name="He Li" userId="d9c76fd2-938e-46d4-9025-cac18f4a4a12" providerId="ADAL" clId="{25CBD53F-0BE8-4D94-8089-87CC9E1E7A3F}" dt="2020-11-01T21:53:23.664" v="871" actId="20577"/>
        <pc:sldMkLst>
          <pc:docMk/>
          <pc:sldMk cId="2205463200" sldId="406"/>
        </pc:sldMkLst>
      </pc:sldChg>
      <pc:sldChg chg="modNotesTx">
        <pc:chgData name="He Li" userId="d9c76fd2-938e-46d4-9025-cac18f4a4a12" providerId="ADAL" clId="{25CBD53F-0BE8-4D94-8089-87CC9E1E7A3F}" dt="2020-11-01T20:27:45.897" v="126" actId="114"/>
        <pc:sldMkLst>
          <pc:docMk/>
          <pc:sldMk cId="303524763" sldId="407"/>
        </pc:sldMkLst>
      </pc:sldChg>
      <pc:sldChg chg="modNotesTx">
        <pc:chgData name="He Li" userId="d9c76fd2-938e-46d4-9025-cac18f4a4a12" providerId="ADAL" clId="{25CBD53F-0BE8-4D94-8089-87CC9E1E7A3F}" dt="2020-11-01T20:36:31.248" v="261" actId="113"/>
        <pc:sldMkLst>
          <pc:docMk/>
          <pc:sldMk cId="149834027" sldId="419"/>
        </pc:sldMkLst>
      </pc:sldChg>
      <pc:sldChg chg="modNotesTx">
        <pc:chgData name="He Li" userId="d9c76fd2-938e-46d4-9025-cac18f4a4a12" providerId="ADAL" clId="{25CBD53F-0BE8-4D94-8089-87CC9E1E7A3F}" dt="2020-11-01T20:40:18.053" v="358" actId="20577"/>
        <pc:sldMkLst>
          <pc:docMk/>
          <pc:sldMk cId="1310052677" sldId="420"/>
        </pc:sldMkLst>
      </pc:sldChg>
      <pc:sldChg chg="modNotesTx">
        <pc:chgData name="He Li" userId="d9c76fd2-938e-46d4-9025-cac18f4a4a12" providerId="ADAL" clId="{25CBD53F-0BE8-4D94-8089-87CC9E1E7A3F}" dt="2020-11-01T20:42:48.782" v="504" actId="113"/>
        <pc:sldMkLst>
          <pc:docMk/>
          <pc:sldMk cId="2319588341" sldId="421"/>
        </pc:sldMkLst>
      </pc:sldChg>
      <pc:sldChg chg="modNotesTx">
        <pc:chgData name="He Li" userId="d9c76fd2-938e-46d4-9025-cac18f4a4a12" providerId="ADAL" clId="{25CBD53F-0BE8-4D94-8089-87CC9E1E7A3F}" dt="2020-11-01T20:46:40.161" v="510" actId="113"/>
        <pc:sldMkLst>
          <pc:docMk/>
          <pc:sldMk cId="2229800967" sldId="422"/>
        </pc:sldMkLst>
      </pc:sldChg>
      <pc:sldChg chg="modNotesTx">
        <pc:chgData name="He Li" userId="d9c76fd2-938e-46d4-9025-cac18f4a4a12" providerId="ADAL" clId="{25CBD53F-0BE8-4D94-8089-87CC9E1E7A3F}" dt="2020-11-01T20:54:03.630" v="594" actId="20577"/>
        <pc:sldMkLst>
          <pc:docMk/>
          <pc:sldMk cId="1594031592" sldId="423"/>
        </pc:sldMkLst>
      </pc:sldChg>
      <pc:sldChg chg="addSp delSp modNotesTx">
        <pc:chgData name="He Li" userId="d9c76fd2-938e-46d4-9025-cac18f4a4a12" providerId="ADAL" clId="{25CBD53F-0BE8-4D94-8089-87CC9E1E7A3F}" dt="2020-11-01T22:43:15.613" v="873"/>
        <pc:sldMkLst>
          <pc:docMk/>
          <pc:sldMk cId="1401897152" sldId="424"/>
        </pc:sldMkLst>
      </pc:sldChg>
      <pc:sldChg chg="addSp delSp">
        <pc:chgData name="He Li" userId="d9c76fd2-938e-46d4-9025-cac18f4a4a12" providerId="ADAL" clId="{25CBD53F-0BE8-4D94-8089-87CC9E1E7A3F}" dt="2020-11-02T21:21:25.297" v="1248"/>
        <pc:sldMkLst>
          <pc:docMk/>
          <pc:sldMk cId="4167180504" sldId="425"/>
        </pc:sldMkLst>
      </pc:sldChg>
      <pc:sldChg chg="modNotesTx">
        <pc:chgData name="He Li" userId="d9c76fd2-938e-46d4-9025-cac18f4a4a12" providerId="ADAL" clId="{25CBD53F-0BE8-4D94-8089-87CC9E1E7A3F}" dt="2020-11-01T20:59:38.611" v="676" actId="20577"/>
        <pc:sldMkLst>
          <pc:docMk/>
          <pc:sldMk cId="914980987" sldId="427"/>
        </pc:sldMkLst>
      </pc:sldChg>
      <pc:sldChg chg="modNotesTx">
        <pc:chgData name="He Li" userId="d9c76fd2-938e-46d4-9025-cac18f4a4a12" providerId="ADAL" clId="{25CBD53F-0BE8-4D94-8089-87CC9E1E7A3F}" dt="2020-11-01T21:08:28.008" v="692" actId="20577"/>
        <pc:sldMkLst>
          <pc:docMk/>
          <pc:sldMk cId="147700693" sldId="433"/>
        </pc:sldMkLst>
      </pc:sldChg>
      <pc:sldChg chg="modNotesTx">
        <pc:chgData name="He Li" userId="d9c76fd2-938e-46d4-9025-cac18f4a4a12" providerId="ADAL" clId="{25CBD53F-0BE8-4D94-8089-87CC9E1E7A3F}" dt="2020-11-01T21:09:52.433" v="694" actId="20577"/>
        <pc:sldMkLst>
          <pc:docMk/>
          <pc:sldMk cId="3935809285" sldId="434"/>
        </pc:sldMkLst>
      </pc:sldChg>
      <pc:sldChg chg="modNotesTx">
        <pc:chgData name="He Li" userId="d9c76fd2-938e-46d4-9025-cac18f4a4a12" providerId="ADAL" clId="{25CBD53F-0BE8-4D94-8089-87CC9E1E7A3F}" dt="2020-11-01T21:12:26.018" v="703" actId="20577"/>
        <pc:sldMkLst>
          <pc:docMk/>
          <pc:sldMk cId="115290321" sldId="435"/>
        </pc:sldMkLst>
      </pc:sldChg>
      <pc:sldChg chg="modNotesTx">
        <pc:chgData name="He Li" userId="d9c76fd2-938e-46d4-9025-cac18f4a4a12" providerId="ADAL" clId="{25CBD53F-0BE8-4D94-8089-87CC9E1E7A3F}" dt="2020-11-01T21:14:27.535" v="835" actId="20577"/>
        <pc:sldMkLst>
          <pc:docMk/>
          <pc:sldMk cId="30211257" sldId="436"/>
        </pc:sldMkLst>
      </pc:sldChg>
      <pc:sldChg chg="modNotesTx">
        <pc:chgData name="He Li" userId="d9c76fd2-938e-46d4-9025-cac18f4a4a12" providerId="ADAL" clId="{25CBD53F-0BE8-4D94-8089-87CC9E1E7A3F}" dt="2020-11-01T21:15:41.388" v="844" actId="20577"/>
        <pc:sldMkLst>
          <pc:docMk/>
          <pc:sldMk cId="3807773005" sldId="437"/>
        </pc:sldMkLst>
      </pc:sldChg>
      <pc:sldChg chg="addSp delSp modSp modNotesTx">
        <pc:chgData name="He Li" userId="d9c76fd2-938e-46d4-9025-cac18f4a4a12" providerId="ADAL" clId="{25CBD53F-0BE8-4D94-8089-87CC9E1E7A3F}" dt="2020-11-03T01:32:59.114" v="1252" actId="20578"/>
        <pc:sldMkLst>
          <pc:docMk/>
          <pc:sldMk cId="507167397" sldId="440"/>
        </pc:sldMkLst>
      </pc:sldChg>
      <pc:sldChg chg="modNotesTx">
        <pc:chgData name="He Li" userId="d9c76fd2-938e-46d4-9025-cac18f4a4a12" providerId="ADAL" clId="{25CBD53F-0BE8-4D94-8089-87CC9E1E7A3F}" dt="2020-11-02T02:21:06.854" v="1243" actId="20577"/>
        <pc:sldMkLst>
          <pc:docMk/>
          <pc:sldMk cId="3470067878" sldId="442"/>
        </pc:sldMkLst>
      </pc:sldChg>
      <pc:sldChg chg="modSp modNotesTx">
        <pc:chgData name="He Li" userId="d9c76fd2-938e-46d4-9025-cac18f4a4a12" providerId="ADAL" clId="{25CBD53F-0BE8-4D94-8089-87CC9E1E7A3F}" dt="2020-11-04T03:50:29.485" v="1420" actId="20577"/>
        <pc:sldMkLst>
          <pc:docMk/>
          <pc:sldMk cId="1373744418" sldId="443"/>
        </pc:sldMkLst>
      </pc:sldChg>
      <pc:sldChg chg="modNotesTx">
        <pc:chgData name="He Li" userId="d9c76fd2-938e-46d4-9025-cac18f4a4a12" providerId="ADAL" clId="{25CBD53F-0BE8-4D94-8089-87CC9E1E7A3F}" dt="2020-11-02T01:44:45.688" v="881" actId="113"/>
        <pc:sldMkLst>
          <pc:docMk/>
          <pc:sldMk cId="2591998951" sldId="445"/>
        </pc:sldMkLst>
      </pc:sldChg>
      <pc:sldChg chg="modNotesTx">
        <pc:chgData name="He Li" userId="d9c76fd2-938e-46d4-9025-cac18f4a4a12" providerId="ADAL" clId="{25CBD53F-0BE8-4D94-8089-87CC9E1E7A3F}" dt="2020-11-02T01:47:00.200" v="885" actId="113"/>
        <pc:sldMkLst>
          <pc:docMk/>
          <pc:sldMk cId="2216186412" sldId="446"/>
        </pc:sldMkLst>
      </pc:sldChg>
      <pc:sldChg chg="modNotesTx">
        <pc:chgData name="He Li" userId="d9c76fd2-938e-46d4-9025-cac18f4a4a12" providerId="ADAL" clId="{25CBD53F-0BE8-4D94-8089-87CC9E1E7A3F}" dt="2020-11-02T01:48:07.761" v="889" actId="20577"/>
        <pc:sldMkLst>
          <pc:docMk/>
          <pc:sldMk cId="112108165" sldId="447"/>
        </pc:sldMkLst>
      </pc:sldChg>
      <pc:sldChg chg="modNotesTx">
        <pc:chgData name="He Li" userId="d9c76fd2-938e-46d4-9025-cac18f4a4a12" providerId="ADAL" clId="{25CBD53F-0BE8-4D94-8089-87CC9E1E7A3F}" dt="2020-11-02T01:50:40.687" v="896" actId="113"/>
        <pc:sldMkLst>
          <pc:docMk/>
          <pc:sldMk cId="789297224" sldId="449"/>
        </pc:sldMkLst>
      </pc:sldChg>
      <pc:sldChg chg="modNotesTx">
        <pc:chgData name="He Li" userId="d9c76fd2-938e-46d4-9025-cac18f4a4a12" providerId="ADAL" clId="{25CBD53F-0BE8-4D94-8089-87CC9E1E7A3F}" dt="2020-11-03T18:23:29.241" v="1253" actId="20577"/>
        <pc:sldMkLst>
          <pc:docMk/>
          <pc:sldMk cId="944162917" sldId="451"/>
        </pc:sldMkLst>
      </pc:sldChg>
      <pc:sldChg chg="modNotesTx">
        <pc:chgData name="He Li" userId="d9c76fd2-938e-46d4-9025-cac18f4a4a12" providerId="ADAL" clId="{25CBD53F-0BE8-4D94-8089-87CC9E1E7A3F}" dt="2020-11-02T01:56:33.152" v="915" actId="113"/>
        <pc:sldMkLst>
          <pc:docMk/>
          <pc:sldMk cId="2830832208" sldId="452"/>
        </pc:sldMkLst>
      </pc:sldChg>
      <pc:sldChg chg="modNotesTx">
        <pc:chgData name="He Li" userId="d9c76fd2-938e-46d4-9025-cac18f4a4a12" providerId="ADAL" clId="{25CBD53F-0BE8-4D94-8089-87CC9E1E7A3F}" dt="2020-11-02T01:58:39.231" v="916" actId="113"/>
        <pc:sldMkLst>
          <pc:docMk/>
          <pc:sldMk cId="2567552155" sldId="454"/>
        </pc:sldMkLst>
      </pc:sldChg>
      <pc:sldChg chg="modNotesTx">
        <pc:chgData name="He Li" userId="d9c76fd2-938e-46d4-9025-cac18f4a4a12" providerId="ADAL" clId="{25CBD53F-0BE8-4D94-8089-87CC9E1E7A3F}" dt="2020-11-02T02:01:26.997" v="1026" actId="113"/>
        <pc:sldMkLst>
          <pc:docMk/>
          <pc:sldMk cId="2665065151" sldId="455"/>
        </pc:sldMkLst>
      </pc:sldChg>
      <pc:sldChg chg="modNotesTx">
        <pc:chgData name="He Li" userId="d9c76fd2-938e-46d4-9025-cac18f4a4a12" providerId="ADAL" clId="{25CBD53F-0BE8-4D94-8089-87CC9E1E7A3F}" dt="2020-11-02T02:02:44.238" v="1028" actId="20577"/>
        <pc:sldMkLst>
          <pc:docMk/>
          <pc:sldMk cId="3502523142" sldId="456"/>
        </pc:sldMkLst>
      </pc:sldChg>
      <pc:sldChg chg="modNotesTx">
        <pc:chgData name="He Li" userId="d9c76fd2-938e-46d4-9025-cac18f4a4a12" providerId="ADAL" clId="{25CBD53F-0BE8-4D94-8089-87CC9E1E7A3F}" dt="2020-11-02T02:04:01.779" v="1029" actId="113"/>
        <pc:sldMkLst>
          <pc:docMk/>
          <pc:sldMk cId="3560657532" sldId="459"/>
        </pc:sldMkLst>
      </pc:sldChg>
      <pc:sldChg chg="modNotesTx">
        <pc:chgData name="He Li" userId="d9c76fd2-938e-46d4-9025-cac18f4a4a12" providerId="ADAL" clId="{25CBD53F-0BE8-4D94-8089-87CC9E1E7A3F}" dt="2020-11-02T02:06:30.683" v="1078" actId="113"/>
        <pc:sldMkLst>
          <pc:docMk/>
          <pc:sldMk cId="2189576495" sldId="460"/>
        </pc:sldMkLst>
      </pc:sldChg>
      <pc:sldChg chg="modNotesTx">
        <pc:chgData name="He Li" userId="d9c76fd2-938e-46d4-9025-cac18f4a4a12" providerId="ADAL" clId="{25CBD53F-0BE8-4D94-8089-87CC9E1E7A3F}" dt="2020-11-02T02:09:00.918" v="1079" actId="113"/>
        <pc:sldMkLst>
          <pc:docMk/>
          <pc:sldMk cId="576591956" sldId="461"/>
        </pc:sldMkLst>
      </pc:sldChg>
      <pc:sldChg chg="modNotesTx">
        <pc:chgData name="He Li" userId="d9c76fd2-938e-46d4-9025-cac18f4a4a12" providerId="ADAL" clId="{25CBD53F-0BE8-4D94-8089-87CC9E1E7A3F}" dt="2020-11-02T02:11:02.830" v="1087" actId="113"/>
        <pc:sldMkLst>
          <pc:docMk/>
          <pc:sldMk cId="3630468778" sldId="462"/>
        </pc:sldMkLst>
      </pc:sldChg>
      <pc:sldChg chg="modNotesTx">
        <pc:chgData name="He Li" userId="d9c76fd2-938e-46d4-9025-cac18f4a4a12" providerId="ADAL" clId="{25CBD53F-0BE8-4D94-8089-87CC9E1E7A3F}" dt="2020-11-02T02:13:20.547" v="1101" actId="20577"/>
        <pc:sldMkLst>
          <pc:docMk/>
          <pc:sldMk cId="2355855858" sldId="463"/>
        </pc:sldMkLst>
      </pc:sldChg>
      <pc:sldChg chg="modNotesTx">
        <pc:chgData name="He Li" userId="d9c76fd2-938e-46d4-9025-cac18f4a4a12" providerId="ADAL" clId="{25CBD53F-0BE8-4D94-8089-87CC9E1E7A3F}" dt="2020-11-02T02:14:11.545" v="1103" actId="113"/>
        <pc:sldMkLst>
          <pc:docMk/>
          <pc:sldMk cId="3394937748" sldId="464"/>
        </pc:sldMkLst>
      </pc:sldChg>
      <pc:sldChg chg="modNotesTx">
        <pc:chgData name="He Li" userId="d9c76fd2-938e-46d4-9025-cac18f4a4a12" providerId="ADAL" clId="{25CBD53F-0BE8-4D94-8089-87CC9E1E7A3F}" dt="2020-11-02T02:15:06.098" v="1113" actId="113"/>
        <pc:sldMkLst>
          <pc:docMk/>
          <pc:sldMk cId="2280707929" sldId="465"/>
        </pc:sldMkLst>
      </pc:sldChg>
      <pc:sldChg chg="modNotesTx">
        <pc:chgData name="He Li" userId="d9c76fd2-938e-46d4-9025-cac18f4a4a12" providerId="ADAL" clId="{25CBD53F-0BE8-4D94-8089-87CC9E1E7A3F}" dt="2020-11-02T02:17:06.469" v="1145" actId="113"/>
        <pc:sldMkLst>
          <pc:docMk/>
          <pc:sldMk cId="1907382716" sldId="466"/>
        </pc:sldMkLst>
      </pc:sldChg>
      <pc:sldChg chg="del">
        <pc:chgData name="He Li" userId="d9c76fd2-938e-46d4-9025-cac18f4a4a12" providerId="ADAL" clId="{25CBD53F-0BE8-4D94-8089-87CC9E1E7A3F}" dt="2020-11-04T19:11:26.321" v="1423" actId="2696"/>
        <pc:sldMkLst>
          <pc:docMk/>
          <pc:sldMk cId="2213655082" sldId="467"/>
        </pc:sldMkLst>
      </pc:sldChg>
      <pc:sldChg chg="del">
        <pc:chgData name="He Li" userId="d9c76fd2-938e-46d4-9025-cac18f4a4a12" providerId="ADAL" clId="{25CBD53F-0BE8-4D94-8089-87CC9E1E7A3F}" dt="2020-11-04T19:11:25.112" v="1422" actId="2696"/>
        <pc:sldMkLst>
          <pc:docMk/>
          <pc:sldMk cId="143997429" sldId="468"/>
        </pc:sldMkLst>
      </pc:sldChg>
      <pc:sldChg chg="del">
        <pc:chgData name="He Li" userId="d9c76fd2-938e-46d4-9025-cac18f4a4a12" providerId="ADAL" clId="{25CBD53F-0BE8-4D94-8089-87CC9E1E7A3F}" dt="2020-11-04T19:11:24.426" v="1421" actId="2696"/>
        <pc:sldMkLst>
          <pc:docMk/>
          <pc:sldMk cId="3288434524" sldId="469"/>
        </pc:sldMkLst>
      </pc:sldChg>
      <pc:sldChg chg="addSp delSp modSp delAnim">
        <pc:chgData name="He Li" userId="d9c76fd2-938e-46d4-9025-cac18f4a4a12" providerId="ADAL" clId="{25CBD53F-0BE8-4D94-8089-87CC9E1E7A3F}" dt="2020-11-04T03:46:30.191" v="1263" actId="14100"/>
        <pc:sldMkLst>
          <pc:docMk/>
          <pc:sldMk cId="1318939244" sldId="470"/>
        </pc:sldMkLst>
      </pc:sldChg>
      <pc:sldChg chg="del">
        <pc:chgData name="He Li" userId="d9c76fd2-938e-46d4-9025-cac18f4a4a12" providerId="ADAL" clId="{25CBD53F-0BE8-4D94-8089-87CC9E1E7A3F}" dt="2020-10-25T02:25:53.076" v="2" actId="2696"/>
        <pc:sldMkLst>
          <pc:docMk/>
          <pc:sldMk cId="2776924951" sldId="475"/>
        </pc:sldMkLst>
      </pc:sldChg>
      <pc:sldChg chg="del">
        <pc:chgData name="He Li" userId="d9c76fd2-938e-46d4-9025-cac18f4a4a12" providerId="ADAL" clId="{25CBD53F-0BE8-4D94-8089-87CC9E1E7A3F}" dt="2020-10-25T02:25:53.226" v="3" actId="2696"/>
        <pc:sldMkLst>
          <pc:docMk/>
          <pc:sldMk cId="675475741" sldId="476"/>
        </pc:sldMkLst>
      </pc:sldChg>
      <pc:sldChg chg="del">
        <pc:chgData name="He Li" userId="d9c76fd2-938e-46d4-9025-cac18f4a4a12" providerId="ADAL" clId="{25CBD53F-0BE8-4D94-8089-87CC9E1E7A3F}" dt="2020-10-25T02:25:53.465" v="4" actId="2696"/>
        <pc:sldMkLst>
          <pc:docMk/>
          <pc:sldMk cId="3789426395" sldId="477"/>
        </pc:sldMkLst>
      </pc:sldChg>
      <pc:sldChg chg="del">
        <pc:chgData name="He Li" userId="d9c76fd2-938e-46d4-9025-cac18f4a4a12" providerId="ADAL" clId="{25CBD53F-0BE8-4D94-8089-87CC9E1E7A3F}" dt="2020-10-25T02:25:53.880" v="5" actId="2696"/>
        <pc:sldMkLst>
          <pc:docMk/>
          <pc:sldMk cId="2140108659" sldId="478"/>
        </pc:sldMkLst>
      </pc:sldChg>
      <pc:sldChg chg="del">
        <pc:chgData name="He Li" userId="d9c76fd2-938e-46d4-9025-cac18f4a4a12" providerId="ADAL" clId="{25CBD53F-0BE8-4D94-8089-87CC9E1E7A3F}" dt="2020-10-25T02:25:53.930" v="6" actId="2696"/>
        <pc:sldMkLst>
          <pc:docMk/>
          <pc:sldMk cId="3461125037" sldId="479"/>
        </pc:sldMkLst>
      </pc:sldChg>
      <pc:sldChg chg="del">
        <pc:chgData name="He Li" userId="d9c76fd2-938e-46d4-9025-cac18f4a4a12" providerId="ADAL" clId="{25CBD53F-0BE8-4D94-8089-87CC9E1E7A3F}" dt="2020-10-25T02:25:52.908" v="1" actId="2696"/>
        <pc:sldMkLst>
          <pc:docMk/>
          <pc:sldMk cId="10377788" sldId="485"/>
        </pc:sldMkLst>
      </pc:sldChg>
      <pc:sldChg chg="del">
        <pc:chgData name="He Li" userId="d9c76fd2-938e-46d4-9025-cac18f4a4a12" providerId="ADAL" clId="{25CBD53F-0BE8-4D94-8089-87CC9E1E7A3F}" dt="2020-10-25T02:25:54.002" v="7" actId="2696"/>
        <pc:sldMkLst>
          <pc:docMk/>
          <pc:sldMk cId="842128226" sldId="486"/>
        </pc:sldMkLst>
      </pc:sldChg>
      <pc:sldChg chg="del">
        <pc:chgData name="He Li" userId="d9c76fd2-938e-46d4-9025-cac18f4a4a12" providerId="ADAL" clId="{25CBD53F-0BE8-4D94-8089-87CC9E1E7A3F}" dt="2020-10-25T02:25:56.717" v="15" actId="2696"/>
        <pc:sldMkLst>
          <pc:docMk/>
          <pc:sldMk cId="2726147566" sldId="487"/>
        </pc:sldMkLst>
      </pc:sldChg>
      <pc:sldChg chg="delSp modSp add ord">
        <pc:chgData name="He Li" userId="d9c76fd2-938e-46d4-9025-cac18f4a4a12" providerId="ADAL" clId="{25CBD53F-0BE8-4D94-8089-87CC9E1E7A3F}" dt="2020-11-04T03:49:45.906" v="1416"/>
        <pc:sldMkLst>
          <pc:docMk/>
          <pc:sldMk cId="757806297" sldId="489"/>
        </pc:sldMkLst>
      </pc:sldChg>
      <pc:sldChg chg="modSp add del">
        <pc:chgData name="He Li" userId="d9c76fd2-938e-46d4-9025-cac18f4a4a12" providerId="ADAL" clId="{25CBD53F-0BE8-4D94-8089-87CC9E1E7A3F}" dt="2020-11-04T03:48:14.223" v="1296" actId="2696"/>
        <pc:sldMkLst>
          <pc:docMk/>
          <pc:sldMk cId="1182290909" sldId="489"/>
        </pc:sldMkLst>
      </pc:sldChg>
      <pc:sldChg chg="del">
        <pc:chgData name="He Li" userId="d9c76fd2-938e-46d4-9025-cac18f4a4a12" providerId="ADAL" clId="{25CBD53F-0BE8-4D94-8089-87CC9E1E7A3F}" dt="2020-10-25T02:25:57.755" v="18" actId="2696"/>
        <pc:sldMkLst>
          <pc:docMk/>
          <pc:sldMk cId="1563637958" sldId="489"/>
        </pc:sldMkLst>
      </pc:sldChg>
      <pc:sldChg chg="add del">
        <pc:chgData name="He Li" userId="d9c76fd2-938e-46d4-9025-cac18f4a4a12" providerId="ADAL" clId="{25CBD53F-0BE8-4D94-8089-87CC9E1E7A3F}" dt="2020-11-04T03:48:36.017" v="1346"/>
        <pc:sldMkLst>
          <pc:docMk/>
          <pc:sldMk cId="3467610536" sldId="489"/>
        </pc:sldMkLst>
      </pc:sldChg>
      <pc:sldChg chg="del">
        <pc:chgData name="He Li" userId="d9c76fd2-938e-46d4-9025-cac18f4a4a12" providerId="ADAL" clId="{25CBD53F-0BE8-4D94-8089-87CC9E1E7A3F}" dt="2020-10-25T02:25:57.948" v="19" actId="2696"/>
        <pc:sldMkLst>
          <pc:docMk/>
          <pc:sldMk cId="2414207451" sldId="490"/>
        </pc:sldMkLst>
      </pc:sldChg>
      <pc:sldChg chg="del">
        <pc:chgData name="He Li" userId="d9c76fd2-938e-46d4-9025-cac18f4a4a12" providerId="ADAL" clId="{25CBD53F-0BE8-4D94-8089-87CC9E1E7A3F}" dt="2020-10-25T02:25:58.121" v="20" actId="2696"/>
        <pc:sldMkLst>
          <pc:docMk/>
          <pc:sldMk cId="142863401" sldId="491"/>
        </pc:sldMkLst>
      </pc:sldChg>
      <pc:sldChg chg="del">
        <pc:chgData name="He Li" userId="d9c76fd2-938e-46d4-9025-cac18f4a4a12" providerId="ADAL" clId="{25CBD53F-0BE8-4D94-8089-87CC9E1E7A3F}" dt="2020-10-25T02:25:58.292" v="21" actId="2696"/>
        <pc:sldMkLst>
          <pc:docMk/>
          <pc:sldMk cId="1305125891" sldId="492"/>
        </pc:sldMkLst>
      </pc:sldChg>
      <pc:sldChg chg="del">
        <pc:chgData name="He Li" userId="d9c76fd2-938e-46d4-9025-cac18f4a4a12" providerId="ADAL" clId="{25CBD53F-0BE8-4D94-8089-87CC9E1E7A3F}" dt="2020-10-25T02:25:58.478" v="22" actId="2696"/>
        <pc:sldMkLst>
          <pc:docMk/>
          <pc:sldMk cId="383364479" sldId="493"/>
        </pc:sldMkLst>
      </pc:sldChg>
    </pc:docChg>
  </pc:docChgLst>
  <pc:docChgLst>
    <pc:chgData name="He Li" userId="d9c76fd2-938e-46d4-9025-cac18f4a4a12" providerId="ADAL" clId="{ED581DCE-94D0-BC42-A98B-C9C28795304C}"/>
    <pc:docChg chg="undo custSel modSld">
      <pc:chgData name="He Li" userId="d9c76fd2-938e-46d4-9025-cac18f4a4a12" providerId="ADAL" clId="{ED581DCE-94D0-BC42-A98B-C9C28795304C}" dt="2025-03-17T02:19:54.721" v="237" actId="20577"/>
      <pc:docMkLst>
        <pc:docMk/>
      </pc:docMkLst>
      <pc:sldChg chg="modNotesTx">
        <pc:chgData name="He Li" userId="d9c76fd2-938e-46d4-9025-cac18f4a4a12" providerId="ADAL" clId="{ED581DCE-94D0-BC42-A98B-C9C28795304C}" dt="2025-03-17T02:19:36.074" v="227" actId="20577"/>
        <pc:sldMkLst>
          <pc:docMk/>
          <pc:sldMk cId="2229800967" sldId="422"/>
        </pc:sldMkLst>
      </pc:sldChg>
      <pc:sldChg chg="modNotesTx">
        <pc:chgData name="He Li" userId="d9c76fd2-938e-46d4-9025-cac18f4a4a12" providerId="ADAL" clId="{ED581DCE-94D0-BC42-A98B-C9C28795304C}" dt="2025-03-17T02:17:33.513" v="22" actId="20577"/>
        <pc:sldMkLst>
          <pc:docMk/>
          <pc:sldMk cId="1594031592" sldId="423"/>
        </pc:sldMkLst>
      </pc:sldChg>
      <pc:sldChg chg="modNotesTx">
        <pc:chgData name="He Li" userId="d9c76fd2-938e-46d4-9025-cac18f4a4a12" providerId="ADAL" clId="{ED581DCE-94D0-BC42-A98B-C9C28795304C}" dt="2025-03-17T02:19:54.721" v="237" actId="20577"/>
        <pc:sldMkLst>
          <pc:docMk/>
          <pc:sldMk cId="1401897152" sldId="42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CF6856-8C47-4594-AC1F-3BE6D1B2888D}"/>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9BE92A8-176D-4B0B-88D8-82F4FD69A740}"/>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11DA2B2-C15E-4041-976E-F50F3795EFE4}" type="datetimeFigureOut">
              <a:rPr lang="en-US" smtClean="0"/>
              <a:t>3/16/25</a:t>
            </a:fld>
            <a:endParaRPr lang="en-US"/>
          </a:p>
        </p:txBody>
      </p:sp>
      <p:sp>
        <p:nvSpPr>
          <p:cNvPr id="4" name="Footer Placeholder 3">
            <a:extLst>
              <a:ext uri="{FF2B5EF4-FFF2-40B4-BE49-F238E27FC236}">
                <a16:creationId xmlns:a16="http://schemas.microsoft.com/office/drawing/2014/main" id="{0EE94B9E-7C24-4993-B4D5-302700B99A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FDEE273-EFCC-4AF1-B831-C29C1B3BCE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3F800F-8413-4AEE-87CF-E93EDB51F230}" type="slidenum">
              <a:rPr lang="en-US" smtClean="0"/>
              <a:t>‹#›</a:t>
            </a:fld>
            <a:endParaRPr lang="en-US"/>
          </a:p>
        </p:txBody>
      </p:sp>
    </p:spTree>
    <p:extLst>
      <p:ext uri="{BB962C8B-B14F-4D97-AF65-F5344CB8AC3E}">
        <p14:creationId xmlns:p14="http://schemas.microsoft.com/office/powerpoint/2010/main" val="610867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C85FD3B-EADC-4E04-BA0F-3147368C183D}" type="datetimeFigureOut">
              <a:rPr lang="en-US" smtClean="0"/>
              <a:t>3/16/25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47B85-5C92-49FC-98A0-16FD07ABB6F8}" type="slidenum">
              <a:rPr lang="en-US" smtClean="0"/>
              <a:t>‹#›</a:t>
            </a:fld>
            <a:endParaRPr lang="en-US"/>
          </a:p>
        </p:txBody>
      </p:sp>
    </p:spTree>
    <p:extLst>
      <p:ext uri="{BB962C8B-B14F-4D97-AF65-F5344CB8AC3E}">
        <p14:creationId xmlns:p14="http://schemas.microsoft.com/office/powerpoint/2010/main" val="295303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docs.mongodb.com/database-tools/mongoimport/#bin.mongoimport"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a:t>
            </a:fld>
            <a:endParaRPr lang="en-US"/>
          </a:p>
        </p:txBody>
      </p:sp>
    </p:spTree>
    <p:extLst>
      <p:ext uri="{BB962C8B-B14F-4D97-AF65-F5344CB8AC3E}">
        <p14:creationId xmlns:p14="http://schemas.microsoft.com/office/powerpoint/2010/main" val="2629776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is designed with the objective of supporting </a:t>
            </a:r>
            <a:r>
              <a:rPr lang="en-US" sz="1200" b="0" i="0" u="none" strike="noStrike" kern="1200" baseline="0" dirty="0">
                <a:solidFill>
                  <a:schemeClr val="tx1"/>
                </a:solidFill>
                <a:latin typeface="+mn-lt"/>
                <a:ea typeface="+mn-ea"/>
                <a:cs typeface="+mn-cs"/>
              </a:rPr>
              <a:t>extremely large data sets. It is designed for high availability, scalability, and performance. MongoDB is a very successful NoSQL product and has attracted huge attentions from companies. Many big companies are using it,</a:t>
            </a:r>
            <a:r>
              <a:rPr lang="zh-CN" altLang="en-US" sz="1200" b="0" i="0" u="none" strike="noStrike" kern="1200" baseline="0" dirty="0">
                <a:solidFill>
                  <a:schemeClr val="tx1"/>
                </a:solidFill>
                <a:latin typeface="+mn-lt"/>
                <a:ea typeface="+mn-ea"/>
                <a:cs typeface="+mn-cs"/>
              </a:rPr>
              <a:t> </a:t>
            </a:r>
            <a:r>
              <a:rPr lang="en-US" altLang="zh-CN" sz="1200" b="0" i="0" u="none" strike="noStrike" kern="1200" baseline="0" dirty="0">
                <a:solidFill>
                  <a:schemeClr val="tx1"/>
                </a:solidFill>
                <a:latin typeface="+mn-lt"/>
                <a:ea typeface="+mn-ea"/>
                <a:cs typeface="+mn-cs"/>
              </a:rPr>
              <a:t>including</a:t>
            </a:r>
            <a:r>
              <a:rPr lang="en-US" sz="1200" b="0" i="0" kern="1200" dirty="0">
                <a:solidFill>
                  <a:schemeClr val="tx1"/>
                </a:solidFill>
                <a:effectLst/>
                <a:latin typeface="+mn-lt"/>
                <a:ea typeface="+mn-ea"/>
                <a:cs typeface="+mn-cs"/>
              </a:rPr>
              <a:t> Adobe, Nokia, eBay, SAP, Cisco, Verizon, etc.</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a document database, MongoDB is schema-less and aggregate aware. Being schema-less means that all documents are not required to conform to the same structure, and the structure of documents does not have to be declared ahead of time. Aggregate aware means that the documents encapsulate all relevant data related to a central entity within the same document.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shown in this figure, data is stored in documents, documents of a similar type are stored in collections, and related collections are stored in a database. Field is a key-value pair in a document. A document has zero or more fields. Fields are like columns in relational databases. It is very important to understand this MongoDB structure and key terminologies.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Documents are formatted using BSON for storage, which is a lightweight, binary representation of JSON, but with support for added features like a greater range of data types. To the users, the documents appear as JSON files, which makes them easy to read and easy to manipulate in a variety of programming languages. Understanding the basic structure of a JSON document is essential for working with MongoDB.</a:t>
            </a:r>
          </a:p>
        </p:txBody>
      </p:sp>
      <p:sp>
        <p:nvSpPr>
          <p:cNvPr id="4" name="Slide Number Placeholder 3"/>
          <p:cNvSpPr>
            <a:spLocks noGrp="1"/>
          </p:cNvSpPr>
          <p:nvPr>
            <p:ph type="sldNum" sz="quarter" idx="5"/>
          </p:nvPr>
        </p:nvSpPr>
        <p:spPr/>
        <p:txBody>
          <a:bodyPr/>
          <a:lstStyle/>
          <a:p>
            <a:fld id="{7B547B85-5C92-49FC-98A0-16FD07ABB6F8}" type="slidenum">
              <a:rPr lang="en-US" smtClean="0"/>
              <a:t>2</a:t>
            </a:fld>
            <a:endParaRPr lang="en-US"/>
          </a:p>
        </p:txBody>
      </p:sp>
    </p:spTree>
    <p:extLst>
      <p:ext uri="{BB962C8B-B14F-4D97-AF65-F5344CB8AC3E}">
        <p14:creationId xmlns:p14="http://schemas.microsoft.com/office/powerpoint/2010/main" val="569397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JavaScript Object Notation (JSON) is a data interchange format that represents data as a logical object. Look at this simple example. Objects are enclosed in curly brackets {} that contain key-value pairs. When discussing JSON documents, the key-value pairs are typically written in the format </a:t>
            </a:r>
            <a:r>
              <a:rPr lang="en-US" sz="1200" b="0" i="1"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This simple example contains two key-value pairs: </a:t>
            </a:r>
            <a:r>
              <a:rPr lang="en-US" sz="1200" b="0" i="1" u="none" strike="noStrike" kern="1200" baseline="0" dirty="0">
                <a:solidFill>
                  <a:schemeClr val="tx1"/>
                </a:solidFill>
                <a:latin typeface="+mn-lt"/>
                <a:ea typeface="+mn-ea"/>
                <a:cs typeface="+mn-cs"/>
              </a:rPr>
              <a:t>_id </a:t>
            </a:r>
            <a:r>
              <a:rPr lang="en-US" sz="1200" b="0" i="0" u="none" strike="noStrike" kern="1200" baseline="0" dirty="0">
                <a:solidFill>
                  <a:schemeClr val="tx1"/>
                </a:solidFill>
                <a:latin typeface="+mn-lt"/>
                <a:ea typeface="+mn-ea"/>
                <a:cs typeface="+mn-cs"/>
              </a:rPr>
              <a:t>is a key with 101 as the associated value; </a:t>
            </a:r>
            <a:r>
              <a:rPr lang="en-US" sz="1200" b="0" i="1" u="none" strike="noStrike" kern="1200" baseline="0" dirty="0">
                <a:solidFill>
                  <a:schemeClr val="tx1"/>
                </a:solidFill>
                <a:latin typeface="+mn-lt"/>
                <a:ea typeface="+mn-ea"/>
                <a:cs typeface="+mn-cs"/>
              </a:rPr>
              <a:t>title </a:t>
            </a:r>
            <a:r>
              <a:rPr lang="en-US" sz="1200" b="0" i="0" u="none" strike="noStrike" kern="1200" baseline="0" dirty="0">
                <a:solidFill>
                  <a:schemeClr val="tx1"/>
                </a:solidFill>
                <a:latin typeface="+mn-lt"/>
                <a:ea typeface="+mn-ea"/>
                <a:cs typeface="+mn-cs"/>
              </a:rPr>
              <a:t>is a key with “Database Systems” as the associated value. A single JSON object can contain many </a:t>
            </a:r>
            <a:r>
              <a:rPr lang="en-US" sz="1200" b="0" i="1" u="none" strike="noStrike" kern="1200" baseline="0" dirty="0" err="1">
                <a:solidFill>
                  <a:schemeClr val="tx1"/>
                </a:solidFill>
                <a:latin typeface="+mn-lt"/>
                <a:ea typeface="+mn-ea"/>
                <a:cs typeface="+mn-cs"/>
              </a:rPr>
              <a:t>key:value</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pairs separated by commas. </a:t>
            </a:r>
          </a:p>
          <a:p>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different circumstances, you may see the terminology </a:t>
            </a:r>
            <a:r>
              <a:rPr lang="en-US" sz="1200" b="0" i="1"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a:t>
            </a:r>
            <a:r>
              <a:rPr lang="en-US" sz="1200" b="0" i="1" u="none" strike="noStrike" kern="1200" baseline="0" dirty="0" err="1">
                <a:solidFill>
                  <a:schemeClr val="tx1"/>
                </a:solidFill>
                <a:latin typeface="+mn-lt"/>
                <a:ea typeface="+mn-ea"/>
                <a:cs typeface="+mn-cs"/>
              </a:rPr>
              <a:t>tag:value</a:t>
            </a:r>
            <a:r>
              <a:rPr lang="en-US" sz="1200" b="0" i="0" u="none" strike="noStrike" kern="1200" baseline="0" dirty="0">
                <a:solidFill>
                  <a:schemeClr val="tx1"/>
                </a:solidFill>
                <a:latin typeface="+mn-lt"/>
                <a:ea typeface="+mn-ea"/>
                <a:cs typeface="+mn-cs"/>
              </a:rPr>
              <a:t>, </a:t>
            </a:r>
            <a:r>
              <a:rPr lang="en-US" sz="1200" b="0" i="1" u="none" strike="noStrike" kern="1200" baseline="0" dirty="0" err="1">
                <a:solidFill>
                  <a:schemeClr val="tx1"/>
                </a:solidFill>
                <a:latin typeface="+mn-lt"/>
                <a:ea typeface="+mn-ea"/>
                <a:cs typeface="+mn-cs"/>
              </a:rPr>
              <a:t>field:value</a:t>
            </a:r>
            <a:r>
              <a:rPr lang="en-US" sz="1200" b="0" i="0" u="none" strike="noStrike" kern="1200" baseline="0" dirty="0">
                <a:solidFill>
                  <a:schemeClr val="tx1"/>
                </a:solidFill>
                <a:latin typeface="+mn-lt"/>
                <a:ea typeface="+mn-ea"/>
                <a:cs typeface="+mn-cs"/>
              </a:rPr>
              <a:t>, </a:t>
            </a:r>
            <a:r>
              <a:rPr lang="en-US" sz="1200" b="0" i="1" u="none" strike="noStrike" kern="1200" baseline="0" dirty="0" err="1">
                <a:solidFill>
                  <a:schemeClr val="tx1"/>
                </a:solidFill>
                <a:latin typeface="+mn-lt"/>
                <a:ea typeface="+mn-ea"/>
                <a:cs typeface="+mn-cs"/>
              </a:rPr>
              <a:t>id:value</a:t>
            </a:r>
            <a:r>
              <a:rPr lang="en-US" sz="1200" b="0" i="0" u="none" strike="noStrike" kern="1200" baseline="0" dirty="0">
                <a:solidFill>
                  <a:schemeClr val="tx1"/>
                </a:solidFill>
                <a:latin typeface="+mn-lt"/>
                <a:ea typeface="+mn-ea"/>
                <a:cs typeface="+mn-cs"/>
              </a:rPr>
              <a:t>, or </a:t>
            </a:r>
            <a:r>
              <a:rPr lang="en-US" sz="1200" b="0" i="1" u="none" strike="noStrike" kern="1200" baseline="0" dirty="0" err="1">
                <a:solidFill>
                  <a:schemeClr val="tx1"/>
                </a:solidFill>
                <a:latin typeface="+mn-lt"/>
                <a:ea typeface="+mn-ea"/>
                <a:cs typeface="+mn-cs"/>
              </a:rPr>
              <a:t>property:value</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used, but they all mean the same thing, so do not allow these changes in terminology to throw you off.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t>
            </a:r>
            <a:r>
              <a:rPr lang="en-US" sz="1200" b="0" i="1" u="none" strike="noStrike" kern="1200" baseline="0" dirty="0">
                <a:solidFill>
                  <a:schemeClr val="tx1"/>
                </a:solidFill>
                <a:latin typeface="+mn-lt"/>
                <a:ea typeface="+mn-ea"/>
                <a:cs typeface="+mn-cs"/>
              </a:rPr>
              <a:t>value </a:t>
            </a:r>
            <a:r>
              <a:rPr lang="en-US" sz="1200" b="0" i="0" u="none" strike="noStrike" kern="1200" baseline="0" dirty="0">
                <a:solidFill>
                  <a:schemeClr val="tx1"/>
                </a:solidFill>
                <a:latin typeface="+mn-lt"/>
                <a:ea typeface="+mn-ea"/>
                <a:cs typeface="+mn-cs"/>
              </a:rPr>
              <a:t>component may have multiple values that would be appropriate for a given key. In this example, adding a </a:t>
            </a:r>
            <a:r>
              <a:rPr lang="en-US" sz="1200" b="0" i="1" u="none" strike="noStrike" kern="1200" baseline="0" dirty="0" err="1">
                <a:solidFill>
                  <a:schemeClr val="tx1"/>
                </a:solidFill>
                <a:latin typeface="+mn-lt"/>
                <a:ea typeface="+mn-ea"/>
                <a:cs typeface="+mn-cs"/>
              </a:rPr>
              <a:t>key:value</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pair for authors could have the values “Coronel” and “Morris.” When there are multiple values for a single key, an array is used. Arrays in JSON are placed inside square brackets []. For example, the above document could be expanded like this…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When JSON documents are intended to be read by humans, they are often displayed with each </a:t>
            </a:r>
            <a:r>
              <a:rPr lang="en-US" sz="1200" b="0" i="1" u="none" strike="noStrike" kern="1200" baseline="0" dirty="0" err="1">
                <a:solidFill>
                  <a:schemeClr val="tx1"/>
                </a:solidFill>
                <a:latin typeface="+mn-lt"/>
                <a:ea typeface="+mn-ea"/>
                <a:cs typeface="+mn-cs"/>
              </a:rPr>
              <a:t>key:value</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pair on a separate line to improve readability, like this ….</a:t>
            </a:r>
          </a:p>
        </p:txBody>
      </p:sp>
      <p:sp>
        <p:nvSpPr>
          <p:cNvPr id="4" name="Slide Number Placeholder 3"/>
          <p:cNvSpPr>
            <a:spLocks noGrp="1"/>
          </p:cNvSpPr>
          <p:nvPr>
            <p:ph type="sldNum" sz="quarter" idx="5"/>
          </p:nvPr>
        </p:nvSpPr>
        <p:spPr/>
        <p:txBody>
          <a:bodyPr/>
          <a:lstStyle/>
          <a:p>
            <a:fld id="{7B547B85-5C92-49FC-98A0-16FD07ABB6F8}" type="slidenum">
              <a:rPr lang="en-US" smtClean="0"/>
              <a:t>3</a:t>
            </a:fld>
            <a:endParaRPr lang="en-US"/>
          </a:p>
        </p:txBody>
      </p:sp>
    </p:spTree>
    <p:extLst>
      <p:ext uri="{BB962C8B-B14F-4D97-AF65-F5344CB8AC3E}">
        <p14:creationId xmlns:p14="http://schemas.microsoft.com/office/powerpoint/2010/main" val="2336663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Objects can also have other objects embedded as a value. When a JSON document has an embedded object, the embedded object is often referred to as a subdocument. Consider another simple document with data about a publisher that is related to the book in the previous example.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book document and the publisher document are related. Remember, document databases are aggregate aware, so documents are typically arranged around a central entity. If we are constructing documents that have a book as the central entity, then we may wish to include data about the publisher inside that document. To include the publisher information with the book, we could embed the publisher as a subdocument inside the book document, as follows:</a:t>
            </a:r>
          </a:p>
          <a:p>
            <a:endParaRPr lang="en-US" dirty="0"/>
          </a:p>
          <a:p>
            <a:r>
              <a:rPr lang="en-US" sz="1200" b="0" i="0" u="none" strike="noStrike" kern="1200" baseline="0" dirty="0">
                <a:solidFill>
                  <a:schemeClr val="tx1"/>
                </a:solidFill>
                <a:latin typeface="+mn-lt"/>
                <a:ea typeface="+mn-ea"/>
                <a:cs typeface="+mn-cs"/>
              </a:rPr>
              <a:t>In this case, we have avoided a situation that would have required a join in a relational environment. In addition to pre-joining data, subdocuments can be useful when a value comprises smaller meaningful components. In the previous example, the street, city, and state pairs all work together to provide an address. Therefore, an address object could be created that includes these properties: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Similarly, we also can record more details of authors such as including author email address and phone number. </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4</a:t>
            </a:fld>
            <a:endParaRPr lang="en-US"/>
          </a:p>
        </p:txBody>
      </p:sp>
    </p:spTree>
    <p:extLst>
      <p:ext uri="{BB962C8B-B14F-4D97-AF65-F5344CB8AC3E}">
        <p14:creationId xmlns:p14="http://schemas.microsoft.com/office/powerpoint/2010/main" val="1665099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the hands-on practice, we use the Community Server edition, which is open source and available free of charge from MongoDB, Inc. New versions are released regularly. This version of MongoDB is available from the MongoDB website for Windows, MacOS, and Linux. Following the installation tutorials to properly download and install MongoDB Community Server on your computer. Here is an example.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a:t>
            </a:fld>
            <a:endParaRPr lang="en-US"/>
          </a:p>
        </p:txBody>
      </p:sp>
    </p:spTree>
    <p:extLst>
      <p:ext uri="{BB962C8B-B14F-4D97-AF65-F5344CB8AC3E}">
        <p14:creationId xmlns:p14="http://schemas.microsoft.com/office/powerpoint/2010/main" val="3674008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the MongoDB download center. Choose Server, and select the current release version and your computer’s operating system. Then download the MSI installation file.</a:t>
            </a:r>
          </a:p>
        </p:txBody>
      </p:sp>
      <p:sp>
        <p:nvSpPr>
          <p:cNvPr id="4" name="Slide Number Placeholder 3"/>
          <p:cNvSpPr>
            <a:spLocks noGrp="1"/>
          </p:cNvSpPr>
          <p:nvPr>
            <p:ph type="sldNum" sz="quarter" idx="5"/>
          </p:nvPr>
        </p:nvSpPr>
        <p:spPr/>
        <p:txBody>
          <a:bodyPr/>
          <a:lstStyle/>
          <a:p>
            <a:fld id="{7B547B85-5C92-49FC-98A0-16FD07ABB6F8}" type="slidenum">
              <a:rPr lang="en-US" smtClean="0"/>
              <a:t>6</a:t>
            </a:fld>
            <a:endParaRPr lang="en-US"/>
          </a:p>
        </p:txBody>
      </p:sp>
    </p:spTree>
    <p:extLst>
      <p:ext uri="{BB962C8B-B14F-4D97-AF65-F5344CB8AC3E}">
        <p14:creationId xmlns:p14="http://schemas.microsoft.com/office/powerpoint/2010/main" val="130945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Just as relational databases can be accessed through a wide range of application programming languages such as JavaScript, Java, Python, and PHP, so can MongoDB. </a:t>
            </a:r>
            <a:r>
              <a:rPr lang="en-US" dirty="0"/>
              <a:t>MongoDB also provides a built-in MongoDB shell program that provides an interface for working directly with the data. Using the shell, data is queried using Mongo Query Language (MQL). MQL is based on JavaScript, and many of the programming features of JavaScript, such as IF statements, variable declaration and manipulation, and looping, are available directly in MongoDB. Although full JavaScript programming is beyond the scope of this course, it is important to consider basic data manipulation in MQL.</a:t>
            </a:r>
          </a:p>
          <a:p>
            <a:endParaRPr lang="en-US" dirty="0"/>
          </a:p>
          <a:p>
            <a:r>
              <a:rPr lang="en-US" dirty="0"/>
              <a:t>MongoDB databases comprise collections of documents. Each MongoDB server can host many databases. Within the MongoDB server (also called the host), each database is a type of object. As we know from the previous discussion of JSON format, objects can contain other objects. A database object contains collections. Collections are also </a:t>
            </a:r>
            <a:r>
              <a:rPr lang="en-US" sz="1200" b="0" i="0" u="none" strike="noStrike" kern="1200" baseline="0" dirty="0">
                <a:solidFill>
                  <a:schemeClr val="tx1"/>
                </a:solidFill>
                <a:latin typeface="+mn-lt"/>
                <a:ea typeface="+mn-ea"/>
                <a:cs typeface="+mn-cs"/>
              </a:rPr>
              <a:t>objects. Collection objects contain document objects. In addition to holding data content, an object can also have methods, which are programmed functions for manipulating the object.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First, we need to connect to MongoDB server.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15</a:t>
            </a:fld>
            <a:endParaRPr lang="en-US"/>
          </a:p>
        </p:txBody>
      </p:sp>
    </p:spTree>
    <p:extLst>
      <p:ext uri="{BB962C8B-B14F-4D97-AF65-F5344CB8AC3E}">
        <p14:creationId xmlns:p14="http://schemas.microsoft.com/office/powerpoint/2010/main" val="212925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show us the list of databases, we can do “show </a:t>
            </a:r>
            <a:r>
              <a:rPr lang="en-US" dirty="0" err="1"/>
              <a:t>dbs</a:t>
            </a:r>
            <a:r>
              <a:rPr lang="en-US" dirty="0"/>
              <a:t>”. It shows that there are three default databases called admin, config, and local.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All data manipulation commands in MongoDB must be directed to a particular database. To create a database, we specify: use </a:t>
            </a:r>
            <a:r>
              <a:rPr lang="en-US" sz="1200" b="0" i="0" u="none" strike="noStrike" kern="1200" baseline="0" dirty="0" err="1">
                <a:solidFill>
                  <a:schemeClr val="tx1"/>
                </a:solidFill>
                <a:latin typeface="+mn-lt"/>
                <a:ea typeface="+mn-ea"/>
                <a:cs typeface="+mn-cs"/>
              </a:rPr>
              <a:t>DatabaseName</a:t>
            </a:r>
            <a:r>
              <a:rPr lang="en-US" sz="1200" b="0" i="0" u="none" strike="noStrike" kern="1200" baseline="0" dirty="0">
                <a:solidFill>
                  <a:schemeClr val="tx1"/>
                </a:solidFill>
                <a:latin typeface="+mn-lt"/>
                <a:ea typeface="+mn-ea"/>
                <a:cs typeface="+mn-cs"/>
              </a:rPr>
              <a:t>. The use command informs the server which database is to be the target of the commands that follow. If there is a database with the name specified, then that database will be used for the subsequent commands. If there is not a database with that name, then one is created automatically. For example, here we create a database named demo. We will also use this database in other following exercises.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name of the database that is being used can be displayed using the </a:t>
            </a:r>
            <a:r>
              <a:rPr lang="en-US" sz="1200" b="0" i="0" u="none" strike="noStrike" kern="1200" baseline="0" dirty="0" err="1">
                <a:solidFill>
                  <a:schemeClr val="tx1"/>
                </a:solidFill>
                <a:latin typeface="+mn-lt"/>
                <a:ea typeface="+mn-ea"/>
                <a:cs typeface="+mn-cs"/>
              </a:rPr>
              <a:t>getName</a:t>
            </a:r>
            <a:r>
              <a:rPr lang="en-US" sz="1200" b="0" i="0" u="none" strike="noStrike" kern="1200" baseline="0" dirty="0">
                <a:solidFill>
                  <a:schemeClr val="tx1"/>
                </a:solidFill>
                <a:latin typeface="+mn-lt"/>
                <a:ea typeface="+mn-ea"/>
                <a:cs typeface="+mn-cs"/>
              </a:rPr>
              <a:t>() method on the </a:t>
            </a:r>
            <a:r>
              <a:rPr lang="en-US" sz="1200" b="0" i="0" u="none" strike="noStrike" kern="1200" baseline="0" dirty="0" err="1">
                <a:solidFill>
                  <a:schemeClr val="tx1"/>
                </a:solidFill>
                <a:latin typeface="+mn-lt"/>
                <a:ea typeface="+mn-ea"/>
                <a:cs typeface="+mn-cs"/>
              </a:rPr>
              <a:t>db</a:t>
            </a:r>
            <a:r>
              <a:rPr lang="en-US" sz="1200" b="0" i="0" u="none" strike="noStrike" kern="1200" baseline="0" dirty="0">
                <a:solidFill>
                  <a:schemeClr val="tx1"/>
                </a:solidFill>
                <a:latin typeface="+mn-lt"/>
                <a:ea typeface="+mn-ea"/>
                <a:cs typeface="+mn-cs"/>
              </a:rPr>
              <a:t> variable. Or, if you want to check which database you are in, you can simply type db.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17</a:t>
            </a:fld>
            <a:endParaRPr lang="en-US"/>
          </a:p>
        </p:txBody>
      </p:sp>
    </p:spTree>
    <p:extLst>
      <p:ext uri="{BB962C8B-B14F-4D97-AF65-F5344CB8AC3E}">
        <p14:creationId xmlns:p14="http://schemas.microsoft.com/office/powerpoint/2010/main" val="970709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 collection, we use the </a:t>
            </a:r>
            <a:r>
              <a:rPr lang="en-US" sz="1200" b="1" i="0" u="none" strike="noStrike" kern="1200" baseline="0" dirty="0" err="1">
                <a:solidFill>
                  <a:schemeClr val="tx1"/>
                </a:solidFill>
                <a:latin typeface="+mn-lt"/>
                <a:ea typeface="+mn-ea"/>
                <a:cs typeface="+mn-cs"/>
              </a:rPr>
              <a:t>createCollection</a:t>
            </a:r>
            <a:r>
              <a:rPr lang="en-US" sz="1200" b="1"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For example, if we create a collection named </a:t>
            </a:r>
            <a:r>
              <a:rPr lang="en-US" sz="1200" b="0" i="1" u="none" strike="noStrike" kern="1200" baseline="0" dirty="0" err="1">
                <a:solidFill>
                  <a:schemeClr val="tx1"/>
                </a:solidFill>
                <a:latin typeface="+mn-lt"/>
                <a:ea typeface="+mn-ea"/>
                <a:cs typeface="+mn-cs"/>
              </a:rPr>
              <a:t>newproducts</a:t>
            </a:r>
            <a:r>
              <a:rPr lang="en-US" sz="1200" b="0" i="0" u="none" strike="noStrike" kern="1200" baseline="0" dirty="0">
                <a:solidFill>
                  <a:schemeClr val="tx1"/>
                </a:solidFill>
                <a:latin typeface="+mn-lt"/>
                <a:ea typeface="+mn-ea"/>
                <a:cs typeface="+mn-cs"/>
              </a:rPr>
              <a:t> inside the demo database, we do </a:t>
            </a:r>
            <a:r>
              <a:rPr lang="en-US" sz="1200" b="1" i="0" u="none" strike="noStrike" kern="1200" baseline="0" dirty="0" err="1">
                <a:solidFill>
                  <a:schemeClr val="tx1"/>
                </a:solidFill>
                <a:latin typeface="+mn-lt"/>
                <a:ea typeface="+mn-ea"/>
                <a:cs typeface="+mn-cs"/>
              </a:rPr>
              <a:t>db.createCollection</a:t>
            </a:r>
            <a:r>
              <a:rPr lang="en-US" sz="1200" b="1" i="0" u="none" strike="noStrike" kern="1200" baseline="0" dirty="0">
                <a:solidFill>
                  <a:schemeClr val="tx1"/>
                </a:solidFill>
                <a:latin typeface="+mn-lt"/>
                <a:ea typeface="+mn-ea"/>
                <a:cs typeface="+mn-cs"/>
              </a:rPr>
              <a:t>(“</a:t>
            </a:r>
            <a:r>
              <a:rPr lang="en-US" sz="1200" b="1" i="0" u="none" strike="noStrike" kern="1200" baseline="0" dirty="0" err="1">
                <a:solidFill>
                  <a:schemeClr val="tx1"/>
                </a:solidFill>
                <a:latin typeface="+mn-lt"/>
                <a:ea typeface="+mn-ea"/>
                <a:cs typeface="+mn-cs"/>
              </a:rPr>
              <a:t>newproducts</a:t>
            </a:r>
            <a:r>
              <a:rPr lang="en-US" sz="1200" b="1"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To display the collections that exist in a database, we use the command </a:t>
            </a:r>
            <a:r>
              <a:rPr lang="en-US" sz="1200" b="1" i="0" u="none" strike="noStrike" kern="1200" baseline="0" dirty="0">
                <a:solidFill>
                  <a:schemeClr val="tx1"/>
                </a:solidFill>
                <a:latin typeface="+mn-lt"/>
                <a:ea typeface="+mn-ea"/>
                <a:cs typeface="+mn-cs"/>
              </a:rPr>
              <a:t>show collections</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To rename a collection we use the </a:t>
            </a:r>
            <a:r>
              <a:rPr lang="en-US" sz="1200" b="1" i="0" u="none" strike="noStrike" kern="1200" baseline="0" dirty="0" err="1">
                <a:solidFill>
                  <a:schemeClr val="tx1"/>
                </a:solidFill>
                <a:latin typeface="+mn-lt"/>
                <a:ea typeface="+mn-ea"/>
                <a:cs typeface="+mn-cs"/>
              </a:rPr>
              <a:t>renameCollection</a:t>
            </a:r>
            <a:r>
              <a:rPr lang="en-US" sz="1200" b="1"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method of the collection, and provide the new name for the collection as a parameter. For example, </a:t>
            </a:r>
            <a:r>
              <a:rPr lang="en-US" altLang="zh-CN" sz="1200" b="1" i="0" u="none" strike="noStrike" kern="1200" baseline="0" dirty="0" err="1">
                <a:solidFill>
                  <a:schemeClr val="tx1"/>
                </a:solidFill>
                <a:latin typeface="+mn-lt"/>
                <a:ea typeface="+mn-ea"/>
                <a:cs typeface="+mn-cs"/>
              </a:rPr>
              <a:t>db.newproducts.renameCollection</a:t>
            </a:r>
            <a:r>
              <a:rPr lang="en-US" altLang="zh-CN" sz="1200" b="1" i="0" u="none" strike="noStrike" kern="1200" baseline="0" dirty="0">
                <a:solidFill>
                  <a:schemeClr val="tx1"/>
                </a:solidFill>
                <a:latin typeface="+mn-lt"/>
                <a:ea typeface="+mn-ea"/>
                <a:cs typeface="+mn-cs"/>
              </a:rPr>
              <a:t>(“</a:t>
            </a:r>
            <a:r>
              <a:rPr lang="en-US" altLang="zh-CN" sz="1200" b="1" i="0" u="none" strike="noStrike" kern="1200" baseline="0" dirty="0" err="1">
                <a:solidFill>
                  <a:schemeClr val="tx1"/>
                </a:solidFill>
                <a:latin typeface="+mn-lt"/>
                <a:ea typeface="+mn-ea"/>
                <a:cs typeface="+mn-cs"/>
              </a:rPr>
              <a:t>prodcts</a:t>
            </a:r>
            <a:r>
              <a:rPr lang="en-US" altLang="zh-CN" sz="1200" b="1" i="0" u="none" strike="noStrike" kern="1200" baseline="0" dirty="0">
                <a:solidFill>
                  <a:schemeClr val="tx1"/>
                </a:solidFill>
                <a:latin typeface="+mn-lt"/>
                <a:ea typeface="+mn-ea"/>
                <a:cs typeface="+mn-cs"/>
              </a:rPr>
              <a:t>”)</a:t>
            </a:r>
            <a:r>
              <a:rPr lang="en-US" altLang="zh-CN" sz="1200" b="0"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this will rename the </a:t>
            </a:r>
            <a:r>
              <a:rPr lang="en-US" sz="1200" b="0" i="0" u="none" strike="noStrike" kern="1200" baseline="0" dirty="0" err="1">
                <a:solidFill>
                  <a:schemeClr val="tx1"/>
                </a:solidFill>
                <a:latin typeface="+mn-lt"/>
                <a:ea typeface="+mn-ea"/>
                <a:cs typeface="+mn-cs"/>
              </a:rPr>
              <a:t>newproducts</a:t>
            </a:r>
            <a:r>
              <a:rPr lang="en-US" sz="1200" b="0" i="0" u="none" strike="noStrike" kern="1200" baseline="0" dirty="0">
                <a:solidFill>
                  <a:schemeClr val="tx1"/>
                </a:solidFill>
                <a:latin typeface="+mn-lt"/>
                <a:ea typeface="+mn-ea"/>
                <a:cs typeface="+mn-cs"/>
              </a:rPr>
              <a:t> collection to products. Using the </a:t>
            </a:r>
            <a:r>
              <a:rPr lang="en-US" sz="1200" b="0" i="1" u="none" strike="noStrike" kern="1200" baseline="0" dirty="0">
                <a:solidFill>
                  <a:schemeClr val="tx1"/>
                </a:solidFill>
                <a:latin typeface="+mn-lt"/>
                <a:ea typeface="+mn-ea"/>
                <a:cs typeface="+mn-cs"/>
              </a:rPr>
              <a:t>show collections </a:t>
            </a:r>
            <a:r>
              <a:rPr lang="en-US" sz="1200" b="0" i="0" u="none" strike="noStrike" kern="1200" baseline="0" dirty="0">
                <a:solidFill>
                  <a:schemeClr val="tx1"/>
                </a:solidFill>
                <a:latin typeface="+mn-lt"/>
                <a:ea typeface="+mn-ea"/>
                <a:cs typeface="+mn-cs"/>
              </a:rPr>
              <a:t>command, you can see that the collection name has changed.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Dropping a collection removes all documents in the collection and deletes any indexes that have been created with that collection. Dropping the collection is done with the </a:t>
            </a:r>
            <a:r>
              <a:rPr lang="en-US" sz="1200" b="1" i="0" u="none" strike="noStrike" kern="1200" baseline="0" dirty="0">
                <a:solidFill>
                  <a:schemeClr val="tx1"/>
                </a:solidFill>
                <a:latin typeface="+mn-lt"/>
                <a:ea typeface="+mn-ea"/>
                <a:cs typeface="+mn-cs"/>
              </a:rPr>
              <a:t>drop() </a:t>
            </a:r>
            <a:r>
              <a:rPr lang="en-US" sz="1200" b="0" i="0" u="none" strike="noStrike" kern="1200" baseline="0" dirty="0">
                <a:solidFill>
                  <a:schemeClr val="tx1"/>
                </a:solidFill>
                <a:latin typeface="+mn-lt"/>
                <a:ea typeface="+mn-ea"/>
                <a:cs typeface="+mn-cs"/>
              </a:rPr>
              <a:t>method of the collection. The drop() method does not require any options or parameters. It drops whichever collection that it was called with. For example, we create a </a:t>
            </a:r>
            <a:r>
              <a:rPr lang="en-US" sz="1200" b="0" i="0" u="none" strike="noStrike" kern="1200" baseline="0" dirty="0" err="1">
                <a:solidFill>
                  <a:schemeClr val="tx1"/>
                </a:solidFill>
                <a:latin typeface="+mn-lt"/>
                <a:ea typeface="+mn-ea"/>
                <a:cs typeface="+mn-cs"/>
              </a:rPr>
              <a:t>userlog</a:t>
            </a:r>
            <a:r>
              <a:rPr lang="en-US" sz="1200" b="0" i="0" u="none" strike="noStrike" kern="1200" baseline="0" dirty="0">
                <a:solidFill>
                  <a:schemeClr val="tx1"/>
                </a:solidFill>
                <a:latin typeface="+mn-lt"/>
                <a:ea typeface="+mn-ea"/>
                <a:cs typeface="+mn-cs"/>
              </a:rPr>
              <a:t> collection (</a:t>
            </a:r>
            <a:r>
              <a:rPr lang="en-US" sz="1200" b="1" i="0" u="none" strike="noStrike" kern="1200" baseline="0" dirty="0" err="1">
                <a:solidFill>
                  <a:schemeClr val="tx1"/>
                </a:solidFill>
                <a:latin typeface="+mn-lt"/>
                <a:ea typeface="+mn-ea"/>
                <a:cs typeface="+mn-cs"/>
              </a:rPr>
              <a:t>db.createCollection</a:t>
            </a:r>
            <a:r>
              <a:rPr lang="en-US" sz="1200" b="1" i="0" u="none" strike="noStrike" kern="1200" baseline="0" dirty="0">
                <a:solidFill>
                  <a:schemeClr val="tx1"/>
                </a:solidFill>
                <a:latin typeface="+mn-lt"/>
                <a:ea typeface="+mn-ea"/>
                <a:cs typeface="+mn-cs"/>
              </a:rPr>
              <a:t>(“</a:t>
            </a:r>
            <a:r>
              <a:rPr lang="en-US" sz="1200" b="1" i="0" u="none" strike="noStrike" kern="1200" baseline="0" dirty="0" err="1">
                <a:solidFill>
                  <a:schemeClr val="tx1"/>
                </a:solidFill>
                <a:latin typeface="+mn-lt"/>
                <a:ea typeface="+mn-ea"/>
                <a:cs typeface="+mn-cs"/>
              </a:rPr>
              <a:t>userlog</a:t>
            </a:r>
            <a:r>
              <a:rPr lang="en-US" sz="1200" b="1"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and then drop it (</a:t>
            </a:r>
            <a:r>
              <a:rPr lang="en-US" sz="1200" b="1" i="0" u="none" strike="noStrike" kern="1200" baseline="0" dirty="0" err="1">
                <a:solidFill>
                  <a:schemeClr val="tx1"/>
                </a:solidFill>
                <a:latin typeface="+mn-lt"/>
                <a:ea typeface="+mn-ea"/>
                <a:cs typeface="+mn-cs"/>
              </a:rPr>
              <a:t>db.userlog.drop</a:t>
            </a:r>
            <a:r>
              <a:rPr lang="en-US" sz="1200" b="1"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18</a:t>
            </a:fld>
            <a:endParaRPr lang="en-US"/>
          </a:p>
        </p:txBody>
      </p:sp>
    </p:spTree>
    <p:extLst>
      <p:ext uri="{BB962C8B-B14F-4D97-AF65-F5344CB8AC3E}">
        <p14:creationId xmlns:p14="http://schemas.microsoft.com/office/powerpoint/2010/main" val="3472910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collection has been created, documents can be added to it. The insert() method of the collection is used to add new documents to the collection. The syntax for the insert() method in MongoDB is </a:t>
            </a:r>
            <a:r>
              <a:rPr lang="en-US" sz="1200" b="1" dirty="0"/>
              <a:t>db.&lt;collection name&gt;.insert({document})</a:t>
            </a:r>
            <a:r>
              <a:rPr lang="en-US" dirty="0"/>
              <a:t>.</a:t>
            </a:r>
          </a:p>
          <a:p>
            <a:endParaRPr lang="en-US" dirty="0"/>
          </a:p>
          <a:p>
            <a:r>
              <a:rPr lang="en-US" dirty="0"/>
              <a:t>For example, here we insert one document to the product collection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Retrieving documents in MongoDB will be explored in greater detail later in this chapter; however, for now we can retrieve the documents in our collection using the find() method - </a:t>
            </a:r>
            <a:r>
              <a:rPr lang="en-US" sz="1200" b="1" dirty="0"/>
              <a:t>db.&lt;collection name&gt;.find()</a:t>
            </a:r>
            <a:r>
              <a:rPr lang="en-US" sz="1200" dirty="0"/>
              <a:t>.</a:t>
            </a:r>
            <a:endParaRPr lang="en-US" sz="1200" b="1" dirty="0"/>
          </a:p>
          <a:p>
            <a:endParaRPr lang="en-US" dirty="0"/>
          </a:p>
          <a:p>
            <a:r>
              <a:rPr lang="en-US" sz="1200" b="0" i="0" u="none" strike="noStrike" kern="1200" baseline="0" dirty="0">
                <a:solidFill>
                  <a:schemeClr val="tx1"/>
                </a:solidFill>
                <a:latin typeface="+mn-lt"/>
                <a:ea typeface="+mn-ea"/>
                <a:cs typeface="+mn-cs"/>
              </a:rPr>
              <a:t>Notice that each document has a key named </a:t>
            </a:r>
            <a:r>
              <a:rPr lang="en-US" sz="1200" b="0" i="1" u="none" strike="noStrike" kern="1200" baseline="0" dirty="0">
                <a:solidFill>
                  <a:schemeClr val="tx1"/>
                </a:solidFill>
                <a:latin typeface="+mn-lt"/>
                <a:ea typeface="+mn-ea"/>
                <a:cs typeface="+mn-cs"/>
              </a:rPr>
              <a:t>_id </a:t>
            </a:r>
            <a:r>
              <a:rPr lang="en-US" sz="1200" b="0" i="0" u="none" strike="noStrike" kern="1200" baseline="0" dirty="0">
                <a:solidFill>
                  <a:schemeClr val="tx1"/>
                </a:solidFill>
                <a:latin typeface="+mn-lt"/>
                <a:ea typeface="+mn-ea"/>
                <a:cs typeface="+mn-cs"/>
              </a:rPr>
              <a:t>that contains an </a:t>
            </a:r>
            <a:r>
              <a:rPr lang="en-US" sz="1200" b="0" i="0" u="none" strike="noStrike" kern="1200" baseline="0" dirty="0" err="1">
                <a:solidFill>
                  <a:schemeClr val="tx1"/>
                </a:solidFill>
                <a:latin typeface="+mn-lt"/>
                <a:ea typeface="+mn-ea"/>
                <a:cs typeface="+mn-cs"/>
              </a:rPr>
              <a:t>ObjectID</a:t>
            </a:r>
            <a:r>
              <a:rPr lang="en-US" sz="1200" b="0" i="0" u="none" strike="noStrike" kern="1200" baseline="0" dirty="0">
                <a:solidFill>
                  <a:schemeClr val="tx1"/>
                </a:solidFill>
                <a:latin typeface="+mn-lt"/>
                <a:ea typeface="+mn-ea"/>
                <a:cs typeface="+mn-cs"/>
              </a:rPr>
              <a:t>. The default for new collections is to have the </a:t>
            </a:r>
            <a:r>
              <a:rPr lang="en-US" sz="1200" b="0" i="0" u="none" strike="noStrike" kern="1200" baseline="0" dirty="0" err="1">
                <a:solidFill>
                  <a:schemeClr val="tx1"/>
                </a:solidFill>
                <a:latin typeface="+mn-lt"/>
                <a:ea typeface="+mn-ea"/>
                <a:cs typeface="+mn-cs"/>
              </a:rPr>
              <a:t>autoIndexID</a:t>
            </a:r>
            <a:r>
              <a:rPr lang="en-US" sz="1200" b="0" i="0" u="none" strike="noStrike" kern="1200" baseline="0" dirty="0">
                <a:solidFill>
                  <a:schemeClr val="tx1"/>
                </a:solidFill>
                <a:latin typeface="+mn-lt"/>
                <a:ea typeface="+mn-ea"/>
                <a:cs typeface="+mn-cs"/>
              </a:rPr>
              <a:t> property set to true so the _id column is generated automatically when documents are inserted. The _id values generated in your collections will differ from the ones shown here because characteristics of the host computer become encoded as part of the _id field, but they will always be unique within your collection.</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19</a:t>
            </a:fld>
            <a:endParaRPr lang="en-US"/>
          </a:p>
        </p:txBody>
      </p:sp>
    </p:spTree>
    <p:extLst>
      <p:ext uri="{BB962C8B-B14F-4D97-AF65-F5344CB8AC3E}">
        <p14:creationId xmlns:p14="http://schemas.microsoft.com/office/powerpoint/2010/main" val="2341250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insert another document in the same collection, but with a slightly different structure. Remember, document databases are schema-less so all of the documents in a collection are not required to have the same structure. </a:t>
            </a:r>
          </a:p>
          <a:p>
            <a:endParaRPr lang="en-US" dirty="0"/>
          </a:p>
          <a:p>
            <a:r>
              <a:rPr lang="en-US" dirty="0"/>
              <a:t>The insert() method can be used with JSON documents of any complexity. Here we include an array of values for the keywords key.</a:t>
            </a:r>
          </a:p>
          <a:p>
            <a:endParaRPr lang="en-US" dirty="0"/>
          </a:p>
          <a:p>
            <a:r>
              <a:rPr lang="en-US" dirty="0"/>
              <a:t>We can check it using </a:t>
            </a:r>
            <a:r>
              <a:rPr lang="en-US" b="1" dirty="0" err="1"/>
              <a:t>db.products.find</a:t>
            </a:r>
            <a:r>
              <a:rPr lang="en-US" b="1" dirty="0"/>
              <a:t>()</a:t>
            </a:r>
            <a:r>
              <a:rPr lang="en-US" dirty="0"/>
              <a:t>. Here we see this new document is inserted. </a:t>
            </a:r>
          </a:p>
        </p:txBody>
      </p:sp>
      <p:sp>
        <p:nvSpPr>
          <p:cNvPr id="4" name="Slide Number Placeholder 3"/>
          <p:cNvSpPr>
            <a:spLocks noGrp="1"/>
          </p:cNvSpPr>
          <p:nvPr>
            <p:ph type="sldNum" sz="quarter" idx="5"/>
          </p:nvPr>
        </p:nvSpPr>
        <p:spPr/>
        <p:txBody>
          <a:bodyPr/>
          <a:lstStyle/>
          <a:p>
            <a:fld id="{7B547B85-5C92-49FC-98A0-16FD07ABB6F8}" type="slidenum">
              <a:rPr lang="en-US" smtClean="0"/>
              <a:t>20</a:t>
            </a:fld>
            <a:endParaRPr lang="en-US"/>
          </a:p>
        </p:txBody>
      </p:sp>
    </p:spTree>
    <p:extLst>
      <p:ext uri="{BB962C8B-B14F-4D97-AF65-F5344CB8AC3E}">
        <p14:creationId xmlns:p14="http://schemas.microsoft.com/office/powerpoint/2010/main" val="3665371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There are many options when updating documents in MongoDB. At the most basic level, updates can either be operator updates or replacement updates. An </a:t>
            </a:r>
            <a:r>
              <a:rPr lang="en-US" sz="1200" b="1" i="0" u="none" strike="noStrike" kern="1200" baseline="0" dirty="0">
                <a:solidFill>
                  <a:schemeClr val="tx1"/>
                </a:solidFill>
                <a:latin typeface="+mn-lt"/>
                <a:ea typeface="+mn-ea"/>
                <a:cs typeface="+mn-cs"/>
              </a:rPr>
              <a:t>operator update</a:t>
            </a:r>
            <a:r>
              <a:rPr lang="en-US" sz="1200" b="0" i="0" u="none" strike="noStrike" kern="1200" baseline="0" dirty="0">
                <a:solidFill>
                  <a:schemeClr val="tx1"/>
                </a:solidFill>
                <a:latin typeface="+mn-lt"/>
                <a:ea typeface="+mn-ea"/>
                <a:cs typeface="+mn-cs"/>
              </a:rPr>
              <a:t> makes changes to some of the content of a document, but leaves the remainder of the document unchanged. This is similar to an update in a relational database. A </a:t>
            </a:r>
            <a:r>
              <a:rPr lang="en-US" sz="1200" b="1" i="0" u="none" strike="noStrike" kern="1200" baseline="0" dirty="0">
                <a:solidFill>
                  <a:schemeClr val="tx1"/>
                </a:solidFill>
                <a:latin typeface="+mn-lt"/>
                <a:ea typeface="+mn-ea"/>
                <a:cs typeface="+mn-cs"/>
              </a:rPr>
              <a:t>replacement update </a:t>
            </a:r>
            <a:r>
              <a:rPr lang="en-US" sz="1200" b="0" i="0" u="none" strike="noStrike" kern="1200" baseline="0" dirty="0">
                <a:solidFill>
                  <a:schemeClr val="tx1"/>
                </a:solidFill>
                <a:latin typeface="+mn-lt"/>
                <a:ea typeface="+mn-ea"/>
                <a:cs typeface="+mn-cs"/>
              </a:rPr>
              <a:t>completely removes the original document and replaces it with the new document while preserving only the value of the _id primary key. The syntax for the replacement update method is: </a:t>
            </a:r>
            <a:r>
              <a:rPr lang="en-US" sz="1200" b="1" dirty="0">
                <a:latin typeface="Times New Roman" panose="02020603050405020304" pitchFamily="18" charset="0"/>
                <a:cs typeface="Times New Roman" panose="02020603050405020304" pitchFamily="18" charset="0"/>
              </a:rPr>
              <a:t>db.&lt;collection name&gt;.</a:t>
            </a:r>
            <a:r>
              <a:rPr lang="en-US" sz="1200" b="1" dirty="0" err="1">
                <a:latin typeface="Times New Roman" panose="02020603050405020304" pitchFamily="18" charset="0"/>
                <a:cs typeface="Times New Roman" panose="02020603050405020304" pitchFamily="18" charset="0"/>
              </a:rPr>
              <a:t>replaceOne</a:t>
            </a:r>
            <a:r>
              <a:rPr lang="en-US" sz="1200" b="1" dirty="0">
                <a:latin typeface="Times New Roman" panose="02020603050405020304" pitchFamily="18" charset="0"/>
                <a:cs typeface="Times New Roman" panose="02020603050405020304" pitchFamily="18" charset="0"/>
              </a:rPr>
              <a:t>() or db.&lt;collection name&gt;.</a:t>
            </a:r>
            <a:r>
              <a:rPr lang="en-US" sz="1200" b="1" dirty="0" err="1">
                <a:latin typeface="Times New Roman" panose="02020603050405020304" pitchFamily="18" charset="0"/>
                <a:cs typeface="Times New Roman" panose="02020603050405020304" pitchFamily="18" charset="0"/>
              </a:rPr>
              <a:t>replaceMany</a:t>
            </a:r>
            <a:r>
              <a:rPr lang="en-US" sz="1200" b="1" dirty="0">
                <a:latin typeface="Times New Roman" panose="02020603050405020304" pitchFamily="18" charset="0"/>
                <a:cs typeface="Times New Roman" panose="02020603050405020304" pitchFamily="18" charset="0"/>
              </a:rPr>
              <a:t>()</a:t>
            </a:r>
            <a:r>
              <a:rPr lang="en-US" sz="1200" b="0" dirty="0">
                <a:latin typeface="Times New Roman" panose="02020603050405020304" pitchFamily="18" charset="0"/>
                <a:cs typeface="Times New Roman" panose="02020603050405020304" pitchFamily="18" charset="0"/>
              </a:rPr>
              <a:t>, depending on the number of documents to update. Similarly, the syntax for the operator update method is: </a:t>
            </a:r>
            <a:r>
              <a:rPr lang="en-US" sz="1200" b="1" dirty="0">
                <a:latin typeface="Times New Roman" panose="02020603050405020304" pitchFamily="18" charset="0"/>
                <a:cs typeface="Times New Roman" panose="02020603050405020304" pitchFamily="18" charset="0"/>
              </a:rPr>
              <a:t>db.&lt;collection name&gt;.</a:t>
            </a:r>
            <a:r>
              <a:rPr lang="en-US" sz="1200" b="1" dirty="0" err="1">
                <a:latin typeface="Times New Roman" panose="02020603050405020304" pitchFamily="18" charset="0"/>
                <a:cs typeface="Times New Roman" panose="02020603050405020304" pitchFamily="18" charset="0"/>
              </a:rPr>
              <a:t>updateOne</a:t>
            </a:r>
            <a:r>
              <a:rPr lang="en-US" sz="1200" b="1" dirty="0">
                <a:latin typeface="Times New Roman" panose="02020603050405020304" pitchFamily="18" charset="0"/>
                <a:cs typeface="Times New Roman" panose="02020603050405020304" pitchFamily="18" charset="0"/>
              </a:rPr>
              <a:t>() or db.&lt;collection name&gt;.</a:t>
            </a:r>
            <a:r>
              <a:rPr lang="en-US" sz="1200" b="1" dirty="0" err="1">
                <a:latin typeface="Times New Roman" panose="02020603050405020304" pitchFamily="18" charset="0"/>
                <a:cs typeface="Times New Roman" panose="02020603050405020304" pitchFamily="18" charset="0"/>
              </a:rPr>
              <a:t>updateMany</a:t>
            </a:r>
            <a:r>
              <a:rPr lang="en-US" sz="1200" b="1" dirty="0">
                <a:latin typeface="Times New Roman" panose="02020603050405020304" pitchFamily="18" charset="0"/>
                <a:cs typeface="Times New Roman" panose="02020603050405020304" pitchFamily="18" charset="0"/>
              </a:rPr>
              <a:t>()</a:t>
            </a:r>
            <a:r>
              <a:rPr lang="en-US" sz="1200" b="0" dirty="0">
                <a:latin typeface="Times New Roman" panose="02020603050405020304" pitchFamily="18" charset="0"/>
                <a:cs typeface="Times New Roman" panose="02020603050405020304" pitchFamily="18" charset="0"/>
              </a:rPr>
              <a:t>, depending on the number of documents to update. </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update()</a:t>
            </a:r>
            <a:r>
              <a:rPr lang="en-US" sz="1200" b="0" i="0" u="none" strike="noStrike" kern="1200" baseline="0" dirty="0">
                <a:solidFill>
                  <a:schemeClr val="tx1"/>
                </a:solidFill>
                <a:latin typeface="+mn-lt"/>
                <a:ea typeface="+mn-ea"/>
                <a:cs typeface="+mn-cs"/>
              </a:rPr>
              <a:t> method can have four parameters.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First is a </a:t>
            </a:r>
            <a:r>
              <a:rPr lang="en-US" sz="1200" b="0" i="1" u="none" strike="noStrike" kern="1200" baseline="0" dirty="0">
                <a:solidFill>
                  <a:schemeClr val="tx1"/>
                </a:solidFill>
                <a:latin typeface="+mn-lt"/>
                <a:ea typeface="+mn-ea"/>
                <a:cs typeface="+mn-cs"/>
              </a:rPr>
              <a:t>query </a:t>
            </a:r>
            <a:r>
              <a:rPr lang="en-US" sz="1200" b="0" i="0" u="none" strike="noStrike" kern="1200" baseline="0" dirty="0">
                <a:solidFill>
                  <a:schemeClr val="tx1"/>
                </a:solidFill>
                <a:latin typeface="+mn-lt"/>
                <a:ea typeface="+mn-ea"/>
                <a:cs typeface="+mn-cs"/>
              </a:rPr>
              <a:t>object that is used to determine which documents to update. This is like the WHERE clause of a SQL UPDATE command. Only documents that match the query are updated.</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second parameter is a </a:t>
            </a:r>
            <a:r>
              <a:rPr lang="en-US" sz="1200" b="0" i="1" u="none" strike="noStrike" kern="1200" baseline="0" dirty="0">
                <a:solidFill>
                  <a:schemeClr val="tx1"/>
                </a:solidFill>
                <a:latin typeface="+mn-lt"/>
                <a:ea typeface="+mn-ea"/>
                <a:cs typeface="+mn-cs"/>
              </a:rPr>
              <a:t>change </a:t>
            </a:r>
            <a:r>
              <a:rPr lang="en-US" sz="1200" b="0" i="0" u="none" strike="noStrike" kern="1200" baseline="0" dirty="0">
                <a:solidFill>
                  <a:schemeClr val="tx1"/>
                </a:solidFill>
                <a:latin typeface="+mn-lt"/>
                <a:ea typeface="+mn-ea"/>
                <a:cs typeface="+mn-cs"/>
              </a:rPr>
              <a:t>object that specifies what changes to make to the document. If a replacement update is being performed, then the change object will be the new version of the document to be stored. If an operator update is being performed, then the change object will contain the functions that specify what changes should be made to the document.</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third parameter is the </a:t>
            </a:r>
            <a:r>
              <a:rPr lang="en-US" sz="1200" b="0" i="1" u="none" strike="noStrike" kern="1200" baseline="0" dirty="0" err="1">
                <a:solidFill>
                  <a:schemeClr val="tx1"/>
                </a:solidFill>
                <a:latin typeface="+mn-lt"/>
                <a:ea typeface="+mn-ea"/>
                <a:cs typeface="+mn-cs"/>
              </a:rPr>
              <a:t>upsert</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flag. The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flag is Boolean, that is, it is either true or false. By default,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is false. If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is false, then if no documents match the criteria in the query object, then no changes will be made to the collection. On the other hand, if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is set to true, then if no documents match the criteria in the query object, then a new document will be inserted with the data in the change object.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combines an update and an insert, hence the name. If there is a match, it performs an update; if there is not a match, it performs an insert.</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fourth parameter is the </a:t>
            </a:r>
            <a:r>
              <a:rPr lang="en-US" sz="1200" b="0" i="1" u="none" strike="noStrike" kern="1200" baseline="0" dirty="0">
                <a:solidFill>
                  <a:schemeClr val="tx1"/>
                </a:solidFill>
                <a:latin typeface="+mn-lt"/>
                <a:ea typeface="+mn-ea"/>
                <a:cs typeface="+mn-cs"/>
              </a:rPr>
              <a:t>multi </a:t>
            </a:r>
            <a:r>
              <a:rPr lang="en-US" sz="1200" b="0" i="0" u="none" strike="noStrike" kern="1200" baseline="0" dirty="0">
                <a:solidFill>
                  <a:schemeClr val="tx1"/>
                </a:solidFill>
                <a:latin typeface="+mn-lt"/>
                <a:ea typeface="+mn-ea"/>
                <a:cs typeface="+mn-cs"/>
              </a:rPr>
              <a:t>flag. Like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multi is Boolean and false by default. If multi is false, then only the first document found to match the query object will be updated. If multi is set to true, then all documents found to match the query object will be updated. Both the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and multi flags can be omitted to apply the default values of false for those flags.</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21</a:t>
            </a:fld>
            <a:endParaRPr lang="en-US"/>
          </a:p>
        </p:txBody>
      </p:sp>
    </p:spTree>
    <p:extLst>
      <p:ext uri="{BB962C8B-B14F-4D97-AF65-F5344CB8AC3E}">
        <p14:creationId xmlns:p14="http://schemas.microsoft.com/office/powerpoint/2010/main" val="2717020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Here is an example of replacement update. (</a:t>
            </a:r>
            <a:r>
              <a:rPr lang="en-US" sz="1200" b="1" i="0" u="none" strike="noStrike" kern="1200" baseline="0" dirty="0" err="1">
                <a:solidFill>
                  <a:schemeClr val="tx1"/>
                </a:solidFill>
                <a:latin typeface="+mn-lt"/>
                <a:ea typeface="+mn-ea"/>
                <a:cs typeface="+mn-cs"/>
              </a:rPr>
              <a:t>db.products.replaceOne</a:t>
            </a:r>
            <a:r>
              <a:rPr lang="en-US" sz="1200" b="1"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If we replace the </a:t>
            </a:r>
            <a:r>
              <a:rPr lang="en-US" sz="1200" dirty="0"/>
              <a:t>“</a:t>
            </a:r>
            <a:r>
              <a:rPr lang="en-US" sz="1200" i="1" dirty="0"/>
              <a:t>standard desk chair</a:t>
            </a:r>
            <a:r>
              <a:rPr lang="en-US" sz="1200" dirty="0"/>
              <a:t>” document that was first inserted into the products collection. Then we display the updated collection using the find() function. (</a:t>
            </a:r>
            <a:r>
              <a:rPr lang="en-US" sz="1200" b="1" dirty="0" err="1"/>
              <a:t>db.products.find</a:t>
            </a:r>
            <a:r>
              <a:rPr lang="en-US" sz="1200" b="1" dirty="0"/>
              <a:t>().pretty()</a:t>
            </a:r>
            <a:r>
              <a:rPr lang="en-US" sz="1200" dirty="0"/>
              <a:t>) Here we use .pretty() function. This will display the results in a more readable format.</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Looking at the first document returned. The entire document for “standard desk chair” has been replaced with a document that contains only the </a:t>
            </a:r>
            <a:r>
              <a:rPr lang="en-US" sz="1200" b="0" i="1" u="none" strike="noStrike" kern="1200" baseline="0" dirty="0">
                <a:solidFill>
                  <a:schemeClr val="tx1"/>
                </a:solidFill>
                <a:latin typeface="+mn-lt"/>
                <a:ea typeface="+mn-ea"/>
                <a:cs typeface="+mn-cs"/>
              </a:rPr>
              <a:t>name </a:t>
            </a:r>
            <a:r>
              <a:rPr lang="en-US" sz="1200" b="0" i="0" u="none" strike="noStrike" kern="1200" baseline="0" dirty="0">
                <a:solidFill>
                  <a:schemeClr val="tx1"/>
                </a:solidFill>
                <a:latin typeface="+mn-lt"/>
                <a:ea typeface="+mn-ea"/>
                <a:cs typeface="+mn-cs"/>
              </a:rPr>
              <a:t>property. Other properties are removed.</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22</a:t>
            </a:fld>
            <a:endParaRPr lang="en-US"/>
          </a:p>
        </p:txBody>
      </p:sp>
    </p:spTree>
    <p:extLst>
      <p:ext uri="{BB962C8B-B14F-4D97-AF65-F5344CB8AC3E}">
        <p14:creationId xmlns:p14="http://schemas.microsoft.com/office/powerpoint/2010/main" val="942003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change object can also include multiple </a:t>
            </a:r>
            <a:r>
              <a:rPr lang="en-US" sz="1200" b="0" i="1" u="none" strike="noStrike" kern="1200" baseline="0" dirty="0" err="1">
                <a:solidFill>
                  <a:schemeClr val="tx1"/>
                </a:solidFill>
                <a:latin typeface="+mn-lt"/>
                <a:ea typeface="+mn-ea"/>
                <a:cs typeface="+mn-cs"/>
              </a:rPr>
              <a:t>key:value</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pairs, including complex values such as arrays and embedded objects. Look at this command. (</a:t>
            </a:r>
            <a:r>
              <a:rPr lang="en-US" sz="1200" b="1" i="0" u="none" strike="noStrike" kern="1200" baseline="0" dirty="0" err="1">
                <a:solidFill>
                  <a:schemeClr val="tx1"/>
                </a:solidFill>
                <a:latin typeface="+mn-lt"/>
                <a:ea typeface="+mn-ea"/>
                <a:cs typeface="+mn-cs"/>
              </a:rPr>
              <a:t>db.products.replaceOne</a:t>
            </a:r>
            <a:r>
              <a:rPr lang="en-US" sz="1200" b="1"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t>
            </a:r>
            <a:r>
              <a:rPr lang="en-US" sz="1200" b="1" i="0" u="none" strike="noStrike" kern="1200" baseline="0" dirty="0" err="1">
                <a:solidFill>
                  <a:schemeClr val="tx1"/>
                </a:solidFill>
                <a:latin typeface="+mn-lt"/>
                <a:ea typeface="+mn-ea"/>
                <a:cs typeface="+mn-cs"/>
              </a:rPr>
              <a:t>db.products.find</a:t>
            </a:r>
            <a:r>
              <a:rPr lang="en-US" sz="1200" b="1" i="0" u="none" strike="noStrike" kern="1200" baseline="0" dirty="0">
                <a:solidFill>
                  <a:schemeClr val="tx1"/>
                </a:solidFill>
                <a:latin typeface="+mn-lt"/>
                <a:ea typeface="+mn-ea"/>
                <a:cs typeface="+mn-cs"/>
              </a:rPr>
              <a:t>().pretty() </a:t>
            </a:r>
            <a:r>
              <a:rPr lang="en-US" sz="1200" b="0" i="0" u="none" strike="noStrike" kern="1200" baseline="0" dirty="0">
                <a:solidFill>
                  <a:schemeClr val="tx1"/>
                </a:solidFill>
                <a:latin typeface="+mn-lt"/>
                <a:ea typeface="+mn-ea"/>
                <a:cs typeface="+mn-cs"/>
              </a:rPr>
              <a:t>It replaces the same document with a new version. </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23</a:t>
            </a:fld>
            <a:endParaRPr lang="en-US"/>
          </a:p>
        </p:txBody>
      </p:sp>
    </p:spTree>
    <p:extLst>
      <p:ext uri="{BB962C8B-B14F-4D97-AF65-F5344CB8AC3E}">
        <p14:creationId xmlns:p14="http://schemas.microsoft.com/office/powerpoint/2010/main" val="631781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Operator updates follow the same syntax as replacement updates, except in the change object. Operator updates use one or more update functions, or operators, in the change object. Common update operators are shown in the table. Notice that MongoDB operators start with a $, and each operator can accept an object as a value. The syntax for an operator is: &lt;operator&gt;: {&lt;object&gt;}</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24</a:t>
            </a:fld>
            <a:endParaRPr lang="en-US"/>
          </a:p>
        </p:txBody>
      </p:sp>
    </p:spTree>
    <p:extLst>
      <p:ext uri="{BB962C8B-B14F-4D97-AF65-F5344CB8AC3E}">
        <p14:creationId xmlns:p14="http://schemas.microsoft.com/office/powerpoint/2010/main" val="3995512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use three most commonly used update operators as examples to show how to use them. </a:t>
            </a:r>
          </a:p>
          <a:p>
            <a:endParaRPr lang="en-US" dirty="0"/>
          </a:p>
          <a:p>
            <a:r>
              <a:rPr lang="en-US" dirty="0"/>
              <a:t>First, $set operator. The $set operator works much like the SET clause of a SQL UPDATE command. With $set, the programmer specifies the </a:t>
            </a:r>
            <a:r>
              <a:rPr lang="en-US" i="1" dirty="0" err="1"/>
              <a:t>key:value</a:t>
            </a:r>
            <a:r>
              <a:rPr lang="en-US" i="1" dirty="0"/>
              <a:t> </a:t>
            </a:r>
            <a:r>
              <a:rPr lang="en-US" dirty="0"/>
              <a:t>pair to change in the object parameter. For example, the name of the “basic desk chair” from the previous example can be changed using the $set operator. Because this is an operator update instead of a replacement update, the other</a:t>
            </a:r>
          </a:p>
          <a:p>
            <a:r>
              <a:rPr lang="en-US" i="1" dirty="0" err="1"/>
              <a:t>key:value</a:t>
            </a:r>
            <a:r>
              <a:rPr lang="en-US" i="1" dirty="0"/>
              <a:t> </a:t>
            </a:r>
            <a:r>
              <a:rPr lang="en-US" dirty="0"/>
              <a:t>pairs in the document are not affected.</a:t>
            </a:r>
          </a:p>
          <a:p>
            <a:endParaRPr lang="en-US" dirty="0"/>
          </a:p>
          <a:p>
            <a:r>
              <a:rPr lang="en-US" dirty="0"/>
              <a:t>From this figure, we can see that, only the name is changed, and all other properties are kept in the document. </a:t>
            </a:r>
          </a:p>
        </p:txBody>
      </p:sp>
      <p:sp>
        <p:nvSpPr>
          <p:cNvPr id="4" name="Slide Number Placeholder 3"/>
          <p:cNvSpPr>
            <a:spLocks noGrp="1"/>
          </p:cNvSpPr>
          <p:nvPr>
            <p:ph type="sldNum" sz="quarter" idx="5"/>
          </p:nvPr>
        </p:nvSpPr>
        <p:spPr/>
        <p:txBody>
          <a:bodyPr/>
          <a:lstStyle/>
          <a:p>
            <a:fld id="{7B547B85-5C92-49FC-98A0-16FD07ABB6F8}" type="slidenum">
              <a:rPr lang="en-US" smtClean="0"/>
              <a:t>25</a:t>
            </a:fld>
            <a:endParaRPr lang="en-US"/>
          </a:p>
        </p:txBody>
      </p:sp>
    </p:spTree>
    <p:extLst>
      <p:ext uri="{BB962C8B-B14F-4D97-AF65-F5344CB8AC3E}">
        <p14:creationId xmlns:p14="http://schemas.microsoft.com/office/powerpoint/2010/main" val="896629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the key specified in the $set operator’s object parameter exists, then it is updated. If it does not exist, then the key is added to the document with the value specified. For example, this command is used to change the price to 125 and add quantity on hand (</a:t>
            </a:r>
            <a:r>
              <a:rPr lang="en-US" sz="1200" b="0" i="0" u="none" strike="noStrike" kern="1200" baseline="0" dirty="0" err="1">
                <a:solidFill>
                  <a:schemeClr val="tx1"/>
                </a:solidFill>
                <a:latin typeface="+mn-lt"/>
                <a:ea typeface="+mn-ea"/>
                <a:cs typeface="+mn-cs"/>
              </a:rPr>
              <a:t>qoh</a:t>
            </a:r>
            <a:r>
              <a:rPr lang="en-US" sz="1200" b="0" i="0" u="none" strike="noStrike" kern="1200" baseline="0" dirty="0">
                <a:solidFill>
                  <a:schemeClr val="tx1"/>
                </a:solidFill>
                <a:latin typeface="+mn-lt"/>
                <a:ea typeface="+mn-ea"/>
                <a:cs typeface="+mn-cs"/>
              </a:rPr>
              <a:t>) to the document. Here, we can see that the price is updated to 125, and the “</a:t>
            </a:r>
            <a:r>
              <a:rPr lang="en-US" sz="1200" b="0" i="0" u="none" strike="noStrike" kern="1200" baseline="0" dirty="0" err="1">
                <a:solidFill>
                  <a:schemeClr val="tx1"/>
                </a:solidFill>
                <a:latin typeface="+mn-lt"/>
                <a:ea typeface="+mn-ea"/>
                <a:cs typeface="+mn-cs"/>
              </a:rPr>
              <a:t>qoh</a:t>
            </a:r>
            <a:r>
              <a:rPr lang="en-US" sz="1200" b="0" i="0" u="none" strike="noStrike" kern="1200" baseline="0" dirty="0">
                <a:solidFill>
                  <a:schemeClr val="tx1"/>
                </a:solidFill>
                <a:latin typeface="+mn-lt"/>
                <a:ea typeface="+mn-ea"/>
                <a:cs typeface="+mn-cs"/>
              </a:rPr>
              <a:t>” of 10 is added as a new key-value pair.</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26</a:t>
            </a:fld>
            <a:endParaRPr lang="en-US"/>
          </a:p>
        </p:txBody>
      </p:sp>
    </p:spTree>
    <p:extLst>
      <p:ext uri="{BB962C8B-B14F-4D97-AF65-F5344CB8AC3E}">
        <p14:creationId xmlns:p14="http://schemas.microsoft.com/office/powerpoint/2010/main" val="22244921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can update a key to contain a subdocument. For example, this command changes </a:t>
            </a:r>
            <a:r>
              <a:rPr lang="en-US" sz="1200" b="0" i="0" u="none" strike="noStrike" kern="1200" baseline="0" dirty="0">
                <a:solidFill>
                  <a:schemeClr val="tx1"/>
                </a:solidFill>
                <a:latin typeface="+mn-lt"/>
                <a:ea typeface="+mn-ea"/>
                <a:cs typeface="+mn-cs"/>
              </a:rPr>
              <a:t>the brand key to contain a subdocument.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27</a:t>
            </a:fld>
            <a:endParaRPr lang="en-US"/>
          </a:p>
        </p:txBody>
      </p:sp>
    </p:spTree>
    <p:extLst>
      <p:ext uri="{BB962C8B-B14F-4D97-AF65-F5344CB8AC3E}">
        <p14:creationId xmlns:p14="http://schemas.microsoft.com/office/powerpoint/2010/main" val="2559634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Just as the $set operator can be used to add a new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to a document, the $unset operator can be used to remove a selected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from a document. Look at this example, the </a:t>
            </a:r>
            <a:r>
              <a:rPr lang="en-US" sz="1200" b="0" i="0" u="none" strike="noStrike" kern="1200" baseline="0" dirty="0" err="1">
                <a:solidFill>
                  <a:schemeClr val="tx1"/>
                </a:solidFill>
                <a:latin typeface="+mn-lt"/>
                <a:ea typeface="+mn-ea"/>
                <a:cs typeface="+mn-cs"/>
              </a:rPr>
              <a:t>qoh</a:t>
            </a:r>
            <a:r>
              <a:rPr lang="en-US" sz="1200" b="0" i="0" u="none" strike="noStrike" kern="1200" baseline="0" dirty="0">
                <a:solidFill>
                  <a:schemeClr val="tx1"/>
                </a:solidFill>
                <a:latin typeface="+mn-lt"/>
                <a:ea typeface="+mn-ea"/>
                <a:cs typeface="+mn-cs"/>
              </a:rPr>
              <a:t> key is removed. </a:t>
            </a:r>
          </a:p>
          <a:p>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all operators accept an object parameter. The object parameter must include a minimum of a </a:t>
            </a:r>
            <a:r>
              <a:rPr lang="en-US" dirty="0" err="1"/>
              <a:t>key:value</a:t>
            </a:r>
            <a:r>
              <a:rPr lang="en-US" dirty="0"/>
              <a:t> pair. Since $unset is removing the pair, the actual value provided in the command is immaterial as long as some value is provided. In the previous example, the value “1” is provided for the </a:t>
            </a:r>
            <a:r>
              <a:rPr lang="en-US" dirty="0" err="1"/>
              <a:t>qoh</a:t>
            </a:r>
            <a:r>
              <a:rPr lang="en-US" dirty="0"/>
              <a:t> key. Using the value “1” with $unset is common, but any value would work. </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28</a:t>
            </a:fld>
            <a:endParaRPr lang="en-US"/>
          </a:p>
        </p:txBody>
      </p:sp>
    </p:spTree>
    <p:extLst>
      <p:ext uri="{BB962C8B-B14F-4D97-AF65-F5344CB8AC3E}">
        <p14:creationId xmlns:p14="http://schemas.microsoft.com/office/powerpoint/2010/main" val="1701408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a:t>
            </a:r>
            <a:r>
              <a:rPr lang="en-US" sz="1200" b="0" i="0" u="none" strike="noStrike" kern="1200" baseline="0" dirty="0" err="1">
                <a:solidFill>
                  <a:schemeClr val="tx1"/>
                </a:solidFill>
                <a:latin typeface="+mn-lt"/>
                <a:ea typeface="+mn-ea"/>
                <a:cs typeface="+mn-cs"/>
              </a:rPr>
              <a:t>inc</a:t>
            </a:r>
            <a:r>
              <a:rPr lang="en-US" sz="1200" b="0" i="0" u="none" strike="noStrike" kern="1200" baseline="0" dirty="0">
                <a:solidFill>
                  <a:schemeClr val="tx1"/>
                </a:solidFill>
                <a:latin typeface="+mn-lt"/>
                <a:ea typeface="+mn-ea"/>
                <a:cs typeface="+mn-cs"/>
              </a:rPr>
              <a:t> operator is used to increment or decrement a numeric value. The object parameter for the $</a:t>
            </a:r>
            <a:r>
              <a:rPr lang="en-US" sz="1200" b="0" i="0" u="none" strike="noStrike" kern="1200" baseline="0" dirty="0" err="1">
                <a:solidFill>
                  <a:schemeClr val="tx1"/>
                </a:solidFill>
                <a:latin typeface="+mn-lt"/>
                <a:ea typeface="+mn-ea"/>
                <a:cs typeface="+mn-cs"/>
              </a:rPr>
              <a:t>inc</a:t>
            </a:r>
            <a:r>
              <a:rPr lang="en-US" sz="1200" b="0" i="0" u="none" strike="noStrike" kern="1200" baseline="0" dirty="0">
                <a:solidFill>
                  <a:schemeClr val="tx1"/>
                </a:solidFill>
                <a:latin typeface="+mn-lt"/>
                <a:ea typeface="+mn-ea"/>
                <a:cs typeface="+mn-cs"/>
              </a:rPr>
              <a:t> operator specifies the key whose value is to be changed and the change amount. For example, if we wish to increase the price of chairs by $50, we could use the following command. We can see that the previous prices were 125 and 300, and now they become 175 and 350. Notice that here we set the fourth parameter to True, which updates both chairs that satisfies the criteria.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29</a:t>
            </a:fld>
            <a:endParaRPr lang="en-US"/>
          </a:p>
        </p:txBody>
      </p:sp>
    </p:spTree>
    <p:extLst>
      <p:ext uri="{BB962C8B-B14F-4D97-AF65-F5344CB8AC3E}">
        <p14:creationId xmlns:p14="http://schemas.microsoft.com/office/powerpoint/2010/main" val="1962438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Updating the values in a subdocument can also be done using the $set, $unset, and $</a:t>
            </a:r>
            <a:r>
              <a:rPr lang="en-US" dirty="0" err="1"/>
              <a:t>inc</a:t>
            </a:r>
            <a:r>
              <a:rPr lang="en-US" dirty="0"/>
              <a:t> operators. The only modification is that the name of the subdocument must be added to the name of the key in the subdocument that is to be modified. Dot (.) notation is used when adding the subdocument name to the key name with the format “&lt;subdocument&gt;.&lt;key&gt;.” To ensure that MongoDB correctly interprets the combined name as a single value, the combined name must be placed inside quotes. The following command changes the phone number for the embedded subdocument in the standard desk chair document. </a:t>
            </a:r>
          </a:p>
        </p:txBody>
      </p:sp>
      <p:sp>
        <p:nvSpPr>
          <p:cNvPr id="4" name="Slide Number Placeholder 3"/>
          <p:cNvSpPr>
            <a:spLocks noGrp="1"/>
          </p:cNvSpPr>
          <p:nvPr>
            <p:ph type="sldNum" sz="quarter" idx="5"/>
          </p:nvPr>
        </p:nvSpPr>
        <p:spPr/>
        <p:txBody>
          <a:bodyPr/>
          <a:lstStyle/>
          <a:p>
            <a:fld id="{7B547B85-5C92-49FC-98A0-16FD07ABB6F8}" type="slidenum">
              <a:rPr lang="en-US" smtClean="0"/>
              <a:t>30</a:t>
            </a:fld>
            <a:endParaRPr lang="en-US"/>
          </a:p>
        </p:txBody>
      </p:sp>
    </p:spTree>
    <p:extLst>
      <p:ext uri="{BB962C8B-B14F-4D97-AF65-F5344CB8AC3E}">
        <p14:creationId xmlns:p14="http://schemas.microsoft.com/office/powerpoint/2010/main" val="2522352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values in an array can be slightly different. To change the values in an array, it is possible to use the $set operator, but the entire array would have to be set at the same time. The cushioned chair document that was previously inserted included a “keywords” key that contains the array [“chair,” “office,” “cushioned”]. The additional keyword “fancy” could be added to the array using the $set operator if the entire array is reentered, as follows:</a:t>
            </a:r>
          </a:p>
        </p:txBody>
      </p:sp>
      <p:sp>
        <p:nvSpPr>
          <p:cNvPr id="4" name="Slide Number Placeholder 3"/>
          <p:cNvSpPr>
            <a:spLocks noGrp="1"/>
          </p:cNvSpPr>
          <p:nvPr>
            <p:ph type="sldNum" sz="quarter" idx="5"/>
          </p:nvPr>
        </p:nvSpPr>
        <p:spPr/>
        <p:txBody>
          <a:bodyPr/>
          <a:lstStyle/>
          <a:p>
            <a:fld id="{7B547B85-5C92-49FC-98A0-16FD07ABB6F8}" type="slidenum">
              <a:rPr lang="en-US" smtClean="0"/>
              <a:t>31</a:t>
            </a:fld>
            <a:endParaRPr lang="en-US"/>
          </a:p>
        </p:txBody>
      </p:sp>
    </p:spTree>
    <p:extLst>
      <p:ext uri="{BB962C8B-B14F-4D97-AF65-F5344CB8AC3E}">
        <p14:creationId xmlns:p14="http://schemas.microsoft.com/office/powerpoint/2010/main" val="3007852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Although this produces the required result, it is not normal practice. In most cases, the programmer is attempting to add or remove values from the array, not replace every value in the array. Using $set in this situation is inefficient because it would require first retrieving the entire array to know which values already exist in the array so that they can be included in the update operation. Typically, values are added to or removed from the array without having to retrieve the array first. This is done using the $push and $pull operators.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$push operator is used to add a value to an array. The $pull operator is used to remove a value from an array. Other values in the array are unaffected by $push and $pull.</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example, to add the keyword “elegant” to the cushioned chair document, we can use ….. The query object tells the update() method to find a document with the value “cushioned desk chair” in the name key. The change object tells the method to push, or add, the value “elegant” to the array of values for the keywords key. Since the </a:t>
            </a:r>
            <a:r>
              <a:rPr lang="en-US" sz="1200" b="0" i="0" u="none" strike="noStrike" kern="1200" baseline="0" dirty="0" err="1">
                <a:solidFill>
                  <a:schemeClr val="tx1"/>
                </a:solidFill>
                <a:latin typeface="+mn-lt"/>
                <a:ea typeface="+mn-ea"/>
                <a:cs typeface="+mn-cs"/>
              </a:rPr>
              <a:t>upsert</a:t>
            </a:r>
            <a:r>
              <a:rPr lang="en-US" sz="1200" b="0" i="0" u="none" strike="noStrike" kern="1200" baseline="0" dirty="0">
                <a:solidFill>
                  <a:schemeClr val="tx1"/>
                </a:solidFill>
                <a:latin typeface="+mn-lt"/>
                <a:ea typeface="+mn-ea"/>
                <a:cs typeface="+mn-cs"/>
              </a:rPr>
              <a:t> and multi flags were omitted, they take the default value of false.</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32</a:t>
            </a:fld>
            <a:endParaRPr lang="en-US"/>
          </a:p>
        </p:txBody>
      </p:sp>
    </p:spTree>
    <p:extLst>
      <p:ext uri="{BB962C8B-B14F-4D97-AF65-F5344CB8AC3E}">
        <p14:creationId xmlns:p14="http://schemas.microsoft.com/office/powerpoint/2010/main" val="2811924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$pull operator has the exact same syntax as the $push operator. The only difference is that $pull removes the value from the array instead of adding it to the array. The keyword “office” can be removed from the array using the $pull operator.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we can see from these two example, the other values in the array were not impacted.</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33</a:t>
            </a:fld>
            <a:endParaRPr lang="en-US"/>
          </a:p>
        </p:txBody>
      </p:sp>
    </p:spTree>
    <p:extLst>
      <p:ext uri="{BB962C8B-B14F-4D97-AF65-F5344CB8AC3E}">
        <p14:creationId xmlns:p14="http://schemas.microsoft.com/office/powerpoint/2010/main" val="849343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It is possible, and in some cases desirable, for an array to contain duplicate values. If an array contains a list of websites visited by a user, we may wish to know every time the user visited a given website even if that means the website appears in the array multiple times. Other times, we do not want duplicates to appear in an array. In the keywords for our cushioned chair, there is no advantage to storing the keyword “elegant” multiple times. The $push operator allows duplicate array values. If you were to re-execute the earlier command to push “elegant” to the keywords array, the value would appear more than once. To allow programmers to add a value to an array only if the value does not already exist in the array, the $</a:t>
            </a:r>
            <a:r>
              <a:rPr lang="en-US" sz="1200" b="0" i="0" u="none" strike="noStrike" kern="1200" baseline="0" dirty="0" err="1">
                <a:solidFill>
                  <a:schemeClr val="tx1"/>
                </a:solidFill>
                <a:latin typeface="+mn-lt"/>
                <a:ea typeface="+mn-ea"/>
                <a:cs typeface="+mn-cs"/>
              </a:rPr>
              <a:t>addToSet</a:t>
            </a:r>
            <a:r>
              <a:rPr lang="en-US" sz="1200" b="0" i="0" u="none" strike="noStrike" kern="1200" baseline="0" dirty="0">
                <a:solidFill>
                  <a:schemeClr val="tx1"/>
                </a:solidFill>
                <a:latin typeface="+mn-lt"/>
                <a:ea typeface="+mn-ea"/>
                <a:cs typeface="+mn-cs"/>
              </a:rPr>
              <a:t> operator is used. The $</a:t>
            </a:r>
            <a:r>
              <a:rPr lang="en-US" sz="1200" b="0" i="0" u="none" strike="noStrike" kern="1200" baseline="0" dirty="0" err="1">
                <a:solidFill>
                  <a:schemeClr val="tx1"/>
                </a:solidFill>
                <a:latin typeface="+mn-lt"/>
                <a:ea typeface="+mn-ea"/>
                <a:cs typeface="+mn-cs"/>
              </a:rPr>
              <a:t>addToSet</a:t>
            </a:r>
            <a:r>
              <a:rPr lang="en-US" sz="1200" b="0" i="0" u="none" strike="noStrike" kern="1200" baseline="0" dirty="0">
                <a:solidFill>
                  <a:schemeClr val="tx1"/>
                </a:solidFill>
                <a:latin typeface="+mn-lt"/>
                <a:ea typeface="+mn-ea"/>
                <a:cs typeface="+mn-cs"/>
              </a:rPr>
              <a:t> operator uses the same syntax and operates in the same manner as the $push operator except that it does not add a value to the array if the value already exists in the array.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Let’s add the value “expensive” to the keywords array. This command adds “expensive” to the keyword array because the value “expensive” was not already in the array.</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34</a:t>
            </a:fld>
            <a:endParaRPr lang="en-US"/>
          </a:p>
        </p:txBody>
      </p:sp>
    </p:spTree>
    <p:extLst>
      <p:ext uri="{BB962C8B-B14F-4D97-AF65-F5344CB8AC3E}">
        <p14:creationId xmlns:p14="http://schemas.microsoft.com/office/powerpoint/2010/main" val="34457857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you use the $</a:t>
            </a:r>
            <a:r>
              <a:rPr lang="en-US" sz="1200" b="0" i="0" u="none" strike="noStrike" kern="1200" baseline="0" dirty="0" err="1">
                <a:solidFill>
                  <a:schemeClr val="tx1"/>
                </a:solidFill>
                <a:latin typeface="+mn-lt"/>
                <a:ea typeface="+mn-ea"/>
                <a:cs typeface="+mn-cs"/>
              </a:rPr>
              <a:t>addToSet</a:t>
            </a:r>
            <a:r>
              <a:rPr lang="en-US" sz="1200" b="0" i="0" u="none" strike="noStrike" kern="1200" baseline="0" dirty="0">
                <a:solidFill>
                  <a:schemeClr val="tx1"/>
                </a:solidFill>
                <a:latin typeface="+mn-lt"/>
                <a:ea typeface="+mn-ea"/>
                <a:cs typeface="+mn-cs"/>
              </a:rPr>
              <a:t> operator with a value that already exists in the array, the value will not be added again. For example, we add “cushioned” to the cushioned desk chair document’s keywords array. We can see that the keywords are same before and after the update.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a value appears in an array multiple times, the $pull operator will remove every occurrence of that value from the array.</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35</a:t>
            </a:fld>
            <a:endParaRPr lang="en-US"/>
          </a:p>
        </p:txBody>
      </p:sp>
    </p:spTree>
    <p:extLst>
      <p:ext uri="{BB962C8B-B14F-4D97-AF65-F5344CB8AC3E}">
        <p14:creationId xmlns:p14="http://schemas.microsoft.com/office/powerpoint/2010/main" val="1455716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operators are very good at working with individual values in arrays, whether it is a single, simple value or an object value. However, since arrays are designed to hold multiple values, we often want to modify the contents of an array with multiple values simultaneously. It is not possible to update an array with an array of values using $push, $pull, and $</a:t>
            </a:r>
            <a:r>
              <a:rPr lang="en-US" dirty="0" err="1"/>
              <a:t>addToSet</a:t>
            </a:r>
            <a:r>
              <a:rPr lang="en-US" dirty="0"/>
              <a:t>.</a:t>
            </a:r>
          </a:p>
          <a:p>
            <a:endParaRPr lang="en-US" dirty="0"/>
          </a:p>
          <a:p>
            <a:r>
              <a:rPr lang="en-US" sz="1200" b="0" i="0" u="none" strike="noStrike" kern="1200" baseline="0" dirty="0">
                <a:solidFill>
                  <a:schemeClr val="tx1"/>
                </a:solidFill>
                <a:latin typeface="+mn-lt"/>
                <a:ea typeface="+mn-ea"/>
                <a:cs typeface="+mn-cs"/>
              </a:rPr>
              <a:t>Luckily, only small modifications are needed to accomplish this task. To remove an array of values from an existing array, use the $</a:t>
            </a:r>
            <a:r>
              <a:rPr lang="en-US" sz="1200" b="0" i="0" u="none" strike="noStrike" kern="1200" baseline="0" dirty="0" err="1">
                <a:solidFill>
                  <a:schemeClr val="tx1"/>
                </a:solidFill>
                <a:latin typeface="+mn-lt"/>
                <a:ea typeface="+mn-ea"/>
                <a:cs typeface="+mn-cs"/>
              </a:rPr>
              <a:t>pullAll</a:t>
            </a:r>
            <a:r>
              <a:rPr lang="en-US" sz="1200" b="0" i="0" u="none" strike="noStrike" kern="1200" baseline="0" dirty="0">
                <a:solidFill>
                  <a:schemeClr val="tx1"/>
                </a:solidFill>
                <a:latin typeface="+mn-lt"/>
                <a:ea typeface="+mn-ea"/>
                <a:cs typeface="+mn-cs"/>
              </a:rPr>
              <a:t> operator instead of the $pull operator. The $</a:t>
            </a:r>
            <a:r>
              <a:rPr lang="en-US" sz="1200" b="0" i="0" u="none" strike="noStrike" kern="1200" baseline="0" dirty="0" err="1">
                <a:solidFill>
                  <a:schemeClr val="tx1"/>
                </a:solidFill>
                <a:latin typeface="+mn-lt"/>
                <a:ea typeface="+mn-ea"/>
                <a:cs typeface="+mn-cs"/>
              </a:rPr>
              <a:t>pullAll</a:t>
            </a:r>
            <a:r>
              <a:rPr lang="en-US" sz="1200" b="0" i="0" u="none" strike="noStrike" kern="1200" baseline="0" dirty="0">
                <a:solidFill>
                  <a:schemeClr val="tx1"/>
                </a:solidFill>
                <a:latin typeface="+mn-lt"/>
                <a:ea typeface="+mn-ea"/>
                <a:cs typeface="+mn-cs"/>
              </a:rPr>
              <a:t> operator syntax is the same as the $pull operator except that it accepts an array of values instead of a single value. Let’s remove the values “fancy,” “expensive,” and “cushioned” from the keywords array, as shown here.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36</a:t>
            </a:fld>
            <a:endParaRPr lang="en-US"/>
          </a:p>
        </p:txBody>
      </p:sp>
    </p:spTree>
    <p:extLst>
      <p:ext uri="{BB962C8B-B14F-4D97-AF65-F5344CB8AC3E}">
        <p14:creationId xmlns:p14="http://schemas.microsoft.com/office/powerpoint/2010/main" val="2099658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$push and $</a:t>
            </a:r>
            <a:r>
              <a:rPr lang="en-US" dirty="0" err="1"/>
              <a:t>addToSet</a:t>
            </a:r>
            <a:r>
              <a:rPr lang="en-US" dirty="0"/>
              <a:t> operators can be used in conjunction with the $each operator. The $each operator modifies $push and $</a:t>
            </a:r>
            <a:r>
              <a:rPr lang="en-US" dirty="0" err="1"/>
              <a:t>addToSet</a:t>
            </a:r>
            <a:r>
              <a:rPr lang="en-US" dirty="0"/>
              <a:t> to iterate, or loop, over a set of values and act on each one separately. For example, if we want to add the values “heavy duty,” “leather,” and “adjustable” to the keywords array, we use the command combines $push and $each to complete that task, as shown in the figure.</a:t>
            </a:r>
          </a:p>
        </p:txBody>
      </p:sp>
      <p:sp>
        <p:nvSpPr>
          <p:cNvPr id="4" name="Slide Number Placeholder 3"/>
          <p:cNvSpPr>
            <a:spLocks noGrp="1"/>
          </p:cNvSpPr>
          <p:nvPr>
            <p:ph type="sldNum" sz="quarter" idx="5"/>
          </p:nvPr>
        </p:nvSpPr>
        <p:spPr/>
        <p:txBody>
          <a:bodyPr/>
          <a:lstStyle/>
          <a:p>
            <a:fld id="{7B547B85-5C92-49FC-98A0-16FD07ABB6F8}" type="slidenum">
              <a:rPr lang="en-US" smtClean="0"/>
              <a:t>37</a:t>
            </a:fld>
            <a:endParaRPr lang="en-US"/>
          </a:p>
        </p:txBody>
      </p:sp>
    </p:spTree>
    <p:extLst>
      <p:ext uri="{BB962C8B-B14F-4D97-AF65-F5344CB8AC3E}">
        <p14:creationId xmlns:p14="http://schemas.microsoft.com/office/powerpoint/2010/main" val="24979133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$each operator also can be similarly used with the $</a:t>
            </a:r>
            <a:r>
              <a:rPr lang="en-US" sz="1200" b="0" i="0" u="none" strike="noStrike" kern="1200" baseline="0" dirty="0" err="1">
                <a:solidFill>
                  <a:schemeClr val="tx1"/>
                </a:solidFill>
                <a:latin typeface="+mn-lt"/>
                <a:ea typeface="+mn-ea"/>
                <a:cs typeface="+mn-cs"/>
              </a:rPr>
              <a:t>addToSet</a:t>
            </a:r>
            <a:r>
              <a:rPr lang="en-US" sz="1200" b="0" i="0" u="none" strike="noStrike" kern="1200" baseline="0" dirty="0">
                <a:solidFill>
                  <a:schemeClr val="tx1"/>
                </a:solidFill>
                <a:latin typeface="+mn-lt"/>
                <a:ea typeface="+mn-ea"/>
                <a:cs typeface="+mn-cs"/>
              </a:rPr>
              <a:t> operator. If we want to add the values “arms,” “heavy duty,” and “executive” to the keywords array, we do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From the results, we see that the value “heavy duty” appears only once because $</a:t>
            </a:r>
            <a:r>
              <a:rPr lang="en-US" sz="1200" b="0" i="0" u="none" strike="noStrike" kern="1200" baseline="0" dirty="0" err="1">
                <a:solidFill>
                  <a:schemeClr val="tx1"/>
                </a:solidFill>
                <a:latin typeface="+mn-lt"/>
                <a:ea typeface="+mn-ea"/>
                <a:cs typeface="+mn-cs"/>
              </a:rPr>
              <a:t>addToSet</a:t>
            </a:r>
            <a:r>
              <a:rPr lang="en-US" sz="1200" b="0" i="0" u="none" strike="noStrike" kern="1200" baseline="0" dirty="0">
                <a:solidFill>
                  <a:schemeClr val="tx1"/>
                </a:solidFill>
                <a:latin typeface="+mn-lt"/>
                <a:ea typeface="+mn-ea"/>
                <a:cs typeface="+mn-cs"/>
              </a:rPr>
              <a:t> does not create duplicate values in the array.</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38</a:t>
            </a:fld>
            <a:endParaRPr lang="en-US"/>
          </a:p>
        </p:txBody>
      </p:sp>
    </p:spTree>
    <p:extLst>
      <p:ext uri="{BB962C8B-B14F-4D97-AF65-F5344CB8AC3E}">
        <p14:creationId xmlns:p14="http://schemas.microsoft.com/office/powerpoint/2010/main" val="3982207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previous update operations have worked on changing the values in </a:t>
            </a:r>
            <a:r>
              <a:rPr lang="en-US" dirty="0" err="1"/>
              <a:t>key:value</a:t>
            </a:r>
            <a:r>
              <a:rPr lang="en-US" dirty="0"/>
              <a:t> pairs. It is also possible to change the key in the </a:t>
            </a:r>
            <a:r>
              <a:rPr lang="en-US" dirty="0" err="1"/>
              <a:t>key:value</a:t>
            </a:r>
            <a:r>
              <a:rPr lang="en-US" dirty="0"/>
              <a:t> pair by using the $rename operator. The $rename operator also uses an object parameter. In this case, the object parameter contains a simple, text </a:t>
            </a:r>
            <a:r>
              <a:rPr lang="en-US" dirty="0" err="1"/>
              <a:t>key:value</a:t>
            </a:r>
            <a:r>
              <a:rPr lang="en-US" dirty="0"/>
              <a:t> pair in which the key contains the name of the key to be renamed, and the value is the text that the key name should be changed to, as in {&lt;</a:t>
            </a:r>
            <a:r>
              <a:rPr lang="en-US" dirty="0" err="1"/>
              <a:t>old_name</a:t>
            </a:r>
            <a:r>
              <a:rPr lang="en-US" dirty="0"/>
              <a:t>&gt;:&lt;“</a:t>
            </a:r>
            <a:r>
              <a:rPr lang="en-US" dirty="0" err="1"/>
              <a:t>new_name</a:t>
            </a:r>
            <a:r>
              <a:rPr lang="en-US" dirty="0"/>
              <a:t>”&gt;}. The value component that contains the new name is read by MongoDB as a value when it is checking the syntax of the command. So, the new value must be inside quotes because it is a text value.</a:t>
            </a:r>
          </a:p>
          <a:p>
            <a:endParaRPr lang="en-US" dirty="0"/>
          </a:p>
          <a:p>
            <a:r>
              <a:rPr lang="en-US" dirty="0"/>
              <a:t>Notice that the query object in this command is empty. Including a query object is required, but the object is allowed to be empty. An empty query object matches every document, so combined with the multi flag being set to true, the update operation is performed on every document in the collection.</a:t>
            </a:r>
          </a:p>
        </p:txBody>
      </p:sp>
      <p:sp>
        <p:nvSpPr>
          <p:cNvPr id="4" name="Slide Number Placeholder 3"/>
          <p:cNvSpPr>
            <a:spLocks noGrp="1"/>
          </p:cNvSpPr>
          <p:nvPr>
            <p:ph type="sldNum" sz="quarter" idx="5"/>
          </p:nvPr>
        </p:nvSpPr>
        <p:spPr/>
        <p:txBody>
          <a:bodyPr/>
          <a:lstStyle/>
          <a:p>
            <a:fld id="{7B547B85-5C92-49FC-98A0-16FD07ABB6F8}" type="slidenum">
              <a:rPr lang="en-US" smtClean="0"/>
              <a:t>39</a:t>
            </a:fld>
            <a:endParaRPr lang="en-US"/>
          </a:p>
        </p:txBody>
      </p:sp>
    </p:spTree>
    <p:extLst>
      <p:ext uri="{BB962C8B-B14F-4D97-AF65-F5344CB8AC3E}">
        <p14:creationId xmlns:p14="http://schemas.microsoft.com/office/powerpoint/2010/main" val="27769574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Documents are deleted using the </a:t>
            </a:r>
            <a:r>
              <a:rPr lang="en-US" sz="1200" b="1" i="0" u="none" strike="noStrike" kern="1200" baseline="0" dirty="0">
                <a:solidFill>
                  <a:schemeClr val="tx1"/>
                </a:solidFill>
                <a:latin typeface="+mn-lt"/>
                <a:ea typeface="+mn-ea"/>
                <a:cs typeface="+mn-cs"/>
              </a:rPr>
              <a:t>remove() </a:t>
            </a:r>
            <a:r>
              <a:rPr lang="en-US" sz="1200" b="0" i="0" u="none" strike="noStrike" kern="1200" baseline="0" dirty="0">
                <a:solidFill>
                  <a:schemeClr val="tx1"/>
                </a:solidFill>
                <a:latin typeface="+mn-lt"/>
                <a:ea typeface="+mn-ea"/>
                <a:cs typeface="+mn-cs"/>
              </a:rPr>
              <a:t>method of the collection. The remove() method accepts a single query object as a parameter. Documents that match the query object are deleted from the collection. As with the update() method, the query object can be an empty object, which would delete every document in the collection, but that is rarely used in practice.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example, if we want to delete the standard desk chair document, we do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40</a:t>
            </a:fld>
            <a:endParaRPr lang="en-US"/>
          </a:p>
        </p:txBody>
      </p:sp>
    </p:spTree>
    <p:extLst>
      <p:ext uri="{BB962C8B-B14F-4D97-AF65-F5344CB8AC3E}">
        <p14:creationId xmlns:p14="http://schemas.microsoft.com/office/powerpoint/2010/main" val="3779271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video, we demonstrate how to query documents in MongoDB. </a:t>
            </a:r>
          </a:p>
          <a:p>
            <a:endParaRPr lang="en-US" dirty="0"/>
          </a:p>
          <a:p>
            <a:r>
              <a:rPr lang="en-US" dirty="0"/>
              <a:t>The collection of documents used here is based on the data </a:t>
            </a:r>
            <a:r>
              <a:rPr lang="en-US" altLang="zh-CN" dirty="0"/>
              <a:t>of</a:t>
            </a:r>
            <a:r>
              <a:rPr lang="en-US" dirty="0"/>
              <a:t> a small library. The portion of the model that is being used consists of documents with patron as the central entity. The documents have the following structure:</a:t>
            </a:r>
          </a:p>
          <a:p>
            <a:endParaRPr lang="en-US" dirty="0"/>
          </a:p>
          <a:p>
            <a:r>
              <a:rPr lang="en-US" dirty="0"/>
              <a:t>Notice that the patron’s name is stored twice, once with first and last name together with capitalization, and again with first name and last name in all lowercase letters in separate </a:t>
            </a:r>
            <a:r>
              <a:rPr lang="en-US" dirty="0" err="1"/>
              <a:t>key:value</a:t>
            </a:r>
            <a:r>
              <a:rPr lang="en-US" dirty="0"/>
              <a:t> pairs. All searches in MongoDB are case sensitive by default. Making a query case insensitive typically requires the use of a programming technique called regular expressions, which can be very detrimental to performance for MongoDB. Therefore, it is common in practice to store text values in which capitalization matters twice: once capitalized the way it should be displayed, and once in all uppercase or lowercase letters to simplify queries.</a:t>
            </a:r>
          </a:p>
        </p:txBody>
      </p:sp>
      <p:sp>
        <p:nvSpPr>
          <p:cNvPr id="4" name="Slide Number Placeholder 3"/>
          <p:cNvSpPr>
            <a:spLocks noGrp="1"/>
          </p:cNvSpPr>
          <p:nvPr>
            <p:ph type="sldNum" sz="quarter" idx="5"/>
          </p:nvPr>
        </p:nvSpPr>
        <p:spPr/>
        <p:txBody>
          <a:bodyPr/>
          <a:lstStyle/>
          <a:p>
            <a:fld id="{7B547B85-5C92-49FC-98A0-16FD07ABB6F8}" type="slidenum">
              <a:rPr lang="en-US" smtClean="0"/>
              <a:t>41</a:t>
            </a:fld>
            <a:endParaRPr lang="en-US"/>
          </a:p>
        </p:txBody>
      </p:sp>
    </p:spTree>
    <p:extLst>
      <p:ext uri="{BB962C8B-B14F-4D97-AF65-F5344CB8AC3E}">
        <p14:creationId xmlns:p14="http://schemas.microsoft.com/office/powerpoint/2010/main" val="15166681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section uses the fact database and the patron collection. The database can be created using the </a:t>
            </a:r>
            <a:r>
              <a:rPr lang="en-US" dirty="0" err="1"/>
              <a:t>Fact.json</a:t>
            </a:r>
            <a:r>
              <a:rPr lang="en-US" dirty="0"/>
              <a:t> file. To import the data file, we first copy the data file to the working directory, which is the bin folder of MongoDB. Then, we start the Command Prompt as administrator, note that not the Mongo Shell. </a:t>
            </a:r>
          </a:p>
          <a:p>
            <a:endParaRPr lang="en-US" dirty="0"/>
          </a:p>
          <a:p>
            <a:r>
              <a:rPr lang="en-US" dirty="0"/>
              <a:t>In the Command Prompt, we first navigate to the bin folder. And then use this command to import the data. </a:t>
            </a:r>
          </a:p>
          <a:p>
            <a:endParaRPr lang="en-US" dirty="0"/>
          </a:p>
          <a:p>
            <a:r>
              <a:rPr lang="en-US" dirty="0" err="1"/>
              <a:t>Mongoimport</a:t>
            </a:r>
            <a:r>
              <a:rPr lang="en-US" dirty="0"/>
              <a:t> is an executable program that is installed with MongoDB that is used to import data into a MongoDB database. </a:t>
            </a:r>
            <a:r>
              <a:rPr lang="en-US" sz="1200" b="0" i="0" kern="1200" dirty="0">
                <a:solidFill>
                  <a:schemeClr val="tx1"/>
                </a:solidFill>
                <a:effectLst/>
                <a:latin typeface="+mn-lt"/>
                <a:ea typeface="+mn-ea"/>
                <a:cs typeface="+mn-cs"/>
              </a:rPr>
              <a:t>Starting with MongoDB 4.4, </a:t>
            </a:r>
            <a:r>
              <a:rPr lang="en-US" sz="1200" b="0" i="0" u="none" strike="noStrike" kern="1200" dirty="0" err="1">
                <a:solidFill>
                  <a:schemeClr val="tx1"/>
                </a:solidFill>
                <a:effectLst/>
                <a:latin typeface="+mn-lt"/>
                <a:ea typeface="+mn-ea"/>
                <a:cs typeface="+mn-cs"/>
                <a:hlinkClick r:id="rId3" tooltip="bin.mongoimport"/>
              </a:rPr>
              <a:t>mongoimport</a:t>
            </a:r>
            <a:r>
              <a:rPr lang="en-US" sz="1200" b="0" i="0" kern="1200" dirty="0">
                <a:solidFill>
                  <a:schemeClr val="tx1"/>
                </a:solidFill>
                <a:effectLst/>
                <a:latin typeface="+mn-lt"/>
                <a:ea typeface="+mn-ea"/>
                <a:cs typeface="+mn-cs"/>
              </a:rPr>
              <a:t> is now released separately from the MongoDB Server and uses its own versioning.</a:t>
            </a:r>
            <a:r>
              <a:rPr lang="en-US" dirty="0"/>
              <a:t> </a:t>
            </a:r>
          </a:p>
          <a:p>
            <a:endParaRPr lang="en-US" dirty="0"/>
          </a:p>
          <a:p>
            <a:r>
              <a:rPr lang="en-US" dirty="0"/>
              <a:t>The above command specifies that the imported documents should be placed in the fact database (if one does not exist, it will be created) and in the patron collection (if one does not exist, it will be created). </a:t>
            </a:r>
            <a:r>
              <a:rPr lang="en-US" dirty="0" err="1"/>
              <a:t>Mongoimport</a:t>
            </a:r>
            <a:r>
              <a:rPr lang="en-US" dirty="0"/>
              <a:t> can work with different file types such as CSV files and JSON files. The type parameter specifies that the imported documents are already in JSON format. The file parameter specifies the file name of the file to be imported. If your copy of the </a:t>
            </a:r>
            <a:r>
              <a:rPr lang="en-US" dirty="0" err="1"/>
              <a:t>Fact.json</a:t>
            </a:r>
            <a:r>
              <a:rPr lang="en-US" dirty="0"/>
              <a:t> file is not in the current directory for your command prompt, you will need to provide an appropriate path for the file location.</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42</a:t>
            </a:fld>
            <a:endParaRPr lang="en-US"/>
          </a:p>
        </p:txBody>
      </p:sp>
    </p:spTree>
    <p:extLst>
      <p:ext uri="{BB962C8B-B14F-4D97-AF65-F5344CB8AC3E}">
        <p14:creationId xmlns:p14="http://schemas.microsoft.com/office/powerpoint/2010/main" val="2757871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43</a:t>
            </a:fld>
            <a:endParaRPr lang="en-US"/>
          </a:p>
        </p:txBody>
      </p:sp>
    </p:spTree>
    <p:extLst>
      <p:ext uri="{BB962C8B-B14F-4D97-AF65-F5344CB8AC3E}">
        <p14:creationId xmlns:p14="http://schemas.microsoft.com/office/powerpoint/2010/main" val="38513185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same as before, we execute Mongo Shell to write queries. In the command lines, write </a:t>
            </a:r>
            <a:r>
              <a:rPr lang="en-US" b="1" dirty="0" err="1"/>
              <a:t>mongosh</a:t>
            </a:r>
            <a:r>
              <a:rPr lang="en-US" dirty="0"/>
              <a:t> to start the shell.</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44</a:t>
            </a:fld>
            <a:endParaRPr lang="en-US"/>
          </a:p>
        </p:txBody>
      </p:sp>
    </p:spTree>
    <p:extLst>
      <p:ext uri="{BB962C8B-B14F-4D97-AF65-F5344CB8AC3E}">
        <p14:creationId xmlns:p14="http://schemas.microsoft.com/office/powerpoint/2010/main" val="12073877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shown previously, the basic method used to retrieve documents in MongoDB is the find() method. The find() method of a collection retrieves documents from the collection that match the restrictions provided. The method accepts two object parameters: the query object that specifies criteria that the documents must match to be included and a projection object that specifies which keys will be included in the returned documents. Both parameters are optional. The syntax for the find() method is: </a:t>
            </a:r>
            <a:r>
              <a:rPr lang="en-US" b="1" dirty="0"/>
              <a:t>find({&lt;query&gt;}, {&lt;projection&gt;})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query object parameter functions similar to the WHERE clause of a SQL SELECT query. Providing a simple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in the query parameter is interpreted as an equality condition. For example, to </a:t>
            </a:r>
            <a:r>
              <a:rPr lang="en-US" sz="1200" dirty="0"/>
              <a:t>retrieve the patron with the display name “Robert Carter”, we use this command </a:t>
            </a:r>
            <a:r>
              <a:rPr lang="en-US" sz="1200" b="1" dirty="0" err="1">
                <a:latin typeface="Times New Roman" panose="02020603050405020304" pitchFamily="18" charset="0"/>
                <a:cs typeface="Times New Roman" panose="02020603050405020304" pitchFamily="18" charset="0"/>
              </a:rPr>
              <a:t>db.patron.find</a:t>
            </a:r>
            <a:r>
              <a:rPr lang="en-US" sz="1200" b="1" dirty="0">
                <a:latin typeface="Times New Roman" panose="02020603050405020304" pitchFamily="18" charset="0"/>
                <a:cs typeface="Times New Roman" panose="02020603050405020304" pitchFamily="18" charset="0"/>
              </a:rPr>
              <a:t>({display: "Robert Carter"})</a:t>
            </a:r>
            <a:r>
              <a:rPr lang="en-US" sz="1200" dirty="0">
                <a:latin typeface="Times New Roman" panose="02020603050405020304" pitchFamily="18" charset="0"/>
                <a:cs typeface="Times New Roman" panose="02020603050405020304" pitchFamily="18" charset="0"/>
              </a:rPr>
              <a:t>. </a:t>
            </a:r>
            <a:endParaRPr lang="en-US" sz="1200" dirty="0"/>
          </a:p>
        </p:txBody>
      </p:sp>
      <p:sp>
        <p:nvSpPr>
          <p:cNvPr id="4" name="Slide Number Placeholder 3"/>
          <p:cNvSpPr>
            <a:spLocks noGrp="1"/>
          </p:cNvSpPr>
          <p:nvPr>
            <p:ph type="sldNum" sz="quarter" idx="5"/>
          </p:nvPr>
        </p:nvSpPr>
        <p:spPr/>
        <p:txBody>
          <a:bodyPr/>
          <a:lstStyle/>
          <a:p>
            <a:fld id="{7B547B85-5C92-49FC-98A0-16FD07ABB6F8}" type="slidenum">
              <a:rPr lang="en-US" smtClean="0"/>
              <a:t>45</a:t>
            </a:fld>
            <a:endParaRPr lang="en-US"/>
          </a:p>
        </p:txBody>
      </p:sp>
    </p:spTree>
    <p:extLst>
      <p:ext uri="{BB962C8B-B14F-4D97-AF65-F5344CB8AC3E}">
        <p14:creationId xmlns:p14="http://schemas.microsoft.com/office/powerpoint/2010/main" val="7334800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anose="02020603050405020304" pitchFamily="18" charset="0"/>
                <a:cs typeface="Times New Roman" panose="02020603050405020304" pitchFamily="18" charset="0"/>
              </a:rPr>
              <a:t>To improve the readability, we can use .pretty() method as well. </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b="0" i="0" u="none" strike="noStrike" kern="1200" baseline="0" dirty="0">
                <a:solidFill>
                  <a:schemeClr val="tx1"/>
                </a:solidFill>
                <a:latin typeface="+mn-lt"/>
                <a:ea typeface="+mn-ea"/>
                <a:cs typeface="+mn-cs"/>
              </a:rPr>
              <a:t>Notice that because the projection object parameter is optional, it can be omitted when the entire document should be returned. </a:t>
            </a:r>
            <a:endParaRPr lang="en-US" sz="1200" dirty="0"/>
          </a:p>
        </p:txBody>
      </p:sp>
      <p:sp>
        <p:nvSpPr>
          <p:cNvPr id="4" name="Slide Number Placeholder 3"/>
          <p:cNvSpPr>
            <a:spLocks noGrp="1"/>
          </p:cNvSpPr>
          <p:nvPr>
            <p:ph type="sldNum" sz="quarter" idx="5"/>
          </p:nvPr>
        </p:nvSpPr>
        <p:spPr/>
        <p:txBody>
          <a:bodyPr/>
          <a:lstStyle/>
          <a:p>
            <a:fld id="{7B547B85-5C92-49FC-98A0-16FD07ABB6F8}" type="slidenum">
              <a:rPr lang="en-US" smtClean="0"/>
              <a:t>46</a:t>
            </a:fld>
            <a:endParaRPr lang="en-US"/>
          </a:p>
        </p:txBody>
      </p:sp>
    </p:spTree>
    <p:extLst>
      <p:ext uri="{BB962C8B-B14F-4D97-AF65-F5344CB8AC3E}">
        <p14:creationId xmlns:p14="http://schemas.microsoft.com/office/powerpoint/2010/main" val="34583045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projection object parameter is used to specify which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pairs to return. The projection object contains one or more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pairs. The keys in the projection objects are the keys from the document to be projected. The value with each key in the projection object is either the value 0 or 1. Specifying the value 1 with a key indicates that that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from the document should be included in the results. Specifying the value 0 with a key indicates that that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from the document should be omitted.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example, if we retrieve the document for patron “Robert Carter” but only returns the _id, display name, and type keys, we specify that display name and type keys as 1. </a:t>
            </a:r>
            <a:endParaRPr lang="en-US" dirty="0"/>
          </a:p>
          <a:p>
            <a:r>
              <a:rPr lang="en-US" b="1" dirty="0" err="1"/>
              <a:t>db.patron.find</a:t>
            </a:r>
            <a:r>
              <a:rPr lang="en-US" b="1" dirty="0"/>
              <a:t>({display: "Robert Carter"}, {display:1, type:1});</a:t>
            </a:r>
          </a:p>
        </p:txBody>
      </p:sp>
      <p:sp>
        <p:nvSpPr>
          <p:cNvPr id="4" name="Slide Number Placeholder 3"/>
          <p:cNvSpPr>
            <a:spLocks noGrp="1"/>
          </p:cNvSpPr>
          <p:nvPr>
            <p:ph type="sldNum" sz="quarter" idx="5"/>
          </p:nvPr>
        </p:nvSpPr>
        <p:spPr/>
        <p:txBody>
          <a:bodyPr/>
          <a:lstStyle/>
          <a:p>
            <a:fld id="{7B547B85-5C92-49FC-98A0-16FD07ABB6F8}" type="slidenum">
              <a:rPr lang="en-US" smtClean="0"/>
              <a:t>47</a:t>
            </a:fld>
            <a:endParaRPr lang="en-US"/>
          </a:p>
        </p:txBody>
      </p:sp>
    </p:spTree>
    <p:extLst>
      <p:ext uri="{BB962C8B-B14F-4D97-AF65-F5344CB8AC3E}">
        <p14:creationId xmlns:p14="http://schemas.microsoft.com/office/powerpoint/2010/main" val="24935302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Notice that the _id key is returned by default even when it is not specifically asked for. To return all keys except the ones specified, use the 0 value in the projection object. For example,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({display: "Robert Carter"}, {checkouts: 0}) </a:t>
            </a:r>
            <a:r>
              <a:rPr lang="en-US" sz="1200" b="0" i="0" u="none" strike="noStrike" kern="1200" baseline="0" dirty="0">
                <a:solidFill>
                  <a:schemeClr val="tx1"/>
                </a:solidFill>
                <a:latin typeface="+mn-lt"/>
                <a:ea typeface="+mn-ea"/>
                <a:cs typeface="+mn-cs"/>
              </a:rPr>
              <a:t>returns all keys in the Robert Carter document except the checkouts.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48</a:t>
            </a:fld>
            <a:endParaRPr lang="en-US"/>
          </a:p>
        </p:txBody>
      </p:sp>
    </p:spTree>
    <p:extLst>
      <p:ext uri="{BB962C8B-B14F-4D97-AF65-F5344CB8AC3E}">
        <p14:creationId xmlns:p14="http://schemas.microsoft.com/office/powerpoint/2010/main" val="34382261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Generally, it is not possible to specifying including and excluding keys in the same query. The exception is the _id key that is returned by default. When specifying keys to include, if the programmer wishes to suppress the _id key, it can be explicitly excluded. For example, to </a:t>
            </a:r>
            <a:r>
              <a:rPr lang="en-US" sz="1200" b="0" i="0" u="none" strike="noStrike" kern="1200" baseline="0" dirty="0">
                <a:solidFill>
                  <a:schemeClr val="tx1"/>
                </a:solidFill>
                <a:latin typeface="+mn-lt"/>
                <a:ea typeface="+mn-ea"/>
                <a:cs typeface="+mn-cs"/>
              </a:rPr>
              <a:t>return just the display name key of all faculty patrons, we can specify display as 1, and _id as 0.</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7B547B85-5C92-49FC-98A0-16FD07ABB6F8}" type="slidenum">
              <a:rPr lang="en-US" smtClean="0"/>
              <a:t>49</a:t>
            </a:fld>
            <a:endParaRPr lang="en-US"/>
          </a:p>
        </p:txBody>
      </p:sp>
    </p:spTree>
    <p:extLst>
      <p:ext uri="{BB962C8B-B14F-4D97-AF65-F5344CB8AC3E}">
        <p14:creationId xmlns:p14="http://schemas.microsoft.com/office/powerpoint/2010/main" val="9090221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both the query object parameter and the projection object parameter are optional. If both are omitted, then the find() method is written with no parameters. If the query object parameter is needed, but the projection object parameter is not, then just the projection object can be omitted. </a:t>
            </a:r>
          </a:p>
          <a:p>
            <a:endParaRPr lang="en-US" dirty="0"/>
          </a:p>
          <a:p>
            <a:r>
              <a:rPr lang="en-US" dirty="0"/>
              <a:t>However, if the query object parameter is not needed, but the projection object is, then the programmer cannot simply omit the query object. If only one object parameter is provided, then MongoDB will assume that the one parameter is intended to be the query object parameter. In these cases, an empty object can be used for the query object similar to the way an empty object was used for updating all documents previously. For example, to </a:t>
            </a:r>
            <a:r>
              <a:rPr lang="en-US" sz="1200" dirty="0"/>
              <a:t>retrieve only the name key of every document, we write </a:t>
            </a:r>
            <a:r>
              <a:rPr lang="en-US" sz="1200" b="1" dirty="0" err="1"/>
              <a:t>db.patron.find</a:t>
            </a:r>
            <a:r>
              <a:rPr lang="en-US" sz="1200" b="1" dirty="0"/>
              <a:t>({}, {display:1, _id:0})</a:t>
            </a:r>
            <a:r>
              <a:rPr lang="en-US" sz="1200" dirty="0"/>
              <a:t>;</a:t>
            </a:r>
          </a:p>
          <a:p>
            <a:endParaRPr lang="en-US" dirty="0"/>
          </a:p>
          <a:p>
            <a:r>
              <a:rPr lang="en-US" dirty="0"/>
              <a:t>Note that when working in the MongoDB shell, if a query returns more than 20 documents, only the first 20 are displayed on screen followed by a prompt to type “it” to display the next 20. In these cases, all documents are found and returned, but the shell is performing a simple manipulation to reduce scrolling the screen with data.</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50</a:t>
            </a:fld>
            <a:endParaRPr lang="en-US"/>
          </a:p>
        </p:txBody>
      </p:sp>
    </p:spTree>
    <p:extLst>
      <p:ext uri="{BB962C8B-B14F-4D97-AF65-F5344CB8AC3E}">
        <p14:creationId xmlns:p14="http://schemas.microsoft.com/office/powerpoint/2010/main" val="21952579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MongoDB shell’s behavior of displaying only a few documents at a time can be helpful, but is rather limited and might not meet the programmer’s needs. Other methods can be used with the results of the find() method to help improve the flow of documents both when viewing them interactively in the shell or when outputting them to an application.</a:t>
            </a:r>
          </a:p>
          <a:p>
            <a:endParaRPr lang="en-US" dirty="0"/>
          </a:p>
          <a:p>
            <a:r>
              <a:rPr lang="en-US" dirty="0"/>
              <a:t>When multiple methods are applied to the same collection, this is referred to as </a:t>
            </a:r>
            <a:r>
              <a:rPr lang="en-US" b="1" dirty="0"/>
              <a:t>method chaining</a:t>
            </a:r>
            <a:r>
              <a:rPr lang="en-US" dirty="0"/>
              <a:t>. Using the pretty() method with find() in an earlier example was a simple example of method chaining. Other methods can also be chained with the find() method. Among the most common are limit(), skip(), and sort().</a:t>
            </a:r>
          </a:p>
          <a:p>
            <a:endParaRPr lang="en-US" dirty="0"/>
          </a:p>
          <a:p>
            <a:r>
              <a:rPr lang="en-US" sz="1200" b="0" i="0" u="none" strike="noStrike" kern="1200" baseline="0" dirty="0">
                <a:solidFill>
                  <a:schemeClr val="tx1"/>
                </a:solidFill>
                <a:latin typeface="+mn-lt"/>
                <a:ea typeface="+mn-ea"/>
                <a:cs typeface="+mn-cs"/>
              </a:rPr>
              <a:t>The limit() method is used to restrict the number of documents returned. Limit() takes a single numeric parameter to specify the number of documents to limit to. Unlike the query object parameter of the find() method, limit() is not a query based on the content of the documents. After the find() method has determined which documents to return, the limit() method simply restricts the result set to the number of documents specified. For example, if we find all documents for student patrons but limit the results to just the first two documents, we write </a:t>
            </a:r>
          </a:p>
          <a:p>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({type: "student"}, {display:1}).limit(2)</a:t>
            </a:r>
            <a:r>
              <a:rPr lang="en-US" sz="1200" b="0" i="0" u="none" strike="noStrike" kern="1200" baseline="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51</a:t>
            </a:fld>
            <a:endParaRPr lang="en-US"/>
          </a:p>
        </p:txBody>
      </p:sp>
    </p:spTree>
    <p:extLst>
      <p:ext uri="{BB962C8B-B14F-4D97-AF65-F5344CB8AC3E}">
        <p14:creationId xmlns:p14="http://schemas.microsoft.com/office/powerpoint/2010/main" val="26429088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 is often used with applications that are retrieving data for display to users so that the data can be paginated into chunks by the application or website. The skip() function is also used to support pagination by allowing retrieval of subsequent chunks of documents. For example, if we are retrieving student patrons so that they can be listed for display, the previous limit() command indicates that we are using chunks of two documents at a time. To retrieve the next page of two documents, we would want to skip the first two documents because they have already been displayed and then display the next two documents. So, we write </a:t>
            </a:r>
            <a:r>
              <a:rPr lang="en-US" b="1" dirty="0" err="1"/>
              <a:t>db.patron.find</a:t>
            </a:r>
            <a:r>
              <a:rPr lang="en-US" b="1" dirty="0"/>
              <a:t>({type: "student"}, {display:1}).skip(2).limit(2);</a:t>
            </a:r>
          </a:p>
        </p:txBody>
      </p:sp>
      <p:sp>
        <p:nvSpPr>
          <p:cNvPr id="4" name="Slide Number Placeholder 3"/>
          <p:cNvSpPr>
            <a:spLocks noGrp="1"/>
          </p:cNvSpPr>
          <p:nvPr>
            <p:ph type="sldNum" sz="quarter" idx="5"/>
          </p:nvPr>
        </p:nvSpPr>
        <p:spPr/>
        <p:txBody>
          <a:bodyPr/>
          <a:lstStyle/>
          <a:p>
            <a:fld id="{7B547B85-5C92-49FC-98A0-16FD07ABB6F8}" type="slidenum">
              <a:rPr lang="en-US" smtClean="0"/>
              <a:t>52</a:t>
            </a:fld>
            <a:endParaRPr lang="en-US"/>
          </a:p>
        </p:txBody>
      </p:sp>
    </p:spTree>
    <p:extLst>
      <p:ext uri="{BB962C8B-B14F-4D97-AF65-F5344CB8AC3E}">
        <p14:creationId xmlns:p14="http://schemas.microsoft.com/office/powerpoint/2010/main" val="5187947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Thus far, we have not concerned ourselves with the order of the documents that are returned. Due to the internal storage mechanisms used by MongoDB, documents are often returned in the order in which they were entered into the collection. However, just as with SELECT queries, we often want to control the sorted order of the data that is being returned. The sort() method allows us to do this. The sort() method of a collection orders the retrieved documents based on the values of one or more keys. Similar to the projection object parameter of the find() method, the sort() method takes an object of one or more keys paired with numeric values. In the case of projection, the values were 0 or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With sorting, the values are 1 or −1. If a key is associated with the value 1 in the sort() method, then the documents will be sorted on ascending values in that key. If the key is associated with the value −1 in the sort() method, then the documents will be sorted in descending order.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Just as with the ORDER BY clause of a SQL SELECT query, when multiple sort attributes are specified, the results are sorted based on the attributes from left to right.</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53</a:t>
            </a:fld>
            <a:endParaRPr lang="en-US"/>
          </a:p>
        </p:txBody>
      </p:sp>
    </p:spTree>
    <p:extLst>
      <p:ext uri="{BB962C8B-B14F-4D97-AF65-F5344CB8AC3E}">
        <p14:creationId xmlns:p14="http://schemas.microsoft.com/office/powerpoint/2010/main" val="5431539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example, if we retrieve the student patron documents, projects the display name and age, then sorts the results in descending order by age, and then within matching values for age the documents are sorted in ascending order by last name, we write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({type: "student"}, {display:1, age:1, _id:0}).sort({age: -1, lname:1})</a:t>
            </a:r>
            <a:r>
              <a:rPr lang="en-US" sz="1200" b="0" i="0" u="none" strike="noStrike" kern="1200" baseline="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54</a:t>
            </a:fld>
            <a:endParaRPr lang="en-US"/>
          </a:p>
        </p:txBody>
      </p:sp>
    </p:spTree>
    <p:extLst>
      <p:ext uri="{BB962C8B-B14F-4D97-AF65-F5344CB8AC3E}">
        <p14:creationId xmlns:p14="http://schemas.microsoft.com/office/powerpoint/2010/main" val="21334487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Interestingly, MongoDB does not care which order the limit(), skip(), and sort() methods are chained after the find() method. So we can try the following three commands, which will return the exact same result.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Find, sort, limit, skip: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({type: "student"}, {display:1, age:1, _id:0}).sort({age: -1}).limit(5).skip(5)</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Find, limit, skip, sort: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({type: "student"},{display:1, age:1, _id:0}).limit(5).skip(5).sort({age: -1})</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Find, limit, sort, skip: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({type: "student"},{display:1, age:1, _id:0}).limit(5).sort({age: -1}).skip(5)</a:t>
            </a:r>
            <a:r>
              <a:rPr lang="en-US" sz="1200" b="0" i="0" u="none" strike="noStrike" kern="1200" baseline="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55</a:t>
            </a:fld>
            <a:endParaRPr lang="en-US"/>
          </a:p>
        </p:txBody>
      </p:sp>
    </p:spTree>
    <p:extLst>
      <p:ext uri="{BB962C8B-B14F-4D97-AF65-F5344CB8AC3E}">
        <p14:creationId xmlns:p14="http://schemas.microsoft.com/office/powerpoint/2010/main" val="728451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Thus far, all queries that we’ve looked at use at most one criteria in the query object with a simple equality condition. Inequalities such as greater than, less than, and not equal to are also possible, but require the use of functions. This table lists the functions used in MongoDB for inequality comparisons.</a:t>
            </a:r>
          </a:p>
          <a:p>
            <a:endParaRPr lang="en-US" dirty="0"/>
          </a:p>
          <a:p>
            <a:r>
              <a:rPr lang="en-US" sz="1200" b="0" i="0" u="none" strike="noStrike" kern="1200" baseline="0" dirty="0">
                <a:solidFill>
                  <a:schemeClr val="tx1"/>
                </a:solidFill>
                <a:latin typeface="+mn-lt"/>
                <a:ea typeface="+mn-ea"/>
                <a:cs typeface="+mn-cs"/>
              </a:rPr>
              <a:t>All inequality functions operate the same way and have the same syntax. The functions are used as key for a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The value is the value that is being applied to the function.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example, the $</a:t>
            </a:r>
            <a:r>
              <a:rPr lang="en-US" sz="1200" b="0" i="0" u="none" strike="noStrike" kern="1200" baseline="0" dirty="0" err="1">
                <a:solidFill>
                  <a:schemeClr val="tx1"/>
                </a:solidFill>
                <a:latin typeface="+mn-lt"/>
                <a:ea typeface="+mn-ea"/>
                <a:cs typeface="+mn-cs"/>
              </a:rPr>
              <a:t>gt</a:t>
            </a:r>
            <a:r>
              <a:rPr lang="en-US" sz="1200" b="0" i="0" u="none" strike="noStrike" kern="1200" baseline="0" dirty="0">
                <a:solidFill>
                  <a:schemeClr val="tx1"/>
                </a:solidFill>
                <a:latin typeface="+mn-lt"/>
                <a:ea typeface="+mn-ea"/>
                <a:cs typeface="+mn-cs"/>
              </a:rPr>
              <a:t> function is used to match values that are greater than the value provided. Therefore, </a:t>
            </a:r>
            <a:r>
              <a:rPr lang="en-US" sz="1200" b="0" i="1" u="none" strike="noStrike" kern="1200" baseline="0" dirty="0">
                <a:solidFill>
                  <a:schemeClr val="tx1"/>
                </a:solidFill>
                <a:latin typeface="+mn-lt"/>
                <a:ea typeface="+mn-ea"/>
                <a:cs typeface="+mn-cs"/>
              </a:rPr>
              <a:t>{$gt:20} </a:t>
            </a:r>
            <a:r>
              <a:rPr lang="en-US" sz="1200" b="0" i="0" u="none" strike="noStrike" kern="1200" baseline="0" dirty="0">
                <a:solidFill>
                  <a:schemeClr val="tx1"/>
                </a:solidFill>
                <a:latin typeface="+mn-lt"/>
                <a:ea typeface="+mn-ea"/>
                <a:cs typeface="+mn-cs"/>
              </a:rPr>
              <a:t>would mean greater than 20. The function’s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is used as an object value for the key that the function is to work within. If we want to limit to documents where </a:t>
            </a:r>
            <a:r>
              <a:rPr lang="en-US" sz="1200" b="0" i="1" u="none" strike="noStrike" kern="1200" baseline="0" dirty="0">
                <a:solidFill>
                  <a:schemeClr val="tx1"/>
                </a:solidFill>
                <a:latin typeface="+mn-lt"/>
                <a:ea typeface="+mn-ea"/>
                <a:cs typeface="+mn-cs"/>
              </a:rPr>
              <a:t>age &gt; 20</a:t>
            </a:r>
            <a:r>
              <a:rPr lang="en-US" sz="1200" b="0" i="0" u="none" strike="noStrike" kern="1200" baseline="0" dirty="0">
                <a:solidFill>
                  <a:schemeClr val="tx1"/>
                </a:solidFill>
                <a:latin typeface="+mn-lt"/>
                <a:ea typeface="+mn-ea"/>
                <a:cs typeface="+mn-cs"/>
              </a:rPr>
              <a:t>, then we would place the function object </a:t>
            </a:r>
            <a:r>
              <a:rPr lang="en-US" sz="1200" b="0" i="1" u="none" strike="noStrike" kern="1200" baseline="0" dirty="0">
                <a:solidFill>
                  <a:schemeClr val="tx1"/>
                </a:solidFill>
                <a:latin typeface="+mn-lt"/>
                <a:ea typeface="+mn-ea"/>
                <a:cs typeface="+mn-cs"/>
              </a:rPr>
              <a:t>{$gt:20} </a:t>
            </a:r>
            <a:r>
              <a:rPr lang="en-US" sz="1200" b="0" i="0" u="none" strike="noStrike" kern="1200" baseline="0" dirty="0">
                <a:solidFill>
                  <a:schemeClr val="tx1"/>
                </a:solidFill>
                <a:latin typeface="+mn-lt"/>
                <a:ea typeface="+mn-ea"/>
                <a:cs typeface="+mn-cs"/>
              </a:rPr>
              <a:t>as the value in a pair with the key </a:t>
            </a:r>
            <a:r>
              <a:rPr lang="en-US" sz="1200" b="0" i="1" u="none" strike="noStrike" kern="1200" baseline="0" dirty="0">
                <a:solidFill>
                  <a:schemeClr val="tx1"/>
                </a:solidFill>
                <a:latin typeface="+mn-lt"/>
                <a:ea typeface="+mn-ea"/>
                <a:cs typeface="+mn-cs"/>
              </a:rPr>
              <a:t>age</a:t>
            </a:r>
            <a:r>
              <a:rPr lang="en-US" sz="1200" b="0" i="0" u="none" strike="noStrike" kern="1200" baseline="0" dirty="0">
                <a:solidFill>
                  <a:schemeClr val="tx1"/>
                </a:solidFill>
                <a:latin typeface="+mn-lt"/>
                <a:ea typeface="+mn-ea"/>
                <a:cs typeface="+mn-cs"/>
              </a:rPr>
              <a:t>, like </a:t>
            </a:r>
            <a:r>
              <a:rPr lang="en-US" sz="1200" b="0" i="1" u="none" strike="noStrike" kern="1200" baseline="0" dirty="0">
                <a:solidFill>
                  <a:schemeClr val="tx1"/>
                </a:solidFill>
                <a:latin typeface="+mn-lt"/>
                <a:ea typeface="+mn-ea"/>
                <a:cs typeface="+mn-cs"/>
              </a:rPr>
              <a:t>age:{$gt:20} </a:t>
            </a:r>
            <a:r>
              <a:rPr lang="en-US" sz="1200" b="0" i="0" u="none" strike="noStrike" kern="1200" baseline="0" dirty="0">
                <a:solidFill>
                  <a:schemeClr val="tx1"/>
                </a:solidFill>
                <a:latin typeface="+mn-lt"/>
                <a:ea typeface="+mn-ea"/>
                <a:cs typeface="+mn-cs"/>
              </a:rPr>
              <a:t>in the query object parameter. Similarly, if we want to find the documents where the age ≤ 30, the criteria would be written </a:t>
            </a:r>
            <a:r>
              <a:rPr lang="en-US" sz="1200" b="0" i="1" u="none" strike="noStrike" kern="1200" baseline="0" dirty="0">
                <a:solidFill>
                  <a:schemeClr val="tx1"/>
                </a:solidFill>
                <a:latin typeface="+mn-lt"/>
                <a:ea typeface="+mn-ea"/>
                <a:cs typeface="+mn-cs"/>
              </a:rPr>
              <a:t>age:{$lte:30} </a:t>
            </a:r>
            <a:r>
              <a:rPr lang="en-US" sz="1200" b="0" i="0" u="none" strike="noStrike" kern="1200" baseline="0" dirty="0">
                <a:solidFill>
                  <a:schemeClr val="tx1"/>
                </a:solidFill>
                <a:latin typeface="+mn-lt"/>
                <a:ea typeface="+mn-ea"/>
                <a:cs typeface="+mn-cs"/>
              </a:rPr>
              <a:t>because $</a:t>
            </a:r>
            <a:r>
              <a:rPr lang="en-US" sz="1200" b="0" i="0" u="none" strike="noStrike" kern="1200" baseline="0" dirty="0" err="1">
                <a:solidFill>
                  <a:schemeClr val="tx1"/>
                </a:solidFill>
                <a:latin typeface="+mn-lt"/>
                <a:ea typeface="+mn-ea"/>
                <a:cs typeface="+mn-cs"/>
              </a:rPr>
              <a:t>lte</a:t>
            </a:r>
            <a:r>
              <a:rPr lang="en-US" sz="1200" b="0" i="0" u="none" strike="noStrike" kern="1200" baseline="0" dirty="0">
                <a:solidFill>
                  <a:schemeClr val="tx1"/>
                </a:solidFill>
                <a:latin typeface="+mn-lt"/>
                <a:ea typeface="+mn-ea"/>
                <a:cs typeface="+mn-cs"/>
              </a:rPr>
              <a:t> is the </a:t>
            </a:r>
            <a:r>
              <a:rPr lang="en-US" sz="1200" b="0" i="1" u="none" strike="noStrike" kern="1200" baseline="0" dirty="0">
                <a:solidFill>
                  <a:schemeClr val="tx1"/>
                </a:solidFill>
                <a:latin typeface="+mn-lt"/>
                <a:ea typeface="+mn-ea"/>
                <a:cs typeface="+mn-cs"/>
              </a:rPr>
              <a:t>less than or equal to </a:t>
            </a:r>
            <a:r>
              <a:rPr lang="en-US" sz="1200" b="0" i="0" u="none" strike="noStrike" kern="1200" baseline="0" dirty="0">
                <a:solidFill>
                  <a:schemeClr val="tx1"/>
                </a:solidFill>
                <a:latin typeface="+mn-lt"/>
                <a:ea typeface="+mn-ea"/>
                <a:cs typeface="+mn-cs"/>
              </a:rPr>
              <a:t>function, 30 is the target value for the function, and the function is being used with the age key.</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56</a:t>
            </a:fld>
            <a:endParaRPr lang="en-US"/>
          </a:p>
        </p:txBody>
      </p:sp>
    </p:spTree>
    <p:extLst>
      <p:ext uri="{BB962C8B-B14F-4D97-AF65-F5344CB8AC3E}">
        <p14:creationId xmlns:p14="http://schemas.microsoft.com/office/powerpoint/2010/main" val="39399985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to </a:t>
            </a:r>
            <a:r>
              <a:rPr lang="en-US" sz="1200" b="0" i="0" u="none" strike="noStrike" kern="1200" baseline="0" dirty="0">
                <a:solidFill>
                  <a:schemeClr val="tx1"/>
                </a:solidFill>
                <a:latin typeface="+mn-lt"/>
                <a:ea typeface="+mn-ea"/>
                <a:cs typeface="+mn-cs"/>
              </a:rPr>
              <a:t>retrieve the display name and age from documents for patrons that are age 30 or less, we can write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({age: {$lte:30} }, {display:1, age:1}).sort({age: -1})</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57</a:t>
            </a:fld>
            <a:endParaRPr lang="en-US"/>
          </a:p>
        </p:txBody>
      </p:sp>
    </p:spTree>
    <p:extLst>
      <p:ext uri="{BB962C8B-B14F-4D97-AF65-F5344CB8AC3E}">
        <p14:creationId xmlns:p14="http://schemas.microsoft.com/office/powerpoint/2010/main" val="3615882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would expect, MongoDB provides the ability to combine multiple criteria in the query object parameter of the find() method using logical </a:t>
            </a:r>
            <a:r>
              <a:rPr lang="en-US" i="1" dirty="0"/>
              <a:t>and</a:t>
            </a:r>
            <a:r>
              <a:rPr lang="en-US" dirty="0"/>
              <a:t> </a:t>
            </a:r>
            <a:r>
              <a:rPr lang="en-US" dirty="0" err="1"/>
              <a:t>and</a:t>
            </a:r>
            <a:r>
              <a:rPr lang="en-US" dirty="0"/>
              <a:t> </a:t>
            </a:r>
            <a:r>
              <a:rPr lang="en-US" i="1" dirty="0"/>
              <a:t>or</a:t>
            </a:r>
            <a:r>
              <a:rPr lang="en-US" dirty="0"/>
              <a:t> operators. Combining criteria with a logical operator can be done both implicitly and explicitly. Separating criteria with commas in the query object employs an implicit </a:t>
            </a:r>
            <a:r>
              <a:rPr lang="en-US" i="1" dirty="0"/>
              <a:t>and</a:t>
            </a:r>
            <a:r>
              <a:rPr lang="en-US" dirty="0"/>
              <a:t>. For example, to find the patrons who are under 21 years of age and have checked out a book published in 2017, we can write </a:t>
            </a:r>
            <a:r>
              <a:rPr lang="en-US" b="1" dirty="0" err="1"/>
              <a:t>db.patron.find</a:t>
            </a:r>
            <a:r>
              <a:rPr lang="en-US" b="1" dirty="0"/>
              <a:t>({age: {$lt:21}, "checkouts.pubyear":2017})</a:t>
            </a:r>
            <a:r>
              <a:rPr lang="en-US" dirty="0"/>
              <a:t>. We can format the result with the pretty() method to improve readability.</a:t>
            </a:r>
          </a:p>
          <a:p>
            <a:endParaRPr lang="en-US" dirty="0"/>
          </a:p>
          <a:p>
            <a:r>
              <a:rPr lang="en-US" dirty="0"/>
              <a:t>Remember, the year of publication is in a subdocument so the “</a:t>
            </a:r>
            <a:r>
              <a:rPr lang="en-US" b="1" dirty="0" err="1"/>
              <a:t>checkouts.pubyear</a:t>
            </a:r>
            <a:r>
              <a:rPr lang="en-US" dirty="0"/>
              <a:t>” notation is required. The previous command contained two criteria: age:{$lt:21} and “checkouts.pubyear”:2017. Because these criteria are separated by a comma, MongoDB combines them with an implicit logical and.</a:t>
            </a:r>
          </a:p>
        </p:txBody>
      </p:sp>
      <p:sp>
        <p:nvSpPr>
          <p:cNvPr id="4" name="Slide Number Placeholder 3"/>
          <p:cNvSpPr>
            <a:spLocks noGrp="1"/>
          </p:cNvSpPr>
          <p:nvPr>
            <p:ph type="sldNum" sz="quarter" idx="5"/>
          </p:nvPr>
        </p:nvSpPr>
        <p:spPr/>
        <p:txBody>
          <a:bodyPr/>
          <a:lstStyle/>
          <a:p>
            <a:fld id="{7B547B85-5C92-49FC-98A0-16FD07ABB6F8}" type="slidenum">
              <a:rPr lang="en-US" smtClean="0"/>
              <a:t>58</a:t>
            </a:fld>
            <a:endParaRPr lang="en-US"/>
          </a:p>
        </p:txBody>
      </p:sp>
    </p:spTree>
    <p:extLst>
      <p:ext uri="{BB962C8B-B14F-4D97-AF65-F5344CB8AC3E}">
        <p14:creationId xmlns:p14="http://schemas.microsoft.com/office/powerpoint/2010/main" val="31943423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logical </a:t>
            </a:r>
            <a:r>
              <a:rPr lang="en-US" b="1" i="1" dirty="0"/>
              <a:t>and</a:t>
            </a:r>
            <a:r>
              <a:rPr lang="en-US" dirty="0"/>
              <a:t> requires the use of the </a:t>
            </a:r>
            <a:r>
              <a:rPr lang="en-US" b="1" dirty="0"/>
              <a:t>$and </a:t>
            </a:r>
            <a:r>
              <a:rPr lang="en-US" dirty="0"/>
              <a:t>function. In practice, explicit </a:t>
            </a:r>
            <a:r>
              <a:rPr lang="en-US" b="1" i="1" dirty="0"/>
              <a:t>and</a:t>
            </a:r>
            <a:r>
              <a:rPr lang="en-US" dirty="0"/>
              <a:t> using the </a:t>
            </a:r>
            <a:r>
              <a:rPr lang="en-US" b="1" i="0" dirty="0"/>
              <a:t>$and </a:t>
            </a:r>
            <a:r>
              <a:rPr lang="en-US" dirty="0"/>
              <a:t>function tends to be preferred. With implicit </a:t>
            </a:r>
            <a:r>
              <a:rPr lang="en-US" b="1" i="1" dirty="0"/>
              <a:t>and</a:t>
            </a:r>
            <a:r>
              <a:rPr lang="en-US" dirty="0"/>
              <a:t>, all criteria in the list are always evaluated to true or false. With an explicit </a:t>
            </a:r>
            <a:r>
              <a:rPr lang="en-US" b="1" i="1" dirty="0"/>
              <a:t>and</a:t>
            </a:r>
            <a:r>
              <a:rPr lang="en-US" dirty="0"/>
              <a:t>, as soon as any criteria evaluates to false for a document, the remainder of the criteria are skipped for that document. This makes the explicit </a:t>
            </a:r>
            <a:r>
              <a:rPr lang="en-US" b="1" i="1" dirty="0"/>
              <a:t>and</a:t>
            </a:r>
            <a:r>
              <a:rPr lang="en-US" dirty="0"/>
              <a:t> faster and more efficient than an implicit </a:t>
            </a:r>
            <a:r>
              <a:rPr lang="en-US" b="1" i="1" dirty="0"/>
              <a:t>and</a:t>
            </a:r>
            <a:r>
              <a:rPr lang="en-US" dirty="0"/>
              <a:t> for most operations. The </a:t>
            </a:r>
            <a:r>
              <a:rPr lang="en-US" b="1" dirty="0"/>
              <a:t>$and </a:t>
            </a:r>
            <a:r>
              <a:rPr lang="en-US" dirty="0"/>
              <a:t>function appears as a key in a </a:t>
            </a:r>
            <a:r>
              <a:rPr lang="en-US" dirty="0" err="1"/>
              <a:t>key:value</a:t>
            </a:r>
            <a:r>
              <a:rPr lang="en-US" dirty="0"/>
              <a:t> pair that accepts an array of objects as the target value. For example, if x and y are criteria, then the syntax of </a:t>
            </a:r>
            <a:r>
              <a:rPr lang="en-US" b="1" dirty="0"/>
              <a:t>$and </a:t>
            </a:r>
            <a:r>
              <a:rPr lang="en-US" dirty="0"/>
              <a:t>would be </a:t>
            </a:r>
            <a:r>
              <a:rPr lang="en-US" sz="1200" b="0" i="1" u="none" strike="noStrike" kern="1200" baseline="0" dirty="0">
                <a:solidFill>
                  <a:schemeClr val="tx1"/>
                </a:solidFill>
                <a:latin typeface="+mn-lt"/>
                <a:ea typeface="+mn-ea"/>
                <a:cs typeface="+mn-cs"/>
              </a:rPr>
              <a:t>$and: [{x}, {y}]</a:t>
            </a:r>
            <a:r>
              <a:rPr lang="en-US" sz="1200" b="0" i="0" u="none" strike="noStrike" kern="1200" baseline="0" dirty="0">
                <a:solidFill>
                  <a:schemeClr val="tx1"/>
                </a:solidFill>
                <a:latin typeface="+mn-lt"/>
                <a:ea typeface="+mn-ea"/>
                <a:cs typeface="+mn-cs"/>
              </a:rPr>
              <a:t>. Notice that each criterion is enclosed in {} to indicate that it is an object.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To retrieve all documents that include a student over 26 years old checking out a book within the database subject, we write: </a:t>
            </a:r>
            <a:endParaRPr lang="en-US" sz="1200" b="1" i="0" u="none" strike="noStrike" kern="1200" baseline="0" dirty="0">
              <a:solidFill>
                <a:schemeClr val="tx1"/>
              </a:solidFill>
              <a:latin typeface="+mn-lt"/>
              <a:ea typeface="+mn-ea"/>
              <a:cs typeface="+mn-cs"/>
            </a:endParaRPr>
          </a:p>
          <a:p>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({$and: [{type: "student"}, {age: {$</a:t>
            </a:r>
            <a:r>
              <a:rPr lang="en-US" sz="1200" b="1" i="0" u="none" strike="noStrike" kern="1200" baseline="0" dirty="0" err="1">
                <a:solidFill>
                  <a:schemeClr val="tx1"/>
                </a:solidFill>
                <a:latin typeface="+mn-lt"/>
                <a:ea typeface="+mn-ea"/>
                <a:cs typeface="+mn-cs"/>
              </a:rPr>
              <a:t>gte</a:t>
            </a:r>
            <a:r>
              <a:rPr lang="en-US" sz="1200" b="1" i="0" u="none" strike="noStrike" kern="1200" baseline="0" dirty="0">
                <a:solidFill>
                  <a:schemeClr val="tx1"/>
                </a:solidFill>
                <a:latin typeface="+mn-lt"/>
                <a:ea typeface="+mn-ea"/>
                <a:cs typeface="+mn-cs"/>
              </a:rPr>
              <a:t>: 27}}, {"</a:t>
            </a:r>
            <a:r>
              <a:rPr lang="en-US" sz="1200" b="1" i="0" u="none" strike="noStrike" kern="1200" baseline="0" dirty="0" err="1">
                <a:solidFill>
                  <a:schemeClr val="tx1"/>
                </a:solidFill>
                <a:latin typeface="+mn-lt"/>
                <a:ea typeface="+mn-ea"/>
                <a:cs typeface="+mn-cs"/>
              </a:rPr>
              <a:t>checkouts.subject</a:t>
            </a:r>
            <a:r>
              <a:rPr lang="en-US" sz="1200" b="1" i="0" u="none" strike="noStrike" kern="1200" baseline="0" dirty="0">
                <a:solidFill>
                  <a:schemeClr val="tx1"/>
                </a:solidFill>
                <a:latin typeface="+mn-lt"/>
                <a:ea typeface="+mn-ea"/>
                <a:cs typeface="+mn-cs"/>
              </a:rPr>
              <a:t>": "database"}]}, {display: 1, checkouts:1, _id: 0}).pretty();</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Again, notice that each criterion is contained inside its own set of brackets so that it is an object all to itself. The criteria objects are separated with a comma.</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59</a:t>
            </a:fld>
            <a:endParaRPr lang="en-US"/>
          </a:p>
        </p:txBody>
      </p:sp>
    </p:spTree>
    <p:extLst>
      <p:ext uri="{BB962C8B-B14F-4D97-AF65-F5344CB8AC3E}">
        <p14:creationId xmlns:p14="http://schemas.microsoft.com/office/powerpoint/2010/main" val="722341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All logical </a:t>
            </a:r>
            <a:r>
              <a:rPr lang="en-US" sz="1200" b="0" i="1" u="none" strike="noStrike" kern="1200" baseline="0" dirty="0">
                <a:solidFill>
                  <a:schemeClr val="tx1"/>
                </a:solidFill>
                <a:latin typeface="+mn-lt"/>
                <a:ea typeface="+mn-ea"/>
                <a:cs typeface="+mn-cs"/>
              </a:rPr>
              <a:t>or </a:t>
            </a:r>
            <a:r>
              <a:rPr lang="en-US" sz="1200" b="0" i="0" u="none" strike="noStrike" kern="1200" baseline="0" dirty="0">
                <a:solidFill>
                  <a:schemeClr val="tx1"/>
                </a:solidFill>
                <a:latin typeface="+mn-lt"/>
                <a:ea typeface="+mn-ea"/>
                <a:cs typeface="+mn-cs"/>
              </a:rPr>
              <a:t>operations are explicit. The $or function has the same syntax as the $and function. Example: retrieve documents that are for faculty or for students over 30 years of age. Only the display name, type, and age will be displayed with the results sorted by age. We can use: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({$or: [{type: "faculty"}, {age: {$gt:30}}]}, {display:1, type:1, age: 1, _id:0}).sort({age:1})</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60</a:t>
            </a:fld>
            <a:endParaRPr lang="en-US"/>
          </a:p>
        </p:txBody>
      </p:sp>
    </p:spTree>
    <p:extLst>
      <p:ext uri="{BB962C8B-B14F-4D97-AF65-F5344CB8AC3E}">
        <p14:creationId xmlns:p14="http://schemas.microsoft.com/office/powerpoint/2010/main" val="14918460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MQL queries become more complex, they can seem confusing because of all of the punctuation. Breaking down the previous query, the symbols become a little clearer.</a:t>
            </a:r>
          </a:p>
          <a:p>
            <a:endParaRPr lang="en-US" sz="1200" b="0" i="0" u="none" strike="noStrike" kern="1200" baseline="0" dirty="0">
              <a:solidFill>
                <a:schemeClr val="tx1"/>
              </a:solidFill>
              <a:latin typeface="+mn-lt"/>
              <a:ea typeface="+mn-ea"/>
              <a:cs typeface="+mn-cs"/>
            </a:endParaRP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query is based on the </a:t>
            </a:r>
            <a:r>
              <a:rPr lang="en-US" sz="1200" b="0" i="0" u="none" strike="noStrike" kern="1200" baseline="0" dirty="0" err="1">
                <a:solidFill>
                  <a:schemeClr val="tx1"/>
                </a:solidFill>
                <a:latin typeface="+mn-lt"/>
                <a:ea typeface="+mn-ea"/>
                <a:cs typeface="+mn-cs"/>
              </a:rPr>
              <a:t>db.patron.find</a:t>
            </a:r>
            <a:r>
              <a:rPr lang="en-US" sz="1200" b="0" i="0" u="none" strike="noStrike" kern="1200" baseline="0" dirty="0">
                <a:solidFill>
                  <a:schemeClr val="tx1"/>
                </a:solidFill>
                <a:latin typeface="+mn-lt"/>
                <a:ea typeface="+mn-ea"/>
                <a:cs typeface="+mn-cs"/>
              </a:rPr>
              <a:t>() method.</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Within the find() method there are two objects, the query object and the projection object.</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query object is {$or: [{type: “faculty”}, {age: {$gt:30}}]}</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query object contains one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$or is the key and [{type: “faculty”}, {age: {$gt:30}}] is the value.</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value for the $or key is an array composed of two objects. The first object is {type: “faculty”}, and the second object is {age: {$gt:30}}.</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first object in the array is a simple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that is, type: “faculty.”</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second object in the array is a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 with age as the key and an object for the value. The object value is {$gt:30}, which calls the </a:t>
            </a:r>
            <a:r>
              <a:rPr lang="en-US" sz="1200" b="0" i="1" u="none" strike="noStrike" kern="1200" baseline="0" dirty="0">
                <a:solidFill>
                  <a:schemeClr val="tx1"/>
                </a:solidFill>
                <a:latin typeface="+mn-lt"/>
                <a:ea typeface="+mn-ea"/>
                <a:cs typeface="+mn-cs"/>
              </a:rPr>
              <a:t>greater than </a:t>
            </a:r>
            <a:r>
              <a:rPr lang="en-US" sz="1200" b="0" i="0" u="none" strike="noStrike" kern="1200" baseline="0" dirty="0">
                <a:solidFill>
                  <a:schemeClr val="tx1"/>
                </a:solidFill>
                <a:latin typeface="+mn-lt"/>
                <a:ea typeface="+mn-ea"/>
                <a:cs typeface="+mn-cs"/>
              </a:rPr>
              <a:t>function with 30 as the target value of the function.</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projection object is </a:t>
            </a:r>
            <a:r>
              <a:rPr lang="en-US" sz="1200" b="0" i="0" u="none" strike="noStrike" kern="1200" baseline="0" dirty="0" err="1">
                <a:solidFill>
                  <a:schemeClr val="tx1"/>
                </a:solidFill>
                <a:latin typeface="+mn-lt"/>
                <a:ea typeface="+mn-ea"/>
                <a:cs typeface="+mn-cs"/>
              </a:rPr>
              <a:t>is</a:t>
            </a:r>
            <a:r>
              <a:rPr lang="en-US" sz="1200" b="0" i="0" u="none" strike="noStrike" kern="1200" baseline="0" dirty="0">
                <a:solidFill>
                  <a:schemeClr val="tx1"/>
                </a:solidFill>
                <a:latin typeface="+mn-lt"/>
                <a:ea typeface="+mn-ea"/>
                <a:cs typeface="+mn-cs"/>
              </a:rPr>
              <a:t> {display:1, type:1, age:1, _id:0}. It contains a list of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pairs.</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keys in the object associated with value 1 are included in the result. The key in the object associated with the value 0 is excluded from the result.</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sort() method is chained to the find() method to specify a sorted order for the output. It contains an object made of simple </a:t>
            </a:r>
            <a:r>
              <a:rPr lang="en-US" sz="1200" b="0" i="0" u="none" strike="noStrike" kern="1200" baseline="0" dirty="0" err="1">
                <a:solidFill>
                  <a:schemeClr val="tx1"/>
                </a:solidFill>
                <a:latin typeface="+mn-lt"/>
                <a:ea typeface="+mn-ea"/>
                <a:cs typeface="+mn-cs"/>
              </a:rPr>
              <a:t>key:value</a:t>
            </a:r>
            <a:r>
              <a:rPr lang="en-US" sz="1200" b="0" i="0" u="none" strike="noStrike" kern="1200" baseline="0" dirty="0">
                <a:solidFill>
                  <a:schemeClr val="tx1"/>
                </a:solidFill>
                <a:latin typeface="+mn-lt"/>
                <a:ea typeface="+mn-ea"/>
                <a:cs typeface="+mn-cs"/>
              </a:rPr>
              <a:t> pairs.</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keys in the sort object associated with the value 1 are sorted in ascending order. If any key has been associated with the value −1, it would have been sorted in descending order.</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61</a:t>
            </a:fld>
            <a:endParaRPr lang="en-US"/>
          </a:p>
        </p:txBody>
      </p:sp>
    </p:spTree>
    <p:extLst>
      <p:ext uri="{BB962C8B-B14F-4D97-AF65-F5344CB8AC3E}">
        <p14:creationId xmlns:p14="http://schemas.microsoft.com/office/powerpoint/2010/main" val="19549129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$and </a:t>
            </a:r>
            <a:r>
              <a:rPr lang="en-US" sz="1200" b="0" i="0" u="none" strike="noStrike" kern="1200" baseline="0" dirty="0" err="1">
                <a:solidFill>
                  <a:schemeClr val="tx1"/>
                </a:solidFill>
                <a:latin typeface="+mn-lt"/>
                <a:ea typeface="+mn-ea"/>
                <a:cs typeface="+mn-cs"/>
              </a:rPr>
              <a:t>and</a:t>
            </a:r>
            <a:r>
              <a:rPr lang="en-US" sz="1200" b="0" i="0" u="none" strike="noStrike" kern="1200" baseline="0" dirty="0">
                <a:solidFill>
                  <a:schemeClr val="tx1"/>
                </a:solidFill>
                <a:latin typeface="+mn-lt"/>
                <a:ea typeface="+mn-ea"/>
                <a:cs typeface="+mn-cs"/>
              </a:rPr>
              <a:t> $or functions can be mixed within the same query object. For example, to retrieve the _id, display name, and age for patrons that either have the last name “</a:t>
            </a:r>
            <a:r>
              <a:rPr lang="en-US" sz="1200" b="0" i="0" u="none" strike="noStrike" kern="1200" baseline="0" dirty="0" err="1">
                <a:solidFill>
                  <a:schemeClr val="tx1"/>
                </a:solidFill>
                <a:latin typeface="+mn-lt"/>
                <a:ea typeface="+mn-ea"/>
                <a:cs typeface="+mn-cs"/>
              </a:rPr>
              <a:t>barry</a:t>
            </a:r>
            <a:r>
              <a:rPr lang="en-US" sz="1200" b="0" i="0" u="none" strike="noStrike" kern="1200" baseline="0" dirty="0">
                <a:solidFill>
                  <a:schemeClr val="tx1"/>
                </a:solidFill>
                <a:latin typeface="+mn-lt"/>
                <a:ea typeface="+mn-ea"/>
                <a:cs typeface="+mn-cs"/>
              </a:rPr>
              <a:t>” and are faculty, or have the last name “hays” and are under 30 years old, we write </a:t>
            </a:r>
          </a:p>
          <a:p>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({$or: [</a:t>
            </a:r>
          </a:p>
          <a:p>
            <a:r>
              <a:rPr lang="en-US" sz="1200" b="1" i="0" u="none" strike="noStrike" kern="1200" baseline="0" dirty="0">
                <a:solidFill>
                  <a:schemeClr val="tx1"/>
                </a:solidFill>
                <a:latin typeface="+mn-lt"/>
                <a:ea typeface="+mn-ea"/>
                <a:cs typeface="+mn-cs"/>
              </a:rPr>
              <a:t>			{$and: [{</a:t>
            </a:r>
            <a:r>
              <a:rPr lang="en-US" sz="1200" b="1" i="0" u="none" strike="noStrike" kern="1200" baseline="0" dirty="0" err="1">
                <a:solidFill>
                  <a:schemeClr val="tx1"/>
                </a:solidFill>
                <a:latin typeface="+mn-lt"/>
                <a:ea typeface="+mn-ea"/>
                <a:cs typeface="+mn-cs"/>
              </a:rPr>
              <a:t>lname</a:t>
            </a:r>
            <a:r>
              <a:rPr lang="en-US" sz="1200" b="1" i="0" u="none" strike="noStrike" kern="1200" baseline="0" dirty="0">
                <a:solidFill>
                  <a:schemeClr val="tx1"/>
                </a:solidFill>
                <a:latin typeface="+mn-lt"/>
                <a:ea typeface="+mn-ea"/>
                <a:cs typeface="+mn-cs"/>
              </a:rPr>
              <a:t>: "</a:t>
            </a:r>
            <a:r>
              <a:rPr lang="en-US" sz="1200" b="1" i="0" u="none" strike="noStrike" kern="1200" baseline="0" dirty="0" err="1">
                <a:solidFill>
                  <a:schemeClr val="tx1"/>
                </a:solidFill>
                <a:latin typeface="+mn-lt"/>
                <a:ea typeface="+mn-ea"/>
                <a:cs typeface="+mn-cs"/>
              </a:rPr>
              <a:t>barry</a:t>
            </a:r>
            <a:r>
              <a:rPr lang="en-US" sz="1200" b="1" i="0" u="none" strike="noStrike" kern="1200" baseline="0" dirty="0">
                <a:solidFill>
                  <a:schemeClr val="tx1"/>
                </a:solidFill>
                <a:latin typeface="+mn-lt"/>
                <a:ea typeface="+mn-ea"/>
                <a:cs typeface="+mn-cs"/>
              </a:rPr>
              <a:t>"}, {type: "faculty"}]},</a:t>
            </a:r>
          </a:p>
          <a:p>
            <a:r>
              <a:rPr lang="en-US" sz="1200" b="1" i="0" u="none" strike="noStrike" kern="1200" baseline="0" dirty="0">
                <a:solidFill>
                  <a:schemeClr val="tx1"/>
                </a:solidFill>
                <a:latin typeface="+mn-lt"/>
                <a:ea typeface="+mn-ea"/>
                <a:cs typeface="+mn-cs"/>
              </a:rPr>
              <a:t>			{$and: [{</a:t>
            </a:r>
            <a:r>
              <a:rPr lang="en-US" sz="1200" b="1" i="0" u="none" strike="noStrike" kern="1200" baseline="0" dirty="0" err="1">
                <a:solidFill>
                  <a:schemeClr val="tx1"/>
                </a:solidFill>
                <a:latin typeface="+mn-lt"/>
                <a:ea typeface="+mn-ea"/>
                <a:cs typeface="+mn-cs"/>
              </a:rPr>
              <a:t>lname</a:t>
            </a:r>
            <a:r>
              <a:rPr lang="en-US" sz="1200" b="1" i="0" u="none" strike="noStrike" kern="1200" baseline="0" dirty="0">
                <a:solidFill>
                  <a:schemeClr val="tx1"/>
                </a:solidFill>
                <a:latin typeface="+mn-lt"/>
                <a:ea typeface="+mn-ea"/>
                <a:cs typeface="+mn-cs"/>
              </a:rPr>
              <a:t>: "hays"}, {age: {$</a:t>
            </a:r>
            <a:r>
              <a:rPr lang="en-US" sz="1200" b="1" i="0" u="none" strike="noStrike" kern="1200" baseline="0" dirty="0" err="1">
                <a:solidFill>
                  <a:schemeClr val="tx1"/>
                </a:solidFill>
                <a:latin typeface="+mn-lt"/>
                <a:ea typeface="+mn-ea"/>
                <a:cs typeface="+mn-cs"/>
              </a:rPr>
              <a:t>lt</a:t>
            </a:r>
            <a:r>
              <a:rPr lang="en-US" sz="1200" b="1" i="0" u="none" strike="noStrike" kern="1200" baseline="0" dirty="0">
                <a:solidFill>
                  <a:schemeClr val="tx1"/>
                </a:solidFill>
                <a:latin typeface="+mn-lt"/>
                <a:ea typeface="+mn-ea"/>
                <a:cs typeface="+mn-cs"/>
              </a:rPr>
              <a:t>: 30}}]}</a:t>
            </a:r>
          </a:p>
          <a:p>
            <a:r>
              <a:rPr lang="en-US" sz="1200" b="1" i="0" u="none" strike="noStrike" kern="1200" baseline="0" dirty="0">
                <a:solidFill>
                  <a:schemeClr val="tx1"/>
                </a:solidFill>
                <a:latin typeface="+mn-lt"/>
                <a:ea typeface="+mn-ea"/>
                <a:cs typeface="+mn-cs"/>
              </a:rPr>
              <a:t>		     ]}, </a:t>
            </a:r>
          </a:p>
          <a:p>
            <a:r>
              <a:rPr lang="en-US" sz="1200" b="1" i="0" u="none" strike="noStrike" kern="1200" baseline="0" dirty="0">
                <a:solidFill>
                  <a:schemeClr val="tx1"/>
                </a:solidFill>
                <a:latin typeface="+mn-lt"/>
                <a:ea typeface="+mn-ea"/>
                <a:cs typeface="+mn-cs"/>
              </a:rPr>
              <a:t>		{display: 1, age: 1, type: 1}).pretty();</a:t>
            </a:r>
            <a:endParaRPr lang="en-US" b="1" dirty="0"/>
          </a:p>
        </p:txBody>
      </p:sp>
      <p:sp>
        <p:nvSpPr>
          <p:cNvPr id="4" name="Slide Number Placeholder 3"/>
          <p:cNvSpPr>
            <a:spLocks noGrp="1"/>
          </p:cNvSpPr>
          <p:nvPr>
            <p:ph type="sldNum" sz="quarter" idx="5"/>
          </p:nvPr>
        </p:nvSpPr>
        <p:spPr/>
        <p:txBody>
          <a:bodyPr/>
          <a:lstStyle/>
          <a:p>
            <a:fld id="{7B547B85-5C92-49FC-98A0-16FD07ABB6F8}" type="slidenum">
              <a:rPr lang="en-US" smtClean="0"/>
              <a:t>62</a:t>
            </a:fld>
            <a:endParaRPr lang="en-US"/>
          </a:p>
        </p:txBody>
      </p:sp>
    </p:spTree>
    <p:extLst>
      <p:ext uri="{BB962C8B-B14F-4D97-AF65-F5344CB8AC3E}">
        <p14:creationId xmlns:p14="http://schemas.microsoft.com/office/powerpoint/2010/main" val="42731808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with performing updates, working with arrays can pose unique challenges when writing queries. Consider the following requirement: find the patrons who have checked out a book in the programming subject that was published in 2015. Based on our coverage of $and </a:t>
            </a:r>
            <a:r>
              <a:rPr lang="en-US" dirty="0" err="1"/>
              <a:t>and</a:t>
            </a:r>
            <a:r>
              <a:rPr lang="en-US" dirty="0"/>
              <a:t> using dot notation with subdocuments, we can craft a query: </a:t>
            </a:r>
            <a:r>
              <a:rPr lang="en-US" b="1" dirty="0" err="1"/>
              <a:t>db.patron.find</a:t>
            </a:r>
            <a:r>
              <a:rPr lang="en-US" b="1" dirty="0"/>
              <a:t>({$and: [{"</a:t>
            </a:r>
            <a:r>
              <a:rPr lang="en-US" b="1" dirty="0" err="1"/>
              <a:t>checkouts.subject</a:t>
            </a:r>
            <a:r>
              <a:rPr lang="en-US" b="1" dirty="0"/>
              <a:t>": "programming"},{"checkouts.pubyear":2015}]}).pretty()</a:t>
            </a:r>
            <a:r>
              <a:rPr lang="en-US" dirty="0"/>
              <a:t>.</a:t>
            </a:r>
          </a:p>
          <a:p>
            <a:endParaRPr lang="en-US" dirty="0"/>
          </a:p>
          <a:p>
            <a:r>
              <a:rPr lang="en-US" sz="1200" b="0" i="0" u="none" strike="noStrike" kern="1200" baseline="0" dirty="0">
                <a:solidFill>
                  <a:schemeClr val="tx1"/>
                </a:solidFill>
                <a:latin typeface="+mn-lt"/>
                <a:ea typeface="+mn-ea"/>
                <a:cs typeface="+mn-cs"/>
              </a:rPr>
              <a:t>The results include documents that have checkouts of books in the programming subject, and books published in 2015, so both criteria are met. However, looking through the output we find a few patrons who checked out a book that was published in 2015 and who checked out a book on programming, but they were not the same book! Our intention was that the same book satisfies both criteria, not two separate books each satisfying one criteria apiece.</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63</a:t>
            </a:fld>
            <a:endParaRPr lang="en-US"/>
          </a:p>
        </p:txBody>
      </p:sp>
    </p:spTree>
    <p:extLst>
      <p:ext uri="{BB962C8B-B14F-4D97-AF65-F5344CB8AC3E}">
        <p14:creationId xmlns:p14="http://schemas.microsoft.com/office/powerpoint/2010/main" val="11551253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problem is solved with the $</a:t>
            </a:r>
            <a:r>
              <a:rPr lang="en-US" sz="1200" b="0" i="0" u="none" strike="noStrike" kern="1200" baseline="0" dirty="0" err="1">
                <a:solidFill>
                  <a:schemeClr val="tx1"/>
                </a:solidFill>
                <a:latin typeface="+mn-lt"/>
                <a:ea typeface="+mn-ea"/>
                <a:cs typeface="+mn-cs"/>
              </a:rPr>
              <a:t>elemMatch</a:t>
            </a:r>
            <a:r>
              <a:rPr lang="en-US" sz="1200" b="0" i="0" u="none" strike="noStrike" kern="1200" baseline="0" dirty="0">
                <a:solidFill>
                  <a:schemeClr val="tx1"/>
                </a:solidFill>
                <a:latin typeface="+mn-lt"/>
                <a:ea typeface="+mn-ea"/>
                <a:cs typeface="+mn-cs"/>
              </a:rPr>
              <a:t> function. In mathematical terminology, items in a set are called elements. It is, therefore, appropriate to refer to the values in an array as elements. The $</a:t>
            </a:r>
            <a:r>
              <a:rPr lang="en-US" sz="1200" b="0" i="0" u="none" strike="noStrike" kern="1200" baseline="0" dirty="0" err="1">
                <a:solidFill>
                  <a:schemeClr val="tx1"/>
                </a:solidFill>
                <a:latin typeface="+mn-lt"/>
                <a:ea typeface="+mn-ea"/>
                <a:cs typeface="+mn-cs"/>
              </a:rPr>
              <a:t>elemMatch</a:t>
            </a:r>
            <a:r>
              <a:rPr lang="en-US" sz="1200" b="0" i="0" u="none" strike="noStrike" kern="1200" baseline="0" dirty="0">
                <a:solidFill>
                  <a:schemeClr val="tx1"/>
                </a:solidFill>
                <a:latin typeface="+mn-lt"/>
                <a:ea typeface="+mn-ea"/>
                <a:cs typeface="+mn-cs"/>
              </a:rPr>
              <a:t> function accepts an object containing a list of criteria as a parameter. The $</a:t>
            </a:r>
            <a:r>
              <a:rPr lang="en-US" sz="1200" b="0" i="0" u="none" strike="noStrike" kern="1200" baseline="0" dirty="0" err="1">
                <a:solidFill>
                  <a:schemeClr val="tx1"/>
                </a:solidFill>
                <a:latin typeface="+mn-lt"/>
                <a:ea typeface="+mn-ea"/>
                <a:cs typeface="+mn-cs"/>
              </a:rPr>
              <a:t>elemMatch</a:t>
            </a:r>
            <a:r>
              <a:rPr lang="en-US" sz="1200" b="0" i="0" u="none" strike="noStrike" kern="1200" baseline="0" dirty="0">
                <a:solidFill>
                  <a:schemeClr val="tx1"/>
                </a:solidFill>
                <a:latin typeface="+mn-lt"/>
                <a:ea typeface="+mn-ea"/>
                <a:cs typeface="+mn-cs"/>
              </a:rPr>
              <a:t> function requires that all criteria included in the function be satisfied by the same element in an array. In the current database, the elements in the checkouts array are objects that represent each checkout by a patron. Using $</a:t>
            </a:r>
            <a:r>
              <a:rPr lang="en-US" sz="1200" b="0" i="0" u="none" strike="noStrike" kern="1200" baseline="0" dirty="0" err="1">
                <a:solidFill>
                  <a:schemeClr val="tx1"/>
                </a:solidFill>
                <a:latin typeface="+mn-lt"/>
                <a:ea typeface="+mn-ea"/>
                <a:cs typeface="+mn-cs"/>
              </a:rPr>
              <a:t>elemMatch</a:t>
            </a:r>
            <a:r>
              <a:rPr lang="en-US" sz="1200" b="0" i="0" u="none" strike="noStrike" kern="1200" baseline="0" dirty="0">
                <a:solidFill>
                  <a:schemeClr val="tx1"/>
                </a:solidFill>
                <a:latin typeface="+mn-lt"/>
                <a:ea typeface="+mn-ea"/>
                <a:cs typeface="+mn-cs"/>
              </a:rPr>
              <a:t> with the criteria in the previous command requires both criteria to be satisfied by the same checkout. So, we can write </a:t>
            </a:r>
            <a:r>
              <a:rPr lang="en-US" sz="1200" b="1" i="0" u="none" strike="noStrike" kern="1200" baseline="0" dirty="0" err="1">
                <a:solidFill>
                  <a:schemeClr val="tx1"/>
                </a:solidFill>
                <a:latin typeface="+mn-lt"/>
                <a:ea typeface="+mn-ea"/>
                <a:cs typeface="+mn-cs"/>
              </a:rPr>
              <a:t>db.patron.find</a:t>
            </a:r>
            <a:r>
              <a:rPr lang="en-US" sz="1200" b="1" i="0" u="none" strike="noStrike" kern="1200" baseline="0" dirty="0">
                <a:solidFill>
                  <a:schemeClr val="tx1"/>
                </a:solidFill>
                <a:latin typeface="+mn-lt"/>
                <a:ea typeface="+mn-ea"/>
                <a:cs typeface="+mn-cs"/>
              </a:rPr>
              <a:t>({checkouts: {$</a:t>
            </a:r>
            <a:r>
              <a:rPr lang="en-US" sz="1200" b="1" i="0" u="none" strike="noStrike" kern="1200" baseline="0" dirty="0" err="1">
                <a:solidFill>
                  <a:schemeClr val="tx1"/>
                </a:solidFill>
                <a:latin typeface="+mn-lt"/>
                <a:ea typeface="+mn-ea"/>
                <a:cs typeface="+mn-cs"/>
              </a:rPr>
              <a:t>elemMatch</a:t>
            </a:r>
            <a:r>
              <a:rPr lang="en-US" sz="1200" b="1" i="0" u="none" strike="noStrike" kern="1200" baseline="0" dirty="0">
                <a:solidFill>
                  <a:schemeClr val="tx1"/>
                </a:solidFill>
                <a:latin typeface="+mn-lt"/>
                <a:ea typeface="+mn-ea"/>
                <a:cs typeface="+mn-cs"/>
              </a:rPr>
              <a:t>: {subject: "programming", </a:t>
            </a:r>
            <a:r>
              <a:rPr lang="en-US" sz="1200" b="1" i="0" u="none" strike="noStrike" kern="1200" baseline="0" dirty="0" err="1">
                <a:solidFill>
                  <a:schemeClr val="tx1"/>
                </a:solidFill>
                <a:latin typeface="+mn-lt"/>
                <a:ea typeface="+mn-ea"/>
                <a:cs typeface="+mn-cs"/>
              </a:rPr>
              <a:t>pubyear</a:t>
            </a:r>
            <a:r>
              <a:rPr lang="en-US" sz="1200" b="1" i="0" u="none" strike="noStrike" kern="1200" baseline="0" dirty="0">
                <a:solidFill>
                  <a:schemeClr val="tx1"/>
                </a:solidFill>
                <a:latin typeface="+mn-lt"/>
                <a:ea typeface="+mn-ea"/>
                <a:cs typeface="+mn-cs"/>
              </a:rPr>
              <a:t>: 2015}}}).pretty()</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64</a:t>
            </a:fld>
            <a:endParaRPr lang="en-US"/>
          </a:p>
        </p:txBody>
      </p:sp>
    </p:spTree>
    <p:extLst>
      <p:ext uri="{BB962C8B-B14F-4D97-AF65-F5344CB8AC3E}">
        <p14:creationId xmlns:p14="http://schemas.microsoft.com/office/powerpoint/2010/main" val="42421837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MongoDB is a powerful document database that is being adopted by many organizations. It was originally designed to support web-based operations, and as such, it draws heavily on JavaScript for the structure of its documents and for MQL. In this course, we have learned about the basic create, read, update, and delete operations that are central to database processing. This should give you a basic familiarity with MongoDB and MQL, but there is much more to learn if you are interested in pursuing a career in document databases.</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65</a:t>
            </a:fld>
            <a:endParaRPr lang="en-US"/>
          </a:p>
        </p:txBody>
      </p:sp>
    </p:spTree>
    <p:extLst>
      <p:ext uri="{BB962C8B-B14F-4D97-AF65-F5344CB8AC3E}">
        <p14:creationId xmlns:p14="http://schemas.microsoft.com/office/powerpoint/2010/main" val="535968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1. What is the difference between a replacement update and an operator update in MongoDB?</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MongoDB a replacement update will replace the entire document being updated.  If the existing document has </a:t>
            </a:r>
            <a:r>
              <a:rPr lang="en-US" sz="1200" kern="1200" dirty="0" err="1">
                <a:solidFill>
                  <a:schemeClr val="tx1"/>
                </a:solidFill>
                <a:effectLst/>
                <a:latin typeface="+mn-lt"/>
                <a:ea typeface="+mn-ea"/>
                <a:cs typeface="+mn-cs"/>
              </a:rPr>
              <a:t>key:value</a:t>
            </a:r>
            <a:r>
              <a:rPr lang="en-US" sz="1200" kern="1200" dirty="0">
                <a:solidFill>
                  <a:schemeClr val="tx1"/>
                </a:solidFill>
                <a:effectLst/>
                <a:latin typeface="+mn-lt"/>
                <a:ea typeface="+mn-ea"/>
                <a:cs typeface="+mn-cs"/>
              </a:rPr>
              <a:t> pairs that are not included in the update command, then those pairs are lost.  Only the pairs specified in the update command will exist in the replaced version of the document.  With an operator update, the existing document is unchanged except for the changes specified in the update command.  Pairs not included in the update command are not affected.</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Explain what an </a:t>
            </a:r>
            <a:r>
              <a:rPr lang="en-US" sz="1200" b="1" kern="1200" dirty="0" err="1">
                <a:solidFill>
                  <a:schemeClr val="tx1"/>
                </a:solidFill>
                <a:effectLst/>
                <a:latin typeface="+mn-lt"/>
                <a:ea typeface="+mn-ea"/>
                <a:cs typeface="+mn-cs"/>
              </a:rPr>
              <a:t>upsert</a:t>
            </a:r>
            <a:r>
              <a:rPr lang="en-US" sz="1200" b="1" kern="1200" dirty="0">
                <a:solidFill>
                  <a:schemeClr val="tx1"/>
                </a:solidFill>
                <a:effectLst/>
                <a:latin typeface="+mn-lt"/>
                <a:ea typeface="+mn-ea"/>
                <a:cs typeface="+mn-cs"/>
              </a:rPr>
              <a:t> does.</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Upsert</a:t>
            </a:r>
            <a:r>
              <a:rPr lang="en-US" sz="1200" kern="1200" dirty="0">
                <a:solidFill>
                  <a:schemeClr val="tx1"/>
                </a:solidFill>
                <a:effectLst/>
                <a:latin typeface="+mn-lt"/>
                <a:ea typeface="+mn-ea"/>
                <a:cs typeface="+mn-cs"/>
              </a:rPr>
              <a:t> is a combination insert / update.  If an existing document is found that matches the criteria given, then an update is performed on that document using the </a:t>
            </a:r>
            <a:r>
              <a:rPr lang="en-US" sz="1200" kern="1200" dirty="0" err="1">
                <a:solidFill>
                  <a:schemeClr val="tx1"/>
                </a:solidFill>
                <a:effectLst/>
                <a:latin typeface="+mn-lt"/>
                <a:ea typeface="+mn-ea"/>
                <a:cs typeface="+mn-cs"/>
              </a:rPr>
              <a:t>key:value</a:t>
            </a:r>
            <a:r>
              <a:rPr lang="en-US" sz="1200" kern="1200" dirty="0">
                <a:solidFill>
                  <a:schemeClr val="tx1"/>
                </a:solidFill>
                <a:effectLst/>
                <a:latin typeface="+mn-lt"/>
                <a:ea typeface="+mn-ea"/>
                <a:cs typeface="+mn-cs"/>
              </a:rPr>
              <a:t> pairs specified in the command.  If an existing document is not found that matches the criteria given, then an insert is performed to create a document with the </a:t>
            </a:r>
            <a:r>
              <a:rPr lang="en-US" sz="1200" kern="1200" dirty="0" err="1">
                <a:solidFill>
                  <a:schemeClr val="tx1"/>
                </a:solidFill>
                <a:effectLst/>
                <a:latin typeface="+mn-lt"/>
                <a:ea typeface="+mn-ea"/>
                <a:cs typeface="+mn-cs"/>
              </a:rPr>
              <a:t>key:value</a:t>
            </a:r>
            <a:r>
              <a:rPr lang="en-US" sz="1200" kern="1200" dirty="0">
                <a:solidFill>
                  <a:schemeClr val="tx1"/>
                </a:solidFill>
                <a:effectLst/>
                <a:latin typeface="+mn-lt"/>
                <a:ea typeface="+mn-ea"/>
                <a:cs typeface="+mn-cs"/>
              </a:rPr>
              <a:t> pairs specified in the command.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Describe the difference between using $push and $</a:t>
            </a:r>
            <a:r>
              <a:rPr lang="en-US" sz="1200" b="1" kern="1200" dirty="0" err="1">
                <a:solidFill>
                  <a:schemeClr val="tx1"/>
                </a:solidFill>
                <a:effectLst/>
                <a:latin typeface="+mn-lt"/>
                <a:ea typeface="+mn-ea"/>
                <a:cs typeface="+mn-cs"/>
              </a:rPr>
              <a:t>addToSet</a:t>
            </a:r>
            <a:r>
              <a:rPr lang="en-US" sz="1200" b="1" kern="1200" dirty="0">
                <a:solidFill>
                  <a:schemeClr val="tx1"/>
                </a:solidFill>
                <a:effectLst/>
                <a:latin typeface="+mn-lt"/>
                <a:ea typeface="+mn-ea"/>
                <a:cs typeface="+mn-cs"/>
              </a:rPr>
              <a:t> in MongoDB.</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Both commands are used to add a value to an array.  The $push command will always add the value to the array, even it results in duplicate values in the array.  The $</a:t>
            </a:r>
            <a:r>
              <a:rPr lang="en-US" sz="1200" kern="1200" dirty="0" err="1">
                <a:solidFill>
                  <a:schemeClr val="tx1"/>
                </a:solidFill>
                <a:effectLst/>
                <a:latin typeface="+mn-lt"/>
                <a:ea typeface="+mn-ea"/>
                <a:cs typeface="+mn-cs"/>
              </a:rPr>
              <a:t>addToSet</a:t>
            </a:r>
            <a:r>
              <a:rPr lang="en-US" sz="1200" kern="1200" dirty="0">
                <a:solidFill>
                  <a:schemeClr val="tx1"/>
                </a:solidFill>
                <a:effectLst/>
                <a:latin typeface="+mn-lt"/>
                <a:ea typeface="+mn-ea"/>
                <a:cs typeface="+mn-cs"/>
              </a:rPr>
              <a:t> command will only add the value to the array if adding it does not result in duplicate values in the array.</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4. Explain the functions used to enable pagination of results in MongoDB.</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Results can be provided in pages of information by using limit() and skip() functions.  The limit() function specifies how many results to return. The skip() function allows the programmer to provide an offset of documents before the limit is applied.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5. Explain the difference in processing when using an explicit </a:t>
            </a:r>
            <a:r>
              <a:rPr lang="en-US" sz="1200" b="1" i="1" kern="1200" dirty="0">
                <a:solidFill>
                  <a:schemeClr val="tx1"/>
                </a:solidFill>
                <a:effectLst/>
                <a:latin typeface="+mn-lt"/>
                <a:ea typeface="+mn-ea"/>
                <a:cs typeface="+mn-cs"/>
              </a:rPr>
              <a:t>and </a:t>
            </a:r>
            <a:r>
              <a:rPr lang="en-US" sz="1200" b="1" kern="1200" dirty="0" err="1">
                <a:solidFill>
                  <a:schemeClr val="tx1"/>
                </a:solidFill>
                <a:effectLst/>
                <a:latin typeface="+mn-lt"/>
                <a:ea typeface="+mn-ea"/>
                <a:cs typeface="+mn-cs"/>
              </a:rPr>
              <a:t>and</a:t>
            </a:r>
            <a:r>
              <a:rPr lang="en-US" sz="1200" b="1" kern="1200" dirty="0">
                <a:solidFill>
                  <a:schemeClr val="tx1"/>
                </a:solidFill>
                <a:effectLst/>
                <a:latin typeface="+mn-lt"/>
                <a:ea typeface="+mn-ea"/>
                <a:cs typeface="+mn-cs"/>
              </a:rPr>
              <a:t> an implicit </a:t>
            </a:r>
            <a:r>
              <a:rPr lang="en-US" sz="1200" b="1" i="1" kern="1200" dirty="0">
                <a:solidFill>
                  <a:schemeClr val="tx1"/>
                </a:solidFill>
                <a:effectLst/>
                <a:latin typeface="+mn-lt"/>
                <a:ea typeface="+mn-ea"/>
                <a:cs typeface="+mn-cs"/>
              </a:rPr>
              <a:t>and </a:t>
            </a:r>
            <a:r>
              <a:rPr lang="en-US" sz="1200" b="1" kern="1200" dirty="0">
                <a:solidFill>
                  <a:schemeClr val="tx1"/>
                </a:solidFill>
                <a:effectLst/>
                <a:latin typeface="+mn-lt"/>
                <a:ea typeface="+mn-ea"/>
                <a:cs typeface="+mn-cs"/>
              </a:rPr>
              <a:t>with MongoDB.</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 both forms of logical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the DBMS must apply criteria to a document to determine if the document should be included in the results.  An explicit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using the $and operator, will determine that a document should not be included and stop applying criteria to that document as soon as one of the criteria evaluates to FALSE for that document.  An implicit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will apply all criteria to the document before determining if the document should be included or not in the results.  As a result, explicit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tends to perform better in most cases.</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66</a:t>
            </a:fld>
            <a:endParaRPr lang="en-US"/>
          </a:p>
        </p:txBody>
      </p:sp>
    </p:spTree>
    <p:extLst>
      <p:ext uri="{BB962C8B-B14F-4D97-AF65-F5344CB8AC3E}">
        <p14:creationId xmlns:p14="http://schemas.microsoft.com/office/powerpoint/2010/main" val="3052107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463434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249303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41535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830493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18508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56273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182962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55458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1531925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981457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3/16/25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232724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290" y="276841"/>
            <a:ext cx="6879252" cy="5815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9289" y="1166018"/>
            <a:ext cx="8770776" cy="55554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6" name="Picture 2" descr="Image result for clemson college of business logo">
            <a:extLst>
              <a:ext uri="{FF2B5EF4-FFF2-40B4-BE49-F238E27FC236}">
                <a16:creationId xmlns:a16="http://schemas.microsoft.com/office/drawing/2014/main" id="{40E32EA3-BC7C-476F-8FEE-08F5B84B2FA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028541" y="136525"/>
            <a:ext cx="1966170" cy="595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935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b="1" kern="1200">
          <a:solidFill>
            <a:schemeClr val="tx1"/>
          </a:solidFill>
          <a:latin typeface="Arial Nova" panose="020B0504020202020204" pitchFamily="34" charset="0"/>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lemson-canvas.kaf.kaltura.com/browseandembed/index/media-redirect/entryid/1_sj9ss8j8/showDescription/false/showTitle/false/showTags/false/showDuration/false/showOwner/false/showUploadDate/false/playerSize/608x402/playerSkin/48899082/thumbEmbed/autoPlay/startTime/endTim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mongodb.com/try/download/communit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mongodb.com/try/download/shel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mongodb.com/try/download/database-tools"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0" y="0"/>
            <a:ext cx="9169400" cy="6862836"/>
            <a:chOff x="0" y="0"/>
            <a:chExt cx="9169400" cy="6862836"/>
          </a:xfrm>
        </p:grpSpPr>
        <p:grpSp>
          <p:nvGrpSpPr>
            <p:cNvPr id="2" name="Group 1"/>
            <p:cNvGrpSpPr/>
            <p:nvPr/>
          </p:nvGrpSpPr>
          <p:grpSpPr>
            <a:xfrm>
              <a:off x="0" y="0"/>
              <a:ext cx="9169400" cy="6862836"/>
              <a:chOff x="0" y="0"/>
              <a:chExt cx="9169400" cy="6862836"/>
            </a:xfrm>
          </p:grpSpPr>
          <p:sp>
            <p:nvSpPr>
              <p:cNvPr id="12" name="Rectangle 11"/>
              <p:cNvSpPr/>
              <p:nvPr/>
            </p:nvSpPr>
            <p:spPr>
              <a:xfrm>
                <a:off x="0" y="0"/>
                <a:ext cx="9144000" cy="6862836"/>
              </a:xfrm>
              <a:prstGeom prst="rect">
                <a:avLst/>
              </a:prstGeom>
              <a:solidFill>
                <a:srgbClr val="EA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25400" y="6106282"/>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5400" y="5854699"/>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5401" y="5979282"/>
                <a:ext cx="9143999"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25400" y="6489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25400" y="6362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5400" y="6238118"/>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0976" y="684143"/>
                <a:ext cx="2565400" cy="5842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pic>
            <p:nvPicPr>
              <p:cNvPr id="56" name="Picture 55" descr="Untitled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76" y="176800"/>
                <a:ext cx="3194304" cy="560832"/>
              </a:xfrm>
              <a:prstGeom prst="rect">
                <a:avLst/>
              </a:prstGeom>
              <a:ln>
                <a:noFill/>
              </a:ln>
            </p:spPr>
          </p:pic>
          <p:pic>
            <p:nvPicPr>
              <p:cNvPr id="57" name="Picture 56" descr="Untitl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976" y="587115"/>
                <a:ext cx="2645664" cy="719328"/>
              </a:xfrm>
              <a:prstGeom prst="rect">
                <a:avLst/>
              </a:prstGeom>
              <a:ln>
                <a:noFill/>
              </a:ln>
            </p:spPr>
          </p:pic>
        </p:grpSp>
        <p:cxnSp>
          <p:nvCxnSpPr>
            <p:cNvPr id="16" name="Straight Connector 15"/>
            <p:cNvCxnSpPr/>
            <p:nvPr/>
          </p:nvCxnSpPr>
          <p:spPr>
            <a:xfrm>
              <a:off x="25400" y="6106282"/>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5400" y="5854699"/>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5401" y="5979282"/>
              <a:ext cx="9143999"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25400" y="6489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5400" y="6362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5400" y="6238118"/>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grpSp>
      <p:sp>
        <p:nvSpPr>
          <p:cNvPr id="3" name="Title 2"/>
          <p:cNvSpPr>
            <a:spLocks noGrp="1"/>
          </p:cNvSpPr>
          <p:nvPr>
            <p:ph type="ctrTitle"/>
          </p:nvPr>
        </p:nvSpPr>
        <p:spPr>
          <a:xfrm>
            <a:off x="0" y="1939925"/>
            <a:ext cx="9143999" cy="1470025"/>
          </a:xfrm>
        </p:spPr>
        <p:txBody>
          <a:bodyPr>
            <a:normAutofit/>
          </a:bodyPr>
          <a:lstStyle/>
          <a:p>
            <a:pPr algn="ctr"/>
            <a:r>
              <a:rPr lang="en-US" altLang="zh-CN" sz="3600" b="1" dirty="0">
                <a:solidFill>
                  <a:srgbClr val="FFFFFF"/>
                </a:solidFill>
                <a:latin typeface="Goudy Old Style"/>
                <a:cs typeface="Goudy Old Style"/>
              </a:rPr>
              <a:t>Chapter 7</a:t>
            </a:r>
            <a:br>
              <a:rPr lang="en-US" altLang="zh-CN" sz="4000" b="1" dirty="0">
                <a:solidFill>
                  <a:srgbClr val="FFFFFF"/>
                </a:solidFill>
                <a:latin typeface="Goudy Old Style"/>
                <a:cs typeface="Goudy Old Style"/>
              </a:rPr>
            </a:br>
            <a:r>
              <a:rPr lang="en-US" altLang="zh-CN" sz="4000" b="1" dirty="0">
                <a:solidFill>
                  <a:srgbClr val="FFFFFF"/>
                </a:solidFill>
                <a:latin typeface="Goudy Old Style"/>
                <a:cs typeface="Goudy Old Style"/>
              </a:rPr>
              <a:t>Part IV: Working with MongoDB</a:t>
            </a:r>
            <a:endParaRPr lang="en-US" sz="4000" b="1" dirty="0">
              <a:solidFill>
                <a:srgbClr val="FFFFFF"/>
              </a:solidFill>
              <a:latin typeface="Goudy Old Style"/>
              <a:cs typeface="Goudy Old Style"/>
            </a:endParaRPr>
          </a:p>
        </p:txBody>
      </p:sp>
      <p:sp>
        <p:nvSpPr>
          <p:cNvPr id="4" name="Subtitle 3"/>
          <p:cNvSpPr>
            <a:spLocks noGrp="1"/>
          </p:cNvSpPr>
          <p:nvPr>
            <p:ph type="subTitle" idx="1"/>
          </p:nvPr>
        </p:nvSpPr>
        <p:spPr>
          <a:xfrm>
            <a:off x="0" y="4343402"/>
            <a:ext cx="9143999" cy="1386710"/>
          </a:xfrm>
        </p:spPr>
        <p:txBody>
          <a:bodyPr>
            <a:normAutofit/>
          </a:bodyPr>
          <a:lstStyle/>
          <a:p>
            <a:r>
              <a:rPr lang="en-US" sz="2800" dirty="0">
                <a:solidFill>
                  <a:srgbClr val="FFFFFF"/>
                </a:solidFill>
                <a:latin typeface="Goudy Old Style"/>
                <a:cs typeface="Goudy Old Style"/>
              </a:rPr>
              <a:t>Instructor: He Li</a:t>
            </a:r>
          </a:p>
        </p:txBody>
      </p:sp>
    </p:spTree>
    <p:extLst>
      <p:ext uri="{BB962C8B-B14F-4D97-AF65-F5344CB8AC3E}">
        <p14:creationId xmlns:p14="http://schemas.microsoft.com/office/powerpoint/2010/main" val="3704163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3036-7F79-4E18-833A-AC2936B6AF44}"/>
              </a:ext>
            </a:extLst>
          </p:cNvPr>
          <p:cNvSpPr>
            <a:spLocks noGrp="1"/>
          </p:cNvSpPr>
          <p:nvPr>
            <p:ph type="title"/>
          </p:nvPr>
        </p:nvSpPr>
        <p:spPr/>
        <p:txBody>
          <a:bodyPr/>
          <a:lstStyle/>
          <a:p>
            <a:r>
              <a:rPr lang="en-US" dirty="0"/>
              <a:t>Introduction to MongoDB</a:t>
            </a:r>
          </a:p>
        </p:txBody>
      </p:sp>
      <p:sp>
        <p:nvSpPr>
          <p:cNvPr id="3" name="Content Placeholder 2">
            <a:extLst>
              <a:ext uri="{FF2B5EF4-FFF2-40B4-BE49-F238E27FC236}">
                <a16:creationId xmlns:a16="http://schemas.microsoft.com/office/drawing/2014/main" id="{BFE5A05F-8C0A-4273-B9D4-42B0EE20F2E4}"/>
              </a:ext>
            </a:extLst>
          </p:cNvPr>
          <p:cNvSpPr>
            <a:spLocks noGrp="1"/>
          </p:cNvSpPr>
          <p:nvPr>
            <p:ph idx="1"/>
          </p:nvPr>
        </p:nvSpPr>
        <p:spPr>
          <a:xfrm>
            <a:off x="149289" y="1166018"/>
            <a:ext cx="8770776" cy="3057639"/>
          </a:xfrm>
        </p:spPr>
        <p:txBody>
          <a:bodyPr>
            <a:normAutofit/>
          </a:bodyPr>
          <a:lstStyle/>
          <a:p>
            <a:r>
              <a:rPr lang="en-US" sz="2200" dirty="0"/>
              <a:t>Supporting large data sets; designed for high availability, scalability, and performance.</a:t>
            </a:r>
          </a:p>
          <a:p>
            <a:r>
              <a:rPr lang="en-US" sz="2200" dirty="0"/>
              <a:t>Widely adopted in companies such as Adobe, Nokia, eBay, SAP, Cisco, Verizon, etc.</a:t>
            </a:r>
          </a:p>
          <a:p>
            <a:r>
              <a:rPr lang="en-US" sz="2200" dirty="0"/>
              <a:t>Schema-less and aggregate aware</a:t>
            </a:r>
          </a:p>
          <a:p>
            <a:r>
              <a:rPr lang="en-US" sz="2200" dirty="0"/>
              <a:t>Documents are formatted using BSON for storage and appear as JSON files for users</a:t>
            </a:r>
          </a:p>
        </p:txBody>
      </p:sp>
      <p:pic>
        <p:nvPicPr>
          <p:cNvPr id="1026" name="Picture 2" descr="Image result for mongodb collection vs document">
            <a:extLst>
              <a:ext uri="{FF2B5EF4-FFF2-40B4-BE49-F238E27FC236}">
                <a16:creationId xmlns:a16="http://schemas.microsoft.com/office/drawing/2014/main" id="{84C1F99E-4C62-4FC3-8550-5D62D13FDC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27" t="5965" r="9883" b="7051"/>
          <a:stretch/>
        </p:blipFill>
        <p:spPr bwMode="auto">
          <a:xfrm>
            <a:off x="2067007" y="3791100"/>
            <a:ext cx="4908446" cy="2994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081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D2B4-BC12-47CF-92B1-B3FF975A286C}"/>
              </a:ext>
            </a:extLst>
          </p:cNvPr>
          <p:cNvSpPr>
            <a:spLocks noGrp="1"/>
          </p:cNvSpPr>
          <p:nvPr>
            <p:ph type="title"/>
          </p:nvPr>
        </p:nvSpPr>
        <p:spPr/>
        <p:txBody>
          <a:bodyPr/>
          <a:lstStyle/>
          <a:p>
            <a:r>
              <a:rPr lang="en-US" dirty="0"/>
              <a:t>JSON Documents</a:t>
            </a:r>
          </a:p>
        </p:txBody>
      </p:sp>
      <p:sp>
        <p:nvSpPr>
          <p:cNvPr id="3" name="Content Placeholder 2">
            <a:extLst>
              <a:ext uri="{FF2B5EF4-FFF2-40B4-BE49-F238E27FC236}">
                <a16:creationId xmlns:a16="http://schemas.microsoft.com/office/drawing/2014/main" id="{AA2A374D-8061-4B0C-B82C-D683C6EC37ED}"/>
              </a:ext>
            </a:extLst>
          </p:cNvPr>
          <p:cNvSpPr>
            <a:spLocks noGrp="1"/>
          </p:cNvSpPr>
          <p:nvPr>
            <p:ph idx="1"/>
          </p:nvPr>
        </p:nvSpPr>
        <p:spPr>
          <a:xfrm>
            <a:off x="149289" y="1071423"/>
            <a:ext cx="8770776" cy="2108810"/>
          </a:xfrm>
        </p:spPr>
        <p:txBody>
          <a:bodyPr>
            <a:normAutofit/>
          </a:bodyPr>
          <a:lstStyle/>
          <a:p>
            <a:r>
              <a:rPr lang="en-US" sz="2200" dirty="0"/>
              <a:t>JavaScript Object Notation (JSON) is a data interchange format that represents data as a logical object. </a:t>
            </a:r>
          </a:p>
          <a:p>
            <a:r>
              <a:rPr lang="en-US" sz="2200" dirty="0"/>
              <a:t>Key-value pairs are typically written in the format </a:t>
            </a:r>
            <a:r>
              <a:rPr lang="en-US" sz="2200" i="1" dirty="0" err="1"/>
              <a:t>key:value</a:t>
            </a:r>
            <a:endParaRPr lang="en-US" sz="2200" i="1" dirty="0"/>
          </a:p>
          <a:p>
            <a:r>
              <a:rPr lang="en-US" sz="2200" dirty="0"/>
              <a:t>A simple example: </a:t>
            </a:r>
          </a:p>
          <a:p>
            <a:pPr marL="0" indent="0" algn="ctr">
              <a:buNone/>
            </a:pPr>
            <a:r>
              <a:rPr lang="en-US" sz="2200" dirty="0"/>
              <a:t>{_id: 101, title: “Database Systems”}</a:t>
            </a:r>
          </a:p>
        </p:txBody>
      </p:sp>
      <p:sp>
        <p:nvSpPr>
          <p:cNvPr id="7" name="Content Placeholder 2">
            <a:extLst>
              <a:ext uri="{FF2B5EF4-FFF2-40B4-BE49-F238E27FC236}">
                <a16:creationId xmlns:a16="http://schemas.microsoft.com/office/drawing/2014/main" id="{1D91BABB-8B1B-4735-84A3-0A6B6E4D0601}"/>
              </a:ext>
            </a:extLst>
          </p:cNvPr>
          <p:cNvSpPr txBox="1">
            <a:spLocks/>
          </p:cNvSpPr>
          <p:nvPr/>
        </p:nvSpPr>
        <p:spPr>
          <a:xfrm>
            <a:off x="186612" y="3180233"/>
            <a:ext cx="8770776" cy="91533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200" dirty="0"/>
              <a:t>Adding a </a:t>
            </a:r>
            <a:r>
              <a:rPr lang="en-US" sz="2200" dirty="0" err="1"/>
              <a:t>key:value</a:t>
            </a:r>
            <a:r>
              <a:rPr lang="en-US" sz="2200" dirty="0"/>
              <a:t> pair with multiple values:</a:t>
            </a:r>
          </a:p>
          <a:p>
            <a:pPr marL="0" indent="0" algn="ctr">
              <a:buNone/>
            </a:pPr>
            <a:r>
              <a:rPr lang="en-US" sz="2200" dirty="0"/>
              <a:t>{_id: 101, title: “Database Systems”, author: [“Coronel”, “Morris”]}</a:t>
            </a:r>
          </a:p>
        </p:txBody>
      </p:sp>
      <p:sp>
        <p:nvSpPr>
          <p:cNvPr id="8" name="Content Placeholder 2">
            <a:extLst>
              <a:ext uri="{FF2B5EF4-FFF2-40B4-BE49-F238E27FC236}">
                <a16:creationId xmlns:a16="http://schemas.microsoft.com/office/drawing/2014/main" id="{89B7DDC7-8C05-4071-B0DF-80F12435949E}"/>
              </a:ext>
            </a:extLst>
          </p:cNvPr>
          <p:cNvSpPr txBox="1">
            <a:spLocks/>
          </p:cNvSpPr>
          <p:nvPr/>
        </p:nvSpPr>
        <p:spPr>
          <a:xfrm>
            <a:off x="186612" y="4204936"/>
            <a:ext cx="8770776" cy="255846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200" dirty="0"/>
              <a:t>Improve readability:</a:t>
            </a:r>
          </a:p>
          <a:p>
            <a:pPr marL="1257300" lvl="3" indent="0">
              <a:buNone/>
            </a:pPr>
            <a:r>
              <a:rPr lang="en-US" sz="2200" dirty="0"/>
              <a:t>{</a:t>
            </a:r>
          </a:p>
          <a:p>
            <a:pPr marL="1257300" lvl="3" indent="0">
              <a:buNone/>
            </a:pPr>
            <a:r>
              <a:rPr lang="en-US" sz="2200" dirty="0"/>
              <a:t>_id: 101,</a:t>
            </a:r>
          </a:p>
          <a:p>
            <a:pPr marL="1257300" lvl="3" indent="0">
              <a:buNone/>
            </a:pPr>
            <a:r>
              <a:rPr lang="en-US" sz="2200" dirty="0"/>
              <a:t>title: “Database Systems”,</a:t>
            </a:r>
          </a:p>
          <a:p>
            <a:pPr marL="1257300" lvl="3" indent="0">
              <a:buNone/>
            </a:pPr>
            <a:r>
              <a:rPr lang="en-US" sz="2200" dirty="0"/>
              <a:t>author: [“Coronel”, “Morris”]</a:t>
            </a:r>
          </a:p>
          <a:p>
            <a:pPr marL="1257300" lvl="3" indent="0">
              <a:buNone/>
            </a:pPr>
            <a:r>
              <a:rPr lang="en-US" sz="2200" dirty="0"/>
              <a:t>}</a:t>
            </a:r>
          </a:p>
        </p:txBody>
      </p:sp>
    </p:spTree>
    <p:extLst>
      <p:ext uri="{BB962C8B-B14F-4D97-AF65-F5344CB8AC3E}">
        <p14:creationId xmlns:p14="http://schemas.microsoft.com/office/powerpoint/2010/main" val="425690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E771-EF46-4C79-9A5E-C03CC0908A98}"/>
              </a:ext>
            </a:extLst>
          </p:cNvPr>
          <p:cNvSpPr>
            <a:spLocks noGrp="1"/>
          </p:cNvSpPr>
          <p:nvPr>
            <p:ph type="title"/>
          </p:nvPr>
        </p:nvSpPr>
        <p:spPr/>
        <p:txBody>
          <a:bodyPr/>
          <a:lstStyle/>
          <a:p>
            <a:r>
              <a:rPr lang="en-US" dirty="0"/>
              <a:t>JSON Documents (cont.)</a:t>
            </a:r>
          </a:p>
        </p:txBody>
      </p:sp>
      <p:sp>
        <p:nvSpPr>
          <p:cNvPr id="3" name="Content Placeholder 2">
            <a:extLst>
              <a:ext uri="{FF2B5EF4-FFF2-40B4-BE49-F238E27FC236}">
                <a16:creationId xmlns:a16="http://schemas.microsoft.com/office/drawing/2014/main" id="{D8DDA1A8-B138-4E35-ACBC-F6F05F769929}"/>
              </a:ext>
            </a:extLst>
          </p:cNvPr>
          <p:cNvSpPr>
            <a:spLocks noGrp="1"/>
          </p:cNvSpPr>
          <p:nvPr>
            <p:ph idx="1"/>
          </p:nvPr>
        </p:nvSpPr>
        <p:spPr>
          <a:xfrm>
            <a:off x="149289" y="831522"/>
            <a:ext cx="4099982" cy="2262982"/>
          </a:xfrm>
        </p:spPr>
        <p:txBody>
          <a:bodyPr>
            <a:normAutofit/>
          </a:bodyPr>
          <a:lstStyle/>
          <a:p>
            <a:pPr marL="0" indent="0">
              <a:buNone/>
            </a:pPr>
            <a:r>
              <a:rPr lang="en-US" sz="2000" dirty="0"/>
              <a:t>{</a:t>
            </a:r>
          </a:p>
          <a:p>
            <a:pPr marL="0" indent="0">
              <a:buNone/>
            </a:pPr>
            <a:r>
              <a:rPr lang="en-US" sz="2000" dirty="0"/>
              <a:t>Name: “Cengage”,</a:t>
            </a:r>
          </a:p>
          <a:p>
            <a:pPr marL="0" indent="0">
              <a:buNone/>
            </a:pPr>
            <a:r>
              <a:rPr lang="en-US" sz="2000" dirty="0"/>
              <a:t>Address: “500 </a:t>
            </a:r>
            <a:r>
              <a:rPr lang="en-US" sz="2000" dirty="0" err="1"/>
              <a:t>Topbooks</a:t>
            </a:r>
            <a:r>
              <a:rPr lang="en-US" sz="2000" dirty="0"/>
              <a:t> Avenue”,</a:t>
            </a:r>
          </a:p>
          <a:p>
            <a:pPr marL="0" indent="0">
              <a:buNone/>
            </a:pPr>
            <a:r>
              <a:rPr lang="en-US" sz="2000" dirty="0"/>
              <a:t>City: “Boston”,</a:t>
            </a:r>
          </a:p>
          <a:p>
            <a:pPr marL="0" indent="0">
              <a:buNone/>
            </a:pPr>
            <a:r>
              <a:rPr lang="en-US" sz="2000" dirty="0"/>
              <a:t>State: “MA”</a:t>
            </a:r>
          </a:p>
          <a:p>
            <a:pPr marL="0" indent="0">
              <a:buNone/>
            </a:pPr>
            <a:r>
              <a:rPr lang="en-US" sz="2000" dirty="0"/>
              <a:t>}</a:t>
            </a:r>
          </a:p>
        </p:txBody>
      </p:sp>
      <p:sp>
        <p:nvSpPr>
          <p:cNvPr id="4" name="Rectangle 3">
            <a:extLst>
              <a:ext uri="{FF2B5EF4-FFF2-40B4-BE49-F238E27FC236}">
                <a16:creationId xmlns:a16="http://schemas.microsoft.com/office/drawing/2014/main" id="{27525842-00C8-4BB2-9E72-946C73BC9437}"/>
              </a:ext>
            </a:extLst>
          </p:cNvPr>
          <p:cNvSpPr/>
          <p:nvPr/>
        </p:nvSpPr>
        <p:spPr>
          <a:xfrm>
            <a:off x="4569258" y="1182073"/>
            <a:ext cx="4707841" cy="3477875"/>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_id: 101,</a:t>
            </a:r>
          </a:p>
          <a:p>
            <a:r>
              <a:rPr lang="en-US" sz="2000" dirty="0">
                <a:latin typeface="Arial" panose="020B0604020202020204" pitchFamily="34" charset="0"/>
                <a:cs typeface="Arial" panose="020B0604020202020204" pitchFamily="34" charset="0"/>
              </a:rPr>
              <a:t>title: “Database Systems”,</a:t>
            </a:r>
          </a:p>
          <a:p>
            <a:r>
              <a:rPr lang="en-US" sz="2000" dirty="0">
                <a:latin typeface="Arial" panose="020B0604020202020204" pitchFamily="34" charset="0"/>
                <a:cs typeface="Arial" panose="020B0604020202020204" pitchFamily="34" charset="0"/>
              </a:rPr>
              <a:t>author: [“Coronel”, “Morris”],</a:t>
            </a:r>
          </a:p>
          <a:p>
            <a:r>
              <a:rPr lang="en-US" sz="2000" dirty="0">
                <a:latin typeface="Arial" panose="020B0604020202020204" pitchFamily="34" charset="0"/>
                <a:cs typeface="Arial" panose="020B0604020202020204" pitchFamily="34" charset="0"/>
              </a:rPr>
              <a:t>publisher: {</a:t>
            </a:r>
          </a:p>
          <a:p>
            <a:pPr lvl="2"/>
            <a:r>
              <a:rPr lang="en-US" sz="2000" dirty="0">
                <a:latin typeface="Arial" panose="020B0604020202020204" pitchFamily="34" charset="0"/>
                <a:cs typeface="Arial" panose="020B0604020202020204" pitchFamily="34" charset="0"/>
              </a:rPr>
              <a:t>name: “Cengage”,</a:t>
            </a:r>
          </a:p>
          <a:p>
            <a:pPr lvl="2"/>
            <a:r>
              <a:rPr lang="en-US" sz="2000" dirty="0">
                <a:latin typeface="Arial" panose="020B0604020202020204" pitchFamily="34" charset="0"/>
                <a:cs typeface="Arial" panose="020B0604020202020204" pitchFamily="34" charset="0"/>
              </a:rPr>
              <a:t>street: “500 </a:t>
            </a:r>
            <a:r>
              <a:rPr lang="en-US" sz="2000" dirty="0" err="1">
                <a:latin typeface="Arial" panose="020B0604020202020204" pitchFamily="34" charset="0"/>
                <a:cs typeface="Arial" panose="020B0604020202020204" pitchFamily="34" charset="0"/>
              </a:rPr>
              <a:t>Topbooks</a:t>
            </a:r>
            <a:r>
              <a:rPr lang="en-US" sz="2000" dirty="0">
                <a:latin typeface="Arial" panose="020B0604020202020204" pitchFamily="34" charset="0"/>
                <a:cs typeface="Arial" panose="020B0604020202020204" pitchFamily="34" charset="0"/>
              </a:rPr>
              <a:t> Avenue”,</a:t>
            </a:r>
          </a:p>
          <a:p>
            <a:pPr lvl="2"/>
            <a:r>
              <a:rPr lang="en-US" sz="2000" dirty="0">
                <a:latin typeface="Arial" panose="020B0604020202020204" pitchFamily="34" charset="0"/>
                <a:cs typeface="Arial" panose="020B0604020202020204" pitchFamily="34" charset="0"/>
              </a:rPr>
              <a:t>city: “Boston”,</a:t>
            </a:r>
          </a:p>
          <a:p>
            <a:pPr lvl="2"/>
            <a:r>
              <a:rPr lang="en-US" sz="2000" dirty="0">
                <a:latin typeface="Arial" panose="020B0604020202020204" pitchFamily="34" charset="0"/>
                <a:cs typeface="Arial" panose="020B0604020202020204" pitchFamily="34" charset="0"/>
              </a:rPr>
              <a:t>state: “MA”</a:t>
            </a:r>
          </a:p>
          <a:p>
            <a:pPr lvl="2"/>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51E9CFB5-20B8-446B-B9AF-788F1EB8CCC3}"/>
              </a:ext>
            </a:extLst>
          </p:cNvPr>
          <p:cNvPicPr>
            <a:picLocks noChangeAspect="1"/>
          </p:cNvPicPr>
          <p:nvPr/>
        </p:nvPicPr>
        <p:blipFill>
          <a:blip r:embed="rId3"/>
          <a:stretch>
            <a:fillRect/>
          </a:stretch>
        </p:blipFill>
        <p:spPr>
          <a:xfrm>
            <a:off x="534526" y="2944906"/>
            <a:ext cx="4034732" cy="3832411"/>
          </a:xfrm>
          <a:prstGeom prst="rect">
            <a:avLst/>
          </a:prstGeom>
        </p:spPr>
      </p:pic>
    </p:spTree>
    <p:extLst>
      <p:ext uri="{BB962C8B-B14F-4D97-AF65-F5344CB8AC3E}">
        <p14:creationId xmlns:p14="http://schemas.microsoft.com/office/powerpoint/2010/main" val="336080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B1D61-3201-4FF1-BEAE-6860F142EA6B}"/>
              </a:ext>
            </a:extLst>
          </p:cNvPr>
          <p:cNvSpPr>
            <a:spLocks noGrp="1"/>
          </p:cNvSpPr>
          <p:nvPr>
            <p:ph type="title"/>
          </p:nvPr>
        </p:nvSpPr>
        <p:spPr/>
        <p:txBody>
          <a:bodyPr/>
          <a:lstStyle/>
          <a:p>
            <a:r>
              <a:rPr lang="en-US" dirty="0"/>
              <a:t>Installing MongoDB</a:t>
            </a:r>
          </a:p>
        </p:txBody>
      </p:sp>
      <p:sp>
        <p:nvSpPr>
          <p:cNvPr id="6" name="Content Placeholder 5">
            <a:extLst>
              <a:ext uri="{FF2B5EF4-FFF2-40B4-BE49-F238E27FC236}">
                <a16:creationId xmlns:a16="http://schemas.microsoft.com/office/drawing/2014/main" id="{044E2ED7-D797-4772-9CB1-81E9D680C54D}"/>
              </a:ext>
            </a:extLst>
          </p:cNvPr>
          <p:cNvSpPr>
            <a:spLocks noGrp="1"/>
          </p:cNvSpPr>
          <p:nvPr>
            <p:ph idx="1"/>
          </p:nvPr>
        </p:nvSpPr>
        <p:spPr/>
        <p:txBody>
          <a:bodyPr>
            <a:normAutofit/>
          </a:bodyPr>
          <a:lstStyle/>
          <a:p>
            <a:r>
              <a:rPr lang="en-US" altLang="zh-CN" sz="2400" dirty="0"/>
              <a:t>Installation Tutorials</a:t>
            </a:r>
          </a:p>
          <a:p>
            <a:pPr lvl="1"/>
            <a:r>
              <a:rPr lang="en-US" altLang="zh-CN" sz="2000" dirty="0"/>
              <a:t>For macOS User, go to Canvas, the video “</a:t>
            </a:r>
            <a:r>
              <a:rPr lang="en-US" altLang="zh-CN" sz="2000" dirty="0">
                <a:hlinkClick r:id="rId3"/>
              </a:rPr>
              <a:t>Setting Up MongoDB on Mac</a:t>
            </a:r>
            <a:r>
              <a:rPr lang="en-US" altLang="zh-CN" sz="2000" dirty="0"/>
              <a:t>” </a:t>
            </a:r>
          </a:p>
          <a:p>
            <a:pPr lvl="1"/>
            <a:r>
              <a:rPr lang="en-US" sz="2000" dirty="0"/>
              <a:t>For Windows User, see the next few pages with screenshot OR go to Canvas, the video “Setting Up MongoDB on Windows”</a:t>
            </a:r>
          </a:p>
        </p:txBody>
      </p:sp>
    </p:spTree>
    <p:extLst>
      <p:ext uri="{BB962C8B-B14F-4D97-AF65-F5344CB8AC3E}">
        <p14:creationId xmlns:p14="http://schemas.microsoft.com/office/powerpoint/2010/main" val="2205463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EEA23D-861C-846F-6258-09D206D4572B}"/>
              </a:ext>
            </a:extLst>
          </p:cNvPr>
          <p:cNvPicPr>
            <a:picLocks noChangeAspect="1"/>
          </p:cNvPicPr>
          <p:nvPr/>
        </p:nvPicPr>
        <p:blipFill>
          <a:blip r:embed="rId3"/>
          <a:stretch>
            <a:fillRect/>
          </a:stretch>
        </p:blipFill>
        <p:spPr>
          <a:xfrm>
            <a:off x="354254" y="1883417"/>
            <a:ext cx="8435491" cy="4498454"/>
          </a:xfrm>
          <a:prstGeom prst="rect">
            <a:avLst/>
          </a:prstGeom>
        </p:spPr>
      </p:pic>
      <p:sp>
        <p:nvSpPr>
          <p:cNvPr id="2" name="Title 1">
            <a:extLst>
              <a:ext uri="{FF2B5EF4-FFF2-40B4-BE49-F238E27FC236}">
                <a16:creationId xmlns:a16="http://schemas.microsoft.com/office/drawing/2014/main" id="{7ACBE5C3-5274-4F01-846D-E5E457FFFB36}"/>
              </a:ext>
            </a:extLst>
          </p:cNvPr>
          <p:cNvSpPr>
            <a:spLocks noGrp="1"/>
          </p:cNvSpPr>
          <p:nvPr>
            <p:ph type="title"/>
          </p:nvPr>
        </p:nvSpPr>
        <p:spPr/>
        <p:txBody>
          <a:bodyPr/>
          <a:lstStyle/>
          <a:p>
            <a:r>
              <a:rPr lang="en-US" dirty="0"/>
              <a:t>Download Installation File</a:t>
            </a:r>
          </a:p>
        </p:txBody>
      </p:sp>
      <p:sp>
        <p:nvSpPr>
          <p:cNvPr id="3" name="Content Placeholder 2">
            <a:extLst>
              <a:ext uri="{FF2B5EF4-FFF2-40B4-BE49-F238E27FC236}">
                <a16:creationId xmlns:a16="http://schemas.microsoft.com/office/drawing/2014/main" id="{BE045101-33FD-4223-BFC7-CFC3F5634DED}"/>
              </a:ext>
            </a:extLst>
          </p:cNvPr>
          <p:cNvSpPr>
            <a:spLocks noGrp="1"/>
          </p:cNvSpPr>
          <p:nvPr>
            <p:ph idx="1"/>
          </p:nvPr>
        </p:nvSpPr>
        <p:spPr>
          <a:xfrm>
            <a:off x="149290" y="1006529"/>
            <a:ext cx="8770776" cy="1013657"/>
          </a:xfrm>
        </p:spPr>
        <p:txBody>
          <a:bodyPr>
            <a:normAutofit/>
          </a:bodyPr>
          <a:lstStyle/>
          <a:p>
            <a:r>
              <a:rPr lang="en-US" sz="2200" dirty="0"/>
              <a:t>Go to MongoDB download center </a:t>
            </a:r>
            <a:r>
              <a:rPr lang="en-US" sz="2200" dirty="0">
                <a:hlinkClick r:id="rId4"/>
              </a:rPr>
              <a:t>https://www.mongodb.com/try/download/community</a:t>
            </a:r>
            <a:r>
              <a:rPr lang="en-US" sz="2200" dirty="0"/>
              <a:t> </a:t>
            </a:r>
          </a:p>
        </p:txBody>
      </p:sp>
      <p:sp>
        <p:nvSpPr>
          <p:cNvPr id="5" name="Rectangle 4">
            <a:extLst>
              <a:ext uri="{FF2B5EF4-FFF2-40B4-BE49-F238E27FC236}">
                <a16:creationId xmlns:a16="http://schemas.microsoft.com/office/drawing/2014/main" id="{9E262610-AF4E-4E81-824C-24B295DFE9D0}"/>
              </a:ext>
            </a:extLst>
          </p:cNvPr>
          <p:cNvSpPr/>
          <p:nvPr/>
        </p:nvSpPr>
        <p:spPr>
          <a:xfrm>
            <a:off x="3568395" y="3374374"/>
            <a:ext cx="5175939" cy="3106301"/>
          </a:xfrm>
          <a:prstGeom prst="rect">
            <a:avLst/>
          </a:prstGeom>
          <a:noFill/>
          <a:ln w="254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893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CE6CD6-CDBC-A03D-172E-F14FD26C7560}"/>
              </a:ext>
            </a:extLst>
          </p:cNvPr>
          <p:cNvPicPr>
            <a:picLocks noChangeAspect="1"/>
          </p:cNvPicPr>
          <p:nvPr/>
        </p:nvPicPr>
        <p:blipFill>
          <a:blip r:embed="rId2"/>
          <a:stretch>
            <a:fillRect/>
          </a:stretch>
        </p:blipFill>
        <p:spPr>
          <a:xfrm>
            <a:off x="4590093" y="2864583"/>
            <a:ext cx="4384376" cy="3416048"/>
          </a:xfrm>
          <a:prstGeom prst="rect">
            <a:avLst/>
          </a:prstGeom>
        </p:spPr>
      </p:pic>
      <p:pic>
        <p:nvPicPr>
          <p:cNvPr id="8" name="Picture 7">
            <a:extLst>
              <a:ext uri="{FF2B5EF4-FFF2-40B4-BE49-F238E27FC236}">
                <a16:creationId xmlns:a16="http://schemas.microsoft.com/office/drawing/2014/main" id="{54112255-B4B1-43F1-3A12-45B55086937B}"/>
              </a:ext>
            </a:extLst>
          </p:cNvPr>
          <p:cNvPicPr>
            <a:picLocks noChangeAspect="1"/>
          </p:cNvPicPr>
          <p:nvPr/>
        </p:nvPicPr>
        <p:blipFill>
          <a:blip r:embed="rId3"/>
          <a:stretch>
            <a:fillRect/>
          </a:stretch>
        </p:blipFill>
        <p:spPr>
          <a:xfrm>
            <a:off x="106900" y="1588874"/>
            <a:ext cx="4334055" cy="3416048"/>
          </a:xfrm>
          <a:prstGeom prst="rect">
            <a:avLst/>
          </a:prstGeom>
        </p:spPr>
      </p:pic>
      <p:sp>
        <p:nvSpPr>
          <p:cNvPr id="2" name="Title 1">
            <a:extLst>
              <a:ext uri="{FF2B5EF4-FFF2-40B4-BE49-F238E27FC236}">
                <a16:creationId xmlns:a16="http://schemas.microsoft.com/office/drawing/2014/main" id="{6B10E76A-C6C5-4D6D-A70A-720B3383B5C0}"/>
              </a:ext>
            </a:extLst>
          </p:cNvPr>
          <p:cNvSpPr>
            <a:spLocks noGrp="1"/>
          </p:cNvSpPr>
          <p:nvPr>
            <p:ph type="title"/>
          </p:nvPr>
        </p:nvSpPr>
        <p:spPr>
          <a:xfrm>
            <a:off x="149290" y="276841"/>
            <a:ext cx="6879252" cy="581575"/>
          </a:xfrm>
        </p:spPr>
        <p:txBody>
          <a:bodyPr/>
          <a:lstStyle/>
          <a:p>
            <a:r>
              <a:rPr lang="en-US" dirty="0"/>
              <a:t>Installing MongoDB</a:t>
            </a:r>
          </a:p>
        </p:txBody>
      </p:sp>
      <p:sp>
        <p:nvSpPr>
          <p:cNvPr id="3" name="Content Placeholder 2">
            <a:extLst>
              <a:ext uri="{FF2B5EF4-FFF2-40B4-BE49-F238E27FC236}">
                <a16:creationId xmlns:a16="http://schemas.microsoft.com/office/drawing/2014/main" id="{4D9A4D15-AC51-4B89-8771-9472773BA555}"/>
              </a:ext>
            </a:extLst>
          </p:cNvPr>
          <p:cNvSpPr>
            <a:spLocks noGrp="1"/>
          </p:cNvSpPr>
          <p:nvPr>
            <p:ph idx="1"/>
          </p:nvPr>
        </p:nvSpPr>
        <p:spPr>
          <a:xfrm>
            <a:off x="149289" y="1166018"/>
            <a:ext cx="8770776" cy="743805"/>
          </a:xfrm>
        </p:spPr>
        <p:txBody>
          <a:bodyPr>
            <a:normAutofit/>
          </a:bodyPr>
          <a:lstStyle/>
          <a:p>
            <a:r>
              <a:rPr lang="en-US" sz="2200"/>
              <a:t>Double click on the .MSI file. </a:t>
            </a:r>
            <a:endParaRPr lang="en-US" sz="2200" dirty="0"/>
          </a:p>
        </p:txBody>
      </p:sp>
      <p:sp>
        <p:nvSpPr>
          <p:cNvPr id="6" name="Oval 5">
            <a:extLst>
              <a:ext uri="{FF2B5EF4-FFF2-40B4-BE49-F238E27FC236}">
                <a16:creationId xmlns:a16="http://schemas.microsoft.com/office/drawing/2014/main" id="{79791EA6-6037-46CA-A2CA-3113EB2AF712}"/>
              </a:ext>
            </a:extLst>
          </p:cNvPr>
          <p:cNvSpPr/>
          <p:nvPr/>
        </p:nvSpPr>
        <p:spPr>
          <a:xfrm>
            <a:off x="2791027" y="4574815"/>
            <a:ext cx="797889" cy="457041"/>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0098579-0D3E-49E2-AA2D-BB6C7D6D296E}"/>
              </a:ext>
            </a:extLst>
          </p:cNvPr>
          <p:cNvSpPr/>
          <p:nvPr/>
        </p:nvSpPr>
        <p:spPr>
          <a:xfrm>
            <a:off x="4641445" y="5463251"/>
            <a:ext cx="586946" cy="359577"/>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4D7193A-0D90-46EA-BD70-243FD7F145DC}"/>
              </a:ext>
            </a:extLst>
          </p:cNvPr>
          <p:cNvSpPr/>
          <p:nvPr/>
        </p:nvSpPr>
        <p:spPr>
          <a:xfrm>
            <a:off x="7329468" y="5823590"/>
            <a:ext cx="797889" cy="457041"/>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7402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FEDD55C-8D0B-E559-0C50-C2556068449B}"/>
              </a:ext>
            </a:extLst>
          </p:cNvPr>
          <p:cNvPicPr>
            <a:picLocks noChangeAspect="1"/>
          </p:cNvPicPr>
          <p:nvPr/>
        </p:nvPicPr>
        <p:blipFill>
          <a:blip r:embed="rId2"/>
          <a:stretch>
            <a:fillRect/>
          </a:stretch>
        </p:blipFill>
        <p:spPr>
          <a:xfrm>
            <a:off x="4712358" y="1568875"/>
            <a:ext cx="4080408" cy="3164398"/>
          </a:xfrm>
          <a:prstGeom prst="rect">
            <a:avLst/>
          </a:prstGeom>
        </p:spPr>
      </p:pic>
      <p:pic>
        <p:nvPicPr>
          <p:cNvPr id="9" name="Picture 8">
            <a:extLst>
              <a:ext uri="{FF2B5EF4-FFF2-40B4-BE49-F238E27FC236}">
                <a16:creationId xmlns:a16="http://schemas.microsoft.com/office/drawing/2014/main" id="{757EC1BF-911D-96B5-B62F-85DAA1AB4B64}"/>
              </a:ext>
            </a:extLst>
          </p:cNvPr>
          <p:cNvPicPr>
            <a:picLocks noChangeAspect="1"/>
          </p:cNvPicPr>
          <p:nvPr/>
        </p:nvPicPr>
        <p:blipFill>
          <a:blip r:embed="rId3"/>
          <a:stretch>
            <a:fillRect/>
          </a:stretch>
        </p:blipFill>
        <p:spPr>
          <a:xfrm>
            <a:off x="223935" y="1655229"/>
            <a:ext cx="3701750" cy="2899326"/>
          </a:xfrm>
          <a:prstGeom prst="rect">
            <a:avLst/>
          </a:prstGeom>
        </p:spPr>
      </p:pic>
      <p:sp>
        <p:nvSpPr>
          <p:cNvPr id="2" name="Title 1">
            <a:extLst>
              <a:ext uri="{FF2B5EF4-FFF2-40B4-BE49-F238E27FC236}">
                <a16:creationId xmlns:a16="http://schemas.microsoft.com/office/drawing/2014/main" id="{3A6734D2-57B8-43FC-AE4A-09ED36651A1D}"/>
              </a:ext>
            </a:extLst>
          </p:cNvPr>
          <p:cNvSpPr>
            <a:spLocks noGrp="1"/>
          </p:cNvSpPr>
          <p:nvPr>
            <p:ph type="title"/>
          </p:nvPr>
        </p:nvSpPr>
        <p:spPr/>
        <p:txBody>
          <a:bodyPr/>
          <a:lstStyle/>
          <a:p>
            <a:r>
              <a:rPr lang="en-US" dirty="0"/>
              <a:t>Installing MongoDB</a:t>
            </a:r>
          </a:p>
        </p:txBody>
      </p:sp>
      <p:sp>
        <p:nvSpPr>
          <p:cNvPr id="3" name="Content Placeholder 2">
            <a:extLst>
              <a:ext uri="{FF2B5EF4-FFF2-40B4-BE49-F238E27FC236}">
                <a16:creationId xmlns:a16="http://schemas.microsoft.com/office/drawing/2014/main" id="{1274CE6D-A466-4DAD-86B5-5BF2C4F67D51}"/>
              </a:ext>
            </a:extLst>
          </p:cNvPr>
          <p:cNvSpPr>
            <a:spLocks noGrp="1"/>
          </p:cNvSpPr>
          <p:nvPr>
            <p:ph idx="1"/>
          </p:nvPr>
        </p:nvSpPr>
        <p:spPr>
          <a:xfrm>
            <a:off x="149289" y="1166018"/>
            <a:ext cx="8770776" cy="581575"/>
          </a:xfrm>
        </p:spPr>
        <p:txBody>
          <a:bodyPr>
            <a:normAutofit/>
          </a:bodyPr>
          <a:lstStyle/>
          <a:p>
            <a:r>
              <a:rPr lang="en-US" sz="2200" dirty="0"/>
              <a:t>Custom the</a:t>
            </a:r>
            <a:r>
              <a:rPr lang="zh-CN" altLang="en-US" sz="2200" dirty="0"/>
              <a:t> </a:t>
            </a:r>
            <a:r>
              <a:rPr lang="en-US" altLang="zh-CN" sz="2200" dirty="0"/>
              <a:t>Installation</a:t>
            </a:r>
            <a:endParaRPr lang="en-US" sz="2200" dirty="0"/>
          </a:p>
        </p:txBody>
      </p:sp>
      <p:sp>
        <p:nvSpPr>
          <p:cNvPr id="6" name="Oval 5">
            <a:extLst>
              <a:ext uri="{FF2B5EF4-FFF2-40B4-BE49-F238E27FC236}">
                <a16:creationId xmlns:a16="http://schemas.microsoft.com/office/drawing/2014/main" id="{29C271D5-C808-4B40-B6FF-9F1D7498DB8C}"/>
              </a:ext>
            </a:extLst>
          </p:cNvPr>
          <p:cNvSpPr/>
          <p:nvPr/>
        </p:nvSpPr>
        <p:spPr>
          <a:xfrm>
            <a:off x="558278" y="2911240"/>
            <a:ext cx="1062178" cy="457041"/>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69A30BC-508F-4F2B-9026-B7C02C71F99C}"/>
              </a:ext>
            </a:extLst>
          </p:cNvPr>
          <p:cNvSpPr/>
          <p:nvPr/>
        </p:nvSpPr>
        <p:spPr>
          <a:xfrm>
            <a:off x="7730588" y="3931741"/>
            <a:ext cx="1062178" cy="457041"/>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03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85F14-6C00-3A8E-6DB1-F8759AE0C5F0}"/>
              </a:ext>
            </a:extLst>
          </p:cNvPr>
          <p:cNvPicPr>
            <a:picLocks noChangeAspect="1"/>
          </p:cNvPicPr>
          <p:nvPr/>
        </p:nvPicPr>
        <p:blipFill>
          <a:blip r:embed="rId2"/>
          <a:stretch>
            <a:fillRect/>
          </a:stretch>
        </p:blipFill>
        <p:spPr>
          <a:xfrm>
            <a:off x="908320" y="1839105"/>
            <a:ext cx="5640261" cy="4333793"/>
          </a:xfrm>
          <a:prstGeom prst="rect">
            <a:avLst/>
          </a:prstGeom>
        </p:spPr>
      </p:pic>
      <p:sp>
        <p:nvSpPr>
          <p:cNvPr id="2" name="Title 1">
            <a:extLst>
              <a:ext uri="{FF2B5EF4-FFF2-40B4-BE49-F238E27FC236}">
                <a16:creationId xmlns:a16="http://schemas.microsoft.com/office/drawing/2014/main" id="{3A6734D2-57B8-43FC-AE4A-09ED36651A1D}"/>
              </a:ext>
            </a:extLst>
          </p:cNvPr>
          <p:cNvSpPr>
            <a:spLocks noGrp="1"/>
          </p:cNvSpPr>
          <p:nvPr>
            <p:ph type="title"/>
          </p:nvPr>
        </p:nvSpPr>
        <p:spPr/>
        <p:txBody>
          <a:bodyPr/>
          <a:lstStyle/>
          <a:p>
            <a:r>
              <a:rPr lang="en-US" dirty="0"/>
              <a:t>Installing MongoDB</a:t>
            </a:r>
          </a:p>
        </p:txBody>
      </p:sp>
      <p:sp>
        <p:nvSpPr>
          <p:cNvPr id="3" name="Content Placeholder 2">
            <a:extLst>
              <a:ext uri="{FF2B5EF4-FFF2-40B4-BE49-F238E27FC236}">
                <a16:creationId xmlns:a16="http://schemas.microsoft.com/office/drawing/2014/main" id="{1274CE6D-A466-4DAD-86B5-5BF2C4F67D51}"/>
              </a:ext>
            </a:extLst>
          </p:cNvPr>
          <p:cNvSpPr>
            <a:spLocks noGrp="1"/>
          </p:cNvSpPr>
          <p:nvPr>
            <p:ph idx="1"/>
          </p:nvPr>
        </p:nvSpPr>
        <p:spPr>
          <a:xfrm>
            <a:off x="149289" y="1166018"/>
            <a:ext cx="8770776" cy="581575"/>
          </a:xfrm>
        </p:spPr>
        <p:txBody>
          <a:bodyPr>
            <a:normAutofit/>
          </a:bodyPr>
          <a:lstStyle/>
          <a:p>
            <a:r>
              <a:rPr lang="en-US" sz="2200" dirty="0"/>
              <a:t>Custom the</a:t>
            </a:r>
            <a:r>
              <a:rPr lang="zh-CN" altLang="en-US" sz="2200" dirty="0"/>
              <a:t> </a:t>
            </a:r>
            <a:r>
              <a:rPr lang="en-US" altLang="zh-CN" sz="2200" dirty="0"/>
              <a:t>Installation</a:t>
            </a:r>
            <a:endParaRPr lang="en-US" sz="2200" dirty="0"/>
          </a:p>
        </p:txBody>
      </p:sp>
      <p:sp>
        <p:nvSpPr>
          <p:cNvPr id="11" name="Oval 10">
            <a:extLst>
              <a:ext uri="{FF2B5EF4-FFF2-40B4-BE49-F238E27FC236}">
                <a16:creationId xmlns:a16="http://schemas.microsoft.com/office/drawing/2014/main" id="{6049011C-5378-49E4-8B43-7935179300BB}"/>
              </a:ext>
            </a:extLst>
          </p:cNvPr>
          <p:cNvSpPr/>
          <p:nvPr/>
        </p:nvSpPr>
        <p:spPr>
          <a:xfrm>
            <a:off x="1924091" y="3353822"/>
            <a:ext cx="1062178" cy="338504"/>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672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28B3760-14E2-9E37-BC5F-BBFE458818FE}"/>
              </a:ext>
            </a:extLst>
          </p:cNvPr>
          <p:cNvPicPr>
            <a:picLocks noChangeAspect="1"/>
          </p:cNvPicPr>
          <p:nvPr/>
        </p:nvPicPr>
        <p:blipFill>
          <a:blip r:embed="rId2"/>
          <a:stretch>
            <a:fillRect/>
          </a:stretch>
        </p:blipFill>
        <p:spPr>
          <a:xfrm>
            <a:off x="4829905" y="3229138"/>
            <a:ext cx="4196807" cy="3267027"/>
          </a:xfrm>
          <a:prstGeom prst="rect">
            <a:avLst/>
          </a:prstGeom>
        </p:spPr>
      </p:pic>
      <p:pic>
        <p:nvPicPr>
          <p:cNvPr id="4" name="Picture 3">
            <a:extLst>
              <a:ext uri="{FF2B5EF4-FFF2-40B4-BE49-F238E27FC236}">
                <a16:creationId xmlns:a16="http://schemas.microsoft.com/office/drawing/2014/main" id="{832D018E-5B57-8ABF-4E2D-16E7F4B05954}"/>
              </a:ext>
            </a:extLst>
          </p:cNvPr>
          <p:cNvPicPr>
            <a:picLocks noChangeAspect="1"/>
          </p:cNvPicPr>
          <p:nvPr/>
        </p:nvPicPr>
        <p:blipFill>
          <a:blip r:embed="rId3"/>
          <a:stretch>
            <a:fillRect/>
          </a:stretch>
        </p:blipFill>
        <p:spPr>
          <a:xfrm>
            <a:off x="93073" y="1018874"/>
            <a:ext cx="4705384" cy="3619526"/>
          </a:xfrm>
          <a:prstGeom prst="rect">
            <a:avLst/>
          </a:prstGeom>
        </p:spPr>
      </p:pic>
      <p:sp>
        <p:nvSpPr>
          <p:cNvPr id="2" name="Title 1">
            <a:extLst>
              <a:ext uri="{FF2B5EF4-FFF2-40B4-BE49-F238E27FC236}">
                <a16:creationId xmlns:a16="http://schemas.microsoft.com/office/drawing/2014/main" id="{4F9752AA-B0BE-41FD-BB35-4A4670D70CD7}"/>
              </a:ext>
            </a:extLst>
          </p:cNvPr>
          <p:cNvSpPr>
            <a:spLocks noGrp="1"/>
          </p:cNvSpPr>
          <p:nvPr>
            <p:ph type="title"/>
          </p:nvPr>
        </p:nvSpPr>
        <p:spPr/>
        <p:txBody>
          <a:bodyPr/>
          <a:lstStyle/>
          <a:p>
            <a:r>
              <a:rPr lang="en-US" dirty="0"/>
              <a:t>Installing MongoDB</a:t>
            </a:r>
          </a:p>
        </p:txBody>
      </p:sp>
      <p:sp>
        <p:nvSpPr>
          <p:cNvPr id="8" name="Oval 7">
            <a:extLst>
              <a:ext uri="{FF2B5EF4-FFF2-40B4-BE49-F238E27FC236}">
                <a16:creationId xmlns:a16="http://schemas.microsoft.com/office/drawing/2014/main" id="{5BEAC16D-C7FF-4D7C-B6A0-A8A046122815}"/>
              </a:ext>
            </a:extLst>
          </p:cNvPr>
          <p:cNvSpPr/>
          <p:nvPr/>
        </p:nvSpPr>
        <p:spPr>
          <a:xfrm flipH="1">
            <a:off x="7525826" y="6099021"/>
            <a:ext cx="809873" cy="43408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0ACE8A3-5B28-46B8-8D52-2F1F29246AF1}"/>
              </a:ext>
            </a:extLst>
          </p:cNvPr>
          <p:cNvSpPr/>
          <p:nvPr/>
        </p:nvSpPr>
        <p:spPr>
          <a:xfrm flipH="1">
            <a:off x="1123096" y="3737994"/>
            <a:ext cx="1481207" cy="43408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2660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AF0AC6F-00C4-945E-CF8B-5245E187C054}"/>
              </a:ext>
            </a:extLst>
          </p:cNvPr>
          <p:cNvPicPr>
            <a:picLocks noChangeAspect="1"/>
          </p:cNvPicPr>
          <p:nvPr/>
        </p:nvPicPr>
        <p:blipFill>
          <a:blip r:embed="rId2"/>
          <a:stretch>
            <a:fillRect/>
          </a:stretch>
        </p:blipFill>
        <p:spPr>
          <a:xfrm>
            <a:off x="4444957" y="2904482"/>
            <a:ext cx="4676809" cy="3676677"/>
          </a:xfrm>
          <a:prstGeom prst="rect">
            <a:avLst/>
          </a:prstGeom>
        </p:spPr>
      </p:pic>
      <p:pic>
        <p:nvPicPr>
          <p:cNvPr id="8" name="Picture 7">
            <a:extLst>
              <a:ext uri="{FF2B5EF4-FFF2-40B4-BE49-F238E27FC236}">
                <a16:creationId xmlns:a16="http://schemas.microsoft.com/office/drawing/2014/main" id="{D2FBEE71-0407-2809-721A-81121D9F37BB}"/>
              </a:ext>
            </a:extLst>
          </p:cNvPr>
          <p:cNvPicPr>
            <a:picLocks noChangeAspect="1"/>
          </p:cNvPicPr>
          <p:nvPr/>
        </p:nvPicPr>
        <p:blipFill>
          <a:blip r:embed="rId3"/>
          <a:stretch>
            <a:fillRect/>
          </a:stretch>
        </p:blipFill>
        <p:spPr>
          <a:xfrm>
            <a:off x="105679" y="956165"/>
            <a:ext cx="4359248" cy="3377755"/>
          </a:xfrm>
          <a:prstGeom prst="rect">
            <a:avLst/>
          </a:prstGeom>
        </p:spPr>
      </p:pic>
      <p:sp>
        <p:nvSpPr>
          <p:cNvPr id="2" name="Title 1">
            <a:extLst>
              <a:ext uri="{FF2B5EF4-FFF2-40B4-BE49-F238E27FC236}">
                <a16:creationId xmlns:a16="http://schemas.microsoft.com/office/drawing/2014/main" id="{0ACB2BAA-3A38-4D86-A8BD-837BD9BFB392}"/>
              </a:ext>
            </a:extLst>
          </p:cNvPr>
          <p:cNvSpPr>
            <a:spLocks noGrp="1"/>
          </p:cNvSpPr>
          <p:nvPr>
            <p:ph type="title"/>
          </p:nvPr>
        </p:nvSpPr>
        <p:spPr/>
        <p:txBody>
          <a:bodyPr/>
          <a:lstStyle/>
          <a:p>
            <a:r>
              <a:rPr lang="en-US" dirty="0"/>
              <a:t>Installing MongoDB</a:t>
            </a:r>
          </a:p>
        </p:txBody>
      </p:sp>
      <p:sp>
        <p:nvSpPr>
          <p:cNvPr id="6" name="Oval 5">
            <a:extLst>
              <a:ext uri="{FF2B5EF4-FFF2-40B4-BE49-F238E27FC236}">
                <a16:creationId xmlns:a16="http://schemas.microsoft.com/office/drawing/2014/main" id="{306AC38B-93C0-491A-B299-A0AC19DD2302}"/>
              </a:ext>
            </a:extLst>
          </p:cNvPr>
          <p:cNvSpPr/>
          <p:nvPr/>
        </p:nvSpPr>
        <p:spPr>
          <a:xfrm flipH="1">
            <a:off x="2779043" y="3899831"/>
            <a:ext cx="809873" cy="43408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7332411-CEBF-4BE8-A79E-E338F0AFB620}"/>
              </a:ext>
            </a:extLst>
          </p:cNvPr>
          <p:cNvSpPr/>
          <p:nvPr/>
        </p:nvSpPr>
        <p:spPr>
          <a:xfrm flipH="1">
            <a:off x="7016542" y="6099021"/>
            <a:ext cx="1108885" cy="43408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0E85F70-6063-0795-4FC3-B1ED2A248336}"/>
              </a:ext>
            </a:extLst>
          </p:cNvPr>
          <p:cNvSpPr/>
          <p:nvPr/>
        </p:nvSpPr>
        <p:spPr>
          <a:xfrm flipH="1">
            <a:off x="101158" y="3899831"/>
            <a:ext cx="809873" cy="43408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289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F893B-750F-462D-9EA1-2E632408FACE}"/>
              </a:ext>
            </a:extLst>
          </p:cNvPr>
          <p:cNvSpPr>
            <a:spLocks noGrp="1"/>
          </p:cNvSpPr>
          <p:nvPr>
            <p:ph type="title"/>
          </p:nvPr>
        </p:nvSpPr>
        <p:spPr/>
        <p:txBody>
          <a:bodyPr/>
          <a:lstStyle/>
          <a:p>
            <a:r>
              <a:rPr lang="en-US" dirty="0"/>
              <a:t>Installing MongoDB</a:t>
            </a:r>
          </a:p>
        </p:txBody>
      </p:sp>
      <p:pic>
        <p:nvPicPr>
          <p:cNvPr id="5" name="Picture 4">
            <a:extLst>
              <a:ext uri="{FF2B5EF4-FFF2-40B4-BE49-F238E27FC236}">
                <a16:creationId xmlns:a16="http://schemas.microsoft.com/office/drawing/2014/main" id="{394F70E5-7089-1DE6-5A1C-E441685CEC36}"/>
              </a:ext>
            </a:extLst>
          </p:cNvPr>
          <p:cNvPicPr>
            <a:picLocks noChangeAspect="1"/>
          </p:cNvPicPr>
          <p:nvPr/>
        </p:nvPicPr>
        <p:blipFill>
          <a:blip r:embed="rId2"/>
          <a:stretch>
            <a:fillRect/>
          </a:stretch>
        </p:blipFill>
        <p:spPr>
          <a:xfrm>
            <a:off x="1018869" y="1301847"/>
            <a:ext cx="5465059" cy="4254305"/>
          </a:xfrm>
          <a:prstGeom prst="rect">
            <a:avLst/>
          </a:prstGeom>
        </p:spPr>
      </p:pic>
    </p:spTree>
    <p:extLst>
      <p:ext uri="{BB962C8B-B14F-4D97-AF65-F5344CB8AC3E}">
        <p14:creationId xmlns:p14="http://schemas.microsoft.com/office/powerpoint/2010/main" val="3227689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22F67-837A-897C-6763-C858B8E3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853EE-00E7-0E0B-3883-CC0736490893}"/>
              </a:ext>
            </a:extLst>
          </p:cNvPr>
          <p:cNvSpPr>
            <a:spLocks noGrp="1"/>
          </p:cNvSpPr>
          <p:nvPr>
            <p:ph type="title"/>
          </p:nvPr>
        </p:nvSpPr>
        <p:spPr/>
        <p:txBody>
          <a:bodyPr/>
          <a:lstStyle/>
          <a:p>
            <a:r>
              <a:rPr lang="en-US" dirty="0"/>
              <a:t>Download MongoDB Shell</a:t>
            </a:r>
          </a:p>
        </p:txBody>
      </p:sp>
      <p:sp>
        <p:nvSpPr>
          <p:cNvPr id="3" name="Content Placeholder 2">
            <a:extLst>
              <a:ext uri="{FF2B5EF4-FFF2-40B4-BE49-F238E27FC236}">
                <a16:creationId xmlns:a16="http://schemas.microsoft.com/office/drawing/2014/main" id="{6016583A-010B-9ADE-5BE0-D90F86B4421B}"/>
              </a:ext>
            </a:extLst>
          </p:cNvPr>
          <p:cNvSpPr>
            <a:spLocks noGrp="1"/>
          </p:cNvSpPr>
          <p:nvPr>
            <p:ph idx="1"/>
          </p:nvPr>
        </p:nvSpPr>
        <p:spPr>
          <a:xfrm>
            <a:off x="149290" y="1006529"/>
            <a:ext cx="8770776" cy="1013657"/>
          </a:xfrm>
        </p:spPr>
        <p:txBody>
          <a:bodyPr>
            <a:normAutofit/>
          </a:bodyPr>
          <a:lstStyle/>
          <a:p>
            <a:r>
              <a:rPr lang="en-US" sz="2200" dirty="0"/>
              <a:t>Go to MongoDB download center </a:t>
            </a:r>
            <a:r>
              <a:rPr lang="en-US" sz="2200" dirty="0">
                <a:hlinkClick r:id="rId2"/>
              </a:rPr>
              <a:t>https://www.mongodb.com/try/download/shell</a:t>
            </a:r>
            <a:r>
              <a:rPr lang="en-US" sz="2200" dirty="0"/>
              <a:t>  </a:t>
            </a:r>
          </a:p>
        </p:txBody>
      </p:sp>
      <p:pic>
        <p:nvPicPr>
          <p:cNvPr id="6" name="Picture 5">
            <a:extLst>
              <a:ext uri="{FF2B5EF4-FFF2-40B4-BE49-F238E27FC236}">
                <a16:creationId xmlns:a16="http://schemas.microsoft.com/office/drawing/2014/main" id="{E3A36991-6483-582B-7987-2D878CCA2A86}"/>
              </a:ext>
            </a:extLst>
          </p:cNvPr>
          <p:cNvPicPr>
            <a:picLocks noChangeAspect="1"/>
          </p:cNvPicPr>
          <p:nvPr/>
        </p:nvPicPr>
        <p:blipFill>
          <a:blip r:embed="rId3"/>
          <a:stretch>
            <a:fillRect/>
          </a:stretch>
        </p:blipFill>
        <p:spPr>
          <a:xfrm>
            <a:off x="149290" y="2020186"/>
            <a:ext cx="8845420" cy="3722336"/>
          </a:xfrm>
          <a:prstGeom prst="rect">
            <a:avLst/>
          </a:prstGeom>
        </p:spPr>
      </p:pic>
    </p:spTree>
    <p:extLst>
      <p:ext uri="{BB962C8B-B14F-4D97-AF65-F5344CB8AC3E}">
        <p14:creationId xmlns:p14="http://schemas.microsoft.com/office/powerpoint/2010/main" val="3232748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C7957-BBD9-3309-C16E-189AA4649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5DF5E-395F-0A2C-82E8-CEB7CF5CC50F}"/>
              </a:ext>
            </a:extLst>
          </p:cNvPr>
          <p:cNvSpPr>
            <a:spLocks noGrp="1"/>
          </p:cNvSpPr>
          <p:nvPr>
            <p:ph type="title"/>
          </p:nvPr>
        </p:nvSpPr>
        <p:spPr/>
        <p:txBody>
          <a:bodyPr/>
          <a:lstStyle/>
          <a:p>
            <a:r>
              <a:rPr lang="en-US" dirty="0"/>
              <a:t>Download MongoDB Shell</a:t>
            </a:r>
          </a:p>
        </p:txBody>
      </p:sp>
      <p:sp>
        <p:nvSpPr>
          <p:cNvPr id="3" name="Content Placeholder 2">
            <a:extLst>
              <a:ext uri="{FF2B5EF4-FFF2-40B4-BE49-F238E27FC236}">
                <a16:creationId xmlns:a16="http://schemas.microsoft.com/office/drawing/2014/main" id="{706A04D4-6BBA-C2B1-D817-0F80473468A7}"/>
              </a:ext>
            </a:extLst>
          </p:cNvPr>
          <p:cNvSpPr>
            <a:spLocks noGrp="1"/>
          </p:cNvSpPr>
          <p:nvPr>
            <p:ph idx="1"/>
          </p:nvPr>
        </p:nvSpPr>
        <p:spPr>
          <a:xfrm>
            <a:off x="149290" y="1006529"/>
            <a:ext cx="8770776" cy="3177544"/>
          </a:xfrm>
        </p:spPr>
        <p:txBody>
          <a:bodyPr>
            <a:normAutofit/>
          </a:bodyPr>
          <a:lstStyle/>
          <a:p>
            <a:r>
              <a:rPr lang="en-US" sz="2200"/>
              <a:t>Open the downloaded MongoDB Shell file</a:t>
            </a:r>
          </a:p>
          <a:p>
            <a:r>
              <a:rPr lang="en-US" sz="2200"/>
              <a:t>Go to bin folder</a:t>
            </a:r>
          </a:p>
          <a:p>
            <a:r>
              <a:rPr lang="en-US" sz="2200"/>
              <a:t>Find and move “mongosh” file to C:\Program Files\MongoDB\bin </a:t>
            </a:r>
          </a:p>
          <a:p>
            <a:endParaRPr lang="en-US" sz="2200"/>
          </a:p>
          <a:p>
            <a:endParaRPr lang="en-US" sz="2200"/>
          </a:p>
          <a:p>
            <a:endParaRPr lang="en-US" sz="2200" dirty="0"/>
          </a:p>
        </p:txBody>
      </p:sp>
      <p:pic>
        <p:nvPicPr>
          <p:cNvPr id="5" name="Picture 4">
            <a:extLst>
              <a:ext uri="{FF2B5EF4-FFF2-40B4-BE49-F238E27FC236}">
                <a16:creationId xmlns:a16="http://schemas.microsoft.com/office/drawing/2014/main" id="{0FFDE0BB-5072-511D-C722-0934B1457720}"/>
              </a:ext>
            </a:extLst>
          </p:cNvPr>
          <p:cNvPicPr>
            <a:picLocks noChangeAspect="1"/>
          </p:cNvPicPr>
          <p:nvPr/>
        </p:nvPicPr>
        <p:blipFill>
          <a:blip r:embed="rId2"/>
          <a:stretch>
            <a:fillRect/>
          </a:stretch>
        </p:blipFill>
        <p:spPr>
          <a:xfrm>
            <a:off x="1404418" y="2224464"/>
            <a:ext cx="6335163" cy="4633536"/>
          </a:xfrm>
          <a:prstGeom prst="rect">
            <a:avLst/>
          </a:prstGeom>
        </p:spPr>
      </p:pic>
      <p:cxnSp>
        <p:nvCxnSpPr>
          <p:cNvPr id="8" name="Straight Arrow Connector 7">
            <a:extLst>
              <a:ext uri="{FF2B5EF4-FFF2-40B4-BE49-F238E27FC236}">
                <a16:creationId xmlns:a16="http://schemas.microsoft.com/office/drawing/2014/main" id="{D546CB0A-D358-2E6C-E66F-BA437907EBE6}"/>
              </a:ext>
            </a:extLst>
          </p:cNvPr>
          <p:cNvCxnSpPr/>
          <p:nvPr/>
        </p:nvCxnSpPr>
        <p:spPr>
          <a:xfrm flipH="1">
            <a:off x="3186217" y="3548599"/>
            <a:ext cx="805398" cy="31247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9124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7281-0390-4B54-9BC9-BF1446C58789}"/>
              </a:ext>
            </a:extLst>
          </p:cNvPr>
          <p:cNvSpPr>
            <a:spLocks noGrp="1"/>
          </p:cNvSpPr>
          <p:nvPr>
            <p:ph type="title"/>
          </p:nvPr>
        </p:nvSpPr>
        <p:spPr/>
        <p:txBody>
          <a:bodyPr/>
          <a:lstStyle/>
          <a:p>
            <a:r>
              <a:rPr lang="en-US" altLang="zh-CN" dirty="0"/>
              <a:t>Connect to the MongoDB server</a:t>
            </a:r>
            <a:endParaRPr lang="en-US" dirty="0"/>
          </a:p>
        </p:txBody>
      </p:sp>
      <p:sp>
        <p:nvSpPr>
          <p:cNvPr id="3" name="Content Placeholder 2">
            <a:extLst>
              <a:ext uri="{FF2B5EF4-FFF2-40B4-BE49-F238E27FC236}">
                <a16:creationId xmlns:a16="http://schemas.microsoft.com/office/drawing/2014/main" id="{7D745EE6-84E8-4BF8-878D-0F17DE6B5CCF}"/>
              </a:ext>
            </a:extLst>
          </p:cNvPr>
          <p:cNvSpPr>
            <a:spLocks noGrp="1"/>
          </p:cNvSpPr>
          <p:nvPr>
            <p:ph idx="1"/>
          </p:nvPr>
        </p:nvSpPr>
        <p:spPr>
          <a:xfrm>
            <a:off x="115750" y="2520257"/>
            <a:ext cx="2119349" cy="2262982"/>
          </a:xfrm>
        </p:spPr>
        <p:txBody>
          <a:bodyPr>
            <a:normAutofit/>
          </a:bodyPr>
          <a:lstStyle/>
          <a:p>
            <a:pPr marL="0" indent="0">
              <a:buNone/>
            </a:pPr>
            <a:r>
              <a:rPr lang="en-US" sz="2000" dirty="0"/>
              <a:t>Open up the command line</a:t>
            </a:r>
          </a:p>
          <a:p>
            <a:pPr marL="0" indent="0">
              <a:buNone/>
            </a:pPr>
            <a:endParaRPr lang="en-US" sz="2000" dirty="0"/>
          </a:p>
          <a:p>
            <a:pPr marL="0" indent="0">
              <a:buNone/>
            </a:pPr>
            <a:r>
              <a:rPr lang="en-US" sz="2000" dirty="0"/>
              <a:t>Make sure you run as administrator</a:t>
            </a:r>
          </a:p>
        </p:txBody>
      </p:sp>
      <p:pic>
        <p:nvPicPr>
          <p:cNvPr id="4" name="Picture 3">
            <a:extLst>
              <a:ext uri="{FF2B5EF4-FFF2-40B4-BE49-F238E27FC236}">
                <a16:creationId xmlns:a16="http://schemas.microsoft.com/office/drawing/2014/main" id="{2C285CA0-46D4-4DA8-9C7E-2415BFE27465}"/>
              </a:ext>
            </a:extLst>
          </p:cNvPr>
          <p:cNvPicPr>
            <a:picLocks noChangeAspect="1"/>
          </p:cNvPicPr>
          <p:nvPr/>
        </p:nvPicPr>
        <p:blipFill rotWithShape="1">
          <a:blip r:embed="rId3"/>
          <a:srcRect l="3304" t="22039" r="45810"/>
          <a:stretch/>
        </p:blipFill>
        <p:spPr>
          <a:xfrm>
            <a:off x="2484468" y="1113561"/>
            <a:ext cx="6463523" cy="5570166"/>
          </a:xfrm>
          <a:prstGeom prst="rect">
            <a:avLst/>
          </a:prstGeom>
        </p:spPr>
      </p:pic>
      <p:sp>
        <p:nvSpPr>
          <p:cNvPr id="5" name="Oval 4">
            <a:extLst>
              <a:ext uri="{FF2B5EF4-FFF2-40B4-BE49-F238E27FC236}">
                <a16:creationId xmlns:a16="http://schemas.microsoft.com/office/drawing/2014/main" id="{7D75AB29-6ABA-48A8-9270-929139EE8779}"/>
              </a:ext>
            </a:extLst>
          </p:cNvPr>
          <p:cNvSpPr/>
          <p:nvPr/>
        </p:nvSpPr>
        <p:spPr>
          <a:xfrm flipH="1">
            <a:off x="3868228" y="1943709"/>
            <a:ext cx="1629746" cy="43408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524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DAA23-EAD8-432E-8C37-7107ED4E5E46}"/>
              </a:ext>
            </a:extLst>
          </p:cNvPr>
          <p:cNvSpPr>
            <a:spLocks noGrp="1"/>
          </p:cNvSpPr>
          <p:nvPr>
            <p:ph type="title"/>
          </p:nvPr>
        </p:nvSpPr>
        <p:spPr/>
        <p:txBody>
          <a:bodyPr/>
          <a:lstStyle/>
          <a:p>
            <a:r>
              <a:rPr lang="en-US" altLang="zh-CN" dirty="0"/>
              <a:t>Connect to the MongoDB server</a:t>
            </a:r>
            <a:endParaRPr lang="en-US" dirty="0"/>
          </a:p>
        </p:txBody>
      </p:sp>
      <p:sp>
        <p:nvSpPr>
          <p:cNvPr id="5" name="Content Placeholder 2">
            <a:extLst>
              <a:ext uri="{FF2B5EF4-FFF2-40B4-BE49-F238E27FC236}">
                <a16:creationId xmlns:a16="http://schemas.microsoft.com/office/drawing/2014/main" id="{1CF89787-D2CC-4373-A73C-BDED5D87D0C5}"/>
              </a:ext>
            </a:extLst>
          </p:cNvPr>
          <p:cNvSpPr>
            <a:spLocks noGrp="1"/>
          </p:cNvSpPr>
          <p:nvPr>
            <p:ph idx="1"/>
          </p:nvPr>
        </p:nvSpPr>
        <p:spPr>
          <a:xfrm>
            <a:off x="115750" y="982714"/>
            <a:ext cx="8715128" cy="822937"/>
          </a:xfrm>
        </p:spPr>
        <p:txBody>
          <a:bodyPr>
            <a:normAutofit/>
          </a:bodyPr>
          <a:lstStyle/>
          <a:p>
            <a:pPr marL="0" indent="0">
              <a:buNone/>
            </a:pPr>
            <a:r>
              <a:rPr lang="en-US" sz="2000" dirty="0"/>
              <a:t>Navigate to the bin folder: C:\Program Files\MongoDB\bin</a:t>
            </a:r>
          </a:p>
          <a:p>
            <a:pPr marL="0" indent="0">
              <a:buNone/>
            </a:pPr>
            <a:r>
              <a:rPr lang="en-US" sz="2000" dirty="0"/>
              <a:t>Then, start MongoDB shell by typing </a:t>
            </a:r>
            <a:r>
              <a:rPr lang="en-US" sz="2000" b="1" dirty="0" err="1"/>
              <a:t>mongosh</a:t>
            </a:r>
            <a:endParaRPr lang="en-US" sz="2000" b="1" dirty="0"/>
          </a:p>
        </p:txBody>
      </p:sp>
      <p:pic>
        <p:nvPicPr>
          <p:cNvPr id="6" name="Picture 5">
            <a:extLst>
              <a:ext uri="{FF2B5EF4-FFF2-40B4-BE49-F238E27FC236}">
                <a16:creationId xmlns:a16="http://schemas.microsoft.com/office/drawing/2014/main" id="{9E1B0D8F-78AF-3201-83FA-464F19D7FBDF}"/>
              </a:ext>
            </a:extLst>
          </p:cNvPr>
          <p:cNvPicPr>
            <a:picLocks noChangeAspect="1"/>
          </p:cNvPicPr>
          <p:nvPr/>
        </p:nvPicPr>
        <p:blipFill>
          <a:blip r:embed="rId2"/>
          <a:stretch>
            <a:fillRect/>
          </a:stretch>
        </p:blipFill>
        <p:spPr>
          <a:xfrm>
            <a:off x="1735311" y="1805651"/>
            <a:ext cx="5229263" cy="4857786"/>
          </a:xfrm>
          <a:prstGeom prst="rect">
            <a:avLst/>
          </a:prstGeom>
        </p:spPr>
      </p:pic>
    </p:spTree>
    <p:extLst>
      <p:ext uri="{BB962C8B-B14F-4D97-AF65-F5344CB8AC3E}">
        <p14:creationId xmlns:p14="http://schemas.microsoft.com/office/powerpoint/2010/main" val="3757298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1522-44FB-4A7A-8B32-0F472E410055}"/>
              </a:ext>
            </a:extLst>
          </p:cNvPr>
          <p:cNvSpPr>
            <a:spLocks noGrp="1"/>
          </p:cNvSpPr>
          <p:nvPr>
            <p:ph type="title"/>
          </p:nvPr>
        </p:nvSpPr>
        <p:spPr/>
        <p:txBody>
          <a:bodyPr/>
          <a:lstStyle/>
          <a:p>
            <a:r>
              <a:rPr lang="en-US" dirty="0"/>
              <a:t>Show and Create Databases</a:t>
            </a:r>
          </a:p>
        </p:txBody>
      </p:sp>
      <p:pic>
        <p:nvPicPr>
          <p:cNvPr id="5" name="Picture 4">
            <a:extLst>
              <a:ext uri="{FF2B5EF4-FFF2-40B4-BE49-F238E27FC236}">
                <a16:creationId xmlns:a16="http://schemas.microsoft.com/office/drawing/2014/main" id="{3FD79E25-4292-45E2-9E56-EE94307EAC79}"/>
              </a:ext>
            </a:extLst>
          </p:cNvPr>
          <p:cNvPicPr>
            <a:picLocks noChangeAspect="1"/>
          </p:cNvPicPr>
          <p:nvPr/>
        </p:nvPicPr>
        <p:blipFill>
          <a:blip r:embed="rId3"/>
          <a:stretch>
            <a:fillRect/>
          </a:stretch>
        </p:blipFill>
        <p:spPr>
          <a:xfrm>
            <a:off x="4290855" y="1229428"/>
            <a:ext cx="3863794" cy="4606182"/>
          </a:xfrm>
          <a:prstGeom prst="rect">
            <a:avLst/>
          </a:prstGeom>
        </p:spPr>
      </p:pic>
      <p:sp>
        <p:nvSpPr>
          <p:cNvPr id="6" name="TextBox 5">
            <a:extLst>
              <a:ext uri="{FF2B5EF4-FFF2-40B4-BE49-F238E27FC236}">
                <a16:creationId xmlns:a16="http://schemas.microsoft.com/office/drawing/2014/main" id="{4E06D333-6558-47C9-BB59-B6AE75813B82}"/>
              </a:ext>
            </a:extLst>
          </p:cNvPr>
          <p:cNvSpPr txBox="1"/>
          <p:nvPr/>
        </p:nvSpPr>
        <p:spPr>
          <a:xfrm>
            <a:off x="149290" y="2020879"/>
            <a:ext cx="4061466" cy="286232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Show databases: </a:t>
            </a:r>
            <a:r>
              <a:rPr lang="en-US" sz="2000" b="1" dirty="0">
                <a:latin typeface="Arial" panose="020B0604020202020204" pitchFamily="34" charset="0"/>
                <a:cs typeface="Arial" panose="020B0604020202020204" pitchFamily="34" charset="0"/>
              </a:rPr>
              <a:t>show </a:t>
            </a:r>
            <a:r>
              <a:rPr lang="en-US" sz="2000" b="1" dirty="0" err="1">
                <a:latin typeface="Arial" panose="020B0604020202020204" pitchFamily="34" charset="0"/>
                <a:cs typeface="Arial" panose="020B0604020202020204" pitchFamily="34" charset="0"/>
              </a:rPr>
              <a:t>dbs</a:t>
            </a:r>
            <a:endParaRPr lang="en-US" sz="2000" b="1"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Create or navigate a database: </a:t>
            </a:r>
            <a:r>
              <a:rPr lang="en-US" sz="2000" b="1" dirty="0">
                <a:latin typeface="Arial" panose="020B0604020202020204" pitchFamily="34" charset="0"/>
                <a:cs typeface="Arial" panose="020B0604020202020204" pitchFamily="34" charset="0"/>
              </a:rPr>
              <a:t>use </a:t>
            </a:r>
            <a:r>
              <a:rPr lang="en-US" sz="2000" b="1" dirty="0" err="1">
                <a:latin typeface="Arial" panose="020B0604020202020204" pitchFamily="34" charset="0"/>
                <a:cs typeface="Arial" panose="020B0604020202020204" pitchFamily="34" charset="0"/>
              </a:rPr>
              <a:t>DatabaseName</a:t>
            </a:r>
            <a:endParaRPr lang="en-US" sz="2000" b="1"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Check the database name or which database you are in: </a:t>
            </a:r>
          </a:p>
          <a:p>
            <a:r>
              <a:rPr lang="en-US" sz="2000" b="1" dirty="0" err="1">
                <a:latin typeface="Arial" panose="020B0604020202020204" pitchFamily="34" charset="0"/>
                <a:cs typeface="Arial" panose="020B0604020202020204" pitchFamily="34" charset="0"/>
              </a:rPr>
              <a:t>db.getName</a:t>
            </a:r>
            <a:r>
              <a:rPr lang="en-US" sz="2000" b="1"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Or, </a:t>
            </a:r>
            <a:r>
              <a:rPr lang="en-US" sz="2000" b="1" dirty="0" err="1">
                <a:latin typeface="Arial" panose="020B0604020202020204" pitchFamily="34" charset="0"/>
                <a:cs typeface="Arial" panose="020B0604020202020204" pitchFamily="34" charset="0"/>
              </a:rPr>
              <a:t>db</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5269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C89DF-A36F-4B88-84A2-6767687621FE}"/>
              </a:ext>
            </a:extLst>
          </p:cNvPr>
          <p:cNvSpPr>
            <a:spLocks noGrp="1"/>
          </p:cNvSpPr>
          <p:nvPr>
            <p:ph type="title"/>
          </p:nvPr>
        </p:nvSpPr>
        <p:spPr/>
        <p:txBody>
          <a:bodyPr>
            <a:normAutofit fontScale="90000"/>
          </a:bodyPr>
          <a:lstStyle/>
          <a:p>
            <a:r>
              <a:rPr lang="en-US" dirty="0"/>
              <a:t>Creating and Manipulating Collections</a:t>
            </a:r>
          </a:p>
        </p:txBody>
      </p:sp>
      <p:sp>
        <p:nvSpPr>
          <p:cNvPr id="3" name="Content Placeholder 2">
            <a:extLst>
              <a:ext uri="{FF2B5EF4-FFF2-40B4-BE49-F238E27FC236}">
                <a16:creationId xmlns:a16="http://schemas.microsoft.com/office/drawing/2014/main" id="{0E7625AF-5FCF-48E0-810C-BE44E40D9A02}"/>
              </a:ext>
            </a:extLst>
          </p:cNvPr>
          <p:cNvSpPr>
            <a:spLocks noGrp="1"/>
          </p:cNvSpPr>
          <p:nvPr>
            <p:ph idx="1"/>
          </p:nvPr>
        </p:nvSpPr>
        <p:spPr>
          <a:xfrm>
            <a:off x="74142" y="1413431"/>
            <a:ext cx="4062333" cy="4991082"/>
          </a:xfrm>
        </p:spPr>
        <p:txBody>
          <a:bodyPr>
            <a:normAutofit/>
          </a:bodyPr>
          <a:lstStyle/>
          <a:p>
            <a:r>
              <a:rPr lang="en-US" sz="2000" dirty="0"/>
              <a:t>Create collection: </a:t>
            </a:r>
            <a:r>
              <a:rPr lang="en-US" sz="2000" b="1" dirty="0" err="1"/>
              <a:t>db.createCollection</a:t>
            </a:r>
            <a:r>
              <a:rPr lang="en-US" sz="2000" b="1" dirty="0"/>
              <a:t>(&lt;“</a:t>
            </a:r>
            <a:r>
              <a:rPr lang="en-US" sz="2000" b="1" dirty="0" err="1"/>
              <a:t>CollectionName</a:t>
            </a:r>
            <a:r>
              <a:rPr lang="en-US" sz="2000" b="1" dirty="0"/>
              <a:t>”&gt;)</a:t>
            </a:r>
          </a:p>
          <a:p>
            <a:endParaRPr lang="en-US" sz="2000" dirty="0"/>
          </a:p>
          <a:p>
            <a:r>
              <a:rPr lang="en-US" sz="2000" dirty="0"/>
              <a:t>Display collections:          </a:t>
            </a:r>
            <a:r>
              <a:rPr lang="en-US" sz="2000" b="1" dirty="0"/>
              <a:t>show collections</a:t>
            </a:r>
          </a:p>
          <a:p>
            <a:endParaRPr lang="en-US" sz="2000" dirty="0"/>
          </a:p>
          <a:p>
            <a:r>
              <a:rPr lang="en-US" sz="2000" dirty="0"/>
              <a:t>Rename a collection: </a:t>
            </a:r>
            <a:r>
              <a:rPr lang="en-US" sz="2000" b="1" dirty="0" err="1"/>
              <a:t>db.renameCollection</a:t>
            </a:r>
            <a:r>
              <a:rPr lang="en-US" sz="2000" b="1" dirty="0"/>
              <a:t>(&lt;“</a:t>
            </a:r>
            <a:r>
              <a:rPr lang="en-US" sz="2000" b="1" dirty="0" err="1"/>
              <a:t>NewName</a:t>
            </a:r>
            <a:r>
              <a:rPr lang="en-US" sz="2000" b="1" dirty="0"/>
              <a:t>”&gt;)</a:t>
            </a:r>
          </a:p>
          <a:p>
            <a:endParaRPr lang="en-US" sz="2000" dirty="0"/>
          </a:p>
          <a:p>
            <a:r>
              <a:rPr lang="en-US" sz="2000" dirty="0"/>
              <a:t>Drop a collection: </a:t>
            </a:r>
            <a:r>
              <a:rPr lang="en-US" sz="2000" b="1" dirty="0"/>
              <a:t>db.&lt;</a:t>
            </a:r>
            <a:r>
              <a:rPr lang="en-US" sz="2000" b="1" dirty="0" err="1"/>
              <a:t>CollectionName</a:t>
            </a:r>
            <a:r>
              <a:rPr lang="en-US" sz="2000" b="1" dirty="0"/>
              <a:t>&gt;.drop()</a:t>
            </a:r>
          </a:p>
          <a:p>
            <a:endParaRPr lang="en-US" sz="2000" dirty="0"/>
          </a:p>
        </p:txBody>
      </p:sp>
      <p:pic>
        <p:nvPicPr>
          <p:cNvPr id="6" name="Picture 5">
            <a:extLst>
              <a:ext uri="{FF2B5EF4-FFF2-40B4-BE49-F238E27FC236}">
                <a16:creationId xmlns:a16="http://schemas.microsoft.com/office/drawing/2014/main" id="{104ED423-25AE-4770-BF8A-2AD074391DD9}"/>
              </a:ext>
            </a:extLst>
          </p:cNvPr>
          <p:cNvPicPr>
            <a:picLocks noChangeAspect="1"/>
          </p:cNvPicPr>
          <p:nvPr/>
        </p:nvPicPr>
        <p:blipFill>
          <a:blip r:embed="rId3"/>
          <a:stretch>
            <a:fillRect/>
          </a:stretch>
        </p:blipFill>
        <p:spPr>
          <a:xfrm>
            <a:off x="4311794" y="1891414"/>
            <a:ext cx="4579963" cy="3782022"/>
          </a:xfrm>
          <a:prstGeom prst="rect">
            <a:avLst/>
          </a:prstGeom>
        </p:spPr>
      </p:pic>
    </p:spTree>
    <p:extLst>
      <p:ext uri="{BB962C8B-B14F-4D97-AF65-F5344CB8AC3E}">
        <p14:creationId xmlns:p14="http://schemas.microsoft.com/office/powerpoint/2010/main" val="149834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C1CE4-F5CF-437F-B201-CC84238B792A}"/>
              </a:ext>
            </a:extLst>
          </p:cNvPr>
          <p:cNvSpPr>
            <a:spLocks noGrp="1"/>
          </p:cNvSpPr>
          <p:nvPr>
            <p:ph type="title"/>
          </p:nvPr>
        </p:nvSpPr>
        <p:spPr/>
        <p:txBody>
          <a:bodyPr/>
          <a:lstStyle/>
          <a:p>
            <a:r>
              <a:rPr lang="en-US" dirty="0"/>
              <a:t>Insert Documents</a:t>
            </a:r>
          </a:p>
        </p:txBody>
      </p:sp>
      <p:sp>
        <p:nvSpPr>
          <p:cNvPr id="3" name="Content Placeholder 2">
            <a:extLst>
              <a:ext uri="{FF2B5EF4-FFF2-40B4-BE49-F238E27FC236}">
                <a16:creationId xmlns:a16="http://schemas.microsoft.com/office/drawing/2014/main" id="{1764B96B-3C0A-4AE5-8B9C-9818F7390E10}"/>
              </a:ext>
            </a:extLst>
          </p:cNvPr>
          <p:cNvSpPr>
            <a:spLocks noGrp="1"/>
          </p:cNvSpPr>
          <p:nvPr>
            <p:ph idx="1"/>
          </p:nvPr>
        </p:nvSpPr>
        <p:spPr>
          <a:xfrm>
            <a:off x="149289" y="858416"/>
            <a:ext cx="8770776" cy="1461703"/>
          </a:xfrm>
        </p:spPr>
        <p:txBody>
          <a:bodyPr>
            <a:normAutofit fontScale="92500" lnSpcReduction="20000"/>
          </a:bodyPr>
          <a:lstStyle/>
          <a:p>
            <a:r>
              <a:rPr lang="en-US" sz="2000" dirty="0"/>
              <a:t>Syntax: </a:t>
            </a:r>
          </a:p>
          <a:p>
            <a:pPr lvl="1"/>
            <a:r>
              <a:rPr lang="en-US" sz="1600" dirty="0"/>
              <a:t>Add one document: </a:t>
            </a:r>
            <a:r>
              <a:rPr lang="en-US" sz="1600" b="1" dirty="0"/>
              <a:t>db.&lt;collection name&gt;.</a:t>
            </a:r>
            <a:r>
              <a:rPr lang="en-US" sz="1600" b="1" dirty="0" err="1"/>
              <a:t>insertOne</a:t>
            </a:r>
            <a:r>
              <a:rPr lang="en-US" sz="1600" b="1" dirty="0"/>
              <a:t>({document})</a:t>
            </a:r>
          </a:p>
          <a:p>
            <a:pPr lvl="1"/>
            <a:r>
              <a:rPr lang="en-US" sz="1600" dirty="0"/>
              <a:t>Add multiple documents: </a:t>
            </a:r>
            <a:r>
              <a:rPr lang="en-US" sz="1600" b="1" dirty="0"/>
              <a:t>db.&lt;collection name&gt;.</a:t>
            </a:r>
            <a:r>
              <a:rPr lang="en-US" sz="1600" b="1" dirty="0" err="1"/>
              <a:t>insertMany</a:t>
            </a:r>
            <a:r>
              <a:rPr lang="en-US" sz="1600" b="1" dirty="0"/>
              <a:t>({document})</a:t>
            </a:r>
            <a:endParaRPr lang="en-US" sz="1600" dirty="0"/>
          </a:p>
          <a:p>
            <a:endParaRPr lang="en-US" sz="2000" dirty="0"/>
          </a:p>
          <a:p>
            <a:r>
              <a:rPr lang="en-US" sz="2000" dirty="0"/>
              <a:t>Example: Insert the following document to the product collection</a:t>
            </a:r>
          </a:p>
          <a:p>
            <a:endParaRPr lang="en-US" sz="2000" b="1" dirty="0"/>
          </a:p>
        </p:txBody>
      </p:sp>
      <p:pic>
        <p:nvPicPr>
          <p:cNvPr id="4" name="Picture 3">
            <a:extLst>
              <a:ext uri="{FF2B5EF4-FFF2-40B4-BE49-F238E27FC236}">
                <a16:creationId xmlns:a16="http://schemas.microsoft.com/office/drawing/2014/main" id="{E48DEAC6-AC99-4EE8-8314-A8E900C2D26A}"/>
              </a:ext>
            </a:extLst>
          </p:cNvPr>
          <p:cNvPicPr>
            <a:picLocks noChangeAspect="1"/>
          </p:cNvPicPr>
          <p:nvPr/>
        </p:nvPicPr>
        <p:blipFill>
          <a:blip r:embed="rId3"/>
          <a:stretch>
            <a:fillRect/>
          </a:stretch>
        </p:blipFill>
        <p:spPr>
          <a:xfrm>
            <a:off x="320206" y="2239070"/>
            <a:ext cx="2940908" cy="1597151"/>
          </a:xfrm>
          <a:prstGeom prst="rect">
            <a:avLst/>
          </a:prstGeom>
        </p:spPr>
      </p:pic>
      <p:sp>
        <p:nvSpPr>
          <p:cNvPr id="7" name="Content Placeholder 2">
            <a:extLst>
              <a:ext uri="{FF2B5EF4-FFF2-40B4-BE49-F238E27FC236}">
                <a16:creationId xmlns:a16="http://schemas.microsoft.com/office/drawing/2014/main" id="{87279E91-A749-47AA-86F4-22626442FFD4}"/>
              </a:ext>
            </a:extLst>
          </p:cNvPr>
          <p:cNvSpPr txBox="1">
            <a:spLocks/>
          </p:cNvSpPr>
          <p:nvPr/>
        </p:nvSpPr>
        <p:spPr>
          <a:xfrm>
            <a:off x="0" y="4537882"/>
            <a:ext cx="8770776" cy="78470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t>Retrieving documents: </a:t>
            </a:r>
            <a:r>
              <a:rPr lang="en-US" sz="2000" b="1" dirty="0"/>
              <a:t>db.&lt;collection name&gt;.find()</a:t>
            </a:r>
          </a:p>
        </p:txBody>
      </p:sp>
      <p:pic>
        <p:nvPicPr>
          <p:cNvPr id="9" name="Picture 8">
            <a:extLst>
              <a:ext uri="{FF2B5EF4-FFF2-40B4-BE49-F238E27FC236}">
                <a16:creationId xmlns:a16="http://schemas.microsoft.com/office/drawing/2014/main" id="{EA9AC0D8-9956-C390-01FC-AA0CD50095AE}"/>
              </a:ext>
            </a:extLst>
          </p:cNvPr>
          <p:cNvPicPr>
            <a:picLocks noChangeAspect="1"/>
          </p:cNvPicPr>
          <p:nvPr/>
        </p:nvPicPr>
        <p:blipFill>
          <a:blip r:embed="rId4"/>
          <a:stretch>
            <a:fillRect/>
          </a:stretch>
        </p:blipFill>
        <p:spPr>
          <a:xfrm>
            <a:off x="3433625" y="2481438"/>
            <a:ext cx="5486440" cy="1809763"/>
          </a:xfrm>
          <a:prstGeom prst="rect">
            <a:avLst/>
          </a:prstGeom>
        </p:spPr>
      </p:pic>
      <p:pic>
        <p:nvPicPr>
          <p:cNvPr id="11" name="Picture 10">
            <a:extLst>
              <a:ext uri="{FF2B5EF4-FFF2-40B4-BE49-F238E27FC236}">
                <a16:creationId xmlns:a16="http://schemas.microsoft.com/office/drawing/2014/main" id="{F37A6F6A-F785-95F5-CC64-4B597A50EC38}"/>
              </a:ext>
            </a:extLst>
          </p:cNvPr>
          <p:cNvPicPr>
            <a:picLocks noChangeAspect="1"/>
          </p:cNvPicPr>
          <p:nvPr/>
        </p:nvPicPr>
        <p:blipFill>
          <a:blip r:embed="rId5"/>
          <a:stretch>
            <a:fillRect/>
          </a:stretch>
        </p:blipFill>
        <p:spPr>
          <a:xfrm>
            <a:off x="2972986" y="4930233"/>
            <a:ext cx="4257706" cy="1819288"/>
          </a:xfrm>
          <a:prstGeom prst="rect">
            <a:avLst/>
          </a:prstGeom>
        </p:spPr>
      </p:pic>
    </p:spTree>
    <p:extLst>
      <p:ext uri="{BB962C8B-B14F-4D97-AF65-F5344CB8AC3E}">
        <p14:creationId xmlns:p14="http://schemas.microsoft.com/office/powerpoint/2010/main" val="1310052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1AB3-7879-4F9F-B0FA-47C556A294CD}"/>
              </a:ext>
            </a:extLst>
          </p:cNvPr>
          <p:cNvSpPr>
            <a:spLocks noGrp="1"/>
          </p:cNvSpPr>
          <p:nvPr>
            <p:ph type="title"/>
          </p:nvPr>
        </p:nvSpPr>
        <p:spPr/>
        <p:txBody>
          <a:bodyPr/>
          <a:lstStyle/>
          <a:p>
            <a:r>
              <a:rPr lang="en-US" dirty="0"/>
              <a:t>Insert Documents</a:t>
            </a:r>
          </a:p>
        </p:txBody>
      </p:sp>
      <p:sp>
        <p:nvSpPr>
          <p:cNvPr id="6" name="Content Placeholder 2">
            <a:extLst>
              <a:ext uri="{FF2B5EF4-FFF2-40B4-BE49-F238E27FC236}">
                <a16:creationId xmlns:a16="http://schemas.microsoft.com/office/drawing/2014/main" id="{F650D02E-192D-49DA-AED3-FD6B3A1CF7A8}"/>
              </a:ext>
            </a:extLst>
          </p:cNvPr>
          <p:cNvSpPr>
            <a:spLocks noGrp="1"/>
          </p:cNvSpPr>
          <p:nvPr>
            <p:ph idx="1"/>
          </p:nvPr>
        </p:nvSpPr>
        <p:spPr>
          <a:xfrm>
            <a:off x="101521" y="961301"/>
            <a:ext cx="8770776" cy="2396047"/>
          </a:xfrm>
        </p:spPr>
        <p:txBody>
          <a:bodyPr>
            <a:normAutofit/>
          </a:bodyPr>
          <a:lstStyle/>
          <a:p>
            <a:r>
              <a:rPr lang="en-US" sz="2000" dirty="0"/>
              <a:t>Syntax:</a:t>
            </a:r>
          </a:p>
          <a:p>
            <a:pPr lvl="1"/>
            <a:r>
              <a:rPr lang="en-US" sz="1600" dirty="0"/>
              <a:t>Insert one document: </a:t>
            </a:r>
            <a:r>
              <a:rPr lang="en-US" sz="1600" b="1" dirty="0"/>
              <a:t>db.&lt;collection name&gt;.</a:t>
            </a:r>
            <a:r>
              <a:rPr lang="en-US" sz="1600" b="1" dirty="0" err="1"/>
              <a:t>insertOne</a:t>
            </a:r>
            <a:r>
              <a:rPr lang="en-US" sz="1600" b="1" dirty="0"/>
              <a:t>({document})</a:t>
            </a:r>
          </a:p>
          <a:p>
            <a:pPr lvl="1"/>
            <a:r>
              <a:rPr lang="en-US" sz="1600" dirty="0"/>
              <a:t>Insert multiple documents: </a:t>
            </a:r>
            <a:r>
              <a:rPr lang="en-US" sz="1600" b="1" dirty="0"/>
              <a:t>db.&lt;collection name&gt;.</a:t>
            </a:r>
            <a:r>
              <a:rPr lang="en-US" sz="1600" b="1" dirty="0" err="1"/>
              <a:t>insertMany</a:t>
            </a:r>
            <a:r>
              <a:rPr lang="en-US" sz="1600" b="1" dirty="0"/>
              <a:t>([{document1}, {document2}, {document3}])</a:t>
            </a:r>
            <a:endParaRPr lang="en-US" sz="2000" dirty="0"/>
          </a:p>
          <a:p>
            <a:endParaRPr lang="en-US" sz="2000" dirty="0"/>
          </a:p>
          <a:p>
            <a:r>
              <a:rPr lang="en-US" sz="2000" dirty="0"/>
              <a:t>Example Codes:</a:t>
            </a:r>
          </a:p>
          <a:p>
            <a:endParaRPr lang="en-US" sz="2000" b="1" dirty="0"/>
          </a:p>
        </p:txBody>
      </p:sp>
      <p:sp>
        <p:nvSpPr>
          <p:cNvPr id="4" name="TextBox 3">
            <a:extLst>
              <a:ext uri="{FF2B5EF4-FFF2-40B4-BE49-F238E27FC236}">
                <a16:creationId xmlns:a16="http://schemas.microsoft.com/office/drawing/2014/main" id="{0C485985-2F09-0A41-6537-E76C200A26CC}"/>
              </a:ext>
            </a:extLst>
          </p:cNvPr>
          <p:cNvSpPr txBox="1"/>
          <p:nvPr/>
        </p:nvSpPr>
        <p:spPr>
          <a:xfrm>
            <a:off x="734331" y="3103284"/>
            <a:ext cx="7966817" cy="3477875"/>
          </a:xfrm>
          <a:prstGeom prst="rect">
            <a:avLst/>
          </a:prstGeom>
          <a:noFill/>
        </p:spPr>
        <p:txBody>
          <a:bodyPr wrap="square">
            <a:spAutoFit/>
          </a:bodyPr>
          <a:lstStyle/>
          <a:p>
            <a:r>
              <a:rPr lang="en-US" sz="2000" dirty="0" err="1"/>
              <a:t>db.products.insertOne</a:t>
            </a:r>
            <a:r>
              <a:rPr lang="en-US" sz="2000" dirty="0"/>
              <a:t>( {name: "cushioned desk chair",</a:t>
            </a:r>
          </a:p>
          <a:p>
            <a:r>
              <a:rPr lang="en-US" sz="2000" dirty="0"/>
              <a:t>			brand: "</a:t>
            </a:r>
            <a:r>
              <a:rPr lang="en-US" sz="2000" dirty="0" err="1"/>
              <a:t>RoughRider</a:t>
            </a:r>
            <a:r>
              <a:rPr lang="en-US" sz="2000" dirty="0"/>
              <a:t>",</a:t>
            </a:r>
          </a:p>
          <a:p>
            <a:r>
              <a:rPr lang="en-US" sz="2000" dirty="0"/>
              <a:t>			type: "chair",</a:t>
            </a:r>
          </a:p>
          <a:p>
            <a:r>
              <a:rPr lang="en-US" sz="2000" dirty="0"/>
              <a:t>			keywords: ["chair", "office", "cushioned"],</a:t>
            </a:r>
          </a:p>
          <a:p>
            <a:r>
              <a:rPr lang="en-US" sz="2000" dirty="0"/>
              <a:t>			price: 300});</a:t>
            </a:r>
          </a:p>
          <a:p>
            <a:endParaRPr lang="en-US" sz="2000" dirty="0"/>
          </a:p>
          <a:p>
            <a:r>
              <a:rPr lang="en-US" sz="2000" dirty="0" err="1"/>
              <a:t>db.products.insertOne</a:t>
            </a:r>
            <a:r>
              <a:rPr lang="en-US" sz="2000" dirty="0"/>
              <a:t>( {name: "cushioned desk chair",</a:t>
            </a:r>
          </a:p>
          <a:p>
            <a:r>
              <a:rPr lang="en-US" sz="2000" dirty="0"/>
              <a:t>			brand: "</a:t>
            </a:r>
            <a:r>
              <a:rPr lang="en-US" sz="2000" dirty="0" err="1"/>
              <a:t>RoughRider</a:t>
            </a:r>
            <a:r>
              <a:rPr lang="en-US" sz="2000" dirty="0"/>
              <a:t>",</a:t>
            </a:r>
          </a:p>
          <a:p>
            <a:r>
              <a:rPr lang="en-US" sz="2000" dirty="0"/>
              <a:t>			type: "chair",</a:t>
            </a:r>
          </a:p>
          <a:p>
            <a:r>
              <a:rPr lang="en-US" sz="2000" dirty="0"/>
              <a:t>			keywords: ["chair", "office", "cushioned"],</a:t>
            </a:r>
          </a:p>
          <a:p>
            <a:r>
              <a:rPr lang="en-US" sz="2000" dirty="0"/>
              <a:t>			price: 300});</a:t>
            </a:r>
          </a:p>
        </p:txBody>
      </p:sp>
    </p:spTree>
    <p:extLst>
      <p:ext uri="{BB962C8B-B14F-4D97-AF65-F5344CB8AC3E}">
        <p14:creationId xmlns:p14="http://schemas.microsoft.com/office/powerpoint/2010/main" val="2319588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7EC8D-4194-4AA5-A523-28EB3291C769}"/>
              </a:ext>
            </a:extLst>
          </p:cNvPr>
          <p:cNvSpPr>
            <a:spLocks noGrp="1"/>
          </p:cNvSpPr>
          <p:nvPr>
            <p:ph type="title"/>
          </p:nvPr>
        </p:nvSpPr>
        <p:spPr/>
        <p:txBody>
          <a:bodyPr/>
          <a:lstStyle/>
          <a:p>
            <a:r>
              <a:rPr lang="en-US" dirty="0"/>
              <a:t>Updating Documents</a:t>
            </a:r>
          </a:p>
        </p:txBody>
      </p:sp>
      <p:sp>
        <p:nvSpPr>
          <p:cNvPr id="3" name="Content Placeholder 2">
            <a:extLst>
              <a:ext uri="{FF2B5EF4-FFF2-40B4-BE49-F238E27FC236}">
                <a16:creationId xmlns:a16="http://schemas.microsoft.com/office/drawing/2014/main" id="{397FF530-B238-46D9-91CB-5639D0ACE92D}"/>
              </a:ext>
            </a:extLst>
          </p:cNvPr>
          <p:cNvSpPr>
            <a:spLocks noGrp="1"/>
          </p:cNvSpPr>
          <p:nvPr>
            <p:ph idx="1"/>
          </p:nvPr>
        </p:nvSpPr>
        <p:spPr>
          <a:xfrm>
            <a:off x="63944" y="1166018"/>
            <a:ext cx="8994711" cy="5555457"/>
          </a:xfrm>
        </p:spPr>
        <p:txBody>
          <a:bodyPr>
            <a:normAutofit fontScale="92500" lnSpcReduction="10000"/>
          </a:bodyPr>
          <a:lstStyle/>
          <a:p>
            <a:r>
              <a:rPr lang="en-US" sz="2200" dirty="0"/>
              <a:t>A </a:t>
            </a:r>
            <a:r>
              <a:rPr lang="en-US" sz="2200" b="1" dirty="0"/>
              <a:t>replacement update </a:t>
            </a:r>
            <a:r>
              <a:rPr lang="en-US" sz="2200" dirty="0"/>
              <a:t>completely removes the original document and replaces it with the new document while preserving only the value of the </a:t>
            </a:r>
            <a:r>
              <a:rPr lang="en-US" sz="2200" i="1" dirty="0"/>
              <a:t>_id </a:t>
            </a:r>
            <a:r>
              <a:rPr lang="en-US" sz="2200" dirty="0"/>
              <a:t>primary key. </a:t>
            </a:r>
          </a:p>
          <a:p>
            <a:r>
              <a:rPr lang="en-US" sz="2200" dirty="0"/>
              <a:t>An </a:t>
            </a:r>
            <a:r>
              <a:rPr lang="en-US" sz="2200" b="1" dirty="0"/>
              <a:t>operator update </a:t>
            </a:r>
            <a:r>
              <a:rPr lang="en-US" sz="2200" dirty="0"/>
              <a:t>makes changes to some of the content of a document, but leaves the remainder of the document unchanged.</a:t>
            </a:r>
          </a:p>
          <a:p>
            <a:r>
              <a:rPr lang="en-US" sz="2200" dirty="0"/>
              <a:t>While earlier versions of MongoDB use the same syntax, the newer versions have separates syntax for the two types of updates.</a:t>
            </a:r>
          </a:p>
          <a:p>
            <a:r>
              <a:rPr lang="en-US" sz="2200" dirty="0"/>
              <a:t>Syntax:</a:t>
            </a:r>
          </a:p>
          <a:p>
            <a:pPr marL="0" indent="0" algn="ctr">
              <a:buNone/>
            </a:pPr>
            <a:r>
              <a:rPr lang="en-US" sz="2200" b="1" dirty="0">
                <a:latin typeface="Times New Roman" panose="02020603050405020304" pitchFamily="18" charset="0"/>
                <a:cs typeface="Times New Roman" panose="02020603050405020304" pitchFamily="18" charset="0"/>
              </a:rPr>
              <a:t>db.&lt;collection name&gt;.</a:t>
            </a:r>
            <a:r>
              <a:rPr lang="en-US" sz="2200" b="1" dirty="0" err="1">
                <a:latin typeface="Times New Roman" panose="02020603050405020304" pitchFamily="18" charset="0"/>
                <a:cs typeface="Times New Roman" panose="02020603050405020304" pitchFamily="18" charset="0"/>
              </a:rPr>
              <a:t>replaceOne</a:t>
            </a:r>
            <a:r>
              <a:rPr lang="en-US" sz="2200" b="1" dirty="0">
                <a:latin typeface="Times New Roman" panose="02020603050405020304" pitchFamily="18" charset="0"/>
                <a:cs typeface="Times New Roman" panose="02020603050405020304" pitchFamily="18" charset="0"/>
              </a:rPr>
              <a:t>({&lt;query&gt;}, {&lt;change&gt;}, &lt;</a:t>
            </a:r>
            <a:r>
              <a:rPr lang="en-US" sz="2200" b="1" dirty="0" err="1">
                <a:latin typeface="Times New Roman" panose="02020603050405020304" pitchFamily="18" charset="0"/>
                <a:cs typeface="Times New Roman" panose="02020603050405020304" pitchFamily="18" charset="0"/>
              </a:rPr>
              <a:t>upsert</a:t>
            </a:r>
            <a:r>
              <a:rPr lang="en-US" sz="2200" b="1" dirty="0">
                <a:latin typeface="Times New Roman" panose="02020603050405020304" pitchFamily="18" charset="0"/>
                <a:cs typeface="Times New Roman" panose="02020603050405020304" pitchFamily="18" charset="0"/>
              </a:rPr>
              <a:t>&gt;, &lt;multi&gt;)</a:t>
            </a:r>
          </a:p>
          <a:p>
            <a:pPr marL="0" indent="0" algn="ctr">
              <a:buNone/>
            </a:pPr>
            <a:r>
              <a:rPr lang="en-US" sz="2200" b="1" dirty="0">
                <a:latin typeface="Times New Roman" panose="02020603050405020304" pitchFamily="18" charset="0"/>
                <a:cs typeface="Times New Roman" panose="02020603050405020304" pitchFamily="18" charset="0"/>
              </a:rPr>
              <a:t>db.&lt;collection name&gt;.</a:t>
            </a:r>
            <a:r>
              <a:rPr lang="en-US" sz="2200" b="1" dirty="0" err="1">
                <a:latin typeface="Times New Roman" panose="02020603050405020304" pitchFamily="18" charset="0"/>
                <a:cs typeface="Times New Roman" panose="02020603050405020304" pitchFamily="18" charset="0"/>
              </a:rPr>
              <a:t>updateOne</a:t>
            </a:r>
            <a:r>
              <a:rPr lang="en-US" sz="2200" b="1" dirty="0">
                <a:latin typeface="Times New Roman" panose="02020603050405020304" pitchFamily="18" charset="0"/>
                <a:cs typeface="Times New Roman" panose="02020603050405020304" pitchFamily="18" charset="0"/>
              </a:rPr>
              <a:t>({&lt;query&gt;}, {&lt;change&gt;}, &lt;</a:t>
            </a:r>
            <a:r>
              <a:rPr lang="en-US" sz="2200" b="1" dirty="0" err="1">
                <a:latin typeface="Times New Roman" panose="02020603050405020304" pitchFamily="18" charset="0"/>
                <a:cs typeface="Times New Roman" panose="02020603050405020304" pitchFamily="18" charset="0"/>
              </a:rPr>
              <a:t>upsert</a:t>
            </a:r>
            <a:r>
              <a:rPr lang="en-US" sz="2200" b="1" dirty="0">
                <a:latin typeface="Times New Roman" panose="02020603050405020304" pitchFamily="18" charset="0"/>
                <a:cs typeface="Times New Roman" panose="02020603050405020304" pitchFamily="18" charset="0"/>
              </a:rPr>
              <a:t>&gt;, &lt;multi&gt;)</a:t>
            </a:r>
          </a:p>
          <a:p>
            <a:pPr marL="0" indent="0" algn="ctr">
              <a:buNone/>
            </a:pPr>
            <a:r>
              <a:rPr lang="en-US" sz="2200" i="1" dirty="0"/>
              <a:t>Note: “One” also can be replaced as “Many”</a:t>
            </a:r>
          </a:p>
          <a:p>
            <a:pPr lvl="1"/>
            <a:r>
              <a:rPr lang="en-US" sz="1800" b="1" dirty="0"/>
              <a:t>Query: </a:t>
            </a:r>
            <a:r>
              <a:rPr lang="en-US" sz="1800" dirty="0"/>
              <a:t>which documents to update</a:t>
            </a:r>
          </a:p>
          <a:p>
            <a:pPr lvl="1"/>
            <a:r>
              <a:rPr lang="en-US" sz="1800" b="1" dirty="0"/>
              <a:t>Change: </a:t>
            </a:r>
            <a:r>
              <a:rPr lang="en-US" sz="1800" dirty="0"/>
              <a:t>what changes to make to the document</a:t>
            </a:r>
          </a:p>
          <a:p>
            <a:pPr lvl="1"/>
            <a:r>
              <a:rPr lang="en-US" sz="1800" b="1" dirty="0" err="1"/>
              <a:t>Upsert</a:t>
            </a:r>
            <a:r>
              <a:rPr lang="en-US" sz="1800" b="1" dirty="0"/>
              <a:t>:</a:t>
            </a:r>
            <a:r>
              <a:rPr lang="en-US" sz="1800" dirty="0"/>
              <a:t> False (default): if no document meets the criteria in the query object, then no changes; True: if no document meets the criteria, insert a new document with the data in the change object</a:t>
            </a:r>
          </a:p>
          <a:p>
            <a:pPr lvl="1"/>
            <a:r>
              <a:rPr lang="en-US" sz="1800" b="1" dirty="0"/>
              <a:t>Multi:</a:t>
            </a:r>
            <a:r>
              <a:rPr lang="en-US" sz="1800" dirty="0"/>
              <a:t> False: only the first documents that match the criteria will be updated; True: all documents meets the criteria will be updated.</a:t>
            </a:r>
          </a:p>
        </p:txBody>
      </p:sp>
    </p:spTree>
    <p:extLst>
      <p:ext uri="{BB962C8B-B14F-4D97-AF65-F5344CB8AC3E}">
        <p14:creationId xmlns:p14="http://schemas.microsoft.com/office/powerpoint/2010/main" val="2229800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DF30-6DD0-42A3-9D09-3D084E71EB6E}"/>
              </a:ext>
            </a:extLst>
          </p:cNvPr>
          <p:cNvSpPr>
            <a:spLocks noGrp="1"/>
          </p:cNvSpPr>
          <p:nvPr>
            <p:ph type="title"/>
          </p:nvPr>
        </p:nvSpPr>
        <p:spPr/>
        <p:txBody>
          <a:bodyPr/>
          <a:lstStyle/>
          <a:p>
            <a:r>
              <a:rPr lang="en-US" dirty="0"/>
              <a:t>Replacement Updates</a:t>
            </a:r>
          </a:p>
        </p:txBody>
      </p:sp>
      <p:sp>
        <p:nvSpPr>
          <p:cNvPr id="3" name="Content Placeholder 2">
            <a:extLst>
              <a:ext uri="{FF2B5EF4-FFF2-40B4-BE49-F238E27FC236}">
                <a16:creationId xmlns:a16="http://schemas.microsoft.com/office/drawing/2014/main" id="{2F99F3BB-31F5-47D2-A91B-6367765C17E2}"/>
              </a:ext>
            </a:extLst>
          </p:cNvPr>
          <p:cNvSpPr>
            <a:spLocks noGrp="1"/>
          </p:cNvSpPr>
          <p:nvPr>
            <p:ph idx="1"/>
          </p:nvPr>
        </p:nvSpPr>
        <p:spPr>
          <a:xfrm>
            <a:off x="149289" y="1028858"/>
            <a:ext cx="8770776" cy="5555457"/>
          </a:xfrm>
        </p:spPr>
        <p:txBody>
          <a:bodyPr>
            <a:normAutofit/>
          </a:bodyPr>
          <a:lstStyle/>
          <a:p>
            <a:r>
              <a:rPr lang="en-US" sz="2200" dirty="0"/>
              <a:t>Example: a replacement update on the “</a:t>
            </a:r>
            <a:r>
              <a:rPr lang="en-US" sz="2200" i="1" dirty="0"/>
              <a:t>standard desk chair</a:t>
            </a:r>
            <a:r>
              <a:rPr lang="en-US" sz="2200" dirty="0"/>
              <a:t>” document that was first inserted into the products collection</a:t>
            </a:r>
          </a:p>
        </p:txBody>
      </p:sp>
      <p:sp>
        <p:nvSpPr>
          <p:cNvPr id="6" name="TextBox 5">
            <a:extLst>
              <a:ext uri="{FF2B5EF4-FFF2-40B4-BE49-F238E27FC236}">
                <a16:creationId xmlns:a16="http://schemas.microsoft.com/office/drawing/2014/main" id="{07133241-D33C-A355-4747-ACF6C7FF7DC1}"/>
              </a:ext>
            </a:extLst>
          </p:cNvPr>
          <p:cNvSpPr txBox="1"/>
          <p:nvPr/>
        </p:nvSpPr>
        <p:spPr>
          <a:xfrm>
            <a:off x="935724" y="1854453"/>
            <a:ext cx="7272551" cy="1938992"/>
          </a:xfrm>
          <a:prstGeom prst="rect">
            <a:avLst/>
          </a:prstGeom>
          <a:noFill/>
        </p:spPr>
        <p:txBody>
          <a:bodyPr wrap="square">
            <a:spAutoFit/>
          </a:bodyPr>
          <a:lstStyle/>
          <a:p>
            <a:r>
              <a:rPr lang="en-US" sz="2400" dirty="0" err="1"/>
              <a:t>db.products.replaceOne</a:t>
            </a:r>
            <a:r>
              <a:rPr lang="en-US" sz="2400" dirty="0"/>
              <a:t>({name: "standard desk chair"}, </a:t>
            </a:r>
          </a:p>
          <a:p>
            <a:r>
              <a:rPr lang="en-US" sz="2400" dirty="0"/>
              <a:t>	{name: "regular desk chair"},</a:t>
            </a:r>
          </a:p>
          <a:p>
            <a:r>
              <a:rPr lang="en-US" sz="2400" dirty="0"/>
              <a:t>	false,</a:t>
            </a:r>
          </a:p>
          <a:p>
            <a:r>
              <a:rPr lang="en-US" sz="2400" dirty="0"/>
              <a:t>	false);</a:t>
            </a:r>
          </a:p>
          <a:p>
            <a:endParaRPr lang="en-US" sz="2400" dirty="0"/>
          </a:p>
        </p:txBody>
      </p:sp>
    </p:spTree>
    <p:extLst>
      <p:ext uri="{BB962C8B-B14F-4D97-AF65-F5344CB8AC3E}">
        <p14:creationId xmlns:p14="http://schemas.microsoft.com/office/powerpoint/2010/main" val="1594031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F4CDC-413A-47EE-97C0-33005609484E}"/>
              </a:ext>
            </a:extLst>
          </p:cNvPr>
          <p:cNvSpPr>
            <a:spLocks noGrp="1"/>
          </p:cNvSpPr>
          <p:nvPr>
            <p:ph type="title"/>
          </p:nvPr>
        </p:nvSpPr>
        <p:spPr/>
        <p:txBody>
          <a:bodyPr/>
          <a:lstStyle/>
          <a:p>
            <a:r>
              <a:rPr lang="en-US" dirty="0"/>
              <a:t>Replacement Updates</a:t>
            </a:r>
          </a:p>
        </p:txBody>
      </p:sp>
      <p:sp>
        <p:nvSpPr>
          <p:cNvPr id="3" name="Content Placeholder 2">
            <a:extLst>
              <a:ext uri="{FF2B5EF4-FFF2-40B4-BE49-F238E27FC236}">
                <a16:creationId xmlns:a16="http://schemas.microsoft.com/office/drawing/2014/main" id="{85C090F9-CDA4-4F3E-B5F5-21A1DEE399F8}"/>
              </a:ext>
            </a:extLst>
          </p:cNvPr>
          <p:cNvSpPr>
            <a:spLocks noGrp="1"/>
          </p:cNvSpPr>
          <p:nvPr>
            <p:ph idx="1"/>
          </p:nvPr>
        </p:nvSpPr>
        <p:spPr>
          <a:xfrm>
            <a:off x="149289" y="966728"/>
            <a:ext cx="8770776" cy="766092"/>
          </a:xfrm>
        </p:spPr>
        <p:txBody>
          <a:bodyPr>
            <a:normAutofit/>
          </a:bodyPr>
          <a:lstStyle/>
          <a:p>
            <a:r>
              <a:rPr lang="en-US" sz="2200" dirty="0"/>
              <a:t>The change object can also include multiple </a:t>
            </a:r>
            <a:r>
              <a:rPr lang="en-US" sz="2200" dirty="0" err="1"/>
              <a:t>key:value</a:t>
            </a:r>
            <a:r>
              <a:rPr lang="en-US" sz="2200" dirty="0"/>
              <a:t> pairs, including complex values such as arrays and embedded objects. </a:t>
            </a:r>
          </a:p>
        </p:txBody>
      </p:sp>
      <p:sp>
        <p:nvSpPr>
          <p:cNvPr id="6" name="TextBox 5">
            <a:extLst>
              <a:ext uri="{FF2B5EF4-FFF2-40B4-BE49-F238E27FC236}">
                <a16:creationId xmlns:a16="http://schemas.microsoft.com/office/drawing/2014/main" id="{D192B09B-CA40-B375-21DE-93482B3D7C90}"/>
              </a:ext>
            </a:extLst>
          </p:cNvPr>
          <p:cNvSpPr txBox="1"/>
          <p:nvPr/>
        </p:nvSpPr>
        <p:spPr>
          <a:xfrm>
            <a:off x="502407" y="2044005"/>
            <a:ext cx="8139185" cy="1384995"/>
          </a:xfrm>
          <a:prstGeom prst="rect">
            <a:avLst/>
          </a:prstGeom>
          <a:noFill/>
        </p:spPr>
        <p:txBody>
          <a:bodyPr wrap="square">
            <a:spAutoFit/>
          </a:bodyPr>
          <a:lstStyle/>
          <a:p>
            <a:r>
              <a:rPr lang="en-US" sz="2800" dirty="0" err="1"/>
              <a:t>db.products.replaceOne</a:t>
            </a:r>
            <a:r>
              <a:rPr lang="en-US" sz="2800" dirty="0"/>
              <a:t>({name: "regular desk chair"},</a:t>
            </a:r>
          </a:p>
          <a:p>
            <a:r>
              <a:rPr lang="en-US" sz="2800" dirty="0"/>
              <a:t>			{name: "basic desk chair", price: 100, brand: "</a:t>
            </a:r>
            <a:r>
              <a:rPr lang="en-US" sz="2800" dirty="0" err="1"/>
              <a:t>RoughRider</a:t>
            </a:r>
            <a:r>
              <a:rPr lang="en-US" sz="2800" dirty="0"/>
              <a:t>", type: "chair"});</a:t>
            </a:r>
          </a:p>
        </p:txBody>
      </p:sp>
    </p:spTree>
    <p:extLst>
      <p:ext uri="{BB962C8B-B14F-4D97-AF65-F5344CB8AC3E}">
        <p14:creationId xmlns:p14="http://schemas.microsoft.com/office/powerpoint/2010/main" val="1401897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B058-4BA3-4BDD-B657-B2B8F4176769}"/>
              </a:ext>
            </a:extLst>
          </p:cNvPr>
          <p:cNvSpPr>
            <a:spLocks noGrp="1"/>
          </p:cNvSpPr>
          <p:nvPr>
            <p:ph type="title"/>
          </p:nvPr>
        </p:nvSpPr>
        <p:spPr/>
        <p:txBody>
          <a:bodyPr/>
          <a:lstStyle/>
          <a:p>
            <a:r>
              <a:rPr lang="en-US" dirty="0"/>
              <a:t>Operator Updates</a:t>
            </a:r>
          </a:p>
        </p:txBody>
      </p:sp>
      <p:sp>
        <p:nvSpPr>
          <p:cNvPr id="3" name="Content Placeholder 2">
            <a:extLst>
              <a:ext uri="{FF2B5EF4-FFF2-40B4-BE49-F238E27FC236}">
                <a16:creationId xmlns:a16="http://schemas.microsoft.com/office/drawing/2014/main" id="{05844F31-2DB4-43EB-80CF-0C8C6866EEBD}"/>
              </a:ext>
            </a:extLst>
          </p:cNvPr>
          <p:cNvSpPr>
            <a:spLocks noGrp="1"/>
          </p:cNvSpPr>
          <p:nvPr>
            <p:ph idx="1"/>
          </p:nvPr>
        </p:nvSpPr>
        <p:spPr>
          <a:xfrm>
            <a:off x="149289" y="1166019"/>
            <a:ext cx="8770776" cy="1881982"/>
          </a:xfrm>
        </p:spPr>
        <p:txBody>
          <a:bodyPr/>
          <a:lstStyle/>
          <a:p>
            <a:r>
              <a:rPr lang="en-US" sz="2200" dirty="0"/>
              <a:t>Operator updates use one or more update functions, or operators, in the change object.</a:t>
            </a:r>
          </a:p>
          <a:p>
            <a:r>
              <a:rPr lang="en-US" sz="2200" dirty="0"/>
              <a:t>Syntax for an operator:</a:t>
            </a:r>
          </a:p>
          <a:p>
            <a:pPr marL="0" indent="0" algn="ctr">
              <a:buNone/>
            </a:pPr>
            <a:r>
              <a:rPr lang="en-US" sz="2200" b="1" dirty="0">
                <a:latin typeface="Times New Roman" panose="02020603050405020304" pitchFamily="18" charset="0"/>
                <a:cs typeface="Times New Roman" panose="02020603050405020304" pitchFamily="18" charset="0"/>
              </a:rPr>
              <a:t>&lt;operator&gt;: {&lt;object&gt;}</a:t>
            </a:r>
          </a:p>
          <a:p>
            <a:endParaRPr lang="en-US" dirty="0"/>
          </a:p>
        </p:txBody>
      </p:sp>
      <p:pic>
        <p:nvPicPr>
          <p:cNvPr id="4" name="Picture 3">
            <a:extLst>
              <a:ext uri="{FF2B5EF4-FFF2-40B4-BE49-F238E27FC236}">
                <a16:creationId xmlns:a16="http://schemas.microsoft.com/office/drawing/2014/main" id="{787BAE77-A335-45B4-AD4E-EE46DF8DBA07}"/>
              </a:ext>
            </a:extLst>
          </p:cNvPr>
          <p:cNvPicPr>
            <a:picLocks noChangeAspect="1"/>
          </p:cNvPicPr>
          <p:nvPr/>
        </p:nvPicPr>
        <p:blipFill>
          <a:blip r:embed="rId3"/>
          <a:stretch>
            <a:fillRect/>
          </a:stretch>
        </p:blipFill>
        <p:spPr>
          <a:xfrm>
            <a:off x="11723" y="2941209"/>
            <a:ext cx="9144000" cy="2888226"/>
          </a:xfrm>
          <a:prstGeom prst="rect">
            <a:avLst/>
          </a:prstGeom>
        </p:spPr>
      </p:pic>
    </p:spTree>
    <p:extLst>
      <p:ext uri="{BB962C8B-B14F-4D97-AF65-F5344CB8AC3E}">
        <p14:creationId xmlns:p14="http://schemas.microsoft.com/office/powerpoint/2010/main" val="4167180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959B7C-0B09-BC66-8C54-70D9F1259DE8}"/>
              </a:ext>
            </a:extLst>
          </p:cNvPr>
          <p:cNvPicPr>
            <a:picLocks noChangeAspect="1"/>
          </p:cNvPicPr>
          <p:nvPr/>
        </p:nvPicPr>
        <p:blipFill>
          <a:blip r:embed="rId3"/>
          <a:stretch>
            <a:fillRect/>
          </a:stretch>
        </p:blipFill>
        <p:spPr>
          <a:xfrm>
            <a:off x="2098043" y="858416"/>
            <a:ext cx="4744218" cy="5943600"/>
          </a:xfrm>
          <a:prstGeom prst="rect">
            <a:avLst/>
          </a:prstGeom>
        </p:spPr>
      </p:pic>
      <p:sp>
        <p:nvSpPr>
          <p:cNvPr id="2" name="Title 1">
            <a:extLst>
              <a:ext uri="{FF2B5EF4-FFF2-40B4-BE49-F238E27FC236}">
                <a16:creationId xmlns:a16="http://schemas.microsoft.com/office/drawing/2014/main" id="{BEAFC29D-CC41-427F-B8DA-001187E1C215}"/>
              </a:ext>
            </a:extLst>
          </p:cNvPr>
          <p:cNvSpPr>
            <a:spLocks noGrp="1"/>
          </p:cNvSpPr>
          <p:nvPr>
            <p:ph type="title"/>
          </p:nvPr>
        </p:nvSpPr>
        <p:spPr/>
        <p:txBody>
          <a:bodyPr/>
          <a:lstStyle/>
          <a:p>
            <a:r>
              <a:rPr lang="en-US" dirty="0"/>
              <a:t>Operator Updates - $set</a:t>
            </a:r>
          </a:p>
        </p:txBody>
      </p:sp>
      <p:sp>
        <p:nvSpPr>
          <p:cNvPr id="5" name="Oval 4">
            <a:extLst>
              <a:ext uri="{FF2B5EF4-FFF2-40B4-BE49-F238E27FC236}">
                <a16:creationId xmlns:a16="http://schemas.microsoft.com/office/drawing/2014/main" id="{AC82F08F-5B21-4E88-88EF-39A4897F50EA}"/>
              </a:ext>
            </a:extLst>
          </p:cNvPr>
          <p:cNvSpPr/>
          <p:nvPr/>
        </p:nvSpPr>
        <p:spPr>
          <a:xfrm flipH="1">
            <a:off x="3757127" y="946102"/>
            <a:ext cx="1210658" cy="282197"/>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B43BE4A-4CB3-4D0C-8CF9-56CA656C4F19}"/>
              </a:ext>
            </a:extLst>
          </p:cNvPr>
          <p:cNvSpPr/>
          <p:nvPr/>
        </p:nvSpPr>
        <p:spPr>
          <a:xfrm flipH="1">
            <a:off x="2098043" y="2916542"/>
            <a:ext cx="4244142" cy="1221704"/>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0110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798E99-7E29-D5CA-F1D8-A92D7CED7DA0}"/>
              </a:ext>
            </a:extLst>
          </p:cNvPr>
          <p:cNvPicPr>
            <a:picLocks noChangeAspect="1"/>
          </p:cNvPicPr>
          <p:nvPr/>
        </p:nvPicPr>
        <p:blipFill>
          <a:blip r:embed="rId3"/>
          <a:stretch>
            <a:fillRect/>
          </a:stretch>
        </p:blipFill>
        <p:spPr>
          <a:xfrm>
            <a:off x="1914506" y="858415"/>
            <a:ext cx="4680606" cy="5947221"/>
          </a:xfrm>
          <a:prstGeom prst="rect">
            <a:avLst/>
          </a:prstGeom>
        </p:spPr>
      </p:pic>
      <p:sp>
        <p:nvSpPr>
          <p:cNvPr id="2" name="Title 1">
            <a:extLst>
              <a:ext uri="{FF2B5EF4-FFF2-40B4-BE49-F238E27FC236}">
                <a16:creationId xmlns:a16="http://schemas.microsoft.com/office/drawing/2014/main" id="{9F9E8198-5409-4CE7-9779-1216BF49E4C5}"/>
              </a:ext>
            </a:extLst>
          </p:cNvPr>
          <p:cNvSpPr>
            <a:spLocks noGrp="1"/>
          </p:cNvSpPr>
          <p:nvPr>
            <p:ph type="title"/>
          </p:nvPr>
        </p:nvSpPr>
        <p:spPr/>
        <p:txBody>
          <a:bodyPr/>
          <a:lstStyle/>
          <a:p>
            <a:r>
              <a:rPr lang="en-US" dirty="0"/>
              <a:t>Operator Updates - $set</a:t>
            </a:r>
          </a:p>
        </p:txBody>
      </p:sp>
      <p:sp>
        <p:nvSpPr>
          <p:cNvPr id="5" name="Rectangle 4">
            <a:extLst>
              <a:ext uri="{FF2B5EF4-FFF2-40B4-BE49-F238E27FC236}">
                <a16:creationId xmlns:a16="http://schemas.microsoft.com/office/drawing/2014/main" id="{0334925C-7E04-4482-BFD6-C64D0AD0526E}"/>
              </a:ext>
            </a:extLst>
          </p:cNvPr>
          <p:cNvSpPr/>
          <p:nvPr/>
        </p:nvSpPr>
        <p:spPr>
          <a:xfrm>
            <a:off x="2087932" y="3466861"/>
            <a:ext cx="1348154" cy="257907"/>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BE2A029-FDF5-4E68-BB6E-D37169AA93EE}"/>
              </a:ext>
            </a:extLst>
          </p:cNvPr>
          <p:cNvSpPr/>
          <p:nvPr/>
        </p:nvSpPr>
        <p:spPr>
          <a:xfrm>
            <a:off x="2240332" y="3979198"/>
            <a:ext cx="1043354" cy="257907"/>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4980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E8198-5409-4CE7-9779-1216BF49E4C5}"/>
              </a:ext>
            </a:extLst>
          </p:cNvPr>
          <p:cNvSpPr>
            <a:spLocks noGrp="1"/>
          </p:cNvSpPr>
          <p:nvPr>
            <p:ph type="title"/>
          </p:nvPr>
        </p:nvSpPr>
        <p:spPr/>
        <p:txBody>
          <a:bodyPr/>
          <a:lstStyle/>
          <a:p>
            <a:r>
              <a:rPr lang="en-US" dirty="0"/>
              <a:t>Operator Updates - $set</a:t>
            </a:r>
          </a:p>
        </p:txBody>
      </p:sp>
      <p:sp>
        <p:nvSpPr>
          <p:cNvPr id="5" name="TextBox 4">
            <a:extLst>
              <a:ext uri="{FF2B5EF4-FFF2-40B4-BE49-F238E27FC236}">
                <a16:creationId xmlns:a16="http://schemas.microsoft.com/office/drawing/2014/main" id="{74F130F4-D895-2BA7-E93A-A04224DD293B}"/>
              </a:ext>
            </a:extLst>
          </p:cNvPr>
          <p:cNvSpPr txBox="1"/>
          <p:nvPr/>
        </p:nvSpPr>
        <p:spPr>
          <a:xfrm>
            <a:off x="352283" y="945741"/>
            <a:ext cx="8439434" cy="3108543"/>
          </a:xfrm>
          <a:prstGeom prst="rect">
            <a:avLst/>
          </a:prstGeom>
          <a:noFill/>
        </p:spPr>
        <p:txBody>
          <a:bodyPr wrap="square">
            <a:spAutoFit/>
          </a:bodyPr>
          <a:lstStyle/>
          <a:p>
            <a:r>
              <a:rPr lang="en-US" sz="2800" dirty="0" err="1"/>
              <a:t>db.products.updateOne</a:t>
            </a:r>
            <a:r>
              <a:rPr lang="en-US" sz="2800" dirty="0"/>
              <a:t>({name: "standard desk chair"},</a:t>
            </a:r>
          </a:p>
          <a:p>
            <a:r>
              <a:rPr lang="en-US" sz="2800" dirty="0"/>
              <a:t>			{$set: </a:t>
            </a:r>
          </a:p>
          <a:p>
            <a:r>
              <a:rPr lang="en-US" sz="2800" dirty="0"/>
              <a:t>				{brand: </a:t>
            </a:r>
          </a:p>
          <a:p>
            <a:r>
              <a:rPr lang="en-US" sz="2800" dirty="0"/>
              <a:t>					{name: "</a:t>
            </a:r>
            <a:r>
              <a:rPr lang="en-US" sz="2800" dirty="0" err="1"/>
              <a:t>CheapCo</a:t>
            </a:r>
            <a:r>
              <a:rPr lang="en-US" sz="2800" dirty="0"/>
              <a:t>",</a:t>
            </a:r>
          </a:p>
          <a:p>
            <a:r>
              <a:rPr lang="en-US" sz="2800" dirty="0"/>
              <a:t>					phone: "555-1212"}</a:t>
            </a:r>
          </a:p>
          <a:p>
            <a:r>
              <a:rPr lang="en-US" sz="2800" dirty="0"/>
              <a:t>				}</a:t>
            </a:r>
          </a:p>
          <a:p>
            <a:r>
              <a:rPr lang="en-US" sz="2800" dirty="0"/>
              <a:t>			});</a:t>
            </a:r>
          </a:p>
        </p:txBody>
      </p:sp>
    </p:spTree>
    <p:extLst>
      <p:ext uri="{BB962C8B-B14F-4D97-AF65-F5344CB8AC3E}">
        <p14:creationId xmlns:p14="http://schemas.microsoft.com/office/powerpoint/2010/main" val="3196400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4234-926D-40DA-8F3A-F0962AD7E187}"/>
              </a:ext>
            </a:extLst>
          </p:cNvPr>
          <p:cNvSpPr>
            <a:spLocks noGrp="1"/>
          </p:cNvSpPr>
          <p:nvPr>
            <p:ph type="title"/>
          </p:nvPr>
        </p:nvSpPr>
        <p:spPr/>
        <p:txBody>
          <a:bodyPr/>
          <a:lstStyle/>
          <a:p>
            <a:r>
              <a:rPr lang="en-US" dirty="0"/>
              <a:t>Operator Updates - $unset</a:t>
            </a:r>
          </a:p>
        </p:txBody>
      </p:sp>
      <p:sp>
        <p:nvSpPr>
          <p:cNvPr id="3" name="Content Placeholder 2">
            <a:extLst>
              <a:ext uri="{FF2B5EF4-FFF2-40B4-BE49-F238E27FC236}">
                <a16:creationId xmlns:a16="http://schemas.microsoft.com/office/drawing/2014/main" id="{A58AD618-B251-481A-B418-E78FE582A358}"/>
              </a:ext>
            </a:extLst>
          </p:cNvPr>
          <p:cNvSpPr>
            <a:spLocks noGrp="1"/>
          </p:cNvSpPr>
          <p:nvPr>
            <p:ph idx="1"/>
          </p:nvPr>
        </p:nvSpPr>
        <p:spPr>
          <a:xfrm>
            <a:off x="149289" y="1013619"/>
            <a:ext cx="8770776" cy="581575"/>
          </a:xfrm>
        </p:spPr>
        <p:txBody>
          <a:bodyPr>
            <a:normAutofit/>
          </a:bodyPr>
          <a:lstStyle/>
          <a:p>
            <a:r>
              <a:rPr lang="en-US" sz="2200" dirty="0"/>
              <a:t>remove a selected </a:t>
            </a:r>
            <a:r>
              <a:rPr lang="en-US" sz="2200" dirty="0" err="1"/>
              <a:t>key:value</a:t>
            </a:r>
            <a:r>
              <a:rPr lang="en-US" sz="2200" dirty="0"/>
              <a:t> pair from a document</a:t>
            </a:r>
          </a:p>
        </p:txBody>
      </p:sp>
      <p:sp>
        <p:nvSpPr>
          <p:cNvPr id="5" name="TextBox 4">
            <a:extLst>
              <a:ext uri="{FF2B5EF4-FFF2-40B4-BE49-F238E27FC236}">
                <a16:creationId xmlns:a16="http://schemas.microsoft.com/office/drawing/2014/main" id="{386854E2-E58D-B2C2-57C8-34C82EB48602}"/>
              </a:ext>
            </a:extLst>
          </p:cNvPr>
          <p:cNvSpPr txBox="1"/>
          <p:nvPr/>
        </p:nvSpPr>
        <p:spPr>
          <a:xfrm>
            <a:off x="454850" y="1750397"/>
            <a:ext cx="8159654" cy="1815882"/>
          </a:xfrm>
          <a:prstGeom prst="rect">
            <a:avLst/>
          </a:prstGeom>
          <a:noFill/>
        </p:spPr>
        <p:txBody>
          <a:bodyPr wrap="square">
            <a:spAutoFit/>
          </a:bodyPr>
          <a:lstStyle/>
          <a:p>
            <a:r>
              <a:rPr lang="en-US" sz="2800" dirty="0" err="1"/>
              <a:t>db.products.updateOne</a:t>
            </a:r>
            <a:r>
              <a:rPr lang="en-US" sz="2800" dirty="0"/>
              <a:t>({name: "standard desk chair"},</a:t>
            </a:r>
          </a:p>
          <a:p>
            <a:r>
              <a:rPr lang="en-US" sz="2800" dirty="0"/>
              <a:t>			{$unset: </a:t>
            </a:r>
          </a:p>
          <a:p>
            <a:r>
              <a:rPr lang="en-US" sz="2800" dirty="0"/>
              <a:t>			{</a:t>
            </a:r>
            <a:r>
              <a:rPr lang="en-US" sz="2800" dirty="0" err="1"/>
              <a:t>qoh</a:t>
            </a:r>
            <a:r>
              <a:rPr lang="en-US" sz="2800" dirty="0"/>
              <a:t>: 1}</a:t>
            </a:r>
          </a:p>
          <a:p>
            <a:r>
              <a:rPr lang="en-US" sz="2800" dirty="0"/>
              <a:t>		   });</a:t>
            </a:r>
          </a:p>
        </p:txBody>
      </p:sp>
    </p:spTree>
    <p:extLst>
      <p:ext uri="{BB962C8B-B14F-4D97-AF65-F5344CB8AC3E}">
        <p14:creationId xmlns:p14="http://schemas.microsoft.com/office/powerpoint/2010/main" val="2939450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987A-C2C1-4E91-81BD-167675EDF266}"/>
              </a:ext>
            </a:extLst>
          </p:cNvPr>
          <p:cNvSpPr>
            <a:spLocks noGrp="1"/>
          </p:cNvSpPr>
          <p:nvPr>
            <p:ph type="title"/>
          </p:nvPr>
        </p:nvSpPr>
        <p:spPr/>
        <p:txBody>
          <a:bodyPr/>
          <a:lstStyle/>
          <a:p>
            <a:r>
              <a:rPr lang="en-US" dirty="0"/>
              <a:t>Operator Updates - $</a:t>
            </a:r>
            <a:r>
              <a:rPr lang="en-US" dirty="0" err="1"/>
              <a:t>inc</a:t>
            </a:r>
            <a:endParaRPr lang="en-US" dirty="0"/>
          </a:p>
        </p:txBody>
      </p:sp>
      <p:sp>
        <p:nvSpPr>
          <p:cNvPr id="3" name="Content Placeholder 2">
            <a:extLst>
              <a:ext uri="{FF2B5EF4-FFF2-40B4-BE49-F238E27FC236}">
                <a16:creationId xmlns:a16="http://schemas.microsoft.com/office/drawing/2014/main" id="{F89F5102-630E-437C-82AE-9905CCBB9E60}"/>
              </a:ext>
            </a:extLst>
          </p:cNvPr>
          <p:cNvSpPr>
            <a:spLocks noGrp="1"/>
          </p:cNvSpPr>
          <p:nvPr>
            <p:ph idx="1"/>
          </p:nvPr>
        </p:nvSpPr>
        <p:spPr>
          <a:xfrm>
            <a:off x="149289" y="966728"/>
            <a:ext cx="8770776" cy="920690"/>
          </a:xfrm>
        </p:spPr>
        <p:txBody>
          <a:bodyPr>
            <a:normAutofit/>
          </a:bodyPr>
          <a:lstStyle/>
          <a:p>
            <a:r>
              <a:rPr lang="en-US" sz="2200" dirty="0"/>
              <a:t>Increment or decrement a numeric value</a:t>
            </a:r>
          </a:p>
          <a:p>
            <a:r>
              <a:rPr lang="en-US" sz="2200" dirty="0"/>
              <a:t>Example: increase the price of chairs by $50</a:t>
            </a:r>
          </a:p>
        </p:txBody>
      </p:sp>
      <p:sp>
        <p:nvSpPr>
          <p:cNvPr id="6" name="TextBox 5">
            <a:extLst>
              <a:ext uri="{FF2B5EF4-FFF2-40B4-BE49-F238E27FC236}">
                <a16:creationId xmlns:a16="http://schemas.microsoft.com/office/drawing/2014/main" id="{91A8A202-6C08-916D-75AA-B9E92ABE4D5F}"/>
              </a:ext>
            </a:extLst>
          </p:cNvPr>
          <p:cNvSpPr txBox="1"/>
          <p:nvPr/>
        </p:nvSpPr>
        <p:spPr>
          <a:xfrm>
            <a:off x="390667" y="1908146"/>
            <a:ext cx="8466730" cy="2062103"/>
          </a:xfrm>
          <a:prstGeom prst="rect">
            <a:avLst/>
          </a:prstGeom>
          <a:noFill/>
        </p:spPr>
        <p:txBody>
          <a:bodyPr wrap="square">
            <a:spAutoFit/>
          </a:bodyPr>
          <a:lstStyle/>
          <a:p>
            <a:r>
              <a:rPr lang="en-US" sz="3200" dirty="0" err="1"/>
              <a:t>db.products.update</a:t>
            </a:r>
            <a:r>
              <a:rPr lang="en-US" sz="3200" b="1" dirty="0" err="1">
                <a:solidFill>
                  <a:srgbClr val="FF0000"/>
                </a:solidFill>
              </a:rPr>
              <a:t>Many</a:t>
            </a:r>
            <a:r>
              <a:rPr lang="en-US" sz="3200" dirty="0"/>
              <a:t>({type: "chair"},</a:t>
            </a:r>
          </a:p>
          <a:p>
            <a:r>
              <a:rPr lang="en-US" sz="3200" dirty="0"/>
              <a:t>			{</a:t>
            </a:r>
            <a:r>
              <a:rPr lang="en-US" sz="3200" b="1" dirty="0">
                <a:solidFill>
                  <a:srgbClr val="FF0000"/>
                </a:solidFill>
              </a:rPr>
              <a:t>$</a:t>
            </a:r>
            <a:r>
              <a:rPr lang="en-US" sz="3200" b="1" dirty="0" err="1">
                <a:solidFill>
                  <a:srgbClr val="FF0000"/>
                </a:solidFill>
              </a:rPr>
              <a:t>inc</a:t>
            </a:r>
            <a:r>
              <a:rPr lang="en-US" sz="3200" dirty="0"/>
              <a:t>: </a:t>
            </a:r>
          </a:p>
          <a:p>
            <a:r>
              <a:rPr lang="en-US" sz="3200" dirty="0"/>
              <a:t>			{price: 50},</a:t>
            </a:r>
          </a:p>
          <a:p>
            <a:r>
              <a:rPr lang="en-US" sz="3200" dirty="0"/>
              <a:t>			}, false, true);</a:t>
            </a:r>
          </a:p>
        </p:txBody>
      </p:sp>
    </p:spTree>
    <p:extLst>
      <p:ext uri="{BB962C8B-B14F-4D97-AF65-F5344CB8AC3E}">
        <p14:creationId xmlns:p14="http://schemas.microsoft.com/office/powerpoint/2010/main" val="2589380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541F3-4FEE-4F22-811E-A92A93E0418B}"/>
              </a:ext>
            </a:extLst>
          </p:cNvPr>
          <p:cNvSpPr>
            <a:spLocks noGrp="1"/>
          </p:cNvSpPr>
          <p:nvPr>
            <p:ph type="title"/>
          </p:nvPr>
        </p:nvSpPr>
        <p:spPr>
          <a:xfrm>
            <a:off x="149290" y="151111"/>
            <a:ext cx="6879252" cy="581575"/>
          </a:xfrm>
        </p:spPr>
        <p:txBody>
          <a:bodyPr>
            <a:normAutofit/>
          </a:bodyPr>
          <a:lstStyle/>
          <a:p>
            <a:r>
              <a:rPr lang="en-US" dirty="0"/>
              <a:t>Updating Values in a Subdocument</a:t>
            </a:r>
          </a:p>
        </p:txBody>
      </p:sp>
      <p:sp>
        <p:nvSpPr>
          <p:cNvPr id="5" name="TextBox 4">
            <a:extLst>
              <a:ext uri="{FF2B5EF4-FFF2-40B4-BE49-F238E27FC236}">
                <a16:creationId xmlns:a16="http://schemas.microsoft.com/office/drawing/2014/main" id="{BEDF7370-B808-2B53-2196-64D9D857F8CB}"/>
              </a:ext>
            </a:extLst>
          </p:cNvPr>
          <p:cNvSpPr txBox="1"/>
          <p:nvPr/>
        </p:nvSpPr>
        <p:spPr>
          <a:xfrm>
            <a:off x="342899" y="1241651"/>
            <a:ext cx="8589561" cy="1815882"/>
          </a:xfrm>
          <a:prstGeom prst="rect">
            <a:avLst/>
          </a:prstGeom>
          <a:noFill/>
        </p:spPr>
        <p:txBody>
          <a:bodyPr wrap="square">
            <a:spAutoFit/>
          </a:bodyPr>
          <a:lstStyle/>
          <a:p>
            <a:r>
              <a:rPr lang="en-US" sz="2800" dirty="0" err="1"/>
              <a:t>db.products.updateOne</a:t>
            </a:r>
            <a:r>
              <a:rPr lang="en-US" sz="2800" dirty="0"/>
              <a:t>({name: "standard desk chair"},</a:t>
            </a:r>
          </a:p>
          <a:p>
            <a:r>
              <a:rPr lang="en-US" sz="2800" dirty="0"/>
              <a:t>			{$set: </a:t>
            </a:r>
          </a:p>
          <a:p>
            <a:r>
              <a:rPr lang="en-US" sz="2800" dirty="0"/>
              <a:t>				{"</a:t>
            </a:r>
            <a:r>
              <a:rPr lang="en-US" sz="2800" dirty="0" err="1"/>
              <a:t>brand.phone</a:t>
            </a:r>
            <a:r>
              <a:rPr lang="en-US" sz="2800" dirty="0"/>
              <a:t>": "555-2121"}</a:t>
            </a:r>
          </a:p>
          <a:p>
            <a:r>
              <a:rPr lang="en-US" sz="2800" dirty="0"/>
              <a:t>			});</a:t>
            </a:r>
          </a:p>
        </p:txBody>
      </p:sp>
    </p:spTree>
    <p:extLst>
      <p:ext uri="{BB962C8B-B14F-4D97-AF65-F5344CB8AC3E}">
        <p14:creationId xmlns:p14="http://schemas.microsoft.com/office/powerpoint/2010/main" val="3086641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B430E-FB14-4078-957C-6E5DB9D569CF}"/>
              </a:ext>
            </a:extLst>
          </p:cNvPr>
          <p:cNvSpPr>
            <a:spLocks noGrp="1"/>
          </p:cNvSpPr>
          <p:nvPr>
            <p:ph type="title"/>
          </p:nvPr>
        </p:nvSpPr>
        <p:spPr>
          <a:xfrm>
            <a:off x="149290" y="173971"/>
            <a:ext cx="6879252" cy="581575"/>
          </a:xfrm>
        </p:spPr>
        <p:txBody>
          <a:bodyPr/>
          <a:lstStyle/>
          <a:p>
            <a:r>
              <a:rPr lang="en-US" dirty="0"/>
              <a:t>Updating Arrays</a:t>
            </a:r>
          </a:p>
        </p:txBody>
      </p:sp>
      <p:sp>
        <p:nvSpPr>
          <p:cNvPr id="5" name="TextBox 4">
            <a:extLst>
              <a:ext uri="{FF2B5EF4-FFF2-40B4-BE49-F238E27FC236}">
                <a16:creationId xmlns:a16="http://schemas.microsoft.com/office/drawing/2014/main" id="{134756D4-E3C3-4959-BB7F-ACD65F659AD5}"/>
              </a:ext>
            </a:extLst>
          </p:cNvPr>
          <p:cNvSpPr txBox="1"/>
          <p:nvPr/>
        </p:nvSpPr>
        <p:spPr>
          <a:xfrm>
            <a:off x="80010" y="1657350"/>
            <a:ext cx="2823210" cy="347787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Add “fancy” to the keywords array</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updated keywords array should be: [“chair”, “office”, “cushioned”, “fancy”]</a:t>
            </a:r>
          </a:p>
          <a:p>
            <a:endParaRPr lang="en-US" sz="2000" dirty="0">
              <a:latin typeface="Arial" panose="020B0604020202020204" pitchFamily="34" charset="0"/>
              <a:cs typeface="Arial" panose="020B0604020202020204" pitchFamily="34" charset="0"/>
            </a:endParaRPr>
          </a:p>
          <a:p>
            <a:r>
              <a:rPr lang="en-US" sz="2000" i="1" dirty="0">
                <a:latin typeface="Arial" panose="020B0604020202020204" pitchFamily="34" charset="0"/>
                <a:cs typeface="Arial" panose="020B0604020202020204" pitchFamily="34" charset="0"/>
              </a:rPr>
              <a:t>Using $set operator, we need to reset the entire array</a:t>
            </a:r>
          </a:p>
        </p:txBody>
      </p:sp>
      <p:sp>
        <p:nvSpPr>
          <p:cNvPr id="6" name="TextBox 5">
            <a:extLst>
              <a:ext uri="{FF2B5EF4-FFF2-40B4-BE49-F238E27FC236}">
                <a16:creationId xmlns:a16="http://schemas.microsoft.com/office/drawing/2014/main" id="{A3860BB7-A3B8-E732-53FC-D2AC53DF1B92}"/>
              </a:ext>
            </a:extLst>
          </p:cNvPr>
          <p:cNvSpPr txBox="1"/>
          <p:nvPr/>
        </p:nvSpPr>
        <p:spPr>
          <a:xfrm>
            <a:off x="3167986" y="1316715"/>
            <a:ext cx="5896004" cy="3108543"/>
          </a:xfrm>
          <a:prstGeom prst="rect">
            <a:avLst/>
          </a:prstGeom>
          <a:noFill/>
        </p:spPr>
        <p:txBody>
          <a:bodyPr wrap="square">
            <a:spAutoFit/>
          </a:bodyPr>
          <a:lstStyle/>
          <a:p>
            <a:r>
              <a:rPr lang="en-US" sz="2800" b="1" dirty="0"/>
              <a:t>Code: </a:t>
            </a:r>
          </a:p>
          <a:p>
            <a:r>
              <a:rPr lang="en-US" sz="2800" dirty="0" err="1"/>
              <a:t>db.products.updateOne</a:t>
            </a:r>
            <a:r>
              <a:rPr lang="en-US" sz="2800" dirty="0"/>
              <a:t>({name: "cushioned desk chair"},</a:t>
            </a:r>
          </a:p>
          <a:p>
            <a:r>
              <a:rPr lang="en-US" sz="2800" dirty="0"/>
              <a:t>			{$set: </a:t>
            </a:r>
          </a:p>
          <a:p>
            <a:r>
              <a:rPr lang="en-US" sz="2800" dirty="0"/>
              <a:t>			{keywords: ["chair", "office", "cushioned", "fancy"]}</a:t>
            </a:r>
          </a:p>
          <a:p>
            <a:r>
              <a:rPr lang="en-US" sz="2800" dirty="0"/>
              <a:t>		   });</a:t>
            </a:r>
          </a:p>
        </p:txBody>
      </p:sp>
    </p:spTree>
    <p:extLst>
      <p:ext uri="{BB962C8B-B14F-4D97-AF65-F5344CB8AC3E}">
        <p14:creationId xmlns:p14="http://schemas.microsoft.com/office/powerpoint/2010/main" val="3277980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7F97-8D3C-4850-8562-4592B7D2122F}"/>
              </a:ext>
            </a:extLst>
          </p:cNvPr>
          <p:cNvSpPr>
            <a:spLocks noGrp="1"/>
          </p:cNvSpPr>
          <p:nvPr>
            <p:ph type="title"/>
          </p:nvPr>
        </p:nvSpPr>
        <p:spPr/>
        <p:txBody>
          <a:bodyPr>
            <a:normAutofit fontScale="90000"/>
          </a:bodyPr>
          <a:lstStyle/>
          <a:p>
            <a:r>
              <a:rPr lang="en-US" dirty="0"/>
              <a:t>Updating Arrays Using $push Operator</a:t>
            </a:r>
          </a:p>
        </p:txBody>
      </p:sp>
      <p:sp>
        <p:nvSpPr>
          <p:cNvPr id="5" name="TextBox 4">
            <a:extLst>
              <a:ext uri="{FF2B5EF4-FFF2-40B4-BE49-F238E27FC236}">
                <a16:creationId xmlns:a16="http://schemas.microsoft.com/office/drawing/2014/main" id="{C1D30E5B-5D90-4D63-93C2-8F8ADEC8FF26}"/>
              </a:ext>
            </a:extLst>
          </p:cNvPr>
          <p:cNvSpPr txBox="1"/>
          <p:nvPr/>
        </p:nvSpPr>
        <p:spPr>
          <a:xfrm>
            <a:off x="326711" y="1263710"/>
            <a:ext cx="8639868" cy="1015663"/>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$push </a:t>
            </a:r>
            <a:r>
              <a:rPr lang="en-US" sz="2000" dirty="0">
                <a:latin typeface="Arial" panose="020B0604020202020204" pitchFamily="34" charset="0"/>
                <a:cs typeface="Arial" panose="020B0604020202020204" pitchFamily="34" charset="0"/>
              </a:rPr>
              <a:t>operator: add a value to an array</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Example: add the keyword “elegant” to the cushioned chair document</a:t>
            </a:r>
          </a:p>
        </p:txBody>
      </p:sp>
      <p:sp>
        <p:nvSpPr>
          <p:cNvPr id="6" name="TextBox 5">
            <a:extLst>
              <a:ext uri="{FF2B5EF4-FFF2-40B4-BE49-F238E27FC236}">
                <a16:creationId xmlns:a16="http://schemas.microsoft.com/office/drawing/2014/main" id="{00351E76-69DA-92A5-81CD-EE8C6C9DA392}"/>
              </a:ext>
            </a:extLst>
          </p:cNvPr>
          <p:cNvSpPr txBox="1"/>
          <p:nvPr/>
        </p:nvSpPr>
        <p:spPr>
          <a:xfrm>
            <a:off x="1302916" y="2582797"/>
            <a:ext cx="7288350" cy="1569660"/>
          </a:xfrm>
          <a:prstGeom prst="rect">
            <a:avLst/>
          </a:prstGeom>
          <a:noFill/>
        </p:spPr>
        <p:txBody>
          <a:bodyPr wrap="square">
            <a:spAutoFit/>
          </a:bodyPr>
          <a:lstStyle/>
          <a:p>
            <a:r>
              <a:rPr lang="en-US" sz="2400" dirty="0" err="1"/>
              <a:t>db.products.updateOne</a:t>
            </a:r>
            <a:r>
              <a:rPr lang="en-US" sz="2400" dirty="0"/>
              <a:t>({name: "cushioned desk chair"},</a:t>
            </a:r>
          </a:p>
          <a:p>
            <a:r>
              <a:rPr lang="en-US" sz="2400" dirty="0"/>
              <a:t>			{$push: </a:t>
            </a:r>
          </a:p>
          <a:p>
            <a:r>
              <a:rPr lang="en-US" sz="2400" dirty="0"/>
              <a:t>				{keywords: "elegant"}</a:t>
            </a:r>
          </a:p>
          <a:p>
            <a:r>
              <a:rPr lang="en-US" sz="2400" dirty="0"/>
              <a:t>			});</a:t>
            </a:r>
          </a:p>
        </p:txBody>
      </p:sp>
    </p:spTree>
    <p:extLst>
      <p:ext uri="{BB962C8B-B14F-4D97-AF65-F5344CB8AC3E}">
        <p14:creationId xmlns:p14="http://schemas.microsoft.com/office/powerpoint/2010/main" val="147700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7F97-8D3C-4850-8562-4592B7D2122F}"/>
              </a:ext>
            </a:extLst>
          </p:cNvPr>
          <p:cNvSpPr>
            <a:spLocks noGrp="1"/>
          </p:cNvSpPr>
          <p:nvPr>
            <p:ph type="title"/>
          </p:nvPr>
        </p:nvSpPr>
        <p:spPr>
          <a:xfrm>
            <a:off x="149290" y="276841"/>
            <a:ext cx="6461575" cy="581575"/>
          </a:xfrm>
        </p:spPr>
        <p:txBody>
          <a:bodyPr>
            <a:normAutofit fontScale="90000"/>
          </a:bodyPr>
          <a:lstStyle/>
          <a:p>
            <a:r>
              <a:rPr lang="en-US" dirty="0"/>
              <a:t>Updating Arrays Using $pull Operator</a:t>
            </a:r>
          </a:p>
        </p:txBody>
      </p:sp>
      <p:sp>
        <p:nvSpPr>
          <p:cNvPr id="5" name="TextBox 4">
            <a:extLst>
              <a:ext uri="{FF2B5EF4-FFF2-40B4-BE49-F238E27FC236}">
                <a16:creationId xmlns:a16="http://schemas.microsoft.com/office/drawing/2014/main" id="{C1D30E5B-5D90-4D63-93C2-8F8ADEC8FF26}"/>
              </a:ext>
            </a:extLst>
          </p:cNvPr>
          <p:cNvSpPr txBox="1"/>
          <p:nvPr/>
        </p:nvSpPr>
        <p:spPr>
          <a:xfrm>
            <a:off x="272119" y="1188647"/>
            <a:ext cx="8373737" cy="1015663"/>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$pull </a:t>
            </a:r>
            <a:r>
              <a:rPr lang="en-US" sz="2000" dirty="0">
                <a:latin typeface="Arial" panose="020B0604020202020204" pitchFamily="34" charset="0"/>
                <a:cs typeface="Arial" panose="020B0604020202020204" pitchFamily="34" charset="0"/>
              </a:rPr>
              <a:t>operator: remove a value from an array</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Example: remove the keyword “office” from the array</a:t>
            </a:r>
          </a:p>
        </p:txBody>
      </p:sp>
      <p:sp>
        <p:nvSpPr>
          <p:cNvPr id="6" name="TextBox 5">
            <a:extLst>
              <a:ext uri="{FF2B5EF4-FFF2-40B4-BE49-F238E27FC236}">
                <a16:creationId xmlns:a16="http://schemas.microsoft.com/office/drawing/2014/main" id="{6678995B-5568-236A-CBC0-4E1478A292EB}"/>
              </a:ext>
            </a:extLst>
          </p:cNvPr>
          <p:cNvSpPr txBox="1"/>
          <p:nvPr/>
        </p:nvSpPr>
        <p:spPr>
          <a:xfrm>
            <a:off x="272119" y="2473126"/>
            <a:ext cx="8516204" cy="1815882"/>
          </a:xfrm>
          <a:prstGeom prst="rect">
            <a:avLst/>
          </a:prstGeom>
          <a:noFill/>
        </p:spPr>
        <p:txBody>
          <a:bodyPr wrap="square">
            <a:spAutoFit/>
          </a:bodyPr>
          <a:lstStyle/>
          <a:p>
            <a:r>
              <a:rPr lang="en-US" sz="2800" dirty="0" err="1"/>
              <a:t>db.products.updateOne</a:t>
            </a:r>
            <a:r>
              <a:rPr lang="en-US" sz="2800" dirty="0"/>
              <a:t>({name: "cushioned desk chair"},</a:t>
            </a:r>
          </a:p>
          <a:p>
            <a:r>
              <a:rPr lang="en-US" sz="2800" dirty="0"/>
              <a:t>			{$pull: </a:t>
            </a:r>
          </a:p>
          <a:p>
            <a:r>
              <a:rPr lang="en-US" sz="2800" dirty="0"/>
              <a:t>				{keywords: "office"}</a:t>
            </a:r>
          </a:p>
          <a:p>
            <a:r>
              <a:rPr lang="en-US" sz="2800" dirty="0"/>
              <a:t>		   });</a:t>
            </a:r>
          </a:p>
        </p:txBody>
      </p:sp>
    </p:spTree>
    <p:extLst>
      <p:ext uri="{BB962C8B-B14F-4D97-AF65-F5344CB8AC3E}">
        <p14:creationId xmlns:p14="http://schemas.microsoft.com/office/powerpoint/2010/main" val="39358092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B5027-18D5-4BBB-8AF7-ADA2522B5B79}"/>
              </a:ext>
            </a:extLst>
          </p:cNvPr>
          <p:cNvSpPr>
            <a:spLocks noGrp="1"/>
          </p:cNvSpPr>
          <p:nvPr>
            <p:ph type="title"/>
          </p:nvPr>
        </p:nvSpPr>
        <p:spPr/>
        <p:txBody>
          <a:bodyPr>
            <a:normAutofit fontScale="90000"/>
          </a:bodyPr>
          <a:lstStyle/>
          <a:p>
            <a:r>
              <a:rPr lang="en-US" dirty="0"/>
              <a:t>Updating Arrays Using $</a:t>
            </a:r>
            <a:r>
              <a:rPr lang="en-US" dirty="0" err="1"/>
              <a:t>addToSet</a:t>
            </a:r>
            <a:r>
              <a:rPr lang="en-US" dirty="0"/>
              <a:t> Operator</a:t>
            </a:r>
          </a:p>
        </p:txBody>
      </p:sp>
      <p:sp>
        <p:nvSpPr>
          <p:cNvPr id="5" name="Rectangle 4">
            <a:extLst>
              <a:ext uri="{FF2B5EF4-FFF2-40B4-BE49-F238E27FC236}">
                <a16:creationId xmlns:a16="http://schemas.microsoft.com/office/drawing/2014/main" id="{209B4190-D354-4D34-89A6-878128F736A8}"/>
              </a:ext>
            </a:extLst>
          </p:cNvPr>
          <p:cNvSpPr/>
          <p:nvPr/>
        </p:nvSpPr>
        <p:spPr>
          <a:xfrm>
            <a:off x="111987" y="1174677"/>
            <a:ext cx="9032013" cy="1938992"/>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The $push operator allows duplicate array values.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a:t>
            </a:r>
            <a:r>
              <a:rPr lang="en-US" sz="2000" dirty="0" err="1">
                <a:latin typeface="Arial" panose="020B0604020202020204" pitchFamily="34" charset="0"/>
                <a:cs typeface="Arial" panose="020B0604020202020204" pitchFamily="34" charset="0"/>
              </a:rPr>
              <a:t>addToSet</a:t>
            </a:r>
            <a:r>
              <a:rPr lang="en-US" sz="2000" dirty="0">
                <a:latin typeface="Arial" panose="020B0604020202020204" pitchFamily="34" charset="0"/>
                <a:cs typeface="Arial" panose="020B0604020202020204" pitchFamily="34" charset="0"/>
              </a:rPr>
              <a:t> operator has the same syntax with $push, but does not add a value to the array if the value already exists in the array. </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Example: add the value “expensive” to the keywords array</a:t>
            </a:r>
          </a:p>
        </p:txBody>
      </p:sp>
      <p:sp>
        <p:nvSpPr>
          <p:cNvPr id="6" name="TextBox 5">
            <a:extLst>
              <a:ext uri="{FF2B5EF4-FFF2-40B4-BE49-F238E27FC236}">
                <a16:creationId xmlns:a16="http://schemas.microsoft.com/office/drawing/2014/main" id="{A13802BC-54C0-560F-532A-DF9D0254918C}"/>
              </a:ext>
            </a:extLst>
          </p:cNvPr>
          <p:cNvSpPr txBox="1"/>
          <p:nvPr/>
        </p:nvSpPr>
        <p:spPr>
          <a:xfrm>
            <a:off x="276367" y="3227402"/>
            <a:ext cx="8591266" cy="1815882"/>
          </a:xfrm>
          <a:prstGeom prst="rect">
            <a:avLst/>
          </a:prstGeom>
          <a:noFill/>
        </p:spPr>
        <p:txBody>
          <a:bodyPr wrap="square">
            <a:spAutoFit/>
          </a:bodyPr>
          <a:lstStyle/>
          <a:p>
            <a:r>
              <a:rPr lang="en-US" sz="2800" dirty="0" err="1"/>
              <a:t>db.products.updateOne</a:t>
            </a:r>
            <a:r>
              <a:rPr lang="en-US" sz="2800" dirty="0"/>
              <a:t>({name: "cushioned desk chair"},</a:t>
            </a:r>
          </a:p>
          <a:p>
            <a:r>
              <a:rPr lang="en-US" sz="2800" dirty="0"/>
              <a:t>			{$</a:t>
            </a:r>
            <a:r>
              <a:rPr lang="en-US" sz="2800" dirty="0" err="1"/>
              <a:t>addToSet</a:t>
            </a:r>
            <a:r>
              <a:rPr lang="en-US" sz="2800" dirty="0"/>
              <a:t>: </a:t>
            </a:r>
          </a:p>
          <a:p>
            <a:r>
              <a:rPr lang="en-US" sz="2800" dirty="0"/>
              <a:t>					{keywords: "expensive"}</a:t>
            </a:r>
          </a:p>
          <a:p>
            <a:r>
              <a:rPr lang="en-US" sz="2800" dirty="0"/>
              <a:t>			});</a:t>
            </a:r>
          </a:p>
        </p:txBody>
      </p:sp>
    </p:spTree>
    <p:extLst>
      <p:ext uri="{BB962C8B-B14F-4D97-AF65-F5344CB8AC3E}">
        <p14:creationId xmlns:p14="http://schemas.microsoft.com/office/powerpoint/2010/main" val="115290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8D195-FE62-4B7A-B9E4-8D6324271306}"/>
              </a:ext>
            </a:extLst>
          </p:cNvPr>
          <p:cNvSpPr>
            <a:spLocks noGrp="1"/>
          </p:cNvSpPr>
          <p:nvPr>
            <p:ph type="title"/>
          </p:nvPr>
        </p:nvSpPr>
        <p:spPr/>
        <p:txBody>
          <a:bodyPr>
            <a:normAutofit fontScale="90000"/>
          </a:bodyPr>
          <a:lstStyle/>
          <a:p>
            <a:r>
              <a:rPr lang="en-US" dirty="0"/>
              <a:t>Updating Arrays Using $</a:t>
            </a:r>
            <a:r>
              <a:rPr lang="en-US" dirty="0" err="1"/>
              <a:t>addToSet</a:t>
            </a:r>
            <a:r>
              <a:rPr lang="en-US" dirty="0"/>
              <a:t> Operator</a:t>
            </a:r>
          </a:p>
        </p:txBody>
      </p:sp>
      <p:pic>
        <p:nvPicPr>
          <p:cNvPr id="4" name="Picture 3">
            <a:extLst>
              <a:ext uri="{FF2B5EF4-FFF2-40B4-BE49-F238E27FC236}">
                <a16:creationId xmlns:a16="http://schemas.microsoft.com/office/drawing/2014/main" id="{A06F0074-253C-487B-9E30-0C4A07D583DF}"/>
              </a:ext>
            </a:extLst>
          </p:cNvPr>
          <p:cNvPicPr>
            <a:picLocks noChangeAspect="1"/>
          </p:cNvPicPr>
          <p:nvPr/>
        </p:nvPicPr>
        <p:blipFill>
          <a:blip r:embed="rId3"/>
          <a:stretch>
            <a:fillRect/>
          </a:stretch>
        </p:blipFill>
        <p:spPr>
          <a:xfrm>
            <a:off x="149290" y="1692875"/>
            <a:ext cx="3976295" cy="4673171"/>
          </a:xfrm>
          <a:prstGeom prst="rect">
            <a:avLst/>
          </a:prstGeom>
        </p:spPr>
      </p:pic>
      <p:sp>
        <p:nvSpPr>
          <p:cNvPr id="5" name="TextBox 4">
            <a:extLst>
              <a:ext uri="{FF2B5EF4-FFF2-40B4-BE49-F238E27FC236}">
                <a16:creationId xmlns:a16="http://schemas.microsoft.com/office/drawing/2014/main" id="{C17077CC-BCDA-4C7C-B191-B15BF9AB5963}"/>
              </a:ext>
            </a:extLst>
          </p:cNvPr>
          <p:cNvSpPr txBox="1"/>
          <p:nvPr/>
        </p:nvSpPr>
        <p:spPr>
          <a:xfrm>
            <a:off x="951469" y="1292765"/>
            <a:ext cx="3015049"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Before updating</a:t>
            </a:r>
          </a:p>
        </p:txBody>
      </p:sp>
      <p:pic>
        <p:nvPicPr>
          <p:cNvPr id="6" name="Picture 5">
            <a:extLst>
              <a:ext uri="{FF2B5EF4-FFF2-40B4-BE49-F238E27FC236}">
                <a16:creationId xmlns:a16="http://schemas.microsoft.com/office/drawing/2014/main" id="{261C7D79-9D3A-4A61-A725-9670CD0FB270}"/>
              </a:ext>
            </a:extLst>
          </p:cNvPr>
          <p:cNvPicPr>
            <a:picLocks noChangeAspect="1"/>
          </p:cNvPicPr>
          <p:nvPr/>
        </p:nvPicPr>
        <p:blipFill>
          <a:blip r:embed="rId4"/>
          <a:stretch>
            <a:fillRect/>
          </a:stretch>
        </p:blipFill>
        <p:spPr>
          <a:xfrm>
            <a:off x="4483089" y="1594020"/>
            <a:ext cx="4511621" cy="5171303"/>
          </a:xfrm>
          <a:prstGeom prst="rect">
            <a:avLst/>
          </a:prstGeom>
        </p:spPr>
      </p:pic>
      <p:sp>
        <p:nvSpPr>
          <p:cNvPr id="7" name="TextBox 6">
            <a:extLst>
              <a:ext uri="{FF2B5EF4-FFF2-40B4-BE49-F238E27FC236}">
                <a16:creationId xmlns:a16="http://schemas.microsoft.com/office/drawing/2014/main" id="{26460BCD-E6FC-437A-968F-B4F5388F9F6E}"/>
              </a:ext>
            </a:extLst>
          </p:cNvPr>
          <p:cNvSpPr txBox="1"/>
          <p:nvPr/>
        </p:nvSpPr>
        <p:spPr>
          <a:xfrm>
            <a:off x="5671750" y="1176859"/>
            <a:ext cx="3015049"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After updating</a:t>
            </a:r>
          </a:p>
        </p:txBody>
      </p:sp>
      <p:sp>
        <p:nvSpPr>
          <p:cNvPr id="8" name="Oval 7">
            <a:extLst>
              <a:ext uri="{FF2B5EF4-FFF2-40B4-BE49-F238E27FC236}">
                <a16:creationId xmlns:a16="http://schemas.microsoft.com/office/drawing/2014/main" id="{FA2ADE54-6705-4D9D-B3A7-C1E3E5892577}"/>
              </a:ext>
            </a:extLst>
          </p:cNvPr>
          <p:cNvSpPr/>
          <p:nvPr/>
        </p:nvSpPr>
        <p:spPr>
          <a:xfrm flipH="1">
            <a:off x="1133078" y="4741713"/>
            <a:ext cx="1227063" cy="107831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EBCB26-4C72-43CC-92B8-E3557D7B494F}"/>
              </a:ext>
            </a:extLst>
          </p:cNvPr>
          <p:cNvSpPr/>
          <p:nvPr/>
        </p:nvSpPr>
        <p:spPr>
          <a:xfrm flipH="1">
            <a:off x="4572000" y="1943708"/>
            <a:ext cx="1890584" cy="552357"/>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01ED6E-840C-4305-895C-30C58607AD6E}"/>
              </a:ext>
            </a:extLst>
          </p:cNvPr>
          <p:cNvSpPr/>
          <p:nvPr/>
        </p:nvSpPr>
        <p:spPr>
          <a:xfrm flipH="1">
            <a:off x="5387921" y="5255742"/>
            <a:ext cx="1227063" cy="1078319"/>
          </a:xfrm>
          <a:prstGeom prst="ellipse">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11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2932-7646-4CB8-B809-B6F185B5966B}"/>
              </a:ext>
            </a:extLst>
          </p:cNvPr>
          <p:cNvSpPr>
            <a:spLocks noGrp="1"/>
          </p:cNvSpPr>
          <p:nvPr>
            <p:ph type="title"/>
          </p:nvPr>
        </p:nvSpPr>
        <p:spPr/>
        <p:txBody>
          <a:bodyPr>
            <a:normAutofit fontScale="90000"/>
          </a:bodyPr>
          <a:lstStyle/>
          <a:p>
            <a:r>
              <a:rPr lang="en-US" dirty="0"/>
              <a:t>Updating Arrays with Arrays using $</a:t>
            </a:r>
            <a:r>
              <a:rPr lang="en-US" dirty="0" err="1"/>
              <a:t>pullAll</a:t>
            </a:r>
            <a:endParaRPr lang="en-US" dirty="0"/>
          </a:p>
        </p:txBody>
      </p:sp>
      <p:sp>
        <p:nvSpPr>
          <p:cNvPr id="4" name="Rectangle 3">
            <a:extLst>
              <a:ext uri="{FF2B5EF4-FFF2-40B4-BE49-F238E27FC236}">
                <a16:creationId xmlns:a16="http://schemas.microsoft.com/office/drawing/2014/main" id="{3CA56CFF-1D31-4443-8324-52C8213960CD}"/>
              </a:ext>
            </a:extLst>
          </p:cNvPr>
          <p:cNvSpPr/>
          <p:nvPr/>
        </p:nvSpPr>
        <p:spPr>
          <a:xfrm>
            <a:off x="0" y="1208796"/>
            <a:ext cx="8997894" cy="1631216"/>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To remove an array of values from an existing array, use the $</a:t>
            </a:r>
            <a:r>
              <a:rPr lang="en-US" sz="2000" dirty="0" err="1">
                <a:latin typeface="Arial" panose="020B0604020202020204" pitchFamily="34" charset="0"/>
                <a:cs typeface="Arial" panose="020B0604020202020204" pitchFamily="34" charset="0"/>
              </a:rPr>
              <a:t>pullAll</a:t>
            </a:r>
            <a:r>
              <a:rPr lang="en-US" sz="2000" dirty="0">
                <a:latin typeface="Arial" panose="020B0604020202020204" pitchFamily="34" charset="0"/>
                <a:cs typeface="Arial" panose="020B0604020202020204" pitchFamily="34" charset="0"/>
              </a:rPr>
              <a:t> operator instead of the $pull operator. </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Example: remove the values “fancy,” “expensive,” and “cushioned” from the keywords array</a:t>
            </a:r>
          </a:p>
        </p:txBody>
      </p:sp>
      <p:sp>
        <p:nvSpPr>
          <p:cNvPr id="6" name="TextBox 5">
            <a:extLst>
              <a:ext uri="{FF2B5EF4-FFF2-40B4-BE49-F238E27FC236}">
                <a16:creationId xmlns:a16="http://schemas.microsoft.com/office/drawing/2014/main" id="{9DA0EB9C-B3BC-136A-745C-4E765091BB48}"/>
              </a:ext>
            </a:extLst>
          </p:cNvPr>
          <p:cNvSpPr txBox="1"/>
          <p:nvPr/>
        </p:nvSpPr>
        <p:spPr>
          <a:xfrm>
            <a:off x="149290" y="2935393"/>
            <a:ext cx="8819867" cy="2246769"/>
          </a:xfrm>
          <a:prstGeom prst="rect">
            <a:avLst/>
          </a:prstGeom>
          <a:noFill/>
        </p:spPr>
        <p:txBody>
          <a:bodyPr wrap="square">
            <a:spAutoFit/>
          </a:bodyPr>
          <a:lstStyle/>
          <a:p>
            <a:r>
              <a:rPr lang="en-US" sz="2800" dirty="0" err="1"/>
              <a:t>db.products.updateOne</a:t>
            </a:r>
            <a:r>
              <a:rPr lang="en-US" sz="2800" dirty="0"/>
              <a:t>({name: "cushioned desk chair"},</a:t>
            </a:r>
          </a:p>
          <a:p>
            <a:r>
              <a:rPr lang="en-US" sz="2800" dirty="0"/>
              <a:t>			{$</a:t>
            </a:r>
            <a:r>
              <a:rPr lang="en-US" sz="2800" dirty="0" err="1"/>
              <a:t>pullAll</a:t>
            </a:r>
            <a:r>
              <a:rPr lang="en-US" sz="2800" dirty="0"/>
              <a:t>: </a:t>
            </a:r>
          </a:p>
          <a:p>
            <a:r>
              <a:rPr lang="en-US" sz="2800" dirty="0"/>
              <a:t>				{keywords: ["fancy", "expensive", "cushioned"]}</a:t>
            </a:r>
          </a:p>
          <a:p>
            <a:r>
              <a:rPr lang="en-US" sz="2800" dirty="0"/>
              <a:t>			});</a:t>
            </a:r>
          </a:p>
        </p:txBody>
      </p:sp>
    </p:spTree>
    <p:extLst>
      <p:ext uri="{BB962C8B-B14F-4D97-AF65-F5344CB8AC3E}">
        <p14:creationId xmlns:p14="http://schemas.microsoft.com/office/powerpoint/2010/main" val="3807773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D04C4-402A-4B93-909D-22DC29BDC19E}"/>
              </a:ext>
            </a:extLst>
          </p:cNvPr>
          <p:cNvSpPr>
            <a:spLocks noGrp="1"/>
          </p:cNvSpPr>
          <p:nvPr>
            <p:ph type="title"/>
          </p:nvPr>
        </p:nvSpPr>
        <p:spPr/>
        <p:txBody>
          <a:bodyPr>
            <a:normAutofit fontScale="90000"/>
          </a:bodyPr>
          <a:lstStyle/>
          <a:p>
            <a:r>
              <a:rPr lang="en-US" dirty="0"/>
              <a:t>Updating Arrays with Arrays using $each</a:t>
            </a:r>
          </a:p>
        </p:txBody>
      </p:sp>
      <p:sp>
        <p:nvSpPr>
          <p:cNvPr id="4" name="Rectangle 3">
            <a:extLst>
              <a:ext uri="{FF2B5EF4-FFF2-40B4-BE49-F238E27FC236}">
                <a16:creationId xmlns:a16="http://schemas.microsoft.com/office/drawing/2014/main" id="{C3A58335-84A6-4DF9-B6F6-0749D80FB3C9}"/>
              </a:ext>
            </a:extLst>
          </p:cNvPr>
          <p:cNvSpPr/>
          <p:nvPr/>
        </p:nvSpPr>
        <p:spPr>
          <a:xfrm>
            <a:off x="149290" y="1075011"/>
            <a:ext cx="8891061" cy="1938992"/>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The $push and $</a:t>
            </a:r>
            <a:r>
              <a:rPr lang="en-US" sz="2000" dirty="0" err="1">
                <a:latin typeface="Arial" panose="020B0604020202020204" pitchFamily="34" charset="0"/>
                <a:cs typeface="Arial" panose="020B0604020202020204" pitchFamily="34" charset="0"/>
              </a:rPr>
              <a:t>addToSet</a:t>
            </a:r>
            <a:r>
              <a:rPr lang="en-US" sz="2000" dirty="0">
                <a:latin typeface="Arial" panose="020B0604020202020204" pitchFamily="34" charset="0"/>
                <a:cs typeface="Arial" panose="020B0604020202020204" pitchFamily="34" charset="0"/>
              </a:rPr>
              <a:t> operators can be used in conjunction with the $each operator. The $each operator modifies $push and $</a:t>
            </a:r>
            <a:r>
              <a:rPr lang="en-US" sz="2000" dirty="0" err="1">
                <a:latin typeface="Arial" panose="020B0604020202020204" pitchFamily="34" charset="0"/>
                <a:cs typeface="Arial" panose="020B0604020202020204" pitchFamily="34" charset="0"/>
              </a:rPr>
              <a:t>addToSet</a:t>
            </a:r>
            <a:r>
              <a:rPr lang="en-US" sz="2000" dirty="0">
                <a:latin typeface="Arial" panose="020B0604020202020204" pitchFamily="34" charset="0"/>
                <a:cs typeface="Arial" panose="020B0604020202020204" pitchFamily="34" charset="0"/>
              </a:rPr>
              <a:t> to iterate, or loop, over a set of values and act on each one separately. </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Example: add the values “heavy duty,” “leather,” and “adjustable” to the keywords array</a:t>
            </a:r>
          </a:p>
        </p:txBody>
      </p:sp>
      <p:sp>
        <p:nvSpPr>
          <p:cNvPr id="6" name="TextBox 5">
            <a:extLst>
              <a:ext uri="{FF2B5EF4-FFF2-40B4-BE49-F238E27FC236}">
                <a16:creationId xmlns:a16="http://schemas.microsoft.com/office/drawing/2014/main" id="{C9A6B1DF-B8DD-FFBB-A18B-3ED178F9259D}"/>
              </a:ext>
            </a:extLst>
          </p:cNvPr>
          <p:cNvSpPr txBox="1"/>
          <p:nvPr/>
        </p:nvSpPr>
        <p:spPr>
          <a:xfrm>
            <a:off x="436728" y="3182414"/>
            <a:ext cx="8366077" cy="3108543"/>
          </a:xfrm>
          <a:prstGeom prst="rect">
            <a:avLst/>
          </a:prstGeom>
          <a:noFill/>
        </p:spPr>
        <p:txBody>
          <a:bodyPr wrap="square">
            <a:spAutoFit/>
          </a:bodyPr>
          <a:lstStyle/>
          <a:p>
            <a:r>
              <a:rPr lang="en-US" sz="2800" dirty="0" err="1"/>
              <a:t>db.products.updateOne</a:t>
            </a:r>
            <a:r>
              <a:rPr lang="en-US" sz="2800" dirty="0"/>
              <a:t>({name: "cushioned desk chair"},</a:t>
            </a:r>
          </a:p>
          <a:p>
            <a:r>
              <a:rPr lang="en-US" sz="2800" dirty="0"/>
              <a:t>		{$push: </a:t>
            </a:r>
          </a:p>
          <a:p>
            <a:r>
              <a:rPr lang="en-US" sz="2800" dirty="0"/>
              <a:t>			{keywords: </a:t>
            </a:r>
          </a:p>
          <a:p>
            <a:r>
              <a:rPr lang="en-US" sz="2800" dirty="0"/>
              <a:t>				{$each: ["heavy duty", "leather", "adjustable"]}</a:t>
            </a:r>
          </a:p>
          <a:p>
            <a:r>
              <a:rPr lang="en-US" sz="2800" dirty="0"/>
              <a:t>			}</a:t>
            </a:r>
          </a:p>
          <a:p>
            <a:r>
              <a:rPr lang="en-US" sz="2800" dirty="0"/>
              <a:t>		});</a:t>
            </a:r>
          </a:p>
        </p:txBody>
      </p:sp>
    </p:spTree>
    <p:extLst>
      <p:ext uri="{BB962C8B-B14F-4D97-AF65-F5344CB8AC3E}">
        <p14:creationId xmlns:p14="http://schemas.microsoft.com/office/powerpoint/2010/main" val="3397119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1310-EB35-4194-A482-7D0C45D9C8DE}"/>
              </a:ext>
            </a:extLst>
          </p:cNvPr>
          <p:cNvSpPr>
            <a:spLocks noGrp="1"/>
          </p:cNvSpPr>
          <p:nvPr>
            <p:ph type="title"/>
          </p:nvPr>
        </p:nvSpPr>
        <p:spPr/>
        <p:txBody>
          <a:bodyPr>
            <a:normAutofit fontScale="90000"/>
          </a:bodyPr>
          <a:lstStyle/>
          <a:p>
            <a:r>
              <a:rPr lang="en-US" dirty="0"/>
              <a:t>Updating Arrays with Arrays using $each</a:t>
            </a:r>
          </a:p>
        </p:txBody>
      </p:sp>
      <p:sp>
        <p:nvSpPr>
          <p:cNvPr id="3" name="Content Placeholder 2">
            <a:extLst>
              <a:ext uri="{FF2B5EF4-FFF2-40B4-BE49-F238E27FC236}">
                <a16:creationId xmlns:a16="http://schemas.microsoft.com/office/drawing/2014/main" id="{44ABC37C-3E3D-4AD9-B239-BAF7BFAF8E80}"/>
              </a:ext>
            </a:extLst>
          </p:cNvPr>
          <p:cNvSpPr>
            <a:spLocks noGrp="1"/>
          </p:cNvSpPr>
          <p:nvPr>
            <p:ph idx="1"/>
          </p:nvPr>
        </p:nvSpPr>
        <p:spPr>
          <a:xfrm>
            <a:off x="149289" y="1187725"/>
            <a:ext cx="8394209" cy="1470454"/>
          </a:xfrm>
        </p:spPr>
        <p:txBody>
          <a:bodyPr>
            <a:normAutofit/>
          </a:bodyPr>
          <a:lstStyle/>
          <a:p>
            <a:pPr marL="0" indent="0">
              <a:buNone/>
            </a:pPr>
            <a:r>
              <a:rPr lang="en-US" sz="2000"/>
              <a:t>Example: add the values “arms,” “heavy duty,” and “executive” to the keywords array</a:t>
            </a:r>
            <a:endParaRPr lang="en-US" sz="2000" dirty="0"/>
          </a:p>
        </p:txBody>
      </p:sp>
      <p:sp>
        <p:nvSpPr>
          <p:cNvPr id="6" name="TextBox 5">
            <a:extLst>
              <a:ext uri="{FF2B5EF4-FFF2-40B4-BE49-F238E27FC236}">
                <a16:creationId xmlns:a16="http://schemas.microsoft.com/office/drawing/2014/main" id="{B3FBC59D-C97B-4EBB-6576-10FC84984CB6}"/>
              </a:ext>
            </a:extLst>
          </p:cNvPr>
          <p:cNvSpPr txBox="1"/>
          <p:nvPr/>
        </p:nvSpPr>
        <p:spPr>
          <a:xfrm>
            <a:off x="409377" y="2001883"/>
            <a:ext cx="8734623" cy="2677656"/>
          </a:xfrm>
          <a:prstGeom prst="rect">
            <a:avLst/>
          </a:prstGeom>
          <a:noFill/>
        </p:spPr>
        <p:txBody>
          <a:bodyPr wrap="square">
            <a:spAutoFit/>
          </a:bodyPr>
          <a:lstStyle/>
          <a:p>
            <a:r>
              <a:rPr lang="en-US" sz="2800" dirty="0" err="1"/>
              <a:t>db.products.updateOne</a:t>
            </a:r>
            <a:r>
              <a:rPr lang="en-US" sz="2800" dirty="0"/>
              <a:t>({name: "cushioned desk chair"},</a:t>
            </a:r>
          </a:p>
          <a:p>
            <a:r>
              <a:rPr lang="en-US" sz="2800" dirty="0"/>
              <a:t>		{$</a:t>
            </a:r>
            <a:r>
              <a:rPr lang="en-US" sz="2800" dirty="0" err="1"/>
              <a:t>addToSet</a:t>
            </a:r>
            <a:r>
              <a:rPr lang="en-US" sz="2800" dirty="0"/>
              <a:t>: </a:t>
            </a:r>
          </a:p>
          <a:p>
            <a:r>
              <a:rPr lang="en-US" sz="2800" dirty="0"/>
              <a:t>			{keywords: </a:t>
            </a:r>
          </a:p>
          <a:p>
            <a:r>
              <a:rPr lang="en-US" sz="2800" dirty="0"/>
              <a:t>				{$each: ["arms", "heavy duty", "executive"]}</a:t>
            </a:r>
          </a:p>
          <a:p>
            <a:r>
              <a:rPr lang="en-US" sz="2800" dirty="0"/>
              <a:t>			}</a:t>
            </a:r>
          </a:p>
          <a:p>
            <a:r>
              <a:rPr lang="en-US" sz="2800" dirty="0"/>
              <a:t>		});</a:t>
            </a:r>
          </a:p>
        </p:txBody>
      </p:sp>
    </p:spTree>
    <p:extLst>
      <p:ext uri="{BB962C8B-B14F-4D97-AF65-F5344CB8AC3E}">
        <p14:creationId xmlns:p14="http://schemas.microsoft.com/office/powerpoint/2010/main" val="450317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ABD43-84AE-46C2-9560-C01930B27A53}"/>
              </a:ext>
            </a:extLst>
          </p:cNvPr>
          <p:cNvSpPr>
            <a:spLocks noGrp="1"/>
          </p:cNvSpPr>
          <p:nvPr>
            <p:ph type="title"/>
          </p:nvPr>
        </p:nvSpPr>
        <p:spPr/>
        <p:txBody>
          <a:bodyPr>
            <a:normAutofit fontScale="90000"/>
          </a:bodyPr>
          <a:lstStyle/>
          <a:p>
            <a:r>
              <a:rPr lang="en-US" dirty="0"/>
              <a:t>Updating to Rename Keys with $rename</a:t>
            </a:r>
          </a:p>
        </p:txBody>
      </p:sp>
      <p:sp>
        <p:nvSpPr>
          <p:cNvPr id="3" name="Content Placeholder 2">
            <a:extLst>
              <a:ext uri="{FF2B5EF4-FFF2-40B4-BE49-F238E27FC236}">
                <a16:creationId xmlns:a16="http://schemas.microsoft.com/office/drawing/2014/main" id="{925031A4-887D-4CFA-8DD6-2F6BD27DCD37}"/>
              </a:ext>
            </a:extLst>
          </p:cNvPr>
          <p:cNvSpPr>
            <a:spLocks noGrp="1"/>
          </p:cNvSpPr>
          <p:nvPr>
            <p:ph idx="1"/>
          </p:nvPr>
        </p:nvSpPr>
        <p:spPr>
          <a:xfrm>
            <a:off x="43752" y="1064581"/>
            <a:ext cx="9056496" cy="3554263"/>
          </a:xfrm>
        </p:spPr>
        <p:txBody>
          <a:bodyPr>
            <a:normAutofit/>
          </a:bodyPr>
          <a:lstStyle/>
          <a:p>
            <a:r>
              <a:rPr lang="en-US" sz="2000" dirty="0"/>
              <a:t>$rename operator: change the key in the </a:t>
            </a:r>
            <a:r>
              <a:rPr lang="en-US" sz="2000" i="1" dirty="0" err="1"/>
              <a:t>key:value</a:t>
            </a:r>
            <a:r>
              <a:rPr lang="en-US" sz="2000" i="1" dirty="0"/>
              <a:t> </a:t>
            </a:r>
            <a:r>
              <a:rPr lang="en-US" sz="2000" dirty="0"/>
              <a:t>pair</a:t>
            </a:r>
          </a:p>
          <a:p>
            <a:r>
              <a:rPr lang="en-US" sz="2000" dirty="0"/>
              <a:t>Syntax for an operator:</a:t>
            </a:r>
          </a:p>
          <a:p>
            <a:pPr marL="0" indent="0" algn="ctr">
              <a:buNone/>
            </a:pPr>
            <a:r>
              <a:rPr lang="en-US" sz="2000" b="1" dirty="0">
                <a:latin typeface="Times New Roman" panose="02020603050405020304" pitchFamily="18" charset="0"/>
                <a:cs typeface="Times New Roman" panose="02020603050405020304" pitchFamily="18" charset="0"/>
              </a:rPr>
              <a:t>&lt;operator&gt;: {&lt;object&gt;}</a:t>
            </a:r>
            <a:endParaRPr lang="en-US" sz="2000" dirty="0"/>
          </a:p>
          <a:p>
            <a:r>
              <a:rPr lang="en-US" sz="2000" dirty="0"/>
              <a:t>Syntax for $rename operator: </a:t>
            </a:r>
          </a:p>
          <a:p>
            <a:pPr marL="0" indent="0" algn="ctr">
              <a:buNone/>
            </a:pPr>
            <a:r>
              <a:rPr lang="en-US" sz="2000" b="1" dirty="0">
                <a:latin typeface="Times New Roman" panose="02020603050405020304" pitchFamily="18" charset="0"/>
                <a:cs typeface="Times New Roman" panose="02020603050405020304" pitchFamily="18" charset="0"/>
              </a:rPr>
              <a:t>$rename: {&lt;</a:t>
            </a:r>
            <a:r>
              <a:rPr lang="en-US" sz="2000" b="1" dirty="0" err="1">
                <a:latin typeface="Times New Roman" panose="02020603050405020304" pitchFamily="18" charset="0"/>
                <a:cs typeface="Times New Roman" panose="02020603050405020304" pitchFamily="18" charset="0"/>
              </a:rPr>
              <a:t>old_name</a:t>
            </a:r>
            <a:r>
              <a:rPr lang="en-US" sz="2000" b="1" dirty="0">
                <a:latin typeface="Times New Roman" panose="02020603050405020304" pitchFamily="18" charset="0"/>
                <a:cs typeface="Times New Roman" panose="02020603050405020304" pitchFamily="18" charset="0"/>
              </a:rPr>
              <a:t>&gt;:&lt;“</a:t>
            </a:r>
            <a:r>
              <a:rPr lang="en-US" sz="2000" b="1" dirty="0" err="1">
                <a:latin typeface="Times New Roman" panose="02020603050405020304" pitchFamily="18" charset="0"/>
                <a:cs typeface="Times New Roman" panose="02020603050405020304" pitchFamily="18" charset="0"/>
              </a:rPr>
              <a:t>new_name</a:t>
            </a:r>
            <a:r>
              <a:rPr lang="en-US" sz="2000" b="1" dirty="0">
                <a:latin typeface="Times New Roman" panose="02020603050405020304" pitchFamily="18" charset="0"/>
                <a:cs typeface="Times New Roman" panose="02020603050405020304" pitchFamily="18" charset="0"/>
              </a:rPr>
              <a:t>”&gt;}</a:t>
            </a:r>
          </a:p>
          <a:p>
            <a:r>
              <a:rPr lang="en-US" sz="2000" dirty="0"/>
              <a:t>Example: renames the price key to </a:t>
            </a:r>
            <a:r>
              <a:rPr lang="en-US" sz="2000" dirty="0" err="1"/>
              <a:t>saleprice</a:t>
            </a:r>
            <a:r>
              <a:rPr lang="en-US" sz="2000" dirty="0"/>
              <a:t> for all documents in the collection</a:t>
            </a:r>
          </a:p>
        </p:txBody>
      </p:sp>
      <p:sp>
        <p:nvSpPr>
          <p:cNvPr id="6" name="TextBox 5">
            <a:extLst>
              <a:ext uri="{FF2B5EF4-FFF2-40B4-BE49-F238E27FC236}">
                <a16:creationId xmlns:a16="http://schemas.microsoft.com/office/drawing/2014/main" id="{BA5D27AB-F5CA-C050-70B4-0F5362CC1353}"/>
              </a:ext>
            </a:extLst>
          </p:cNvPr>
          <p:cNvSpPr txBox="1"/>
          <p:nvPr/>
        </p:nvSpPr>
        <p:spPr>
          <a:xfrm>
            <a:off x="863220" y="3647702"/>
            <a:ext cx="8185246" cy="1815882"/>
          </a:xfrm>
          <a:prstGeom prst="rect">
            <a:avLst/>
          </a:prstGeom>
          <a:noFill/>
        </p:spPr>
        <p:txBody>
          <a:bodyPr wrap="square">
            <a:spAutoFit/>
          </a:bodyPr>
          <a:lstStyle/>
          <a:p>
            <a:r>
              <a:rPr lang="en-US" sz="2800" dirty="0" err="1"/>
              <a:t>db.products.updateMany</a:t>
            </a:r>
            <a:r>
              <a:rPr lang="en-US" sz="2800" dirty="0"/>
              <a:t>({},</a:t>
            </a:r>
          </a:p>
          <a:p>
            <a:r>
              <a:rPr lang="en-US" sz="2800" dirty="0"/>
              <a:t>			{$rename:</a:t>
            </a:r>
          </a:p>
          <a:p>
            <a:r>
              <a:rPr lang="en-US" sz="2800" dirty="0"/>
              <a:t>				{price: "</a:t>
            </a:r>
            <a:r>
              <a:rPr lang="en-US" sz="2800" dirty="0" err="1"/>
              <a:t>saleprice</a:t>
            </a:r>
            <a:r>
              <a:rPr lang="en-US" sz="2800" dirty="0"/>
              <a:t>"}</a:t>
            </a:r>
          </a:p>
          <a:p>
            <a:r>
              <a:rPr lang="en-US" sz="2800" dirty="0"/>
              <a:t>			});</a:t>
            </a:r>
          </a:p>
        </p:txBody>
      </p:sp>
    </p:spTree>
    <p:extLst>
      <p:ext uri="{BB962C8B-B14F-4D97-AF65-F5344CB8AC3E}">
        <p14:creationId xmlns:p14="http://schemas.microsoft.com/office/powerpoint/2010/main" val="507167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D130-F705-49DA-988E-AC59A4E12E2B}"/>
              </a:ext>
            </a:extLst>
          </p:cNvPr>
          <p:cNvSpPr>
            <a:spLocks noGrp="1"/>
          </p:cNvSpPr>
          <p:nvPr>
            <p:ph type="title"/>
          </p:nvPr>
        </p:nvSpPr>
        <p:spPr/>
        <p:txBody>
          <a:bodyPr/>
          <a:lstStyle/>
          <a:p>
            <a:r>
              <a:rPr lang="en-US" dirty="0"/>
              <a:t>Deleting Documents</a:t>
            </a:r>
          </a:p>
        </p:txBody>
      </p:sp>
      <p:sp>
        <p:nvSpPr>
          <p:cNvPr id="3" name="Content Placeholder 2">
            <a:extLst>
              <a:ext uri="{FF2B5EF4-FFF2-40B4-BE49-F238E27FC236}">
                <a16:creationId xmlns:a16="http://schemas.microsoft.com/office/drawing/2014/main" id="{83199BAC-39AC-4560-8D80-A1DFE230B350}"/>
              </a:ext>
            </a:extLst>
          </p:cNvPr>
          <p:cNvSpPr>
            <a:spLocks noGrp="1"/>
          </p:cNvSpPr>
          <p:nvPr>
            <p:ph idx="1"/>
          </p:nvPr>
        </p:nvSpPr>
        <p:spPr>
          <a:xfrm>
            <a:off x="149289" y="1166018"/>
            <a:ext cx="8770776" cy="712209"/>
          </a:xfrm>
        </p:spPr>
        <p:txBody>
          <a:bodyPr>
            <a:normAutofit lnSpcReduction="10000"/>
          </a:bodyPr>
          <a:lstStyle/>
          <a:p>
            <a:r>
              <a:rPr lang="en-US" sz="2000" dirty="0"/>
              <a:t>Syntax: </a:t>
            </a:r>
            <a:r>
              <a:rPr lang="en-US" sz="2000" b="1" dirty="0">
                <a:latin typeface="Times New Roman" panose="02020603050405020304" pitchFamily="18" charset="0"/>
                <a:cs typeface="Times New Roman" panose="02020603050405020304" pitchFamily="18" charset="0"/>
              </a:rPr>
              <a:t>db.&lt;collection name&gt;.</a:t>
            </a:r>
            <a:r>
              <a:rPr lang="en-US" sz="2000" b="1" dirty="0" err="1">
                <a:latin typeface="Times New Roman" panose="02020603050405020304" pitchFamily="18" charset="0"/>
                <a:cs typeface="Times New Roman" panose="02020603050405020304" pitchFamily="18" charset="0"/>
              </a:rPr>
              <a:t>deleteOne</a:t>
            </a:r>
            <a:r>
              <a:rPr lang="en-US" sz="2000" b="1" dirty="0">
                <a:latin typeface="Times New Roman" panose="02020603050405020304" pitchFamily="18" charset="0"/>
                <a:cs typeface="Times New Roman" panose="02020603050405020304" pitchFamily="18" charset="0"/>
              </a:rPr>
              <a:t>({&lt;query&gt;})</a:t>
            </a:r>
          </a:p>
          <a:p>
            <a:r>
              <a:rPr lang="en-US" sz="2000" dirty="0"/>
              <a:t>Example: delete the standard desk chair document</a:t>
            </a:r>
          </a:p>
        </p:txBody>
      </p:sp>
      <p:sp>
        <p:nvSpPr>
          <p:cNvPr id="6" name="TextBox 5">
            <a:extLst>
              <a:ext uri="{FF2B5EF4-FFF2-40B4-BE49-F238E27FC236}">
                <a16:creationId xmlns:a16="http://schemas.microsoft.com/office/drawing/2014/main" id="{C7552EDF-BD2F-D2FC-E643-D5655249D2C9}"/>
              </a:ext>
            </a:extLst>
          </p:cNvPr>
          <p:cNvSpPr txBox="1"/>
          <p:nvPr/>
        </p:nvSpPr>
        <p:spPr>
          <a:xfrm>
            <a:off x="957048" y="2020838"/>
            <a:ext cx="7490915" cy="461665"/>
          </a:xfrm>
          <a:prstGeom prst="rect">
            <a:avLst/>
          </a:prstGeom>
          <a:noFill/>
        </p:spPr>
        <p:txBody>
          <a:bodyPr wrap="square">
            <a:spAutoFit/>
          </a:bodyPr>
          <a:lstStyle/>
          <a:p>
            <a:r>
              <a:rPr lang="en-US" sz="2400" dirty="0" err="1"/>
              <a:t>db.products.deleteOne</a:t>
            </a:r>
            <a:r>
              <a:rPr lang="en-US" sz="2400" dirty="0"/>
              <a:t>({name: "standard desk chair"})</a:t>
            </a:r>
          </a:p>
        </p:txBody>
      </p:sp>
    </p:spTree>
    <p:extLst>
      <p:ext uri="{BB962C8B-B14F-4D97-AF65-F5344CB8AC3E}">
        <p14:creationId xmlns:p14="http://schemas.microsoft.com/office/powerpoint/2010/main" val="175304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F0652-539B-4817-9FEC-A09FD63620A4}"/>
              </a:ext>
            </a:extLst>
          </p:cNvPr>
          <p:cNvSpPr>
            <a:spLocks noGrp="1"/>
          </p:cNvSpPr>
          <p:nvPr>
            <p:ph type="title"/>
          </p:nvPr>
        </p:nvSpPr>
        <p:spPr/>
        <p:txBody>
          <a:bodyPr/>
          <a:lstStyle/>
          <a:p>
            <a:r>
              <a:rPr lang="en-US" dirty="0"/>
              <a:t>Querying Documents</a:t>
            </a:r>
          </a:p>
        </p:txBody>
      </p:sp>
      <p:sp>
        <p:nvSpPr>
          <p:cNvPr id="3" name="Content Placeholder 2">
            <a:extLst>
              <a:ext uri="{FF2B5EF4-FFF2-40B4-BE49-F238E27FC236}">
                <a16:creationId xmlns:a16="http://schemas.microsoft.com/office/drawing/2014/main" id="{EC775412-EE53-4F98-AEEA-C778D7DCE8F6}"/>
              </a:ext>
            </a:extLst>
          </p:cNvPr>
          <p:cNvSpPr>
            <a:spLocks noGrp="1"/>
          </p:cNvSpPr>
          <p:nvPr>
            <p:ph idx="1"/>
          </p:nvPr>
        </p:nvSpPr>
        <p:spPr>
          <a:xfrm>
            <a:off x="87504" y="993021"/>
            <a:ext cx="9056496" cy="1811960"/>
          </a:xfrm>
        </p:spPr>
        <p:txBody>
          <a:bodyPr>
            <a:normAutofit/>
          </a:bodyPr>
          <a:lstStyle/>
          <a:p>
            <a:r>
              <a:rPr lang="en-US" sz="2000" dirty="0"/>
              <a:t>The dataset: Free Access to Computer Technology (FACT), a small library run by the Computer Information Systems department at Tiny College. </a:t>
            </a:r>
          </a:p>
          <a:p>
            <a:r>
              <a:rPr lang="en-US" sz="2000" dirty="0"/>
              <a:t>It consists of documents with </a:t>
            </a:r>
            <a:r>
              <a:rPr lang="en-US" sz="2000" i="1" dirty="0"/>
              <a:t>patron </a:t>
            </a:r>
            <a:r>
              <a:rPr lang="en-US" sz="2000" dirty="0"/>
              <a:t>as the central entity. </a:t>
            </a:r>
          </a:p>
          <a:p>
            <a:r>
              <a:rPr lang="en-US" sz="2000" dirty="0"/>
              <a:t>Data structure:</a:t>
            </a:r>
          </a:p>
        </p:txBody>
      </p:sp>
      <p:pic>
        <p:nvPicPr>
          <p:cNvPr id="4" name="Picture 3">
            <a:extLst>
              <a:ext uri="{FF2B5EF4-FFF2-40B4-BE49-F238E27FC236}">
                <a16:creationId xmlns:a16="http://schemas.microsoft.com/office/drawing/2014/main" id="{F19D704D-6436-4230-9B3B-97E369C67112}"/>
              </a:ext>
            </a:extLst>
          </p:cNvPr>
          <p:cNvPicPr>
            <a:picLocks noChangeAspect="1"/>
          </p:cNvPicPr>
          <p:nvPr/>
        </p:nvPicPr>
        <p:blipFill>
          <a:blip r:embed="rId3"/>
          <a:stretch>
            <a:fillRect/>
          </a:stretch>
        </p:blipFill>
        <p:spPr>
          <a:xfrm>
            <a:off x="2420502" y="2174788"/>
            <a:ext cx="5656582" cy="4621427"/>
          </a:xfrm>
          <a:prstGeom prst="rect">
            <a:avLst/>
          </a:prstGeom>
        </p:spPr>
      </p:pic>
    </p:spTree>
    <p:extLst>
      <p:ext uri="{BB962C8B-B14F-4D97-AF65-F5344CB8AC3E}">
        <p14:creationId xmlns:p14="http://schemas.microsoft.com/office/powerpoint/2010/main" val="3470067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B9332-A13A-47BF-8ECD-F5C33395B0F1}"/>
              </a:ext>
            </a:extLst>
          </p:cNvPr>
          <p:cNvSpPr>
            <a:spLocks noGrp="1"/>
          </p:cNvSpPr>
          <p:nvPr>
            <p:ph type="title"/>
          </p:nvPr>
        </p:nvSpPr>
        <p:spPr/>
        <p:txBody>
          <a:bodyPr/>
          <a:lstStyle/>
          <a:p>
            <a:r>
              <a:rPr lang="en-US" dirty="0"/>
              <a:t>Importing Data File</a:t>
            </a:r>
          </a:p>
        </p:txBody>
      </p:sp>
      <p:sp>
        <p:nvSpPr>
          <p:cNvPr id="3" name="Content Placeholder 2">
            <a:extLst>
              <a:ext uri="{FF2B5EF4-FFF2-40B4-BE49-F238E27FC236}">
                <a16:creationId xmlns:a16="http://schemas.microsoft.com/office/drawing/2014/main" id="{9693D9C1-FE33-4C78-86F1-35930E519F3A}"/>
              </a:ext>
            </a:extLst>
          </p:cNvPr>
          <p:cNvSpPr>
            <a:spLocks noGrp="1"/>
          </p:cNvSpPr>
          <p:nvPr>
            <p:ph idx="1"/>
          </p:nvPr>
        </p:nvSpPr>
        <p:spPr>
          <a:xfrm>
            <a:off x="149289" y="1025702"/>
            <a:ext cx="8770776" cy="3491590"/>
          </a:xfrm>
        </p:spPr>
        <p:txBody>
          <a:bodyPr>
            <a:normAutofit/>
          </a:bodyPr>
          <a:lstStyle/>
          <a:p>
            <a:r>
              <a:rPr lang="en-US" sz="2000" dirty="0"/>
              <a:t>Copying the data file (</a:t>
            </a:r>
            <a:r>
              <a:rPr lang="en-US" sz="2000" dirty="0" err="1"/>
              <a:t>FACT.json</a:t>
            </a:r>
            <a:r>
              <a:rPr lang="en-US" sz="2000" dirty="0"/>
              <a:t>) to the working directory C:\Program Files\MongoDB\bin</a:t>
            </a:r>
          </a:p>
          <a:p>
            <a:r>
              <a:rPr lang="en-US" sz="2000" dirty="0"/>
              <a:t>Download MongoDB Database Tools (</a:t>
            </a:r>
            <a:r>
              <a:rPr lang="en-US" sz="2000" dirty="0">
                <a:hlinkClick r:id="rId3"/>
              </a:rPr>
              <a:t>https://www.mongodb.com/try/download/database-tools</a:t>
            </a:r>
            <a:r>
              <a:rPr lang="en-US" sz="2000" dirty="0"/>
              <a:t>); Copying the </a:t>
            </a:r>
            <a:r>
              <a:rPr lang="en-US" sz="2000" dirty="0" err="1"/>
              <a:t>MongoImport</a:t>
            </a:r>
            <a:r>
              <a:rPr lang="en-US" sz="2000" dirty="0"/>
              <a:t> file to the working directory C:\Program Files\MongoDB\bin</a:t>
            </a:r>
          </a:p>
        </p:txBody>
      </p:sp>
      <p:pic>
        <p:nvPicPr>
          <p:cNvPr id="7" name="Picture 6">
            <a:extLst>
              <a:ext uri="{FF2B5EF4-FFF2-40B4-BE49-F238E27FC236}">
                <a16:creationId xmlns:a16="http://schemas.microsoft.com/office/drawing/2014/main" id="{28672C25-8123-0400-DA2C-DC47349544FA}"/>
              </a:ext>
            </a:extLst>
          </p:cNvPr>
          <p:cNvPicPr>
            <a:picLocks noChangeAspect="1"/>
          </p:cNvPicPr>
          <p:nvPr/>
        </p:nvPicPr>
        <p:blipFill>
          <a:blip r:embed="rId4"/>
          <a:stretch>
            <a:fillRect/>
          </a:stretch>
        </p:blipFill>
        <p:spPr>
          <a:xfrm>
            <a:off x="2615250" y="2770495"/>
            <a:ext cx="3913499" cy="3923731"/>
          </a:xfrm>
          <a:prstGeom prst="rect">
            <a:avLst/>
          </a:prstGeom>
        </p:spPr>
      </p:pic>
      <p:cxnSp>
        <p:nvCxnSpPr>
          <p:cNvPr id="8" name="Straight Arrow Connector 7">
            <a:extLst>
              <a:ext uri="{FF2B5EF4-FFF2-40B4-BE49-F238E27FC236}">
                <a16:creationId xmlns:a16="http://schemas.microsoft.com/office/drawing/2014/main" id="{D4F6E85D-0FCE-47FE-159C-E48D2CBB7DEB}"/>
              </a:ext>
            </a:extLst>
          </p:cNvPr>
          <p:cNvCxnSpPr>
            <a:cxnSpLocks/>
          </p:cNvCxnSpPr>
          <p:nvPr/>
        </p:nvCxnSpPr>
        <p:spPr>
          <a:xfrm>
            <a:off x="3616657" y="3951027"/>
            <a:ext cx="150125" cy="26301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7806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B9332-A13A-47BF-8ECD-F5C33395B0F1}"/>
              </a:ext>
            </a:extLst>
          </p:cNvPr>
          <p:cNvSpPr>
            <a:spLocks noGrp="1"/>
          </p:cNvSpPr>
          <p:nvPr>
            <p:ph type="title"/>
          </p:nvPr>
        </p:nvSpPr>
        <p:spPr/>
        <p:txBody>
          <a:bodyPr/>
          <a:lstStyle/>
          <a:p>
            <a:r>
              <a:rPr lang="en-US" dirty="0"/>
              <a:t>Importing Data File</a:t>
            </a:r>
          </a:p>
        </p:txBody>
      </p:sp>
      <p:sp>
        <p:nvSpPr>
          <p:cNvPr id="3" name="Content Placeholder 2">
            <a:extLst>
              <a:ext uri="{FF2B5EF4-FFF2-40B4-BE49-F238E27FC236}">
                <a16:creationId xmlns:a16="http://schemas.microsoft.com/office/drawing/2014/main" id="{9693D9C1-FE33-4C78-86F1-35930E519F3A}"/>
              </a:ext>
            </a:extLst>
          </p:cNvPr>
          <p:cNvSpPr>
            <a:spLocks noGrp="1"/>
          </p:cNvSpPr>
          <p:nvPr>
            <p:ph idx="1"/>
          </p:nvPr>
        </p:nvSpPr>
        <p:spPr>
          <a:xfrm>
            <a:off x="149289" y="1025702"/>
            <a:ext cx="8770776" cy="2145761"/>
          </a:xfrm>
        </p:spPr>
        <p:txBody>
          <a:bodyPr>
            <a:normAutofit/>
          </a:bodyPr>
          <a:lstStyle/>
          <a:p>
            <a:r>
              <a:rPr lang="en-US" sz="2000" dirty="0"/>
              <a:t>Navigate to the bin folder</a:t>
            </a:r>
          </a:p>
          <a:p>
            <a:r>
              <a:rPr lang="en-US" sz="2000" dirty="0"/>
              <a:t>Importing the data by typing: </a:t>
            </a:r>
          </a:p>
          <a:p>
            <a:pPr marL="0" indent="0" algn="ctr">
              <a:buNone/>
            </a:pPr>
            <a:r>
              <a:rPr lang="en-US" sz="2000" b="1" dirty="0" err="1">
                <a:latin typeface="Times New Roman" panose="02020603050405020304" pitchFamily="18" charset="0"/>
                <a:cs typeface="Times New Roman" panose="02020603050405020304" pitchFamily="18" charset="0"/>
              </a:rPr>
              <a:t>mongoimport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db</a:t>
            </a:r>
            <a:r>
              <a:rPr lang="en-US" sz="2000" b="1" dirty="0">
                <a:latin typeface="Times New Roman" panose="02020603050405020304" pitchFamily="18" charset="0"/>
                <a:cs typeface="Times New Roman" panose="02020603050405020304" pitchFamily="18" charset="0"/>
              </a:rPr>
              <a:t> fact --collection patron --type json --file </a:t>
            </a:r>
            <a:r>
              <a:rPr lang="en-US" sz="2000" b="1" dirty="0" err="1">
                <a:latin typeface="Times New Roman" panose="02020603050405020304" pitchFamily="18" charset="0"/>
                <a:cs typeface="Times New Roman" panose="02020603050405020304" pitchFamily="18" charset="0"/>
              </a:rPr>
              <a:t>Fact.json</a:t>
            </a:r>
            <a:endParaRPr lang="en-US"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CCB4416-E3EC-2410-7404-E9ED0F702382}"/>
              </a:ext>
            </a:extLst>
          </p:cNvPr>
          <p:cNvPicPr>
            <a:picLocks noChangeAspect="1"/>
          </p:cNvPicPr>
          <p:nvPr/>
        </p:nvPicPr>
        <p:blipFill>
          <a:blip r:embed="rId3"/>
          <a:stretch>
            <a:fillRect/>
          </a:stretch>
        </p:blipFill>
        <p:spPr>
          <a:xfrm>
            <a:off x="291338" y="2318545"/>
            <a:ext cx="8645015" cy="3629328"/>
          </a:xfrm>
          <a:prstGeom prst="rect">
            <a:avLst/>
          </a:prstGeom>
        </p:spPr>
      </p:pic>
    </p:spTree>
    <p:extLst>
      <p:ext uri="{BB962C8B-B14F-4D97-AF65-F5344CB8AC3E}">
        <p14:creationId xmlns:p14="http://schemas.microsoft.com/office/powerpoint/2010/main" val="13737444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B68B9-9F5A-479C-B8F1-408F054E8A15}"/>
              </a:ext>
            </a:extLst>
          </p:cNvPr>
          <p:cNvSpPr>
            <a:spLocks noGrp="1"/>
          </p:cNvSpPr>
          <p:nvPr>
            <p:ph type="title"/>
          </p:nvPr>
        </p:nvSpPr>
        <p:spPr/>
        <p:txBody>
          <a:bodyPr/>
          <a:lstStyle/>
          <a:p>
            <a:r>
              <a:rPr lang="en-US" dirty="0"/>
              <a:t>Navigating to the Data File</a:t>
            </a:r>
          </a:p>
        </p:txBody>
      </p:sp>
      <p:sp>
        <p:nvSpPr>
          <p:cNvPr id="3" name="Content Placeholder 2">
            <a:extLst>
              <a:ext uri="{FF2B5EF4-FFF2-40B4-BE49-F238E27FC236}">
                <a16:creationId xmlns:a16="http://schemas.microsoft.com/office/drawing/2014/main" id="{59EC2637-E932-4B8C-8FFF-70D4F1B69B08}"/>
              </a:ext>
            </a:extLst>
          </p:cNvPr>
          <p:cNvSpPr>
            <a:spLocks noGrp="1"/>
          </p:cNvSpPr>
          <p:nvPr>
            <p:ph idx="1"/>
          </p:nvPr>
        </p:nvSpPr>
        <p:spPr>
          <a:xfrm>
            <a:off x="149289" y="992393"/>
            <a:ext cx="8770776" cy="1287815"/>
          </a:xfrm>
        </p:spPr>
        <p:txBody>
          <a:bodyPr>
            <a:normAutofit/>
          </a:bodyPr>
          <a:lstStyle/>
          <a:p>
            <a:r>
              <a:rPr lang="en-US" sz="2200" dirty="0"/>
              <a:t>Execute Mongo shell: </a:t>
            </a:r>
            <a:r>
              <a:rPr lang="en-US" sz="2200" b="1" dirty="0" err="1">
                <a:latin typeface="Times New Roman" panose="02020603050405020304" pitchFamily="18" charset="0"/>
                <a:cs typeface="Times New Roman" panose="02020603050405020304" pitchFamily="18" charset="0"/>
              </a:rPr>
              <a:t>mongosh</a:t>
            </a:r>
            <a:endParaRPr lang="en-US" sz="2200" b="1" dirty="0">
              <a:latin typeface="Times New Roman" panose="02020603050405020304" pitchFamily="18" charset="0"/>
              <a:cs typeface="Times New Roman" panose="02020603050405020304" pitchFamily="18" charset="0"/>
            </a:endParaRPr>
          </a:p>
          <a:p>
            <a:r>
              <a:rPr lang="en-US" sz="2200" dirty="0"/>
              <a:t>Change to the fact database: </a:t>
            </a:r>
            <a:r>
              <a:rPr lang="en-US" sz="2200" b="1" dirty="0">
                <a:latin typeface="Times New Roman" panose="02020603050405020304" pitchFamily="18" charset="0"/>
                <a:cs typeface="Times New Roman" panose="02020603050405020304" pitchFamily="18" charset="0"/>
              </a:rPr>
              <a:t>use fact</a:t>
            </a:r>
          </a:p>
        </p:txBody>
      </p:sp>
      <p:pic>
        <p:nvPicPr>
          <p:cNvPr id="6" name="Picture 5">
            <a:extLst>
              <a:ext uri="{FF2B5EF4-FFF2-40B4-BE49-F238E27FC236}">
                <a16:creationId xmlns:a16="http://schemas.microsoft.com/office/drawing/2014/main" id="{06465D68-3ABA-52E3-4E13-874595A1EE07}"/>
              </a:ext>
            </a:extLst>
          </p:cNvPr>
          <p:cNvPicPr>
            <a:picLocks noChangeAspect="1"/>
          </p:cNvPicPr>
          <p:nvPr/>
        </p:nvPicPr>
        <p:blipFill>
          <a:blip r:embed="rId3"/>
          <a:stretch>
            <a:fillRect/>
          </a:stretch>
        </p:blipFill>
        <p:spPr>
          <a:xfrm>
            <a:off x="345626" y="1927351"/>
            <a:ext cx="8629713" cy="2819421"/>
          </a:xfrm>
          <a:prstGeom prst="rect">
            <a:avLst/>
          </a:prstGeom>
        </p:spPr>
      </p:pic>
    </p:spTree>
    <p:extLst>
      <p:ext uri="{BB962C8B-B14F-4D97-AF65-F5344CB8AC3E}">
        <p14:creationId xmlns:p14="http://schemas.microsoft.com/office/powerpoint/2010/main" val="13803965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1683-3FAF-44E2-95C6-D06096D38FC5}"/>
              </a:ext>
            </a:extLst>
          </p:cNvPr>
          <p:cNvSpPr>
            <a:spLocks noGrp="1"/>
          </p:cNvSpPr>
          <p:nvPr>
            <p:ph type="title"/>
          </p:nvPr>
        </p:nvSpPr>
        <p:spPr/>
        <p:txBody>
          <a:bodyPr>
            <a:normAutofit fontScale="90000"/>
          </a:bodyPr>
          <a:lstStyle/>
          <a:p>
            <a:r>
              <a:rPr lang="en-US" dirty="0"/>
              <a:t>Selection and Restriction with the find() Method</a:t>
            </a:r>
          </a:p>
        </p:txBody>
      </p:sp>
      <p:sp>
        <p:nvSpPr>
          <p:cNvPr id="3" name="Content Placeholder 2">
            <a:extLst>
              <a:ext uri="{FF2B5EF4-FFF2-40B4-BE49-F238E27FC236}">
                <a16:creationId xmlns:a16="http://schemas.microsoft.com/office/drawing/2014/main" id="{155351B6-061C-4260-9511-300A00049446}"/>
              </a:ext>
            </a:extLst>
          </p:cNvPr>
          <p:cNvSpPr>
            <a:spLocks noGrp="1"/>
          </p:cNvSpPr>
          <p:nvPr>
            <p:ph idx="1"/>
          </p:nvPr>
        </p:nvSpPr>
        <p:spPr>
          <a:xfrm>
            <a:off x="102988" y="1166018"/>
            <a:ext cx="8867391" cy="2262982"/>
          </a:xfrm>
        </p:spPr>
        <p:txBody>
          <a:bodyPr>
            <a:normAutofit/>
          </a:bodyPr>
          <a:lstStyle/>
          <a:p>
            <a:r>
              <a:rPr lang="en-US" sz="2200" dirty="0"/>
              <a:t>The find() method of a collection retrieves documents from the collection that match the restrictions provided.</a:t>
            </a:r>
          </a:p>
          <a:p>
            <a:r>
              <a:rPr lang="en-US" sz="2200" dirty="0"/>
              <a:t>Syntax: </a:t>
            </a:r>
            <a:r>
              <a:rPr lang="en-US" sz="2200" b="1" dirty="0">
                <a:latin typeface="Times New Roman" panose="02020603050405020304" pitchFamily="18" charset="0"/>
                <a:cs typeface="Times New Roman" panose="02020603050405020304" pitchFamily="18" charset="0"/>
              </a:rPr>
              <a:t>find({&lt;query&gt;}, {&lt;projection&gt;})</a:t>
            </a:r>
          </a:p>
          <a:p>
            <a:r>
              <a:rPr lang="en-US" sz="2200" dirty="0"/>
              <a:t>Example: retrieve the patron with the display name “Robert Carter”</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({display: "Robert Carter"})</a:t>
            </a:r>
          </a:p>
          <a:p>
            <a:endParaRPr lang="en-US" sz="2200" dirty="0"/>
          </a:p>
        </p:txBody>
      </p:sp>
      <p:pic>
        <p:nvPicPr>
          <p:cNvPr id="4" name="Picture 3">
            <a:extLst>
              <a:ext uri="{FF2B5EF4-FFF2-40B4-BE49-F238E27FC236}">
                <a16:creationId xmlns:a16="http://schemas.microsoft.com/office/drawing/2014/main" id="{6F548CD6-0A2D-43DB-B137-4E097F6CDD41}"/>
              </a:ext>
            </a:extLst>
          </p:cNvPr>
          <p:cNvPicPr>
            <a:picLocks noChangeAspect="1"/>
          </p:cNvPicPr>
          <p:nvPr/>
        </p:nvPicPr>
        <p:blipFill rotWithShape="1">
          <a:blip r:embed="rId3"/>
          <a:srcRect t="2271"/>
          <a:stretch/>
        </p:blipFill>
        <p:spPr>
          <a:xfrm>
            <a:off x="138304" y="3282194"/>
            <a:ext cx="8867391" cy="2603716"/>
          </a:xfrm>
          <a:prstGeom prst="rect">
            <a:avLst/>
          </a:prstGeom>
        </p:spPr>
      </p:pic>
    </p:spTree>
    <p:extLst>
      <p:ext uri="{BB962C8B-B14F-4D97-AF65-F5344CB8AC3E}">
        <p14:creationId xmlns:p14="http://schemas.microsoft.com/office/powerpoint/2010/main" val="2591998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1683-3FAF-44E2-95C6-D06096D38FC5}"/>
              </a:ext>
            </a:extLst>
          </p:cNvPr>
          <p:cNvSpPr>
            <a:spLocks noGrp="1"/>
          </p:cNvSpPr>
          <p:nvPr>
            <p:ph type="title"/>
          </p:nvPr>
        </p:nvSpPr>
        <p:spPr/>
        <p:txBody>
          <a:bodyPr>
            <a:normAutofit fontScale="90000"/>
          </a:bodyPr>
          <a:lstStyle/>
          <a:p>
            <a:r>
              <a:rPr lang="en-US" dirty="0"/>
              <a:t>Selection and Restriction with the find() Method</a:t>
            </a:r>
          </a:p>
        </p:txBody>
      </p:sp>
      <p:sp>
        <p:nvSpPr>
          <p:cNvPr id="3" name="Content Placeholder 2">
            <a:extLst>
              <a:ext uri="{FF2B5EF4-FFF2-40B4-BE49-F238E27FC236}">
                <a16:creationId xmlns:a16="http://schemas.microsoft.com/office/drawing/2014/main" id="{155351B6-061C-4260-9511-300A00049446}"/>
              </a:ext>
            </a:extLst>
          </p:cNvPr>
          <p:cNvSpPr>
            <a:spLocks noGrp="1"/>
          </p:cNvSpPr>
          <p:nvPr>
            <p:ph idx="1"/>
          </p:nvPr>
        </p:nvSpPr>
        <p:spPr>
          <a:xfrm>
            <a:off x="102988" y="1104233"/>
            <a:ext cx="8867391" cy="2262982"/>
          </a:xfrm>
        </p:spPr>
        <p:txBody>
          <a:bodyPr>
            <a:normAutofit/>
          </a:bodyPr>
          <a:lstStyle/>
          <a:p>
            <a:r>
              <a:rPr lang="en-US" sz="2200" dirty="0"/>
              <a:t>To improve the readability, we can use the pretty() method.</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({display: "Robert Carter"}).pretty() </a:t>
            </a:r>
          </a:p>
        </p:txBody>
      </p:sp>
      <p:pic>
        <p:nvPicPr>
          <p:cNvPr id="5" name="Picture 4">
            <a:extLst>
              <a:ext uri="{FF2B5EF4-FFF2-40B4-BE49-F238E27FC236}">
                <a16:creationId xmlns:a16="http://schemas.microsoft.com/office/drawing/2014/main" id="{EFD4238A-268E-4CAD-A87A-07E333F67FE3}"/>
              </a:ext>
            </a:extLst>
          </p:cNvPr>
          <p:cNvPicPr>
            <a:picLocks noChangeAspect="1"/>
          </p:cNvPicPr>
          <p:nvPr/>
        </p:nvPicPr>
        <p:blipFill>
          <a:blip r:embed="rId3"/>
          <a:stretch>
            <a:fillRect/>
          </a:stretch>
        </p:blipFill>
        <p:spPr>
          <a:xfrm>
            <a:off x="2767006" y="1957611"/>
            <a:ext cx="3733952" cy="4838604"/>
          </a:xfrm>
          <a:prstGeom prst="rect">
            <a:avLst/>
          </a:prstGeom>
        </p:spPr>
      </p:pic>
    </p:spTree>
    <p:extLst>
      <p:ext uri="{BB962C8B-B14F-4D97-AF65-F5344CB8AC3E}">
        <p14:creationId xmlns:p14="http://schemas.microsoft.com/office/powerpoint/2010/main" val="274247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EA9E0-6F09-4B6D-828C-E80D20F285EF}"/>
              </a:ext>
            </a:extLst>
          </p:cNvPr>
          <p:cNvSpPr>
            <a:spLocks noGrp="1"/>
          </p:cNvSpPr>
          <p:nvPr>
            <p:ph type="title"/>
          </p:nvPr>
        </p:nvSpPr>
        <p:spPr/>
        <p:txBody>
          <a:bodyPr>
            <a:normAutofit fontScale="90000"/>
          </a:bodyPr>
          <a:lstStyle/>
          <a:p>
            <a:r>
              <a:rPr lang="en-US" dirty="0"/>
              <a:t>Selection and Restriction with the find() Method</a:t>
            </a:r>
          </a:p>
        </p:txBody>
      </p:sp>
      <p:sp>
        <p:nvSpPr>
          <p:cNvPr id="3" name="Content Placeholder 2">
            <a:extLst>
              <a:ext uri="{FF2B5EF4-FFF2-40B4-BE49-F238E27FC236}">
                <a16:creationId xmlns:a16="http://schemas.microsoft.com/office/drawing/2014/main" id="{A58AE478-B9EE-4EEE-849B-A1A4173F3681}"/>
              </a:ext>
            </a:extLst>
          </p:cNvPr>
          <p:cNvSpPr>
            <a:spLocks noGrp="1"/>
          </p:cNvSpPr>
          <p:nvPr>
            <p:ph idx="1"/>
          </p:nvPr>
        </p:nvSpPr>
        <p:spPr/>
        <p:txBody>
          <a:bodyPr>
            <a:normAutofit/>
          </a:bodyPr>
          <a:lstStyle/>
          <a:p>
            <a:r>
              <a:rPr lang="en-US" sz="2200" dirty="0"/>
              <a:t>The value with each key in the projection object is either 0 or 1. </a:t>
            </a:r>
          </a:p>
          <a:p>
            <a:pPr lvl="1"/>
            <a:r>
              <a:rPr lang="en-US" sz="2000" dirty="0"/>
              <a:t>The value 1 with a key indicates that the </a:t>
            </a:r>
            <a:r>
              <a:rPr lang="en-US" sz="2000" dirty="0" err="1"/>
              <a:t>key:value</a:t>
            </a:r>
            <a:r>
              <a:rPr lang="en-US" sz="2000" dirty="0"/>
              <a:t> pair from the document should be included in the results.</a:t>
            </a:r>
          </a:p>
          <a:p>
            <a:pPr lvl="1"/>
            <a:r>
              <a:rPr lang="en-US" sz="2000" dirty="0"/>
              <a:t>The value 0 with a key indicates that the </a:t>
            </a:r>
            <a:r>
              <a:rPr lang="en-US" sz="2000" dirty="0" err="1"/>
              <a:t>key:value</a:t>
            </a:r>
            <a:r>
              <a:rPr lang="en-US" sz="2000" dirty="0"/>
              <a:t> pair from the document should be omitted.</a:t>
            </a:r>
          </a:p>
          <a:p>
            <a:r>
              <a:rPr lang="en-US" sz="2200" dirty="0"/>
              <a:t>Example: retrieves the document for patron “Robert Carter” but only returns the _id, display name, and type keys</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({display: "Robert Carter"}, {display:1, type:1})</a:t>
            </a:r>
          </a:p>
          <a:p>
            <a:endParaRPr lang="en-US" sz="2200" dirty="0"/>
          </a:p>
          <a:p>
            <a:endParaRPr lang="en-US" sz="2200" dirty="0"/>
          </a:p>
        </p:txBody>
      </p:sp>
      <p:pic>
        <p:nvPicPr>
          <p:cNvPr id="4" name="Picture 3">
            <a:extLst>
              <a:ext uri="{FF2B5EF4-FFF2-40B4-BE49-F238E27FC236}">
                <a16:creationId xmlns:a16="http://schemas.microsoft.com/office/drawing/2014/main" id="{9E1F05A6-710C-4AE5-8E8F-0146687799E3}"/>
              </a:ext>
            </a:extLst>
          </p:cNvPr>
          <p:cNvPicPr>
            <a:picLocks noChangeAspect="1"/>
          </p:cNvPicPr>
          <p:nvPr/>
        </p:nvPicPr>
        <p:blipFill>
          <a:blip r:embed="rId3"/>
          <a:stretch>
            <a:fillRect/>
          </a:stretch>
        </p:blipFill>
        <p:spPr>
          <a:xfrm>
            <a:off x="104775" y="4667250"/>
            <a:ext cx="8934450" cy="1238250"/>
          </a:xfrm>
          <a:prstGeom prst="rect">
            <a:avLst/>
          </a:prstGeom>
        </p:spPr>
      </p:pic>
    </p:spTree>
    <p:extLst>
      <p:ext uri="{BB962C8B-B14F-4D97-AF65-F5344CB8AC3E}">
        <p14:creationId xmlns:p14="http://schemas.microsoft.com/office/powerpoint/2010/main" val="22161864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278D-1052-4D4B-B380-82D68C33551B}"/>
              </a:ext>
            </a:extLst>
          </p:cNvPr>
          <p:cNvSpPr>
            <a:spLocks noGrp="1"/>
          </p:cNvSpPr>
          <p:nvPr>
            <p:ph type="title"/>
          </p:nvPr>
        </p:nvSpPr>
        <p:spPr/>
        <p:txBody>
          <a:bodyPr>
            <a:normAutofit fontScale="90000"/>
          </a:bodyPr>
          <a:lstStyle/>
          <a:p>
            <a:r>
              <a:rPr lang="en-US" dirty="0"/>
              <a:t>Selection and Restriction with the find() Method</a:t>
            </a:r>
          </a:p>
        </p:txBody>
      </p:sp>
      <p:sp>
        <p:nvSpPr>
          <p:cNvPr id="3" name="Content Placeholder 2">
            <a:extLst>
              <a:ext uri="{FF2B5EF4-FFF2-40B4-BE49-F238E27FC236}">
                <a16:creationId xmlns:a16="http://schemas.microsoft.com/office/drawing/2014/main" id="{3E8B547C-E77F-4269-80CF-BCA182754980}"/>
              </a:ext>
            </a:extLst>
          </p:cNvPr>
          <p:cNvSpPr>
            <a:spLocks noGrp="1"/>
          </p:cNvSpPr>
          <p:nvPr>
            <p:ph idx="1"/>
          </p:nvPr>
        </p:nvSpPr>
        <p:spPr>
          <a:xfrm>
            <a:off x="149289" y="1166019"/>
            <a:ext cx="8770776" cy="2262982"/>
          </a:xfrm>
        </p:spPr>
        <p:txBody>
          <a:bodyPr>
            <a:normAutofit/>
          </a:bodyPr>
          <a:lstStyle/>
          <a:p>
            <a:r>
              <a:rPr lang="en-US" sz="2200" dirty="0"/>
              <a:t>To return all keys except the ones specified, use the 0 value in the projection object.</a:t>
            </a:r>
          </a:p>
          <a:p>
            <a:r>
              <a:rPr lang="en-US" sz="2200" dirty="0"/>
              <a:t>Example: returns all keys in the Robert Carter document except the checkouts</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({display: "Robert Carter"}, {checkouts: 0})</a:t>
            </a:r>
          </a:p>
        </p:txBody>
      </p:sp>
      <p:pic>
        <p:nvPicPr>
          <p:cNvPr id="4" name="Picture 3">
            <a:extLst>
              <a:ext uri="{FF2B5EF4-FFF2-40B4-BE49-F238E27FC236}">
                <a16:creationId xmlns:a16="http://schemas.microsoft.com/office/drawing/2014/main" id="{E49E0D78-E447-4CBA-83FB-E79657BFC333}"/>
              </a:ext>
            </a:extLst>
          </p:cNvPr>
          <p:cNvPicPr>
            <a:picLocks noChangeAspect="1"/>
          </p:cNvPicPr>
          <p:nvPr/>
        </p:nvPicPr>
        <p:blipFill>
          <a:blip r:embed="rId3"/>
          <a:stretch>
            <a:fillRect/>
          </a:stretch>
        </p:blipFill>
        <p:spPr>
          <a:xfrm>
            <a:off x="174003" y="3309422"/>
            <a:ext cx="8706500" cy="1979270"/>
          </a:xfrm>
          <a:prstGeom prst="rect">
            <a:avLst/>
          </a:prstGeom>
        </p:spPr>
      </p:pic>
    </p:spTree>
    <p:extLst>
      <p:ext uri="{BB962C8B-B14F-4D97-AF65-F5344CB8AC3E}">
        <p14:creationId xmlns:p14="http://schemas.microsoft.com/office/powerpoint/2010/main" val="112108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409A6-DC10-47AC-98D6-6D57CD132807}"/>
              </a:ext>
            </a:extLst>
          </p:cNvPr>
          <p:cNvSpPr>
            <a:spLocks noGrp="1"/>
          </p:cNvSpPr>
          <p:nvPr>
            <p:ph type="title"/>
          </p:nvPr>
        </p:nvSpPr>
        <p:spPr/>
        <p:txBody>
          <a:bodyPr>
            <a:normAutofit fontScale="90000"/>
          </a:bodyPr>
          <a:lstStyle/>
          <a:p>
            <a:r>
              <a:rPr lang="en-US" dirty="0"/>
              <a:t>Selection and Restriction with the find() Method</a:t>
            </a:r>
          </a:p>
        </p:txBody>
      </p:sp>
      <p:sp>
        <p:nvSpPr>
          <p:cNvPr id="3" name="Content Placeholder 2">
            <a:extLst>
              <a:ext uri="{FF2B5EF4-FFF2-40B4-BE49-F238E27FC236}">
                <a16:creationId xmlns:a16="http://schemas.microsoft.com/office/drawing/2014/main" id="{C4C9F256-E990-4CE1-82A3-4403B03D574D}"/>
              </a:ext>
            </a:extLst>
          </p:cNvPr>
          <p:cNvSpPr>
            <a:spLocks noGrp="1"/>
          </p:cNvSpPr>
          <p:nvPr>
            <p:ph idx="1"/>
          </p:nvPr>
        </p:nvSpPr>
        <p:spPr>
          <a:xfrm>
            <a:off x="149288" y="1166019"/>
            <a:ext cx="8871143" cy="1737820"/>
          </a:xfrm>
        </p:spPr>
        <p:txBody>
          <a:bodyPr>
            <a:normAutofit/>
          </a:bodyPr>
          <a:lstStyle/>
          <a:p>
            <a:r>
              <a:rPr lang="en-US" sz="2200" dirty="0"/>
              <a:t>When specifying keys to include, if the programmer wishes to suppress the _id key, it can be explicitly excluded.</a:t>
            </a:r>
          </a:p>
          <a:p>
            <a:r>
              <a:rPr lang="en-US" sz="2200" dirty="0"/>
              <a:t>Example: return just the display name key of all faculty patrons</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({type: "faculty"}, {display:1, _id:0})</a:t>
            </a:r>
          </a:p>
        </p:txBody>
      </p:sp>
      <p:pic>
        <p:nvPicPr>
          <p:cNvPr id="4" name="Picture 3">
            <a:extLst>
              <a:ext uri="{FF2B5EF4-FFF2-40B4-BE49-F238E27FC236}">
                <a16:creationId xmlns:a16="http://schemas.microsoft.com/office/drawing/2014/main" id="{267709F2-0CEA-4C3F-8806-38FB859AB829}"/>
              </a:ext>
            </a:extLst>
          </p:cNvPr>
          <p:cNvPicPr>
            <a:picLocks noChangeAspect="1"/>
          </p:cNvPicPr>
          <p:nvPr/>
        </p:nvPicPr>
        <p:blipFill>
          <a:blip r:embed="rId3"/>
          <a:stretch>
            <a:fillRect/>
          </a:stretch>
        </p:blipFill>
        <p:spPr>
          <a:xfrm>
            <a:off x="1591833" y="2891482"/>
            <a:ext cx="5945789" cy="3773065"/>
          </a:xfrm>
          <a:prstGeom prst="rect">
            <a:avLst/>
          </a:prstGeom>
        </p:spPr>
      </p:pic>
    </p:spTree>
    <p:extLst>
      <p:ext uri="{BB962C8B-B14F-4D97-AF65-F5344CB8AC3E}">
        <p14:creationId xmlns:p14="http://schemas.microsoft.com/office/powerpoint/2010/main" val="29653241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50C05-6AA0-431B-8659-FC60D8B173EF}"/>
              </a:ext>
            </a:extLst>
          </p:cNvPr>
          <p:cNvSpPr>
            <a:spLocks noGrp="1"/>
          </p:cNvSpPr>
          <p:nvPr>
            <p:ph type="title"/>
          </p:nvPr>
        </p:nvSpPr>
        <p:spPr/>
        <p:txBody>
          <a:bodyPr>
            <a:normAutofit fontScale="90000"/>
          </a:bodyPr>
          <a:lstStyle/>
          <a:p>
            <a:r>
              <a:rPr lang="en-US" dirty="0"/>
              <a:t>Selection and Restriction with the find() Method</a:t>
            </a:r>
          </a:p>
        </p:txBody>
      </p:sp>
      <p:sp>
        <p:nvSpPr>
          <p:cNvPr id="3" name="Content Placeholder 2">
            <a:extLst>
              <a:ext uri="{FF2B5EF4-FFF2-40B4-BE49-F238E27FC236}">
                <a16:creationId xmlns:a16="http://schemas.microsoft.com/office/drawing/2014/main" id="{985EA1D3-8770-4A83-8766-9E0ED1B17E4B}"/>
              </a:ext>
            </a:extLst>
          </p:cNvPr>
          <p:cNvSpPr>
            <a:spLocks noGrp="1"/>
          </p:cNvSpPr>
          <p:nvPr>
            <p:ph idx="1"/>
          </p:nvPr>
        </p:nvSpPr>
        <p:spPr/>
        <p:txBody>
          <a:bodyPr>
            <a:normAutofit/>
          </a:bodyPr>
          <a:lstStyle/>
          <a:p>
            <a:r>
              <a:rPr lang="en-US" sz="2200" dirty="0"/>
              <a:t>If both query and projection objects are omitted, the find() method can have no parameters.</a:t>
            </a:r>
          </a:p>
          <a:p>
            <a:r>
              <a:rPr lang="en-US" sz="2200" dirty="0"/>
              <a:t>However, if query object is not needed, but the projection object is needed, we cannot omit the query object. </a:t>
            </a:r>
          </a:p>
          <a:p>
            <a:r>
              <a:rPr lang="en-US" sz="2200" dirty="0"/>
              <a:t>Solution: an empty object can be used for the query object.</a:t>
            </a:r>
          </a:p>
          <a:p>
            <a:r>
              <a:rPr lang="en-US" sz="2200" dirty="0"/>
              <a:t>Example: retrieve only the name key of every document</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 {display:1, _id:0})</a:t>
            </a:r>
          </a:p>
        </p:txBody>
      </p:sp>
      <p:pic>
        <p:nvPicPr>
          <p:cNvPr id="4" name="Picture 3">
            <a:extLst>
              <a:ext uri="{FF2B5EF4-FFF2-40B4-BE49-F238E27FC236}">
                <a16:creationId xmlns:a16="http://schemas.microsoft.com/office/drawing/2014/main" id="{6A7E9D8E-50EC-4A2F-A11E-E15D8D1E7C62}"/>
              </a:ext>
            </a:extLst>
          </p:cNvPr>
          <p:cNvPicPr>
            <a:picLocks noChangeAspect="1"/>
          </p:cNvPicPr>
          <p:nvPr/>
        </p:nvPicPr>
        <p:blipFill>
          <a:blip r:embed="rId3"/>
          <a:stretch>
            <a:fillRect/>
          </a:stretch>
        </p:blipFill>
        <p:spPr>
          <a:xfrm>
            <a:off x="1504820" y="3943746"/>
            <a:ext cx="5427321" cy="2809264"/>
          </a:xfrm>
          <a:prstGeom prst="rect">
            <a:avLst/>
          </a:prstGeom>
        </p:spPr>
      </p:pic>
    </p:spTree>
    <p:extLst>
      <p:ext uri="{BB962C8B-B14F-4D97-AF65-F5344CB8AC3E}">
        <p14:creationId xmlns:p14="http://schemas.microsoft.com/office/powerpoint/2010/main" val="7892972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AD4E8-3305-4C06-9382-8CC15D7D9229}"/>
              </a:ext>
            </a:extLst>
          </p:cNvPr>
          <p:cNvSpPr>
            <a:spLocks noGrp="1"/>
          </p:cNvSpPr>
          <p:nvPr>
            <p:ph type="title"/>
          </p:nvPr>
        </p:nvSpPr>
        <p:spPr/>
        <p:txBody>
          <a:bodyPr/>
          <a:lstStyle/>
          <a:p>
            <a:r>
              <a:rPr lang="en-US" dirty="0"/>
              <a:t>Document Pagination with limit()</a:t>
            </a:r>
          </a:p>
        </p:txBody>
      </p:sp>
      <p:sp>
        <p:nvSpPr>
          <p:cNvPr id="3" name="Content Placeholder 2">
            <a:extLst>
              <a:ext uri="{FF2B5EF4-FFF2-40B4-BE49-F238E27FC236}">
                <a16:creationId xmlns:a16="http://schemas.microsoft.com/office/drawing/2014/main" id="{CA2323DC-315E-40D4-9FE2-037DD25B233D}"/>
              </a:ext>
            </a:extLst>
          </p:cNvPr>
          <p:cNvSpPr>
            <a:spLocks noGrp="1"/>
          </p:cNvSpPr>
          <p:nvPr>
            <p:ph idx="1"/>
          </p:nvPr>
        </p:nvSpPr>
        <p:spPr>
          <a:xfrm>
            <a:off x="149289" y="1166018"/>
            <a:ext cx="8770776" cy="3480123"/>
          </a:xfrm>
        </p:spPr>
        <p:txBody>
          <a:bodyPr>
            <a:normAutofit/>
          </a:bodyPr>
          <a:lstStyle/>
          <a:p>
            <a:r>
              <a:rPr lang="en-US" sz="2200" dirty="0"/>
              <a:t>Method Chaining: multiple methods are applied to the same collection</a:t>
            </a:r>
          </a:p>
          <a:p>
            <a:r>
              <a:rPr lang="en-US" sz="2200" dirty="0"/>
              <a:t>Examples: pretty(), limit(), skip(), and sort() together with find()</a:t>
            </a:r>
          </a:p>
          <a:p>
            <a:endParaRPr lang="en-US" sz="2200" dirty="0"/>
          </a:p>
          <a:p>
            <a:r>
              <a:rPr lang="en-US" sz="2200" dirty="0"/>
              <a:t>Limit() takes a single numeric parameter to specify the number of documents to limit to. </a:t>
            </a:r>
          </a:p>
          <a:p>
            <a:r>
              <a:rPr lang="en-US" sz="2200" dirty="0"/>
              <a:t>Example: find all documents for student patrons but limit the results to just the first two documents</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({type: "student"}, {display:1}).limit(2)</a:t>
            </a:r>
          </a:p>
        </p:txBody>
      </p:sp>
      <p:pic>
        <p:nvPicPr>
          <p:cNvPr id="4" name="Picture 3">
            <a:extLst>
              <a:ext uri="{FF2B5EF4-FFF2-40B4-BE49-F238E27FC236}">
                <a16:creationId xmlns:a16="http://schemas.microsoft.com/office/drawing/2014/main" id="{4B0F9CFF-55B7-4991-858E-620D3C12C2C4}"/>
              </a:ext>
            </a:extLst>
          </p:cNvPr>
          <p:cNvPicPr>
            <a:picLocks noChangeAspect="1"/>
          </p:cNvPicPr>
          <p:nvPr/>
        </p:nvPicPr>
        <p:blipFill>
          <a:blip r:embed="rId3"/>
          <a:stretch>
            <a:fillRect/>
          </a:stretch>
        </p:blipFill>
        <p:spPr>
          <a:xfrm>
            <a:off x="327705" y="4909569"/>
            <a:ext cx="8413944" cy="1564825"/>
          </a:xfrm>
          <a:prstGeom prst="rect">
            <a:avLst/>
          </a:prstGeom>
        </p:spPr>
      </p:pic>
    </p:spTree>
    <p:extLst>
      <p:ext uri="{BB962C8B-B14F-4D97-AF65-F5344CB8AC3E}">
        <p14:creationId xmlns:p14="http://schemas.microsoft.com/office/powerpoint/2010/main" val="9441629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E5A5E-11D0-4F58-893A-0950F49EC43C}"/>
              </a:ext>
            </a:extLst>
          </p:cNvPr>
          <p:cNvSpPr>
            <a:spLocks noGrp="1"/>
          </p:cNvSpPr>
          <p:nvPr>
            <p:ph type="title"/>
          </p:nvPr>
        </p:nvSpPr>
        <p:spPr/>
        <p:txBody>
          <a:bodyPr/>
          <a:lstStyle/>
          <a:p>
            <a:r>
              <a:rPr lang="en-US" dirty="0"/>
              <a:t>Document Pagination with skip()</a:t>
            </a:r>
          </a:p>
        </p:txBody>
      </p:sp>
      <p:sp>
        <p:nvSpPr>
          <p:cNvPr id="3" name="Content Placeholder 2">
            <a:extLst>
              <a:ext uri="{FF2B5EF4-FFF2-40B4-BE49-F238E27FC236}">
                <a16:creationId xmlns:a16="http://schemas.microsoft.com/office/drawing/2014/main" id="{69F6B844-70EE-43C3-A290-DAC5FB53D9BA}"/>
              </a:ext>
            </a:extLst>
          </p:cNvPr>
          <p:cNvSpPr>
            <a:spLocks noGrp="1"/>
          </p:cNvSpPr>
          <p:nvPr>
            <p:ph idx="1"/>
          </p:nvPr>
        </p:nvSpPr>
        <p:spPr>
          <a:xfrm>
            <a:off x="149289" y="1166019"/>
            <a:ext cx="8770776" cy="1700750"/>
          </a:xfrm>
        </p:spPr>
        <p:txBody>
          <a:bodyPr>
            <a:normAutofit/>
          </a:bodyPr>
          <a:lstStyle/>
          <a:p>
            <a:r>
              <a:rPr lang="en-US" sz="2200" dirty="0"/>
              <a:t>The skip() function retrieves subsequent chunks of documents.</a:t>
            </a:r>
          </a:p>
          <a:p>
            <a:r>
              <a:rPr lang="en-US" sz="2200" dirty="0"/>
              <a:t>Example: retrieve two documents but skip the first two documents (i.e., show the third and fourth documents)</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({type: "student"}, {display:1}).skip(2).limit(2)</a:t>
            </a:r>
          </a:p>
        </p:txBody>
      </p:sp>
      <p:pic>
        <p:nvPicPr>
          <p:cNvPr id="4" name="Picture 3">
            <a:extLst>
              <a:ext uri="{FF2B5EF4-FFF2-40B4-BE49-F238E27FC236}">
                <a16:creationId xmlns:a16="http://schemas.microsoft.com/office/drawing/2014/main" id="{349C9E60-74B2-4374-A247-0A1EE75DE697}"/>
              </a:ext>
            </a:extLst>
          </p:cNvPr>
          <p:cNvPicPr>
            <a:picLocks noChangeAspect="1"/>
          </p:cNvPicPr>
          <p:nvPr/>
        </p:nvPicPr>
        <p:blipFill>
          <a:blip r:embed="rId3"/>
          <a:stretch>
            <a:fillRect/>
          </a:stretch>
        </p:blipFill>
        <p:spPr>
          <a:xfrm>
            <a:off x="312394" y="3037058"/>
            <a:ext cx="8591228" cy="1572012"/>
          </a:xfrm>
          <a:prstGeom prst="rect">
            <a:avLst/>
          </a:prstGeom>
        </p:spPr>
      </p:pic>
    </p:spTree>
    <p:extLst>
      <p:ext uri="{BB962C8B-B14F-4D97-AF65-F5344CB8AC3E}">
        <p14:creationId xmlns:p14="http://schemas.microsoft.com/office/powerpoint/2010/main" val="2830832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0ECA-4A1B-4DB4-AE2F-9BB18FAB1108}"/>
              </a:ext>
            </a:extLst>
          </p:cNvPr>
          <p:cNvSpPr>
            <a:spLocks noGrp="1"/>
          </p:cNvSpPr>
          <p:nvPr>
            <p:ph type="title"/>
          </p:nvPr>
        </p:nvSpPr>
        <p:spPr/>
        <p:txBody>
          <a:bodyPr/>
          <a:lstStyle/>
          <a:p>
            <a:r>
              <a:rPr lang="en-US" dirty="0"/>
              <a:t>Sorting Documents with sort()</a:t>
            </a:r>
          </a:p>
        </p:txBody>
      </p:sp>
      <p:sp>
        <p:nvSpPr>
          <p:cNvPr id="3" name="Content Placeholder 2">
            <a:extLst>
              <a:ext uri="{FF2B5EF4-FFF2-40B4-BE49-F238E27FC236}">
                <a16:creationId xmlns:a16="http://schemas.microsoft.com/office/drawing/2014/main" id="{195D1D82-CEB1-4A47-83D2-CAB3695D1C9B}"/>
              </a:ext>
            </a:extLst>
          </p:cNvPr>
          <p:cNvSpPr>
            <a:spLocks noGrp="1"/>
          </p:cNvSpPr>
          <p:nvPr>
            <p:ph idx="1"/>
          </p:nvPr>
        </p:nvSpPr>
        <p:spPr/>
        <p:txBody>
          <a:bodyPr>
            <a:normAutofit/>
          </a:bodyPr>
          <a:lstStyle/>
          <a:p>
            <a:r>
              <a:rPr lang="en-US" sz="2200" dirty="0"/>
              <a:t>The sort() method orders the retrieved documents based on the values of one or more keys.</a:t>
            </a:r>
          </a:p>
          <a:p>
            <a:pPr lvl="1"/>
            <a:r>
              <a:rPr lang="en-US" sz="2000" dirty="0"/>
              <a:t>If the key is associated with the value 1, the documents will be sorted on an ascending order;</a:t>
            </a:r>
          </a:p>
          <a:p>
            <a:pPr lvl="1"/>
            <a:r>
              <a:rPr lang="en-US" sz="2000" dirty="0"/>
              <a:t>If the key is associated with the value -1, the documents will be sorted on an descending order;</a:t>
            </a:r>
          </a:p>
          <a:p>
            <a:r>
              <a:rPr lang="en-US" sz="2200" dirty="0"/>
              <a:t>Multiple sort attributes </a:t>
            </a:r>
            <a:r>
              <a:rPr lang="en-US" sz="2200" dirty="0">
                <a:sym typeface="Wingdings" panose="05000000000000000000" pitchFamily="2" charset="2"/>
              </a:rPr>
              <a:t> the results are sorted based on the attributes from left to right.</a:t>
            </a:r>
          </a:p>
        </p:txBody>
      </p:sp>
    </p:spTree>
    <p:extLst>
      <p:ext uri="{BB962C8B-B14F-4D97-AF65-F5344CB8AC3E}">
        <p14:creationId xmlns:p14="http://schemas.microsoft.com/office/powerpoint/2010/main" val="16328423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0ECA-4A1B-4DB4-AE2F-9BB18FAB1108}"/>
              </a:ext>
            </a:extLst>
          </p:cNvPr>
          <p:cNvSpPr>
            <a:spLocks noGrp="1"/>
          </p:cNvSpPr>
          <p:nvPr>
            <p:ph type="title"/>
          </p:nvPr>
        </p:nvSpPr>
        <p:spPr/>
        <p:txBody>
          <a:bodyPr/>
          <a:lstStyle/>
          <a:p>
            <a:r>
              <a:rPr lang="en-US" dirty="0"/>
              <a:t>Sorting Documents with sort()</a:t>
            </a:r>
          </a:p>
        </p:txBody>
      </p:sp>
      <p:sp>
        <p:nvSpPr>
          <p:cNvPr id="3" name="Content Placeholder 2">
            <a:extLst>
              <a:ext uri="{FF2B5EF4-FFF2-40B4-BE49-F238E27FC236}">
                <a16:creationId xmlns:a16="http://schemas.microsoft.com/office/drawing/2014/main" id="{195D1D82-CEB1-4A47-83D2-CAB3695D1C9B}"/>
              </a:ext>
            </a:extLst>
          </p:cNvPr>
          <p:cNvSpPr>
            <a:spLocks noGrp="1"/>
          </p:cNvSpPr>
          <p:nvPr>
            <p:ph idx="1"/>
          </p:nvPr>
        </p:nvSpPr>
        <p:spPr>
          <a:xfrm>
            <a:off x="149289" y="918878"/>
            <a:ext cx="8770776" cy="5555457"/>
          </a:xfrm>
        </p:spPr>
        <p:txBody>
          <a:bodyPr>
            <a:normAutofit/>
          </a:bodyPr>
          <a:lstStyle/>
          <a:p>
            <a:r>
              <a:rPr lang="en-US" sz="2200" dirty="0">
                <a:sym typeface="Wingdings" panose="05000000000000000000" pitchFamily="2" charset="2"/>
              </a:rPr>
              <a:t>Example: retrieve the student patron documents, projects the display name and age, then sorts the results in descending order by age, and then within matching values for age the documents are sorted in ascending order by last name</a:t>
            </a:r>
          </a:p>
          <a:p>
            <a:r>
              <a:rPr lang="en-US" sz="2200" dirty="0">
                <a:sym typeface="Wingdings" panose="05000000000000000000" pitchFamily="2" charset="2"/>
              </a:rPr>
              <a:t>Code: </a:t>
            </a:r>
            <a:r>
              <a:rPr lang="en-US" sz="2400" dirty="0" err="1">
                <a:latin typeface="Times New Roman" panose="02020603050405020304" pitchFamily="18" charset="0"/>
                <a:cs typeface="Times New Roman" panose="02020603050405020304" pitchFamily="18" charset="0"/>
              </a:rPr>
              <a:t>db.patron.find</a:t>
            </a:r>
            <a:r>
              <a:rPr lang="en-US" sz="2400" dirty="0">
                <a:latin typeface="Times New Roman" panose="02020603050405020304" pitchFamily="18" charset="0"/>
                <a:cs typeface="Times New Roman" panose="02020603050405020304" pitchFamily="18" charset="0"/>
              </a:rPr>
              <a:t>({type: "student"}, {display:1, age:1, _id:0}).sort({age: -1, lname:1})</a:t>
            </a: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ACA445D-441C-4C86-9B94-4904A00113C6}"/>
              </a:ext>
            </a:extLst>
          </p:cNvPr>
          <p:cNvPicPr>
            <a:picLocks noChangeAspect="1"/>
          </p:cNvPicPr>
          <p:nvPr/>
        </p:nvPicPr>
        <p:blipFill rotWithShape="1">
          <a:blip r:embed="rId3"/>
          <a:srcRect b="25034"/>
          <a:stretch/>
        </p:blipFill>
        <p:spPr>
          <a:xfrm>
            <a:off x="609602" y="3266839"/>
            <a:ext cx="7924800" cy="3491707"/>
          </a:xfrm>
          <a:prstGeom prst="rect">
            <a:avLst/>
          </a:prstGeom>
        </p:spPr>
      </p:pic>
    </p:spTree>
    <p:extLst>
      <p:ext uri="{BB962C8B-B14F-4D97-AF65-F5344CB8AC3E}">
        <p14:creationId xmlns:p14="http://schemas.microsoft.com/office/powerpoint/2010/main" val="25675521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17460-2F9B-441E-8763-432ED8D1D53A}"/>
              </a:ext>
            </a:extLst>
          </p:cNvPr>
          <p:cNvSpPr>
            <a:spLocks noGrp="1"/>
          </p:cNvSpPr>
          <p:nvPr>
            <p:ph type="title"/>
          </p:nvPr>
        </p:nvSpPr>
        <p:spPr/>
        <p:txBody>
          <a:bodyPr/>
          <a:lstStyle/>
          <a:p>
            <a:r>
              <a:rPr lang="en-US" dirty="0"/>
              <a:t>Orders in Chained Methods</a:t>
            </a:r>
          </a:p>
        </p:txBody>
      </p:sp>
      <p:sp>
        <p:nvSpPr>
          <p:cNvPr id="3" name="Content Placeholder 2">
            <a:extLst>
              <a:ext uri="{FF2B5EF4-FFF2-40B4-BE49-F238E27FC236}">
                <a16:creationId xmlns:a16="http://schemas.microsoft.com/office/drawing/2014/main" id="{1D975873-BC30-4935-A39A-2E0B167A3FF1}"/>
              </a:ext>
            </a:extLst>
          </p:cNvPr>
          <p:cNvSpPr>
            <a:spLocks noGrp="1"/>
          </p:cNvSpPr>
          <p:nvPr>
            <p:ph idx="1"/>
          </p:nvPr>
        </p:nvSpPr>
        <p:spPr/>
        <p:txBody>
          <a:bodyPr>
            <a:normAutofit/>
          </a:bodyPr>
          <a:lstStyle/>
          <a:p>
            <a:r>
              <a:rPr lang="en-US" sz="2200" dirty="0"/>
              <a:t>MongoDB does not care which order the limit(), skip(), and sort() methods are chained after the find() method.</a:t>
            </a:r>
          </a:p>
          <a:p>
            <a:endParaRPr lang="en-US" sz="2200" dirty="0"/>
          </a:p>
          <a:p>
            <a:r>
              <a:rPr lang="en-US" sz="2200" dirty="0"/>
              <a:t>Try the following three commands:</a:t>
            </a:r>
          </a:p>
          <a:p>
            <a:pPr lvl="1"/>
            <a:r>
              <a:rPr lang="en-US" sz="2000" dirty="0" err="1"/>
              <a:t>db.patron.find</a:t>
            </a:r>
            <a:r>
              <a:rPr lang="en-US" sz="2000" dirty="0"/>
              <a:t>({type: "student"}, {display:1, age:1, _id:0}).sort({age: -1}).limit(5).skip(5);</a:t>
            </a:r>
          </a:p>
          <a:p>
            <a:pPr lvl="1"/>
            <a:endParaRPr lang="en-US" sz="2000" dirty="0"/>
          </a:p>
          <a:p>
            <a:pPr lvl="1"/>
            <a:r>
              <a:rPr lang="en-US" sz="2000" dirty="0" err="1"/>
              <a:t>db.patron.find</a:t>
            </a:r>
            <a:r>
              <a:rPr lang="en-US" sz="2000" dirty="0"/>
              <a:t>({type: "student"},{display:1, age:1, _id:0}).limit(5).skip(5).sort({age: -1});</a:t>
            </a:r>
          </a:p>
          <a:p>
            <a:pPr lvl="1"/>
            <a:endParaRPr lang="en-US" sz="2000" dirty="0"/>
          </a:p>
          <a:p>
            <a:pPr lvl="1"/>
            <a:r>
              <a:rPr lang="en-US" sz="2000" dirty="0" err="1"/>
              <a:t>db.patron.find</a:t>
            </a:r>
            <a:r>
              <a:rPr lang="en-US" sz="2000" dirty="0"/>
              <a:t>({type: "student"},{display:1, age:1, _id:0}).limit(5).sort({age: -1}).skip(5);</a:t>
            </a:r>
          </a:p>
          <a:p>
            <a:endParaRPr lang="en-US" sz="2200" dirty="0"/>
          </a:p>
          <a:p>
            <a:r>
              <a:rPr lang="en-US" sz="2200" dirty="0"/>
              <a:t>Did you see the exact same result?</a:t>
            </a:r>
          </a:p>
          <a:p>
            <a:endParaRPr lang="en-US" dirty="0"/>
          </a:p>
          <a:p>
            <a:endParaRPr lang="en-US" dirty="0"/>
          </a:p>
        </p:txBody>
      </p:sp>
    </p:spTree>
    <p:extLst>
      <p:ext uri="{BB962C8B-B14F-4D97-AF65-F5344CB8AC3E}">
        <p14:creationId xmlns:p14="http://schemas.microsoft.com/office/powerpoint/2010/main" val="2665065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1876-FA79-47E1-BC42-DC22135C2E8E}"/>
              </a:ext>
            </a:extLst>
          </p:cNvPr>
          <p:cNvSpPr>
            <a:spLocks noGrp="1"/>
          </p:cNvSpPr>
          <p:nvPr>
            <p:ph type="title"/>
          </p:nvPr>
        </p:nvSpPr>
        <p:spPr>
          <a:xfrm>
            <a:off x="149290" y="276841"/>
            <a:ext cx="6879252" cy="581575"/>
          </a:xfrm>
        </p:spPr>
        <p:txBody>
          <a:bodyPr/>
          <a:lstStyle/>
          <a:p>
            <a:r>
              <a:rPr lang="en-US" dirty="0"/>
              <a:t>Queries Using Inequalities</a:t>
            </a:r>
          </a:p>
        </p:txBody>
      </p:sp>
      <p:sp>
        <p:nvSpPr>
          <p:cNvPr id="3" name="Content Placeholder 2">
            <a:extLst>
              <a:ext uri="{FF2B5EF4-FFF2-40B4-BE49-F238E27FC236}">
                <a16:creationId xmlns:a16="http://schemas.microsoft.com/office/drawing/2014/main" id="{5E995061-730C-41A9-B16D-6EF60441B653}"/>
              </a:ext>
            </a:extLst>
          </p:cNvPr>
          <p:cNvSpPr>
            <a:spLocks noGrp="1"/>
          </p:cNvSpPr>
          <p:nvPr>
            <p:ph idx="1"/>
          </p:nvPr>
        </p:nvSpPr>
        <p:spPr>
          <a:xfrm>
            <a:off x="149289" y="1166018"/>
            <a:ext cx="8770776" cy="5415141"/>
          </a:xfrm>
        </p:spPr>
        <p:txBody>
          <a:bodyPr>
            <a:normAutofit/>
          </a:bodyPr>
          <a:lstStyle/>
          <a:p>
            <a:r>
              <a:rPr lang="en-US" sz="2200" dirty="0"/>
              <a:t>Use functions for inequality comparisons</a:t>
            </a:r>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r>
              <a:rPr lang="en-US" sz="2400" dirty="0"/>
              <a:t>The functions are used as key for a </a:t>
            </a:r>
            <a:r>
              <a:rPr lang="en-US" sz="2400" dirty="0" err="1"/>
              <a:t>key:value</a:t>
            </a:r>
            <a:r>
              <a:rPr lang="en-US" sz="2400" dirty="0"/>
              <a:t> pair. The value is the value that is being applied to the function.</a:t>
            </a:r>
          </a:p>
          <a:p>
            <a:r>
              <a:rPr lang="en-US" sz="2400" dirty="0"/>
              <a:t>Example: </a:t>
            </a:r>
            <a:r>
              <a:rPr lang="en-US" sz="2400" dirty="0">
                <a:latin typeface="Times New Roman" panose="02020603050405020304" pitchFamily="18" charset="0"/>
                <a:cs typeface="Times New Roman" panose="02020603050405020304" pitchFamily="18" charset="0"/>
              </a:rPr>
              <a:t>age:{$gt:20} – age &gt; 20</a:t>
            </a:r>
          </a:p>
          <a:p>
            <a:pPr marL="0" indent="0">
              <a:buNone/>
            </a:pPr>
            <a:r>
              <a:rPr lang="en-US" sz="2400" dirty="0">
                <a:latin typeface="Times New Roman" panose="02020603050405020304" pitchFamily="18" charset="0"/>
                <a:cs typeface="Times New Roman" panose="02020603050405020304" pitchFamily="18" charset="0"/>
              </a:rPr>
              <a:t>                      age:{$lte:30} –</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age </a:t>
            </a:r>
            <a:r>
              <a:rPr lang="en-US" sz="2200" dirty="0">
                <a:latin typeface="Times New Roman" panose="02020603050405020304" pitchFamily="18" charset="0"/>
                <a:cs typeface="Times New Roman" panose="02020603050405020304" pitchFamily="18" charset="0"/>
              </a:rPr>
              <a:t>≤ 30</a:t>
            </a:r>
          </a:p>
        </p:txBody>
      </p:sp>
      <p:graphicFrame>
        <p:nvGraphicFramePr>
          <p:cNvPr id="5" name="Table 4">
            <a:extLst>
              <a:ext uri="{FF2B5EF4-FFF2-40B4-BE49-F238E27FC236}">
                <a16:creationId xmlns:a16="http://schemas.microsoft.com/office/drawing/2014/main" id="{0463AF7D-2455-41C2-B80E-FFCF8D7D6632}"/>
              </a:ext>
            </a:extLst>
          </p:cNvPr>
          <p:cNvGraphicFramePr>
            <a:graphicFrameLocks noGrp="1"/>
          </p:cNvGraphicFramePr>
          <p:nvPr>
            <p:extLst>
              <p:ext uri="{D42A27DB-BD31-4B8C-83A1-F6EECF244321}">
                <p14:modId xmlns:p14="http://schemas.microsoft.com/office/powerpoint/2010/main" val="3139670194"/>
              </p:ext>
            </p:extLst>
          </p:nvPr>
        </p:nvGraphicFramePr>
        <p:xfrm>
          <a:off x="376488" y="1921071"/>
          <a:ext cx="7816042" cy="2560320"/>
        </p:xfrm>
        <a:graphic>
          <a:graphicData uri="http://schemas.openxmlformats.org/drawingml/2006/table">
            <a:tbl>
              <a:tblPr firstRow="1" bandRow="1">
                <a:tableStyleId>{073A0DAA-6AF3-43AB-8588-CEC1D06C72B9}</a:tableStyleId>
              </a:tblPr>
              <a:tblGrid>
                <a:gridCol w="2622574">
                  <a:extLst>
                    <a:ext uri="{9D8B030D-6E8A-4147-A177-3AD203B41FA5}">
                      <a16:colId xmlns:a16="http://schemas.microsoft.com/office/drawing/2014/main" val="2743737195"/>
                    </a:ext>
                  </a:extLst>
                </a:gridCol>
                <a:gridCol w="5193468">
                  <a:extLst>
                    <a:ext uri="{9D8B030D-6E8A-4147-A177-3AD203B41FA5}">
                      <a16:colId xmlns:a16="http://schemas.microsoft.com/office/drawing/2014/main" val="955439099"/>
                    </a:ext>
                  </a:extLst>
                </a:gridCol>
              </a:tblGrid>
              <a:tr h="370840">
                <a:tc>
                  <a:txBody>
                    <a:bodyPr/>
                    <a:lstStyle/>
                    <a:p>
                      <a:r>
                        <a:rPr lang="en-US" sz="2200" dirty="0"/>
                        <a:t>Function</a:t>
                      </a:r>
                      <a:endParaRPr lang="en-US" sz="2200" dirty="0">
                        <a:latin typeface="Arial" panose="020B0604020202020204" pitchFamily="34" charset="0"/>
                        <a:cs typeface="Arial" panose="020B0604020202020204" pitchFamily="34" charset="0"/>
                      </a:endParaRPr>
                    </a:p>
                  </a:txBody>
                  <a:tcPr/>
                </a:tc>
                <a:tc>
                  <a:txBody>
                    <a:bodyPr/>
                    <a:lstStyle/>
                    <a:p>
                      <a:r>
                        <a:rPr lang="en-US" sz="2200" dirty="0"/>
                        <a:t>Description</a:t>
                      </a:r>
                      <a:endParaRPr lang="en-US" sz="2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15720492"/>
                  </a:ext>
                </a:extLst>
              </a:tr>
              <a:tr h="370840">
                <a:tc>
                  <a:txBody>
                    <a:bodyPr/>
                    <a:lstStyle/>
                    <a:p>
                      <a:r>
                        <a:rPr lang="en-US" sz="2200" dirty="0"/>
                        <a:t>$</a:t>
                      </a:r>
                      <a:r>
                        <a:rPr lang="en-US" sz="2200" dirty="0" err="1"/>
                        <a:t>gt</a:t>
                      </a:r>
                      <a:endParaRPr lang="en-US" sz="2200" dirty="0">
                        <a:latin typeface="Arial" panose="020B0604020202020204" pitchFamily="34" charset="0"/>
                        <a:cs typeface="Arial" panose="020B0604020202020204" pitchFamily="34" charset="0"/>
                      </a:endParaRPr>
                    </a:p>
                  </a:txBody>
                  <a:tcPr/>
                </a:tc>
                <a:tc>
                  <a:txBody>
                    <a:bodyPr/>
                    <a:lstStyle/>
                    <a:p>
                      <a:r>
                        <a:rPr lang="en-US" sz="2200" dirty="0"/>
                        <a:t>Greater than “&gt;”</a:t>
                      </a:r>
                      <a:endParaRPr lang="en-US" sz="2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88979279"/>
                  </a:ext>
                </a:extLst>
              </a:tr>
              <a:tr h="370840">
                <a:tc>
                  <a:txBody>
                    <a:bodyPr/>
                    <a:lstStyle/>
                    <a:p>
                      <a:r>
                        <a:rPr lang="en-US" sz="2200" dirty="0"/>
                        <a:t>$</a:t>
                      </a:r>
                      <a:r>
                        <a:rPr lang="en-US" sz="2200" dirty="0" err="1"/>
                        <a:t>gte</a:t>
                      </a:r>
                      <a:endParaRPr lang="en-US" sz="2200" dirty="0">
                        <a:latin typeface="Arial" panose="020B0604020202020204" pitchFamily="34" charset="0"/>
                        <a:cs typeface="Arial" panose="020B0604020202020204" pitchFamily="34" charset="0"/>
                      </a:endParaRPr>
                    </a:p>
                  </a:txBody>
                  <a:tcPr/>
                </a:tc>
                <a:tc>
                  <a:txBody>
                    <a:bodyPr/>
                    <a:lstStyle/>
                    <a:p>
                      <a:r>
                        <a:rPr lang="en-US" sz="2200" dirty="0"/>
                        <a:t>Greater than or equal to “</a:t>
                      </a:r>
                      <a:r>
                        <a:rPr lang="en-US" sz="2200" u="none" strike="noStrike" kern="1200" baseline="0" dirty="0"/>
                        <a:t>≥</a:t>
                      </a:r>
                      <a:r>
                        <a:rPr lang="en-US" sz="2200" dirty="0"/>
                        <a:t>”</a:t>
                      </a:r>
                      <a:endParaRPr lang="en-US" sz="2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61997162"/>
                  </a:ext>
                </a:extLst>
              </a:tr>
              <a:tr h="370840">
                <a:tc>
                  <a:txBody>
                    <a:bodyPr/>
                    <a:lstStyle/>
                    <a:p>
                      <a:r>
                        <a:rPr lang="en-US" sz="2200" dirty="0"/>
                        <a:t>$</a:t>
                      </a:r>
                      <a:r>
                        <a:rPr lang="en-US" sz="2200" dirty="0" err="1"/>
                        <a:t>lt</a:t>
                      </a:r>
                      <a:endParaRPr lang="en-US" sz="2200" dirty="0">
                        <a:latin typeface="Arial" panose="020B0604020202020204" pitchFamily="34" charset="0"/>
                        <a:cs typeface="Arial" panose="020B0604020202020204" pitchFamily="34" charset="0"/>
                      </a:endParaRPr>
                    </a:p>
                  </a:txBody>
                  <a:tcPr/>
                </a:tc>
                <a:tc>
                  <a:txBody>
                    <a:bodyPr/>
                    <a:lstStyle/>
                    <a:p>
                      <a:r>
                        <a:rPr lang="en-US" sz="2200" dirty="0"/>
                        <a:t>Less than “&lt;”</a:t>
                      </a:r>
                      <a:endParaRPr lang="en-US" sz="2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1431870"/>
                  </a:ext>
                </a:extLst>
              </a:tr>
              <a:tr h="370840">
                <a:tc>
                  <a:txBody>
                    <a:bodyPr/>
                    <a:lstStyle/>
                    <a:p>
                      <a:r>
                        <a:rPr lang="en-US" sz="2200" dirty="0"/>
                        <a:t>$</a:t>
                      </a:r>
                      <a:r>
                        <a:rPr lang="en-US" sz="2200" dirty="0" err="1"/>
                        <a:t>lte</a:t>
                      </a:r>
                      <a:endParaRPr lang="en-US" sz="2200" dirty="0">
                        <a:latin typeface="Arial" panose="020B0604020202020204" pitchFamily="34" charset="0"/>
                        <a:cs typeface="Arial" panose="020B0604020202020204" pitchFamily="34" charset="0"/>
                      </a:endParaRPr>
                    </a:p>
                  </a:txBody>
                  <a:tcPr/>
                </a:tc>
                <a:tc>
                  <a:txBody>
                    <a:bodyPr/>
                    <a:lstStyle/>
                    <a:p>
                      <a:r>
                        <a:rPr lang="en-US" sz="2200" dirty="0"/>
                        <a:t>Less than or equal to “</a:t>
                      </a:r>
                      <a:r>
                        <a:rPr lang="en-US" sz="2200" u="none" strike="noStrike" kern="1200" baseline="0" dirty="0"/>
                        <a:t>≤</a:t>
                      </a:r>
                      <a:r>
                        <a:rPr lang="en-US" sz="2200" dirty="0"/>
                        <a:t>”</a:t>
                      </a:r>
                      <a:endParaRPr lang="en-US" sz="2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35201591"/>
                  </a:ext>
                </a:extLst>
              </a:tr>
              <a:tr h="370840">
                <a:tc>
                  <a:txBody>
                    <a:bodyPr/>
                    <a:lstStyle/>
                    <a:p>
                      <a:r>
                        <a:rPr lang="en-US" sz="2200" dirty="0"/>
                        <a:t>$ne</a:t>
                      </a:r>
                      <a:endParaRPr lang="en-US" sz="2200" dirty="0">
                        <a:latin typeface="Arial" panose="020B0604020202020204" pitchFamily="34" charset="0"/>
                        <a:cs typeface="Arial" panose="020B0604020202020204" pitchFamily="34" charset="0"/>
                      </a:endParaRPr>
                    </a:p>
                  </a:txBody>
                  <a:tcPr/>
                </a:tc>
                <a:tc>
                  <a:txBody>
                    <a:bodyPr/>
                    <a:lstStyle/>
                    <a:p>
                      <a:r>
                        <a:rPr lang="en-US" sz="2200" dirty="0"/>
                        <a:t>Not equal “</a:t>
                      </a:r>
                      <a:r>
                        <a:rPr lang="en-US" sz="2200" u="none" strike="noStrike" kern="1200" baseline="0" dirty="0"/>
                        <a:t>≠</a:t>
                      </a:r>
                      <a:r>
                        <a:rPr lang="en-US" sz="2200" dirty="0"/>
                        <a:t>”</a:t>
                      </a:r>
                      <a:endParaRPr lang="en-US" sz="2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08001229"/>
                  </a:ext>
                </a:extLst>
              </a:tr>
            </a:tbl>
          </a:graphicData>
        </a:graphic>
      </p:graphicFrame>
    </p:spTree>
    <p:extLst>
      <p:ext uri="{BB962C8B-B14F-4D97-AF65-F5344CB8AC3E}">
        <p14:creationId xmlns:p14="http://schemas.microsoft.com/office/powerpoint/2010/main" val="35025231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2D11-8D9D-40F4-BEA0-DC06E183CD4E}"/>
              </a:ext>
            </a:extLst>
          </p:cNvPr>
          <p:cNvSpPr>
            <a:spLocks noGrp="1"/>
          </p:cNvSpPr>
          <p:nvPr>
            <p:ph type="title"/>
          </p:nvPr>
        </p:nvSpPr>
        <p:spPr/>
        <p:txBody>
          <a:bodyPr/>
          <a:lstStyle/>
          <a:p>
            <a:r>
              <a:rPr lang="en-US" dirty="0"/>
              <a:t>Queries Using Inequalities</a:t>
            </a:r>
          </a:p>
        </p:txBody>
      </p:sp>
      <p:sp>
        <p:nvSpPr>
          <p:cNvPr id="3" name="Content Placeholder 2">
            <a:extLst>
              <a:ext uri="{FF2B5EF4-FFF2-40B4-BE49-F238E27FC236}">
                <a16:creationId xmlns:a16="http://schemas.microsoft.com/office/drawing/2014/main" id="{28E6B50D-E03B-409C-BB33-9C9CD233FA0F}"/>
              </a:ext>
            </a:extLst>
          </p:cNvPr>
          <p:cNvSpPr>
            <a:spLocks noGrp="1"/>
          </p:cNvSpPr>
          <p:nvPr>
            <p:ph idx="1"/>
          </p:nvPr>
        </p:nvSpPr>
        <p:spPr>
          <a:xfrm>
            <a:off x="149289" y="1166018"/>
            <a:ext cx="8770776" cy="1391831"/>
          </a:xfrm>
        </p:spPr>
        <p:txBody>
          <a:bodyPr>
            <a:normAutofit/>
          </a:bodyPr>
          <a:lstStyle/>
          <a:p>
            <a:r>
              <a:rPr lang="en-US" sz="2200" dirty="0"/>
              <a:t>Example: retrieve the display name and age from documents for patrons that are age 30 or less</a:t>
            </a:r>
          </a:p>
          <a:p>
            <a:r>
              <a:rPr lang="en-US" sz="2200" dirty="0" err="1"/>
              <a:t>db.patron.find</a:t>
            </a:r>
            <a:r>
              <a:rPr lang="en-US" sz="2200" dirty="0"/>
              <a:t>({age: {$lte:30} }, {display:1, age:1}).sort({age: -1});</a:t>
            </a:r>
          </a:p>
        </p:txBody>
      </p:sp>
      <p:pic>
        <p:nvPicPr>
          <p:cNvPr id="4" name="Picture 3">
            <a:extLst>
              <a:ext uri="{FF2B5EF4-FFF2-40B4-BE49-F238E27FC236}">
                <a16:creationId xmlns:a16="http://schemas.microsoft.com/office/drawing/2014/main" id="{D9249B80-E195-4FFD-9A56-DF1D18797594}"/>
              </a:ext>
            </a:extLst>
          </p:cNvPr>
          <p:cNvPicPr>
            <a:picLocks noChangeAspect="1"/>
          </p:cNvPicPr>
          <p:nvPr/>
        </p:nvPicPr>
        <p:blipFill rotWithShape="1">
          <a:blip r:embed="rId3"/>
          <a:srcRect b="37032"/>
          <a:stretch/>
        </p:blipFill>
        <p:spPr>
          <a:xfrm>
            <a:off x="413699" y="2629801"/>
            <a:ext cx="8457284" cy="3635075"/>
          </a:xfrm>
          <a:prstGeom prst="rect">
            <a:avLst/>
          </a:prstGeom>
        </p:spPr>
      </p:pic>
    </p:spTree>
    <p:extLst>
      <p:ext uri="{BB962C8B-B14F-4D97-AF65-F5344CB8AC3E}">
        <p14:creationId xmlns:p14="http://schemas.microsoft.com/office/powerpoint/2010/main" val="35606575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E91E6-AA5F-46C4-9794-5A5E339E8CDF}"/>
              </a:ext>
            </a:extLst>
          </p:cNvPr>
          <p:cNvSpPr>
            <a:spLocks noGrp="1"/>
          </p:cNvSpPr>
          <p:nvPr>
            <p:ph type="title"/>
          </p:nvPr>
        </p:nvSpPr>
        <p:spPr/>
        <p:txBody>
          <a:bodyPr>
            <a:normAutofit/>
          </a:bodyPr>
          <a:lstStyle/>
          <a:p>
            <a:r>
              <a:rPr lang="en-US" dirty="0"/>
              <a:t>Combining Criteria: Implicit </a:t>
            </a:r>
            <a:r>
              <a:rPr lang="en-US" i="1" dirty="0"/>
              <a:t>and</a:t>
            </a:r>
          </a:p>
        </p:txBody>
      </p:sp>
      <p:sp>
        <p:nvSpPr>
          <p:cNvPr id="3" name="Content Placeholder 2">
            <a:extLst>
              <a:ext uri="{FF2B5EF4-FFF2-40B4-BE49-F238E27FC236}">
                <a16:creationId xmlns:a16="http://schemas.microsoft.com/office/drawing/2014/main" id="{B46E5DD3-0104-4256-B2C1-417BA844B7CA}"/>
              </a:ext>
            </a:extLst>
          </p:cNvPr>
          <p:cNvSpPr>
            <a:spLocks noGrp="1"/>
          </p:cNvSpPr>
          <p:nvPr>
            <p:ph idx="1"/>
          </p:nvPr>
        </p:nvSpPr>
        <p:spPr>
          <a:xfrm>
            <a:off x="149289" y="1166018"/>
            <a:ext cx="8770776" cy="2837571"/>
          </a:xfrm>
        </p:spPr>
        <p:txBody>
          <a:bodyPr>
            <a:normAutofit/>
          </a:bodyPr>
          <a:lstStyle/>
          <a:p>
            <a:r>
              <a:rPr lang="en-US" sz="2200" b="1" dirty="0"/>
              <a:t>Implicit </a:t>
            </a:r>
            <a:r>
              <a:rPr lang="en-US" sz="2200" b="1" i="1" dirty="0"/>
              <a:t>and</a:t>
            </a:r>
            <a:r>
              <a:rPr lang="en-US" sz="2200" b="1" dirty="0"/>
              <a:t>: </a:t>
            </a:r>
            <a:r>
              <a:rPr lang="en-US" sz="2200" dirty="0"/>
              <a:t>In MongoDB, the combining of multiple criteria with a logical AND connector by separating the criteria with commas.</a:t>
            </a:r>
          </a:p>
          <a:p>
            <a:r>
              <a:rPr lang="en-US" sz="2200" dirty="0"/>
              <a:t>Example: </a:t>
            </a:r>
            <a:r>
              <a:rPr lang="en-US" sz="2400" dirty="0"/>
              <a:t>find the patrons who are under 21 years of age and have checked out a book published in 2017</a:t>
            </a:r>
          </a:p>
          <a:p>
            <a:r>
              <a:rPr lang="en-US" sz="2400" dirty="0"/>
              <a:t>Code: </a:t>
            </a:r>
          </a:p>
          <a:p>
            <a:pPr marL="0" indent="0" algn="ctr">
              <a:buNone/>
            </a:pPr>
            <a:r>
              <a:rPr lang="en-US" sz="2400" dirty="0" err="1">
                <a:latin typeface="Times New Roman" panose="02020603050405020304" pitchFamily="18" charset="0"/>
                <a:cs typeface="Times New Roman" panose="02020603050405020304" pitchFamily="18" charset="0"/>
              </a:rPr>
              <a:t>db.patron.find</a:t>
            </a:r>
            <a:r>
              <a:rPr lang="en-US" sz="2400" dirty="0">
                <a:latin typeface="Times New Roman" panose="02020603050405020304" pitchFamily="18" charset="0"/>
                <a:cs typeface="Times New Roman" panose="02020603050405020304" pitchFamily="18" charset="0"/>
              </a:rPr>
              <a:t>({age: {$lt:21}, "checkouts.pubyear":2017}).pretty()</a:t>
            </a: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25AB1DB-2CBB-4732-83D8-05BB600619BB}"/>
              </a:ext>
            </a:extLst>
          </p:cNvPr>
          <p:cNvPicPr>
            <a:picLocks noChangeAspect="1"/>
          </p:cNvPicPr>
          <p:nvPr/>
        </p:nvPicPr>
        <p:blipFill>
          <a:blip r:embed="rId3"/>
          <a:stretch>
            <a:fillRect/>
          </a:stretch>
        </p:blipFill>
        <p:spPr>
          <a:xfrm>
            <a:off x="2338653" y="3632885"/>
            <a:ext cx="5177348" cy="3126258"/>
          </a:xfrm>
          <a:prstGeom prst="rect">
            <a:avLst/>
          </a:prstGeom>
        </p:spPr>
      </p:pic>
    </p:spTree>
    <p:extLst>
      <p:ext uri="{BB962C8B-B14F-4D97-AF65-F5344CB8AC3E}">
        <p14:creationId xmlns:p14="http://schemas.microsoft.com/office/powerpoint/2010/main" val="21895764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4099-28DC-48AF-A1EF-E09D8A34A53B}"/>
              </a:ext>
            </a:extLst>
          </p:cNvPr>
          <p:cNvSpPr>
            <a:spLocks noGrp="1"/>
          </p:cNvSpPr>
          <p:nvPr>
            <p:ph type="title"/>
          </p:nvPr>
        </p:nvSpPr>
        <p:spPr/>
        <p:txBody>
          <a:bodyPr/>
          <a:lstStyle/>
          <a:p>
            <a:r>
              <a:rPr lang="en-US" dirty="0"/>
              <a:t>Combining Criteria: Explicit </a:t>
            </a:r>
            <a:r>
              <a:rPr lang="en-US" i="1" dirty="0"/>
              <a:t>and</a:t>
            </a:r>
            <a:endParaRPr lang="en-US" dirty="0"/>
          </a:p>
        </p:txBody>
      </p:sp>
      <p:sp>
        <p:nvSpPr>
          <p:cNvPr id="3" name="Content Placeholder 2">
            <a:extLst>
              <a:ext uri="{FF2B5EF4-FFF2-40B4-BE49-F238E27FC236}">
                <a16:creationId xmlns:a16="http://schemas.microsoft.com/office/drawing/2014/main" id="{7E018B0B-EE6B-42BB-BF6B-4A33ED351DAD}"/>
              </a:ext>
            </a:extLst>
          </p:cNvPr>
          <p:cNvSpPr>
            <a:spLocks noGrp="1"/>
          </p:cNvSpPr>
          <p:nvPr>
            <p:ph idx="1"/>
          </p:nvPr>
        </p:nvSpPr>
        <p:spPr>
          <a:xfrm>
            <a:off x="149289" y="1077119"/>
            <a:ext cx="8770776" cy="2364582"/>
          </a:xfrm>
        </p:spPr>
        <p:txBody>
          <a:bodyPr>
            <a:normAutofit/>
          </a:bodyPr>
          <a:lstStyle/>
          <a:p>
            <a:r>
              <a:rPr lang="en-US" sz="2200" dirty="0"/>
              <a:t>Explicit </a:t>
            </a:r>
            <a:r>
              <a:rPr lang="en-US" sz="2200" i="1" dirty="0"/>
              <a:t>and</a:t>
            </a:r>
            <a:r>
              <a:rPr lang="en-US" sz="2200" dirty="0"/>
              <a:t>: In MongoDB, the combining of multiple criteria with a logical AND connector through the use of the $and operator.</a:t>
            </a:r>
          </a:p>
          <a:p>
            <a:r>
              <a:rPr lang="en-US" sz="2200" dirty="0"/>
              <a:t>Syntax: </a:t>
            </a:r>
            <a:r>
              <a:rPr lang="en-US" sz="2200" dirty="0">
                <a:latin typeface="Times New Roman" panose="02020603050405020304" pitchFamily="18" charset="0"/>
                <a:cs typeface="Times New Roman" panose="02020603050405020304" pitchFamily="18" charset="0"/>
              </a:rPr>
              <a:t>$and: [{x}, {y}] </a:t>
            </a:r>
            <a:r>
              <a:rPr lang="en-US" sz="2200" dirty="0"/>
              <a:t>(</a:t>
            </a:r>
            <a:r>
              <a:rPr lang="en-US" sz="2400" i="1" dirty="0"/>
              <a:t>x and y are criteria</a:t>
            </a:r>
            <a:r>
              <a:rPr lang="en-US" sz="2200" dirty="0"/>
              <a:t>)</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({$and: [{type: "student"}, {age: {$</a:t>
            </a:r>
            <a:r>
              <a:rPr lang="en-US" sz="2200" dirty="0" err="1">
                <a:latin typeface="Times New Roman" panose="02020603050405020304" pitchFamily="18" charset="0"/>
                <a:cs typeface="Times New Roman" panose="02020603050405020304" pitchFamily="18" charset="0"/>
              </a:rPr>
              <a:t>gte</a:t>
            </a:r>
            <a:r>
              <a:rPr lang="en-US" sz="2200" dirty="0">
                <a:latin typeface="Times New Roman" panose="02020603050405020304" pitchFamily="18" charset="0"/>
                <a:cs typeface="Times New Roman" panose="02020603050405020304" pitchFamily="18" charset="0"/>
              </a:rPr>
              <a:t>: 27}}, {"</a:t>
            </a:r>
            <a:r>
              <a:rPr lang="en-US" sz="2200" dirty="0" err="1">
                <a:latin typeface="Times New Roman" panose="02020603050405020304" pitchFamily="18" charset="0"/>
                <a:cs typeface="Times New Roman" panose="02020603050405020304" pitchFamily="18" charset="0"/>
              </a:rPr>
              <a:t>checkouts.subject</a:t>
            </a:r>
            <a:r>
              <a:rPr lang="en-US" sz="2200" dirty="0">
                <a:latin typeface="Times New Roman" panose="02020603050405020304" pitchFamily="18" charset="0"/>
                <a:cs typeface="Times New Roman" panose="02020603050405020304" pitchFamily="18" charset="0"/>
              </a:rPr>
              <a:t>": "database"}]}, {display: 1, checkouts:1, _id: 0}).pretty();</a:t>
            </a:r>
          </a:p>
          <a:p>
            <a:endParaRPr lang="en-US" sz="2200" dirty="0"/>
          </a:p>
          <a:p>
            <a:endParaRPr lang="en-US" sz="2200" dirty="0"/>
          </a:p>
        </p:txBody>
      </p:sp>
      <p:pic>
        <p:nvPicPr>
          <p:cNvPr id="4" name="Picture 3">
            <a:extLst>
              <a:ext uri="{FF2B5EF4-FFF2-40B4-BE49-F238E27FC236}">
                <a16:creationId xmlns:a16="http://schemas.microsoft.com/office/drawing/2014/main" id="{E4501199-6B51-4C06-A883-CC86AD964272}"/>
              </a:ext>
            </a:extLst>
          </p:cNvPr>
          <p:cNvPicPr>
            <a:picLocks noChangeAspect="1"/>
          </p:cNvPicPr>
          <p:nvPr/>
        </p:nvPicPr>
        <p:blipFill>
          <a:blip r:embed="rId3"/>
          <a:stretch>
            <a:fillRect/>
          </a:stretch>
        </p:blipFill>
        <p:spPr>
          <a:xfrm>
            <a:off x="114300" y="3483162"/>
            <a:ext cx="8920065" cy="3169150"/>
          </a:xfrm>
          <a:prstGeom prst="rect">
            <a:avLst/>
          </a:prstGeom>
        </p:spPr>
      </p:pic>
    </p:spTree>
    <p:extLst>
      <p:ext uri="{BB962C8B-B14F-4D97-AF65-F5344CB8AC3E}">
        <p14:creationId xmlns:p14="http://schemas.microsoft.com/office/powerpoint/2010/main" val="576591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E64D-DFDB-4E20-80ED-1FCDD8291122}"/>
              </a:ext>
            </a:extLst>
          </p:cNvPr>
          <p:cNvSpPr>
            <a:spLocks noGrp="1"/>
          </p:cNvSpPr>
          <p:nvPr>
            <p:ph type="title"/>
          </p:nvPr>
        </p:nvSpPr>
        <p:spPr/>
        <p:txBody>
          <a:bodyPr/>
          <a:lstStyle/>
          <a:p>
            <a:r>
              <a:rPr lang="en-US" dirty="0"/>
              <a:t>Combining Criteria: Logical </a:t>
            </a:r>
            <a:r>
              <a:rPr lang="en-US" i="1" dirty="0"/>
              <a:t>or</a:t>
            </a:r>
          </a:p>
        </p:txBody>
      </p:sp>
      <p:sp>
        <p:nvSpPr>
          <p:cNvPr id="3" name="Content Placeholder 2">
            <a:extLst>
              <a:ext uri="{FF2B5EF4-FFF2-40B4-BE49-F238E27FC236}">
                <a16:creationId xmlns:a16="http://schemas.microsoft.com/office/drawing/2014/main" id="{C3C2D049-4592-4DEF-B453-56C782A94A76}"/>
              </a:ext>
            </a:extLst>
          </p:cNvPr>
          <p:cNvSpPr>
            <a:spLocks noGrp="1"/>
          </p:cNvSpPr>
          <p:nvPr>
            <p:ph idx="1"/>
          </p:nvPr>
        </p:nvSpPr>
        <p:spPr>
          <a:xfrm>
            <a:off x="149289" y="1166019"/>
            <a:ext cx="8770776" cy="2758282"/>
          </a:xfrm>
        </p:spPr>
        <p:txBody>
          <a:bodyPr/>
          <a:lstStyle/>
          <a:p>
            <a:r>
              <a:rPr lang="en-US" sz="2200" dirty="0"/>
              <a:t>All logical </a:t>
            </a:r>
            <a:r>
              <a:rPr lang="en-US" sz="2200" i="1" dirty="0"/>
              <a:t>or </a:t>
            </a:r>
            <a:r>
              <a:rPr lang="en-US" sz="2200" dirty="0"/>
              <a:t>operations are explicit.</a:t>
            </a:r>
          </a:p>
          <a:p>
            <a:r>
              <a:rPr lang="en-US" sz="2200" dirty="0"/>
              <a:t>Syntax: </a:t>
            </a:r>
            <a:r>
              <a:rPr lang="en-US" sz="2200" dirty="0">
                <a:latin typeface="Times New Roman" panose="02020603050405020304" pitchFamily="18" charset="0"/>
                <a:cs typeface="Times New Roman" panose="02020603050405020304" pitchFamily="18" charset="0"/>
              </a:rPr>
              <a:t>$or: [{x}, {y}] </a:t>
            </a:r>
            <a:r>
              <a:rPr lang="en-US" sz="2200" dirty="0"/>
              <a:t>(</a:t>
            </a:r>
            <a:r>
              <a:rPr lang="en-US" sz="2200" i="1" dirty="0"/>
              <a:t>x and y are criteria</a:t>
            </a:r>
            <a:r>
              <a:rPr lang="en-US" sz="2200" dirty="0"/>
              <a:t>)</a:t>
            </a:r>
          </a:p>
          <a:p>
            <a:r>
              <a:rPr lang="en-US" sz="2200" dirty="0"/>
              <a:t>Example: retrieve documents that are for faculty or for students over 30 years of age. Only the display name, type, and age will be displayed with the results sorted by age</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({$or: [{type: "faculty"}, {age: {$gt:30}}]}, {display:1, type:1, age: 1, _id:0}).sort({age:1});</a:t>
            </a:r>
          </a:p>
          <a:p>
            <a:endParaRPr lang="en-US" dirty="0"/>
          </a:p>
        </p:txBody>
      </p:sp>
      <p:pic>
        <p:nvPicPr>
          <p:cNvPr id="4" name="Picture 3">
            <a:extLst>
              <a:ext uri="{FF2B5EF4-FFF2-40B4-BE49-F238E27FC236}">
                <a16:creationId xmlns:a16="http://schemas.microsoft.com/office/drawing/2014/main" id="{8632E11A-2BBC-4B93-9711-881D64322788}"/>
              </a:ext>
            </a:extLst>
          </p:cNvPr>
          <p:cNvPicPr>
            <a:picLocks noChangeAspect="1"/>
          </p:cNvPicPr>
          <p:nvPr/>
        </p:nvPicPr>
        <p:blipFill rotWithShape="1">
          <a:blip r:embed="rId3"/>
          <a:srcRect b="29146"/>
          <a:stretch/>
        </p:blipFill>
        <p:spPr>
          <a:xfrm>
            <a:off x="73090" y="3963681"/>
            <a:ext cx="8994710" cy="2459894"/>
          </a:xfrm>
          <a:prstGeom prst="rect">
            <a:avLst/>
          </a:prstGeom>
        </p:spPr>
      </p:pic>
    </p:spTree>
    <p:extLst>
      <p:ext uri="{BB962C8B-B14F-4D97-AF65-F5344CB8AC3E}">
        <p14:creationId xmlns:p14="http://schemas.microsoft.com/office/powerpoint/2010/main" val="3630468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5F1C-E0C3-4BC8-8289-1C2207A03666}"/>
              </a:ext>
            </a:extLst>
          </p:cNvPr>
          <p:cNvSpPr>
            <a:spLocks noGrp="1"/>
          </p:cNvSpPr>
          <p:nvPr>
            <p:ph type="title"/>
          </p:nvPr>
        </p:nvSpPr>
        <p:spPr>
          <a:xfrm>
            <a:off x="149290" y="276841"/>
            <a:ext cx="6879252" cy="581575"/>
          </a:xfrm>
        </p:spPr>
        <p:txBody>
          <a:bodyPr>
            <a:normAutofit fontScale="90000"/>
          </a:bodyPr>
          <a:lstStyle/>
          <a:p>
            <a:r>
              <a:rPr lang="en-US" dirty="0"/>
              <a:t>Breaking Down the Complex Query</a:t>
            </a:r>
          </a:p>
        </p:txBody>
      </p:sp>
      <p:sp>
        <p:nvSpPr>
          <p:cNvPr id="3" name="Content Placeholder 2">
            <a:extLst>
              <a:ext uri="{FF2B5EF4-FFF2-40B4-BE49-F238E27FC236}">
                <a16:creationId xmlns:a16="http://schemas.microsoft.com/office/drawing/2014/main" id="{6D79093F-108F-4DF4-B751-1472BF592468}"/>
              </a:ext>
            </a:extLst>
          </p:cNvPr>
          <p:cNvSpPr>
            <a:spLocks noGrp="1"/>
          </p:cNvSpPr>
          <p:nvPr>
            <p:ph idx="1"/>
          </p:nvPr>
        </p:nvSpPr>
        <p:spPr>
          <a:xfrm>
            <a:off x="492189" y="2588418"/>
            <a:ext cx="7889811" cy="3405982"/>
          </a:xfrm>
        </p:spPr>
        <p:txBody>
          <a:bodyPr>
            <a:normAutofit/>
          </a:bodyPr>
          <a:lstStyle/>
          <a:p>
            <a:pPr marL="0" indent="0">
              <a:spcAft>
                <a:spcPts val="1200"/>
              </a:spcAft>
              <a:buNone/>
            </a:pPr>
            <a:r>
              <a:rPr lang="en-US" sz="2400" dirty="0" err="1">
                <a:latin typeface="Times New Roman" panose="02020603050405020304" pitchFamily="18" charset="0"/>
                <a:cs typeface="Times New Roman" panose="02020603050405020304" pitchFamily="18" charset="0"/>
              </a:rPr>
              <a:t>db.patron.find</a:t>
            </a:r>
            <a:r>
              <a:rPr lang="en-US" sz="2400" dirty="0">
                <a:latin typeface="Times New Roman" panose="02020603050405020304" pitchFamily="18" charset="0"/>
                <a:cs typeface="Times New Roman" panose="02020603050405020304" pitchFamily="18" charset="0"/>
              </a:rPr>
              <a:t>({$or: [</a:t>
            </a:r>
          </a:p>
          <a:p>
            <a:pPr marL="400050" lvl="1" indent="0">
              <a:spcAft>
                <a:spcPts val="1200"/>
              </a:spcAft>
              <a:buNone/>
            </a:pPr>
            <a:r>
              <a:rPr lang="en-US" dirty="0">
                <a:latin typeface="Times New Roman" panose="02020603050405020304" pitchFamily="18" charset="0"/>
                <a:cs typeface="Times New Roman" panose="02020603050405020304" pitchFamily="18" charset="0"/>
              </a:rPr>
              <a:t>                                {type: "faculty"}, {age: {$gt:30}}</a:t>
            </a:r>
          </a:p>
          <a:p>
            <a:pPr marL="400050" lvl="1" indent="0">
              <a:spcAft>
                <a:spcPts val="1200"/>
              </a:spcAft>
              <a:buNone/>
            </a:pPr>
            <a:r>
              <a:rPr lang="en-US" dirty="0">
                <a:latin typeface="Times New Roman" panose="02020603050405020304" pitchFamily="18" charset="0"/>
                <a:cs typeface="Times New Roman" panose="02020603050405020304" pitchFamily="18" charset="0"/>
              </a:rPr>
              <a:t>                             ]}, </a:t>
            </a:r>
          </a:p>
          <a:p>
            <a:pPr marL="400050" lvl="1" indent="0">
              <a:spcAft>
                <a:spcPts val="1200"/>
              </a:spcAft>
              <a:buNone/>
            </a:pPr>
            <a:r>
              <a:rPr lang="en-US" dirty="0">
                <a:latin typeface="Times New Roman" panose="02020603050405020304" pitchFamily="18" charset="0"/>
                <a:cs typeface="Times New Roman" panose="02020603050405020304" pitchFamily="18" charset="0"/>
              </a:rPr>
              <a:t>                    {display:1, type:1, age: 1, _id:0}).sort({age:1})</a:t>
            </a:r>
            <a:endParaRPr lang="en-US" dirty="0"/>
          </a:p>
        </p:txBody>
      </p:sp>
      <p:sp>
        <p:nvSpPr>
          <p:cNvPr id="5" name="Rectangle 4">
            <a:extLst>
              <a:ext uri="{FF2B5EF4-FFF2-40B4-BE49-F238E27FC236}">
                <a16:creationId xmlns:a16="http://schemas.microsoft.com/office/drawing/2014/main" id="{5059373C-5668-4397-9A11-6991CE5CD5E0}"/>
              </a:ext>
            </a:extLst>
          </p:cNvPr>
          <p:cNvSpPr/>
          <p:nvPr/>
        </p:nvSpPr>
        <p:spPr>
          <a:xfrm>
            <a:off x="2413000" y="2588420"/>
            <a:ext cx="5257800" cy="1632866"/>
          </a:xfrm>
          <a:prstGeom prst="rect">
            <a:avLst/>
          </a:prstGeom>
          <a:noFill/>
          <a:ln w="38100">
            <a:solidFill>
              <a:srgbClr val="EA6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1FCCBB-1F6F-4B8B-8B48-DC26E0D449F3}"/>
              </a:ext>
            </a:extLst>
          </p:cNvPr>
          <p:cNvSpPr txBox="1"/>
          <p:nvPr/>
        </p:nvSpPr>
        <p:spPr>
          <a:xfrm>
            <a:off x="4064000" y="2029618"/>
            <a:ext cx="2311400" cy="461665"/>
          </a:xfrm>
          <a:prstGeom prst="rect">
            <a:avLst/>
          </a:prstGeom>
          <a:noFill/>
        </p:spPr>
        <p:txBody>
          <a:bodyPr wrap="square" rtlCol="0">
            <a:spAutoFit/>
          </a:bodyPr>
          <a:lstStyle/>
          <a:p>
            <a:r>
              <a:rPr lang="en-US" sz="2400" dirty="0">
                <a:solidFill>
                  <a:srgbClr val="EA6A20"/>
                </a:solidFill>
                <a:latin typeface="Arial" panose="020B0604020202020204" pitchFamily="34" charset="0"/>
                <a:cs typeface="Arial" panose="020B0604020202020204" pitchFamily="34" charset="0"/>
              </a:rPr>
              <a:t>query object</a:t>
            </a:r>
          </a:p>
        </p:txBody>
      </p:sp>
      <p:sp>
        <p:nvSpPr>
          <p:cNvPr id="7" name="Rectangle 6">
            <a:extLst>
              <a:ext uri="{FF2B5EF4-FFF2-40B4-BE49-F238E27FC236}">
                <a16:creationId xmlns:a16="http://schemas.microsoft.com/office/drawing/2014/main" id="{05983760-3FD5-47B8-8727-358967955C16}"/>
              </a:ext>
            </a:extLst>
          </p:cNvPr>
          <p:cNvSpPr/>
          <p:nvPr/>
        </p:nvSpPr>
        <p:spPr>
          <a:xfrm>
            <a:off x="2413000" y="4348707"/>
            <a:ext cx="4076700" cy="528093"/>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10CE3B3-1482-466C-9B2A-4B941FEC5656}"/>
              </a:ext>
            </a:extLst>
          </p:cNvPr>
          <p:cNvSpPr txBox="1"/>
          <p:nvPr/>
        </p:nvSpPr>
        <p:spPr>
          <a:xfrm>
            <a:off x="3588916" y="4971553"/>
            <a:ext cx="2786484" cy="461665"/>
          </a:xfrm>
          <a:prstGeom prst="rect">
            <a:avLst/>
          </a:prstGeom>
          <a:noFill/>
        </p:spPr>
        <p:txBody>
          <a:bodyPr wrap="square" rtlCol="0">
            <a:spAutoFit/>
          </a:bodyPr>
          <a:lstStyle/>
          <a:p>
            <a:r>
              <a:rPr lang="en-US" sz="2400" dirty="0">
                <a:solidFill>
                  <a:srgbClr val="522D80"/>
                </a:solidFill>
                <a:latin typeface="Arial" panose="020B0604020202020204" pitchFamily="34" charset="0"/>
                <a:cs typeface="Arial" panose="020B0604020202020204" pitchFamily="34" charset="0"/>
              </a:rPr>
              <a:t>projection object</a:t>
            </a:r>
          </a:p>
        </p:txBody>
      </p:sp>
      <p:sp>
        <p:nvSpPr>
          <p:cNvPr id="9" name="Oval 8">
            <a:extLst>
              <a:ext uri="{FF2B5EF4-FFF2-40B4-BE49-F238E27FC236}">
                <a16:creationId xmlns:a16="http://schemas.microsoft.com/office/drawing/2014/main" id="{F11E7FD3-8565-4EC4-B4DF-D8B36B7078BE}"/>
              </a:ext>
            </a:extLst>
          </p:cNvPr>
          <p:cNvSpPr/>
          <p:nvPr/>
        </p:nvSpPr>
        <p:spPr>
          <a:xfrm>
            <a:off x="2552700" y="2491283"/>
            <a:ext cx="495300" cy="581575"/>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1F72FC3-E17E-46A5-8988-3C0589B53D66}"/>
              </a:ext>
            </a:extLst>
          </p:cNvPr>
          <p:cNvSpPr txBox="1"/>
          <p:nvPr/>
        </p:nvSpPr>
        <p:spPr>
          <a:xfrm>
            <a:off x="2413000" y="1965907"/>
            <a:ext cx="1054100" cy="461665"/>
          </a:xfrm>
          <a:prstGeom prst="rect">
            <a:avLst/>
          </a:prstGeom>
          <a:noFill/>
        </p:spPr>
        <p:txBody>
          <a:bodyPr wrap="square" rtlCol="0">
            <a:spAutoFit/>
          </a:bodyPr>
          <a:lstStyle/>
          <a:p>
            <a:r>
              <a:rPr lang="en-US" sz="2400" dirty="0">
                <a:solidFill>
                  <a:srgbClr val="FF0000"/>
                </a:solidFill>
                <a:latin typeface="Arial" panose="020B0604020202020204" pitchFamily="34" charset="0"/>
                <a:cs typeface="Arial" panose="020B0604020202020204" pitchFamily="34" charset="0"/>
              </a:rPr>
              <a:t>key</a:t>
            </a:r>
          </a:p>
        </p:txBody>
      </p:sp>
      <p:sp>
        <p:nvSpPr>
          <p:cNvPr id="11" name="Oval 10">
            <a:extLst>
              <a:ext uri="{FF2B5EF4-FFF2-40B4-BE49-F238E27FC236}">
                <a16:creationId xmlns:a16="http://schemas.microsoft.com/office/drawing/2014/main" id="{8765AD79-4EC9-4AFE-98DA-DEB46028FF66}"/>
              </a:ext>
            </a:extLst>
          </p:cNvPr>
          <p:cNvSpPr/>
          <p:nvPr/>
        </p:nvSpPr>
        <p:spPr>
          <a:xfrm>
            <a:off x="3341266" y="3138212"/>
            <a:ext cx="4215234" cy="581575"/>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AC5172D-1EFA-4033-AF6B-3384AAF9E834}"/>
              </a:ext>
            </a:extLst>
          </p:cNvPr>
          <p:cNvSpPr txBox="1"/>
          <p:nvPr/>
        </p:nvSpPr>
        <p:spPr>
          <a:xfrm>
            <a:off x="3588916" y="3662485"/>
            <a:ext cx="4216400" cy="461665"/>
          </a:xfrm>
          <a:prstGeom prst="rect">
            <a:avLst/>
          </a:prstGeom>
          <a:noFill/>
        </p:spPr>
        <p:txBody>
          <a:bodyPr wrap="square" rtlCol="0">
            <a:spAutoFit/>
          </a:bodyPr>
          <a:lstStyle/>
          <a:p>
            <a:r>
              <a:rPr lang="en-US" sz="2400" dirty="0">
                <a:solidFill>
                  <a:srgbClr val="FF0000"/>
                </a:solidFill>
                <a:latin typeface="Arial" panose="020B0604020202020204" pitchFamily="34" charset="0"/>
                <a:cs typeface="Arial" panose="020B0604020202020204" pitchFamily="34" charset="0"/>
              </a:rPr>
              <a:t>value, which has two objects</a:t>
            </a:r>
          </a:p>
        </p:txBody>
      </p:sp>
    </p:spTree>
    <p:extLst>
      <p:ext uri="{BB962C8B-B14F-4D97-AF65-F5344CB8AC3E}">
        <p14:creationId xmlns:p14="http://schemas.microsoft.com/office/powerpoint/2010/main" val="23558558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5B172-5996-4F5E-9DC4-2778AC77E282}"/>
              </a:ext>
            </a:extLst>
          </p:cNvPr>
          <p:cNvSpPr>
            <a:spLocks noGrp="1"/>
          </p:cNvSpPr>
          <p:nvPr>
            <p:ph type="title"/>
          </p:nvPr>
        </p:nvSpPr>
        <p:spPr/>
        <p:txBody>
          <a:bodyPr>
            <a:normAutofit fontScale="90000"/>
          </a:bodyPr>
          <a:lstStyle/>
          <a:p>
            <a:r>
              <a:rPr lang="en-US" dirty="0"/>
              <a:t>Combining Criteria: Mix $and </a:t>
            </a:r>
            <a:r>
              <a:rPr lang="en-US" dirty="0" err="1"/>
              <a:t>and</a:t>
            </a:r>
            <a:r>
              <a:rPr lang="en-US" dirty="0"/>
              <a:t> $or </a:t>
            </a:r>
          </a:p>
        </p:txBody>
      </p:sp>
      <p:sp>
        <p:nvSpPr>
          <p:cNvPr id="3" name="Content Placeholder 2">
            <a:extLst>
              <a:ext uri="{FF2B5EF4-FFF2-40B4-BE49-F238E27FC236}">
                <a16:creationId xmlns:a16="http://schemas.microsoft.com/office/drawing/2014/main" id="{021C00AD-9442-4B27-A7B1-4C749C282959}"/>
              </a:ext>
            </a:extLst>
          </p:cNvPr>
          <p:cNvSpPr>
            <a:spLocks noGrp="1"/>
          </p:cNvSpPr>
          <p:nvPr>
            <p:ph idx="1"/>
          </p:nvPr>
        </p:nvSpPr>
        <p:spPr>
          <a:xfrm>
            <a:off x="63945" y="1044098"/>
            <a:ext cx="4629975" cy="5555457"/>
          </a:xfrm>
        </p:spPr>
        <p:txBody>
          <a:bodyPr>
            <a:normAutofit/>
          </a:bodyPr>
          <a:lstStyle/>
          <a:p>
            <a:pPr marL="0" indent="0">
              <a:buNone/>
            </a:pPr>
            <a:r>
              <a:rPr lang="en-US" sz="2200" b="1" dirty="0"/>
              <a:t>Example: </a:t>
            </a:r>
            <a:r>
              <a:rPr lang="en-US" sz="2200" dirty="0"/>
              <a:t>retrieve the _id, display name, and age for patrons that either have the last name “</a:t>
            </a:r>
            <a:r>
              <a:rPr lang="en-US" sz="2200" dirty="0" err="1"/>
              <a:t>barry</a:t>
            </a:r>
            <a:r>
              <a:rPr lang="en-US" sz="2200" dirty="0"/>
              <a:t>” and are faculty, or have the last name “hays” and are under 30 years old</a:t>
            </a:r>
          </a:p>
          <a:p>
            <a:pPr marL="0" indent="0">
              <a:buNone/>
            </a:pPr>
            <a:r>
              <a:rPr lang="en-US" sz="2200" b="1" dirty="0"/>
              <a:t>Code: </a:t>
            </a:r>
          </a:p>
          <a:p>
            <a:pPr marL="400050" lvl="1" indent="0">
              <a:buNone/>
            </a:pP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({$or: [</a:t>
            </a:r>
          </a:p>
          <a:p>
            <a:pPr marL="400050" lvl="1" indent="0">
              <a:buNone/>
            </a:pP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lname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barry</a:t>
            </a:r>
            <a:r>
              <a:rPr lang="en-US" sz="2200" dirty="0">
                <a:latin typeface="Times New Roman" panose="02020603050405020304" pitchFamily="18" charset="0"/>
                <a:cs typeface="Times New Roman" panose="02020603050405020304" pitchFamily="18" charset="0"/>
              </a:rPr>
              <a:t>"}, {type: "faculty"}]},</a:t>
            </a:r>
          </a:p>
          <a:p>
            <a:pPr marL="400050" lvl="1" indent="0">
              <a:buNone/>
            </a:pP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lname</a:t>
            </a:r>
            <a:r>
              <a:rPr lang="en-US" sz="2200" dirty="0">
                <a:latin typeface="Times New Roman" panose="02020603050405020304" pitchFamily="18" charset="0"/>
                <a:cs typeface="Times New Roman" panose="02020603050405020304" pitchFamily="18" charset="0"/>
              </a:rPr>
              <a:t>: "hays"}, {age: {$</a:t>
            </a:r>
            <a:r>
              <a:rPr lang="en-US" sz="2200" dirty="0" err="1">
                <a:latin typeface="Times New Roman" panose="02020603050405020304" pitchFamily="18" charset="0"/>
                <a:cs typeface="Times New Roman" panose="02020603050405020304" pitchFamily="18" charset="0"/>
              </a:rPr>
              <a:t>lt</a:t>
            </a:r>
            <a:r>
              <a:rPr lang="en-US" sz="2200" dirty="0">
                <a:latin typeface="Times New Roman" panose="02020603050405020304" pitchFamily="18" charset="0"/>
                <a:cs typeface="Times New Roman" panose="02020603050405020304" pitchFamily="18" charset="0"/>
              </a:rPr>
              <a:t>: 30}}]}</a:t>
            </a:r>
          </a:p>
          <a:p>
            <a:pPr marL="400050" lvl="1" indent="0">
              <a:buNone/>
            </a:pPr>
            <a:r>
              <a:rPr lang="en-US" sz="2200" dirty="0">
                <a:latin typeface="Times New Roman" panose="02020603050405020304" pitchFamily="18" charset="0"/>
                <a:cs typeface="Times New Roman" panose="02020603050405020304" pitchFamily="18" charset="0"/>
              </a:rPr>
              <a:t>		     ]}, </a:t>
            </a:r>
          </a:p>
          <a:p>
            <a:pPr marL="400050" lvl="1" indent="0">
              <a:buNone/>
            </a:pPr>
            <a:r>
              <a:rPr lang="en-US" sz="2200" dirty="0">
                <a:latin typeface="Times New Roman" panose="02020603050405020304" pitchFamily="18" charset="0"/>
                <a:cs typeface="Times New Roman" panose="02020603050405020304" pitchFamily="18" charset="0"/>
              </a:rPr>
              <a:t>		{display: 1, age: 1, type: 1}).pretty();</a:t>
            </a:r>
          </a:p>
        </p:txBody>
      </p:sp>
      <p:pic>
        <p:nvPicPr>
          <p:cNvPr id="4" name="Picture 3">
            <a:extLst>
              <a:ext uri="{FF2B5EF4-FFF2-40B4-BE49-F238E27FC236}">
                <a16:creationId xmlns:a16="http://schemas.microsoft.com/office/drawing/2014/main" id="{B133E954-30AF-420E-A61E-7BB17EE1CD1B}"/>
              </a:ext>
            </a:extLst>
          </p:cNvPr>
          <p:cNvPicPr>
            <a:picLocks noChangeAspect="1"/>
          </p:cNvPicPr>
          <p:nvPr/>
        </p:nvPicPr>
        <p:blipFill>
          <a:blip r:embed="rId3"/>
          <a:stretch>
            <a:fillRect/>
          </a:stretch>
        </p:blipFill>
        <p:spPr>
          <a:xfrm>
            <a:off x="4465702" y="1056289"/>
            <a:ext cx="4626374" cy="5663803"/>
          </a:xfrm>
          <a:prstGeom prst="rect">
            <a:avLst/>
          </a:prstGeom>
        </p:spPr>
      </p:pic>
    </p:spTree>
    <p:extLst>
      <p:ext uri="{BB962C8B-B14F-4D97-AF65-F5344CB8AC3E}">
        <p14:creationId xmlns:p14="http://schemas.microsoft.com/office/powerpoint/2010/main" val="33949377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E9032-354A-47D5-89F3-AE4552807B4C}"/>
              </a:ext>
            </a:extLst>
          </p:cNvPr>
          <p:cNvSpPr>
            <a:spLocks noGrp="1"/>
          </p:cNvSpPr>
          <p:nvPr>
            <p:ph type="title"/>
          </p:nvPr>
        </p:nvSpPr>
        <p:spPr/>
        <p:txBody>
          <a:bodyPr>
            <a:normAutofit fontScale="90000"/>
          </a:bodyPr>
          <a:lstStyle/>
          <a:p>
            <a:r>
              <a:rPr lang="en-US" dirty="0"/>
              <a:t>Matching Elements in Arrays with $</a:t>
            </a:r>
            <a:r>
              <a:rPr lang="en-US" dirty="0" err="1"/>
              <a:t>elemMatch</a:t>
            </a:r>
            <a:endParaRPr lang="en-US" dirty="0"/>
          </a:p>
        </p:txBody>
      </p:sp>
      <p:sp>
        <p:nvSpPr>
          <p:cNvPr id="3" name="Content Placeholder 2">
            <a:extLst>
              <a:ext uri="{FF2B5EF4-FFF2-40B4-BE49-F238E27FC236}">
                <a16:creationId xmlns:a16="http://schemas.microsoft.com/office/drawing/2014/main" id="{595BA851-2EAD-4CDD-A680-FE7097E2A3EE}"/>
              </a:ext>
            </a:extLst>
          </p:cNvPr>
          <p:cNvSpPr>
            <a:spLocks noGrp="1"/>
          </p:cNvSpPr>
          <p:nvPr>
            <p:ph idx="1"/>
          </p:nvPr>
        </p:nvSpPr>
        <p:spPr>
          <a:xfrm>
            <a:off x="149289" y="1117251"/>
            <a:ext cx="8770776" cy="784702"/>
          </a:xfrm>
        </p:spPr>
        <p:txBody>
          <a:bodyPr>
            <a:normAutofit/>
          </a:bodyPr>
          <a:lstStyle/>
          <a:p>
            <a:r>
              <a:rPr lang="en-US" sz="2200" dirty="0"/>
              <a:t>Question: find the patrons who have checked out a book in the programming subject that was published in 2015</a:t>
            </a:r>
          </a:p>
          <a:p>
            <a:endParaRPr lang="en-US" sz="2200" dirty="0"/>
          </a:p>
        </p:txBody>
      </p:sp>
      <p:pic>
        <p:nvPicPr>
          <p:cNvPr id="4" name="Picture 3">
            <a:extLst>
              <a:ext uri="{FF2B5EF4-FFF2-40B4-BE49-F238E27FC236}">
                <a16:creationId xmlns:a16="http://schemas.microsoft.com/office/drawing/2014/main" id="{D0297129-DA10-475C-8E1C-13AB7AAEB26F}"/>
              </a:ext>
            </a:extLst>
          </p:cNvPr>
          <p:cNvPicPr>
            <a:picLocks noChangeAspect="1"/>
          </p:cNvPicPr>
          <p:nvPr/>
        </p:nvPicPr>
        <p:blipFill>
          <a:blip r:embed="rId3"/>
          <a:stretch>
            <a:fillRect/>
          </a:stretch>
        </p:blipFill>
        <p:spPr>
          <a:xfrm>
            <a:off x="223935" y="1838479"/>
            <a:ext cx="6072718" cy="5007329"/>
          </a:xfrm>
          <a:prstGeom prst="rect">
            <a:avLst/>
          </a:prstGeom>
        </p:spPr>
      </p:pic>
      <p:sp>
        <p:nvSpPr>
          <p:cNvPr id="5" name="Rectangle 4">
            <a:extLst>
              <a:ext uri="{FF2B5EF4-FFF2-40B4-BE49-F238E27FC236}">
                <a16:creationId xmlns:a16="http://schemas.microsoft.com/office/drawing/2014/main" id="{1395EE08-749C-4C7A-A311-9B64FEE00BF5}"/>
              </a:ext>
            </a:extLst>
          </p:cNvPr>
          <p:cNvSpPr/>
          <p:nvPr/>
        </p:nvSpPr>
        <p:spPr>
          <a:xfrm>
            <a:off x="6407875" y="2245229"/>
            <a:ext cx="2669570" cy="4478149"/>
          </a:xfrm>
          <a:prstGeom prst="rect">
            <a:avLst/>
          </a:prstGeom>
        </p:spPr>
        <p:txBody>
          <a:bodyPr wrap="square">
            <a:spAutoFit/>
          </a:bodyPr>
          <a:lstStyle/>
          <a:p>
            <a:r>
              <a:rPr lang="en-US" sz="1900" i="1" dirty="0">
                <a:latin typeface="Arial" panose="020B0604020202020204" pitchFamily="34" charset="0"/>
                <a:cs typeface="Arial" panose="020B0604020202020204" pitchFamily="34" charset="0"/>
              </a:rPr>
              <a:t>A few patrons who checked out a book that was published in 2015 and who checked out a book on programming, but they were not the same book! </a:t>
            </a:r>
          </a:p>
          <a:p>
            <a:endParaRPr lang="en-US" sz="1900" i="1" dirty="0">
              <a:latin typeface="Arial" panose="020B0604020202020204" pitchFamily="34" charset="0"/>
              <a:cs typeface="Arial" panose="020B0604020202020204" pitchFamily="34" charset="0"/>
            </a:endParaRPr>
          </a:p>
          <a:p>
            <a:r>
              <a:rPr lang="en-US" sz="1900" i="1" dirty="0">
                <a:latin typeface="Arial" panose="020B0604020202020204" pitchFamily="34" charset="0"/>
                <a:cs typeface="Arial" panose="020B0604020202020204" pitchFamily="34" charset="0"/>
              </a:rPr>
              <a:t>Our intention was that the same book satisfies both criteria, not two separate books each satisfying one criteria apiece.</a:t>
            </a:r>
          </a:p>
        </p:txBody>
      </p:sp>
    </p:spTree>
    <p:extLst>
      <p:ext uri="{BB962C8B-B14F-4D97-AF65-F5344CB8AC3E}">
        <p14:creationId xmlns:p14="http://schemas.microsoft.com/office/powerpoint/2010/main" val="22807079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E9032-354A-47D5-89F3-AE4552807B4C}"/>
              </a:ext>
            </a:extLst>
          </p:cNvPr>
          <p:cNvSpPr>
            <a:spLocks noGrp="1"/>
          </p:cNvSpPr>
          <p:nvPr>
            <p:ph type="title"/>
          </p:nvPr>
        </p:nvSpPr>
        <p:spPr/>
        <p:txBody>
          <a:bodyPr>
            <a:normAutofit fontScale="90000"/>
          </a:bodyPr>
          <a:lstStyle/>
          <a:p>
            <a:r>
              <a:rPr lang="en-US" dirty="0"/>
              <a:t>Matching Elements in Arrays with $</a:t>
            </a:r>
            <a:r>
              <a:rPr lang="en-US" dirty="0" err="1"/>
              <a:t>elemMatch</a:t>
            </a:r>
            <a:endParaRPr lang="en-US" dirty="0"/>
          </a:p>
        </p:txBody>
      </p:sp>
      <p:sp>
        <p:nvSpPr>
          <p:cNvPr id="3" name="Content Placeholder 2">
            <a:extLst>
              <a:ext uri="{FF2B5EF4-FFF2-40B4-BE49-F238E27FC236}">
                <a16:creationId xmlns:a16="http://schemas.microsoft.com/office/drawing/2014/main" id="{595BA851-2EAD-4CDD-A680-FE7097E2A3EE}"/>
              </a:ext>
            </a:extLst>
          </p:cNvPr>
          <p:cNvSpPr>
            <a:spLocks noGrp="1"/>
          </p:cNvSpPr>
          <p:nvPr>
            <p:ph idx="1"/>
          </p:nvPr>
        </p:nvSpPr>
        <p:spPr>
          <a:xfrm>
            <a:off x="149289" y="1117250"/>
            <a:ext cx="8770776" cy="2479390"/>
          </a:xfrm>
        </p:spPr>
        <p:txBody>
          <a:bodyPr>
            <a:normAutofit/>
          </a:bodyPr>
          <a:lstStyle/>
          <a:p>
            <a:r>
              <a:rPr lang="en-US" sz="2400" dirty="0"/>
              <a:t>The $</a:t>
            </a:r>
            <a:r>
              <a:rPr lang="en-US" sz="2400" dirty="0" err="1"/>
              <a:t>elemMatch</a:t>
            </a:r>
            <a:r>
              <a:rPr lang="en-US" sz="2400" dirty="0"/>
              <a:t> function requires that all criteria included in the function be satisfied by the same element in an array.</a:t>
            </a:r>
            <a:endParaRPr lang="en-US" sz="2200" dirty="0"/>
          </a:p>
          <a:p>
            <a:r>
              <a:rPr lang="en-US" sz="2200" dirty="0"/>
              <a:t>Example: find the patrons who have checked out a book in the programming subject that was published in 2015</a:t>
            </a:r>
          </a:p>
          <a:p>
            <a:r>
              <a:rPr lang="en-US" sz="2200" dirty="0"/>
              <a:t>Code: </a:t>
            </a:r>
            <a:r>
              <a:rPr lang="en-US" sz="2200" dirty="0" err="1">
                <a:latin typeface="Times New Roman" panose="02020603050405020304" pitchFamily="18" charset="0"/>
                <a:cs typeface="Times New Roman" panose="02020603050405020304" pitchFamily="18" charset="0"/>
              </a:rPr>
              <a:t>db.patron.find</a:t>
            </a:r>
            <a:r>
              <a:rPr lang="en-US" sz="2200" dirty="0">
                <a:latin typeface="Times New Roman" panose="02020603050405020304" pitchFamily="18" charset="0"/>
                <a:cs typeface="Times New Roman" panose="02020603050405020304" pitchFamily="18" charset="0"/>
              </a:rPr>
              <a:t>({checkouts: {$</a:t>
            </a:r>
            <a:r>
              <a:rPr lang="en-US" sz="2200" dirty="0" err="1">
                <a:latin typeface="Times New Roman" panose="02020603050405020304" pitchFamily="18" charset="0"/>
                <a:cs typeface="Times New Roman" panose="02020603050405020304" pitchFamily="18" charset="0"/>
              </a:rPr>
              <a:t>elemMatch</a:t>
            </a:r>
            <a:r>
              <a:rPr lang="en-US" sz="2200" dirty="0">
                <a:latin typeface="Times New Roman" panose="02020603050405020304" pitchFamily="18" charset="0"/>
                <a:cs typeface="Times New Roman" panose="02020603050405020304" pitchFamily="18" charset="0"/>
              </a:rPr>
              <a:t>: {subject: "programming", </a:t>
            </a:r>
            <a:r>
              <a:rPr lang="en-US" sz="2200" dirty="0" err="1">
                <a:latin typeface="Times New Roman" panose="02020603050405020304" pitchFamily="18" charset="0"/>
                <a:cs typeface="Times New Roman" panose="02020603050405020304" pitchFamily="18" charset="0"/>
              </a:rPr>
              <a:t>pubyear</a:t>
            </a:r>
            <a:r>
              <a:rPr lang="en-US" sz="2200" dirty="0">
                <a:latin typeface="Times New Roman" panose="02020603050405020304" pitchFamily="18" charset="0"/>
                <a:cs typeface="Times New Roman" panose="02020603050405020304" pitchFamily="18" charset="0"/>
              </a:rPr>
              <a:t>: 2015}}}).pretty()</a:t>
            </a:r>
          </a:p>
          <a:p>
            <a:endParaRPr lang="en-US" sz="2200" dirty="0"/>
          </a:p>
        </p:txBody>
      </p:sp>
      <p:pic>
        <p:nvPicPr>
          <p:cNvPr id="6" name="Picture 5">
            <a:extLst>
              <a:ext uri="{FF2B5EF4-FFF2-40B4-BE49-F238E27FC236}">
                <a16:creationId xmlns:a16="http://schemas.microsoft.com/office/drawing/2014/main" id="{6BDE4DA8-E48E-481F-AB36-2C0DB01454B7}"/>
              </a:ext>
            </a:extLst>
          </p:cNvPr>
          <p:cNvPicPr>
            <a:picLocks noChangeAspect="1"/>
          </p:cNvPicPr>
          <p:nvPr/>
        </p:nvPicPr>
        <p:blipFill>
          <a:blip r:embed="rId3"/>
          <a:stretch>
            <a:fillRect/>
          </a:stretch>
        </p:blipFill>
        <p:spPr>
          <a:xfrm>
            <a:off x="330326" y="3584448"/>
            <a:ext cx="8542499" cy="2840736"/>
          </a:xfrm>
          <a:prstGeom prst="rect">
            <a:avLst/>
          </a:prstGeom>
        </p:spPr>
      </p:pic>
    </p:spTree>
    <p:extLst>
      <p:ext uri="{BB962C8B-B14F-4D97-AF65-F5344CB8AC3E}">
        <p14:creationId xmlns:p14="http://schemas.microsoft.com/office/powerpoint/2010/main" val="19073827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D40B-DA0B-4F79-8625-18570F7A31E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0FD85B49-2CD7-4C68-9626-D2236408B961}"/>
              </a:ext>
            </a:extLst>
          </p:cNvPr>
          <p:cNvSpPr>
            <a:spLocks noGrp="1"/>
          </p:cNvSpPr>
          <p:nvPr>
            <p:ph idx="1"/>
          </p:nvPr>
        </p:nvSpPr>
        <p:spPr>
          <a:xfrm>
            <a:off x="149289" y="1037968"/>
            <a:ext cx="8770776" cy="5683507"/>
          </a:xfrm>
        </p:spPr>
        <p:txBody>
          <a:bodyPr>
            <a:normAutofit fontScale="77500" lnSpcReduction="20000"/>
          </a:bodyPr>
          <a:lstStyle/>
          <a:p>
            <a:pPr>
              <a:spcAft>
                <a:spcPts val="600"/>
              </a:spcAft>
            </a:pPr>
            <a:r>
              <a:rPr lang="en-US" dirty="0"/>
              <a:t>MongoDB is a document database that stores documents in JSON format. The documents can be created, updated, deleted, and queried using a JavaScript-like language, named MongoDB Query Language.</a:t>
            </a:r>
          </a:p>
          <a:p>
            <a:pPr>
              <a:spcAft>
                <a:spcPts val="600"/>
              </a:spcAft>
            </a:pPr>
            <a:r>
              <a:rPr lang="en-US" dirty="0"/>
              <a:t>Documents of a similar nature are stored together in a collection. Even though the documents are similar, they are not required to have exactly the same structures. A document database may contain many collections.</a:t>
            </a:r>
          </a:p>
          <a:p>
            <a:pPr>
              <a:spcAft>
                <a:spcPts val="600"/>
              </a:spcAft>
            </a:pPr>
            <a:r>
              <a:rPr lang="en-US" dirty="0"/>
              <a:t>Documents can be updated by either a replacement update or an operator update. A replacement update will replace an entire document with a new document that has the same unique id. An operator update can be used to modify specific </a:t>
            </a:r>
            <a:r>
              <a:rPr lang="en-US" dirty="0" err="1"/>
              <a:t>key:value</a:t>
            </a:r>
            <a:r>
              <a:rPr lang="en-US" dirty="0"/>
              <a:t> pairs in a document without impacting the remainder of the document.</a:t>
            </a:r>
          </a:p>
          <a:p>
            <a:pPr>
              <a:spcAft>
                <a:spcPts val="600"/>
              </a:spcAft>
            </a:pPr>
            <a:r>
              <a:rPr lang="en-US" dirty="0"/>
              <a:t>Data retrieval is done primarily through the find() method. Within the find() method, functions can be used to write complex logical criteria.</a:t>
            </a:r>
          </a:p>
          <a:p>
            <a:pPr>
              <a:spcAft>
                <a:spcPts val="600"/>
              </a:spcAft>
            </a:pPr>
            <a:r>
              <a:rPr lang="en-US" dirty="0"/>
              <a:t>Other methods can be chained to the find() method to support pagination, restricting results, and formatting output.</a:t>
            </a:r>
          </a:p>
        </p:txBody>
      </p:sp>
    </p:spTree>
    <p:extLst>
      <p:ext uri="{BB962C8B-B14F-4D97-AF65-F5344CB8AC3E}">
        <p14:creationId xmlns:p14="http://schemas.microsoft.com/office/powerpoint/2010/main" val="3188492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F67B6-BAED-4CF5-A14E-46169B9A1CF2}"/>
              </a:ext>
            </a:extLst>
          </p:cNvPr>
          <p:cNvSpPr>
            <a:spLocks noGrp="1"/>
          </p:cNvSpPr>
          <p:nvPr>
            <p:ph type="title"/>
          </p:nvPr>
        </p:nvSpPr>
        <p:spPr/>
        <p:txBody>
          <a:bodyPr/>
          <a:lstStyle/>
          <a:p>
            <a:r>
              <a:rPr lang="en-US" dirty="0"/>
              <a:t>Review Questions</a:t>
            </a:r>
          </a:p>
        </p:txBody>
      </p:sp>
      <p:sp>
        <p:nvSpPr>
          <p:cNvPr id="3" name="Content Placeholder 2">
            <a:extLst>
              <a:ext uri="{FF2B5EF4-FFF2-40B4-BE49-F238E27FC236}">
                <a16:creationId xmlns:a16="http://schemas.microsoft.com/office/drawing/2014/main" id="{3DE7F006-E976-43E0-9912-9F436D770C82}"/>
              </a:ext>
            </a:extLst>
          </p:cNvPr>
          <p:cNvSpPr>
            <a:spLocks noGrp="1"/>
          </p:cNvSpPr>
          <p:nvPr>
            <p:ph idx="1"/>
          </p:nvPr>
        </p:nvSpPr>
        <p:spPr/>
        <p:txBody>
          <a:bodyPr>
            <a:normAutofit/>
          </a:bodyPr>
          <a:lstStyle/>
          <a:p>
            <a:pPr marL="514350" indent="-514350">
              <a:spcAft>
                <a:spcPts val="1200"/>
              </a:spcAft>
              <a:buFont typeface="+mj-lt"/>
              <a:buAutoNum type="arabicPeriod"/>
            </a:pPr>
            <a:r>
              <a:rPr lang="en-US" sz="2200" dirty="0"/>
              <a:t>What is the difference between a replacement update and an operator update in MongoDB?</a:t>
            </a:r>
          </a:p>
          <a:p>
            <a:pPr marL="514350" indent="-514350">
              <a:spcAft>
                <a:spcPts val="1200"/>
              </a:spcAft>
              <a:buFont typeface="+mj-lt"/>
              <a:buAutoNum type="arabicPeriod"/>
            </a:pPr>
            <a:r>
              <a:rPr lang="en-US" sz="2200" dirty="0"/>
              <a:t>Explain what an </a:t>
            </a:r>
            <a:r>
              <a:rPr lang="en-US" sz="2200" dirty="0" err="1"/>
              <a:t>upsert</a:t>
            </a:r>
            <a:r>
              <a:rPr lang="en-US" sz="2200" dirty="0"/>
              <a:t> does.</a:t>
            </a:r>
          </a:p>
          <a:p>
            <a:pPr marL="514350" indent="-514350">
              <a:spcAft>
                <a:spcPts val="1200"/>
              </a:spcAft>
              <a:buFont typeface="+mj-lt"/>
              <a:buAutoNum type="arabicPeriod"/>
            </a:pPr>
            <a:r>
              <a:rPr lang="en-US" sz="2200" dirty="0"/>
              <a:t>Describe the difference between using $push and $</a:t>
            </a:r>
            <a:r>
              <a:rPr lang="en-US" sz="2200" dirty="0" err="1"/>
              <a:t>addToSet</a:t>
            </a:r>
            <a:r>
              <a:rPr lang="en-US" sz="2200" dirty="0"/>
              <a:t> in MongoDB.</a:t>
            </a:r>
          </a:p>
          <a:p>
            <a:pPr marL="514350" indent="-514350">
              <a:spcAft>
                <a:spcPts val="1200"/>
              </a:spcAft>
              <a:buFont typeface="+mj-lt"/>
              <a:buAutoNum type="arabicPeriod"/>
            </a:pPr>
            <a:r>
              <a:rPr lang="en-US" sz="2200" dirty="0"/>
              <a:t>Explain the functions used to enable pagination of results in MongoDB.</a:t>
            </a:r>
          </a:p>
          <a:p>
            <a:pPr marL="514350" indent="-514350">
              <a:spcAft>
                <a:spcPts val="1200"/>
              </a:spcAft>
              <a:buFont typeface="+mj-lt"/>
              <a:buAutoNum type="arabicPeriod"/>
            </a:pPr>
            <a:r>
              <a:rPr lang="en-US" sz="2200" dirty="0"/>
              <a:t>Explain the difference in processing when using an explicit </a:t>
            </a:r>
            <a:r>
              <a:rPr lang="en-US" sz="2200" i="1" dirty="0"/>
              <a:t>and</a:t>
            </a:r>
            <a:r>
              <a:rPr lang="en-US" sz="2200" dirty="0"/>
              <a:t> </a:t>
            </a:r>
            <a:r>
              <a:rPr lang="en-US" sz="2200" dirty="0" err="1"/>
              <a:t>and</a:t>
            </a:r>
            <a:r>
              <a:rPr lang="en-US" sz="2200" dirty="0"/>
              <a:t> an implicit </a:t>
            </a:r>
            <a:r>
              <a:rPr lang="en-US" sz="2200" i="1" dirty="0"/>
              <a:t>and</a:t>
            </a:r>
            <a:r>
              <a:rPr lang="en-US" sz="2200" dirty="0"/>
              <a:t> with MongoDB.</a:t>
            </a:r>
          </a:p>
        </p:txBody>
      </p:sp>
    </p:spTree>
    <p:extLst>
      <p:ext uri="{BB962C8B-B14F-4D97-AF65-F5344CB8AC3E}">
        <p14:creationId xmlns:p14="http://schemas.microsoft.com/office/powerpoint/2010/main" val="3495693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3983</TotalTime>
  <Words>12762</Words>
  <Application>Microsoft Macintosh PowerPoint</Application>
  <PresentationFormat>On-screen Show (4:3)</PresentationFormat>
  <Paragraphs>665</Paragraphs>
  <Slides>66</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Arial Nova</vt:lpstr>
      <vt:lpstr>Calibri</vt:lpstr>
      <vt:lpstr>Goudy Old Style</vt:lpstr>
      <vt:lpstr>Times New Roman</vt:lpstr>
      <vt:lpstr>Wingdings</vt:lpstr>
      <vt:lpstr>Office Theme</vt:lpstr>
      <vt:lpstr>Chapter 7 Part IV: Working with MongoDB</vt:lpstr>
      <vt:lpstr>Introduction to MongoDB</vt:lpstr>
      <vt:lpstr>JSON Documents</vt:lpstr>
      <vt:lpstr>JSON Documents (cont.)</vt:lpstr>
      <vt:lpstr>Installing MongoDB</vt:lpstr>
      <vt:lpstr>Download Installation File</vt:lpstr>
      <vt:lpstr>Installing MongoDB</vt:lpstr>
      <vt:lpstr>Installing MongoDB</vt:lpstr>
      <vt:lpstr>Installing MongoDB</vt:lpstr>
      <vt:lpstr>Installing MongoDB</vt:lpstr>
      <vt:lpstr>Installing MongoDB</vt:lpstr>
      <vt:lpstr>Installing MongoDB</vt:lpstr>
      <vt:lpstr>Download MongoDB Shell</vt:lpstr>
      <vt:lpstr>Download MongoDB Shell</vt:lpstr>
      <vt:lpstr>Connect to the MongoDB server</vt:lpstr>
      <vt:lpstr>Connect to the MongoDB server</vt:lpstr>
      <vt:lpstr>Show and Create Databases</vt:lpstr>
      <vt:lpstr>Creating and Manipulating Collections</vt:lpstr>
      <vt:lpstr>Insert Documents</vt:lpstr>
      <vt:lpstr>Insert Documents</vt:lpstr>
      <vt:lpstr>Updating Documents</vt:lpstr>
      <vt:lpstr>Replacement Updates</vt:lpstr>
      <vt:lpstr>Replacement Updates</vt:lpstr>
      <vt:lpstr>Operator Updates</vt:lpstr>
      <vt:lpstr>Operator Updates - $set</vt:lpstr>
      <vt:lpstr>Operator Updates - $set</vt:lpstr>
      <vt:lpstr>Operator Updates - $set</vt:lpstr>
      <vt:lpstr>Operator Updates - $unset</vt:lpstr>
      <vt:lpstr>Operator Updates - $inc</vt:lpstr>
      <vt:lpstr>Updating Values in a Subdocument</vt:lpstr>
      <vt:lpstr>Updating Arrays</vt:lpstr>
      <vt:lpstr>Updating Arrays Using $push Operator</vt:lpstr>
      <vt:lpstr>Updating Arrays Using $pull Operator</vt:lpstr>
      <vt:lpstr>Updating Arrays Using $addToSet Operator</vt:lpstr>
      <vt:lpstr>Updating Arrays Using $addToSet Operator</vt:lpstr>
      <vt:lpstr>Updating Arrays with Arrays using $pullAll</vt:lpstr>
      <vt:lpstr>Updating Arrays with Arrays using $each</vt:lpstr>
      <vt:lpstr>Updating Arrays with Arrays using $each</vt:lpstr>
      <vt:lpstr>Updating to Rename Keys with $rename</vt:lpstr>
      <vt:lpstr>Deleting Documents</vt:lpstr>
      <vt:lpstr>Querying Documents</vt:lpstr>
      <vt:lpstr>Importing Data File</vt:lpstr>
      <vt:lpstr>Importing Data File</vt:lpstr>
      <vt:lpstr>Navigating to the Data File</vt:lpstr>
      <vt:lpstr>Selection and Restriction with the find() Method</vt:lpstr>
      <vt:lpstr>Selection and Restriction with the find() Method</vt:lpstr>
      <vt:lpstr>Selection and Restriction with the find() Method</vt:lpstr>
      <vt:lpstr>Selection and Restriction with the find() Method</vt:lpstr>
      <vt:lpstr>Selection and Restriction with the find() Method</vt:lpstr>
      <vt:lpstr>Selection and Restriction with the find() Method</vt:lpstr>
      <vt:lpstr>Document Pagination with limit()</vt:lpstr>
      <vt:lpstr>Document Pagination with skip()</vt:lpstr>
      <vt:lpstr>Sorting Documents with sort()</vt:lpstr>
      <vt:lpstr>Sorting Documents with sort()</vt:lpstr>
      <vt:lpstr>Orders in Chained Methods</vt:lpstr>
      <vt:lpstr>Queries Using Inequalities</vt:lpstr>
      <vt:lpstr>Queries Using Inequalities</vt:lpstr>
      <vt:lpstr>Combining Criteria: Implicit and</vt:lpstr>
      <vt:lpstr>Combining Criteria: Explicit and</vt:lpstr>
      <vt:lpstr>Combining Criteria: Logical or</vt:lpstr>
      <vt:lpstr>Breaking Down the Complex Query</vt:lpstr>
      <vt:lpstr>Combining Criteria: Mix $and and $or </vt:lpstr>
      <vt:lpstr>Matching Elements in Arrays with $elemMatch</vt:lpstr>
      <vt:lpstr>Matching Elements in Arrays with $elemMatch</vt:lpstr>
      <vt:lpstr>Summary</vt:lpstr>
      <vt:lpstr>Review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Data Management</dc:title>
  <dc:creator>He Li</dc:creator>
  <cp:lastModifiedBy>Gao,Yiwen</cp:lastModifiedBy>
  <cp:revision>226</cp:revision>
  <dcterms:created xsi:type="dcterms:W3CDTF">2019-12-19T20:52:23Z</dcterms:created>
  <dcterms:modified xsi:type="dcterms:W3CDTF">2025-03-17T02:20:05Z</dcterms:modified>
</cp:coreProperties>
</file>