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1.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handoutMasterIdLst>
    <p:handoutMasterId r:id="rId40"/>
  </p:handoutMasterIdLst>
  <p:sldIdLst>
    <p:sldId id="257" r:id="rId2"/>
    <p:sldId id="258" r:id="rId3"/>
    <p:sldId id="342" r:id="rId4"/>
    <p:sldId id="343" r:id="rId5"/>
    <p:sldId id="344" r:id="rId6"/>
    <p:sldId id="345" r:id="rId7"/>
    <p:sldId id="379" r:id="rId8"/>
    <p:sldId id="378" r:id="rId9"/>
    <p:sldId id="348" r:id="rId10"/>
    <p:sldId id="381" r:id="rId11"/>
    <p:sldId id="380" r:id="rId12"/>
    <p:sldId id="346" r:id="rId13"/>
    <p:sldId id="347" r:id="rId14"/>
    <p:sldId id="349" r:id="rId15"/>
    <p:sldId id="259" r:id="rId16"/>
    <p:sldId id="350" r:id="rId17"/>
    <p:sldId id="351" r:id="rId18"/>
    <p:sldId id="352" r:id="rId19"/>
    <p:sldId id="353" r:id="rId20"/>
    <p:sldId id="366" r:id="rId21"/>
    <p:sldId id="367" r:id="rId22"/>
    <p:sldId id="368" r:id="rId23"/>
    <p:sldId id="369" r:id="rId24"/>
    <p:sldId id="370" r:id="rId25"/>
    <p:sldId id="371" r:id="rId26"/>
    <p:sldId id="372" r:id="rId27"/>
    <p:sldId id="373" r:id="rId28"/>
    <p:sldId id="375" r:id="rId29"/>
    <p:sldId id="374" r:id="rId30"/>
    <p:sldId id="264" r:id="rId31"/>
    <p:sldId id="265" r:id="rId32"/>
    <p:sldId id="383" r:id="rId33"/>
    <p:sldId id="384" r:id="rId34"/>
    <p:sldId id="260" r:id="rId35"/>
    <p:sldId id="261" r:id="rId36"/>
    <p:sldId id="262" r:id="rId37"/>
    <p:sldId id="385"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 Li" initials="HL" lastIdx="1" clrIdx="0">
    <p:extLst>
      <p:ext uri="{19B8F6BF-5375-455C-9EA6-DF929625EA0E}">
        <p15:presenceInfo xmlns:p15="http://schemas.microsoft.com/office/powerpoint/2012/main" userId="f096cd0e41dc33c7" providerId="Windows Live"/>
      </p:ext>
    </p:extLst>
  </p:cmAuthor>
  <p:cmAuthor id="2" name="He Li" initials="HL [2]" lastIdx="1" clrIdx="1">
    <p:extLst>
      <p:ext uri="{19B8F6BF-5375-455C-9EA6-DF929625EA0E}">
        <p15:presenceInfo xmlns:p15="http://schemas.microsoft.com/office/powerpoint/2012/main" userId="He 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2D80"/>
    <a:srgbClr val="ED6C22"/>
    <a:srgbClr val="86898C"/>
    <a:srgbClr val="EA6A20"/>
    <a:srgbClr val="D4C99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984C77-BB08-48C8-9584-4ACE5BC43D13}" v="2" dt="2021-08-15T19:09:47.5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47" autoAdjust="0"/>
    <p:restoredTop sz="57888" autoAdjust="0"/>
  </p:normalViewPr>
  <p:slideViewPr>
    <p:cSldViewPr snapToGrid="0" snapToObjects="1">
      <p:cViewPr varScale="1">
        <p:scale>
          <a:sx n="81" d="100"/>
          <a:sy n="81" d="100"/>
        </p:scale>
        <p:origin x="149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62" d="100"/>
          <a:sy n="62" d="100"/>
        </p:scale>
        <p:origin x="3226" y="5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 Li" userId="d9c76fd2-938e-46d4-9025-cac18f4a4a12" providerId="ADAL" clId="{8F984C77-BB08-48C8-9584-4ACE5BC43D13}"/>
    <pc:docChg chg="delSld modMainMaster">
      <pc:chgData name="He Li" userId="d9c76fd2-938e-46d4-9025-cac18f4a4a12" providerId="ADAL" clId="{8F984C77-BB08-48C8-9584-4ACE5BC43D13}" dt="2021-08-15T19:09:47.523" v="5"/>
      <pc:docMkLst>
        <pc:docMk/>
      </pc:docMkLst>
      <pc:sldChg chg="del">
        <pc:chgData name="He Li" userId="d9c76fd2-938e-46d4-9025-cac18f4a4a12" providerId="ADAL" clId="{8F984C77-BB08-48C8-9584-4ACE5BC43D13}" dt="2021-08-15T19:09:20.695" v="0" actId="47"/>
        <pc:sldMkLst>
          <pc:docMk/>
          <pc:sldMk cId="3539297623" sldId="386"/>
        </pc:sldMkLst>
      </pc:sldChg>
      <pc:sldChg chg="del">
        <pc:chgData name="He Li" userId="d9c76fd2-938e-46d4-9025-cac18f4a4a12" providerId="ADAL" clId="{8F984C77-BB08-48C8-9584-4ACE5BC43D13}" dt="2021-08-15T19:09:23.561" v="1" actId="47"/>
        <pc:sldMkLst>
          <pc:docMk/>
          <pc:sldMk cId="1943029910" sldId="387"/>
        </pc:sldMkLst>
      </pc:sldChg>
      <pc:sldChg chg="del">
        <pc:chgData name="He Li" userId="d9c76fd2-938e-46d4-9025-cac18f4a4a12" providerId="ADAL" clId="{8F984C77-BB08-48C8-9584-4ACE5BC43D13}" dt="2021-08-15T19:09:27.553" v="2" actId="47"/>
        <pc:sldMkLst>
          <pc:docMk/>
          <pc:sldMk cId="2806913660" sldId="388"/>
        </pc:sldMkLst>
      </pc:sldChg>
      <pc:sldChg chg="del">
        <pc:chgData name="He Li" userId="d9c76fd2-938e-46d4-9025-cac18f4a4a12" providerId="ADAL" clId="{8F984C77-BB08-48C8-9584-4ACE5BC43D13}" dt="2021-08-15T19:09:32.019" v="3" actId="47"/>
        <pc:sldMkLst>
          <pc:docMk/>
          <pc:sldMk cId="2057547531" sldId="389"/>
        </pc:sldMkLst>
      </pc:sldChg>
      <pc:sldMasterChg chg="addSp delSp modSp">
        <pc:chgData name="He Li" userId="d9c76fd2-938e-46d4-9025-cac18f4a4a12" providerId="ADAL" clId="{8F984C77-BB08-48C8-9584-4ACE5BC43D13}" dt="2021-08-15T19:09:47.523" v="5"/>
        <pc:sldMasterMkLst>
          <pc:docMk/>
          <pc:sldMasterMk cId="1230935043" sldId="2147483648"/>
        </pc:sldMasterMkLst>
        <pc:picChg chg="add mod">
          <ac:chgData name="He Li" userId="d9c76fd2-938e-46d4-9025-cac18f4a4a12" providerId="ADAL" clId="{8F984C77-BB08-48C8-9584-4ACE5BC43D13}" dt="2021-08-15T19:09:47.523" v="5"/>
          <ac:picMkLst>
            <pc:docMk/>
            <pc:sldMasterMk cId="1230935043" sldId="2147483648"/>
            <ac:picMk id="5" creationId="{3E02F8F1-35F6-4FF9-A951-7340C912417D}"/>
          </ac:picMkLst>
        </pc:picChg>
        <pc:picChg chg="del">
          <ac:chgData name="He Li" userId="d9c76fd2-938e-46d4-9025-cac18f4a4a12" providerId="ADAL" clId="{8F984C77-BB08-48C8-9584-4ACE5BC43D13}" dt="2021-08-15T19:09:47.189" v="4" actId="478"/>
          <ac:picMkLst>
            <pc:docMk/>
            <pc:sldMasterMk cId="1230935043" sldId="2147483648"/>
            <ac:picMk id="1026" creationId="{40E32EA3-BC7C-476F-8FEE-08F5B84B2FAD}"/>
          </ac:picMkLst>
        </pc:picChg>
      </pc:sldMasterChg>
    </pc:docChg>
  </pc:docChgLst>
  <pc:docChgLst>
    <pc:chgData name="He Li" userId="d9c76fd2-938e-46d4-9025-cac18f4a4a12" providerId="ADAL" clId="{A8072675-A334-4FCC-A86A-5D8F1ED20D40}"/>
    <pc:docChg chg="delSld">
      <pc:chgData name="He Li" userId="d9c76fd2-938e-46d4-9025-cac18f4a4a12" providerId="ADAL" clId="{A8072675-A334-4FCC-A86A-5D8F1ED20D40}" dt="2020-02-27T18:58:29.268" v="0" actId="2696"/>
      <pc:docMkLst>
        <pc:docMk/>
      </pc:docMkLst>
      <pc:sldChg chg="del">
        <pc:chgData name="He Li" userId="d9c76fd2-938e-46d4-9025-cac18f4a4a12" providerId="ADAL" clId="{A8072675-A334-4FCC-A86A-5D8F1ED20D40}" dt="2020-02-27T18:58:29.268" v="0" actId="2696"/>
        <pc:sldMkLst>
          <pc:docMk/>
          <pc:sldMk cId="3808610439" sldId="376"/>
        </pc:sldMkLst>
      </pc:sldChg>
    </pc:docChg>
  </pc:docChgLst>
  <pc:docChgLst>
    <pc:chgData name="He Li" userId="d9c76fd2-938e-46d4-9025-cac18f4a4a12" providerId="ADAL" clId="{15C50590-C904-4184-ACCE-C9EA7D94AB8C}"/>
    <pc:docChg chg="custSel modSld">
      <pc:chgData name="He Li" userId="d9c76fd2-938e-46d4-9025-cac18f4a4a12" providerId="ADAL" clId="{15C50590-C904-4184-ACCE-C9EA7D94AB8C}" dt="2020-08-15T20:45:42.829" v="3" actId="20577"/>
      <pc:docMkLst>
        <pc:docMk/>
      </pc:docMkLst>
      <pc:sldChg chg="modSp">
        <pc:chgData name="He Li" userId="d9c76fd2-938e-46d4-9025-cac18f4a4a12" providerId="ADAL" clId="{15C50590-C904-4184-ACCE-C9EA7D94AB8C}" dt="2020-08-15T20:45:42.829" v="3" actId="20577"/>
        <pc:sldMkLst>
          <pc:docMk/>
          <pc:sldMk cId="3992025409" sldId="257"/>
        </pc:sldMkLst>
        <pc:spChg chg="mod">
          <ac:chgData name="He Li" userId="d9c76fd2-938e-46d4-9025-cac18f4a4a12" providerId="ADAL" clId="{15C50590-C904-4184-ACCE-C9EA7D94AB8C}" dt="2020-08-15T20:45:42.829" v="3" actId="20577"/>
          <ac:spMkLst>
            <pc:docMk/>
            <pc:sldMk cId="3992025409" sldId="257"/>
            <ac:spMk id="4" creationId="{00000000-0000-0000-0000-000000000000}"/>
          </ac:spMkLst>
        </pc:spChg>
      </pc:sldChg>
    </pc:docChg>
  </pc:docChgLst>
  <pc:docChgLst>
    <pc:chgData name="He Li" userId="d9c76fd2-938e-46d4-9025-cac18f4a4a12" providerId="ADAL" clId="{54EFC9FA-D782-42E7-87AF-E86FD73970F4}"/>
    <pc:docChg chg="undo custSel addSld delSld modSld sldOrd">
      <pc:chgData name="He Li" userId="d9c76fd2-938e-46d4-9025-cac18f4a4a12" providerId="ADAL" clId="{54EFC9FA-D782-42E7-87AF-E86FD73970F4}" dt="2020-10-12T02:37:43.611" v="3229" actId="1035"/>
      <pc:docMkLst>
        <pc:docMk/>
      </pc:docMkLst>
      <pc:sldChg chg="modNotesTx">
        <pc:chgData name="He Li" userId="d9c76fd2-938e-46d4-9025-cac18f4a4a12" providerId="ADAL" clId="{54EFC9FA-D782-42E7-87AF-E86FD73970F4}" dt="2020-10-10T23:50:51.865" v="2861" actId="20577"/>
        <pc:sldMkLst>
          <pc:docMk/>
          <pc:sldMk cId="3992025409" sldId="257"/>
        </pc:sldMkLst>
      </pc:sldChg>
      <pc:sldChg chg="modSp modNotesTx">
        <pc:chgData name="He Li" userId="d9c76fd2-938e-46d4-9025-cac18f4a4a12" providerId="ADAL" clId="{54EFC9FA-D782-42E7-87AF-E86FD73970F4}" dt="2020-10-11T00:12:30.440" v="3038" actId="20577"/>
        <pc:sldMkLst>
          <pc:docMk/>
          <pc:sldMk cId="3890081729" sldId="258"/>
        </pc:sldMkLst>
        <pc:spChg chg="mod">
          <ac:chgData name="He Li" userId="d9c76fd2-938e-46d4-9025-cac18f4a4a12" providerId="ADAL" clId="{54EFC9FA-D782-42E7-87AF-E86FD73970F4}" dt="2020-10-04T20:32:18.206" v="1" actId="1076"/>
          <ac:spMkLst>
            <pc:docMk/>
            <pc:sldMk cId="3890081729" sldId="258"/>
            <ac:spMk id="2" creationId="{F6AA3036-7F79-4E18-833A-AC2936B6AF44}"/>
          </ac:spMkLst>
        </pc:spChg>
        <pc:spChg chg="mod">
          <ac:chgData name="He Li" userId="d9c76fd2-938e-46d4-9025-cac18f4a4a12" providerId="ADAL" clId="{54EFC9FA-D782-42E7-87AF-E86FD73970F4}" dt="2020-10-10T01:48:34.152" v="585" actId="114"/>
          <ac:spMkLst>
            <pc:docMk/>
            <pc:sldMk cId="3890081729" sldId="258"/>
            <ac:spMk id="3" creationId="{BFE5A05F-8C0A-4273-B9D4-42B0EE20F2E4}"/>
          </ac:spMkLst>
        </pc:spChg>
        <pc:spChg chg="mod">
          <ac:chgData name="He Li" userId="d9c76fd2-938e-46d4-9025-cac18f4a4a12" providerId="ADAL" clId="{54EFC9FA-D782-42E7-87AF-E86FD73970F4}" dt="2020-10-10T01:47:53.843" v="581" actId="1076"/>
          <ac:spMkLst>
            <pc:docMk/>
            <pc:sldMk cId="3890081729" sldId="258"/>
            <ac:spMk id="5" creationId="{081EF787-FF6B-4232-AC5C-7DDE6183B954}"/>
          </ac:spMkLst>
        </pc:spChg>
        <pc:picChg chg="mod">
          <ac:chgData name="He Li" userId="d9c76fd2-938e-46d4-9025-cac18f4a4a12" providerId="ADAL" clId="{54EFC9FA-D782-42E7-87AF-E86FD73970F4}" dt="2020-10-10T01:47:53.843" v="581" actId="1076"/>
          <ac:picMkLst>
            <pc:docMk/>
            <pc:sldMk cId="3890081729" sldId="258"/>
            <ac:picMk id="1026" creationId="{BEF943CE-1738-4346-BC06-206C19C109DE}"/>
          </ac:picMkLst>
        </pc:picChg>
      </pc:sldChg>
      <pc:sldChg chg="modSp modNotesTx">
        <pc:chgData name="He Li" userId="d9c76fd2-938e-46d4-9025-cac18f4a4a12" providerId="ADAL" clId="{54EFC9FA-D782-42E7-87AF-E86FD73970F4}" dt="2020-10-10T02:34:10.242" v="2369"/>
        <pc:sldMkLst>
          <pc:docMk/>
          <pc:sldMk cId="1293065336" sldId="259"/>
        </pc:sldMkLst>
        <pc:spChg chg="mod">
          <ac:chgData name="He Li" userId="d9c76fd2-938e-46d4-9025-cac18f4a4a12" providerId="ADAL" clId="{54EFC9FA-D782-42E7-87AF-E86FD73970F4}" dt="2020-10-04T21:00:25.671" v="395" actId="1076"/>
          <ac:spMkLst>
            <pc:docMk/>
            <pc:sldMk cId="1293065336" sldId="259"/>
            <ac:spMk id="2" creationId="{1991D261-96E4-4E0B-B81C-5468B080C55B}"/>
          </ac:spMkLst>
        </pc:spChg>
        <pc:spChg chg="mod">
          <ac:chgData name="He Li" userId="d9c76fd2-938e-46d4-9025-cac18f4a4a12" providerId="ADAL" clId="{54EFC9FA-D782-42E7-87AF-E86FD73970F4}" dt="2020-10-04T21:00:30.051" v="396" actId="1076"/>
          <ac:spMkLst>
            <pc:docMk/>
            <pc:sldMk cId="1293065336" sldId="259"/>
            <ac:spMk id="3" creationId="{90C32453-6F64-4E3E-8799-CBFF95843D68}"/>
          </ac:spMkLst>
        </pc:spChg>
        <pc:picChg chg="mod">
          <ac:chgData name="He Li" userId="d9c76fd2-938e-46d4-9025-cac18f4a4a12" providerId="ADAL" clId="{54EFC9FA-D782-42E7-87AF-E86FD73970F4}" dt="2020-10-10T02:34:10.242" v="2369"/>
          <ac:picMkLst>
            <pc:docMk/>
            <pc:sldMk cId="1293065336" sldId="259"/>
            <ac:picMk id="5" creationId="{5A183B34-974B-48BD-87C4-A385AB7543D7}"/>
          </ac:picMkLst>
        </pc:picChg>
      </pc:sldChg>
      <pc:sldChg chg="modNotesTx">
        <pc:chgData name="He Li" userId="d9c76fd2-938e-46d4-9025-cac18f4a4a12" providerId="ADAL" clId="{54EFC9FA-D782-42E7-87AF-E86FD73970F4}" dt="2020-10-10T01:55:17.362" v="691" actId="20577"/>
        <pc:sldMkLst>
          <pc:docMk/>
          <pc:sldMk cId="1786102782" sldId="342"/>
        </pc:sldMkLst>
      </pc:sldChg>
      <pc:sldChg chg="addSp delSp modSp modNotesTx">
        <pc:chgData name="He Li" userId="d9c76fd2-938e-46d4-9025-cac18f4a4a12" providerId="ADAL" clId="{54EFC9FA-D782-42E7-87AF-E86FD73970F4}" dt="2020-10-11T05:16:30.781" v="3201" actId="20577"/>
        <pc:sldMkLst>
          <pc:docMk/>
          <pc:sldMk cId="446760665" sldId="343"/>
        </pc:sldMkLst>
        <pc:spChg chg="mod">
          <ac:chgData name="He Li" userId="d9c76fd2-938e-46d4-9025-cac18f4a4a12" providerId="ADAL" clId="{54EFC9FA-D782-42E7-87AF-E86FD73970F4}" dt="2020-10-04T20:42:30.089" v="64" actId="1038"/>
          <ac:spMkLst>
            <pc:docMk/>
            <pc:sldMk cId="446760665" sldId="343"/>
            <ac:spMk id="2" creationId="{99791057-25DF-46C9-9EF0-0FEDC79E0A41}"/>
          </ac:spMkLst>
        </pc:spChg>
        <pc:spChg chg="del mod">
          <ac:chgData name="He Li" userId="d9c76fd2-938e-46d4-9025-cac18f4a4a12" providerId="ADAL" clId="{54EFC9FA-D782-42E7-87AF-E86FD73970F4}" dt="2020-10-04T20:35:13.398" v="20" actId="478"/>
          <ac:spMkLst>
            <pc:docMk/>
            <pc:sldMk cId="446760665" sldId="343"/>
            <ac:spMk id="3" creationId="{C2D9F86D-29EE-4513-A405-BEA81224AC13}"/>
          </ac:spMkLst>
        </pc:spChg>
        <pc:spChg chg="add del mod">
          <ac:chgData name="He Li" userId="d9c76fd2-938e-46d4-9025-cac18f4a4a12" providerId="ADAL" clId="{54EFC9FA-D782-42E7-87AF-E86FD73970F4}" dt="2020-10-04T20:35:19.091" v="21" actId="478"/>
          <ac:spMkLst>
            <pc:docMk/>
            <pc:sldMk cId="446760665" sldId="343"/>
            <ac:spMk id="7" creationId="{ED326CD0-C29A-45E9-BEA3-9293ACCC22A6}"/>
          </ac:spMkLst>
        </pc:spChg>
        <pc:graphicFrameChg chg="add del mod">
          <ac:chgData name="He Li" userId="d9c76fd2-938e-46d4-9025-cac18f4a4a12" providerId="ADAL" clId="{54EFC9FA-D782-42E7-87AF-E86FD73970F4}" dt="2020-10-04T20:33:46.179" v="10" actId="1032"/>
          <ac:graphicFrameMkLst>
            <pc:docMk/>
            <pc:sldMk cId="446760665" sldId="343"/>
            <ac:graphicFrameMk id="4" creationId="{832C94B9-32AC-43D5-9141-E6F01E17AC09}"/>
          </ac:graphicFrameMkLst>
        </pc:graphicFrameChg>
        <pc:graphicFrameChg chg="add mod">
          <ac:chgData name="He Li" userId="d9c76fd2-938e-46d4-9025-cac18f4a4a12" providerId="ADAL" clId="{54EFC9FA-D782-42E7-87AF-E86FD73970F4}" dt="2020-10-04T20:41:36.945" v="49" actId="113"/>
          <ac:graphicFrameMkLst>
            <pc:docMk/>
            <pc:sldMk cId="446760665" sldId="343"/>
            <ac:graphicFrameMk id="5" creationId="{B6A4621E-F2D6-4E67-9698-AB989401D237}"/>
          </ac:graphicFrameMkLst>
        </pc:graphicFrameChg>
      </pc:sldChg>
      <pc:sldChg chg="addSp delSp modSp modNotesTx">
        <pc:chgData name="He Li" userId="d9c76fd2-938e-46d4-9025-cac18f4a4a12" providerId="ADAL" clId="{54EFC9FA-D782-42E7-87AF-E86FD73970F4}" dt="2020-10-10T02:07:05.921" v="882" actId="20577"/>
        <pc:sldMkLst>
          <pc:docMk/>
          <pc:sldMk cId="1974749917" sldId="344"/>
        </pc:sldMkLst>
        <pc:spChg chg="del">
          <ac:chgData name="He Li" userId="d9c76fd2-938e-46d4-9025-cac18f4a4a12" providerId="ADAL" clId="{54EFC9FA-D782-42E7-87AF-E86FD73970F4}" dt="2020-10-04T20:45:12.310" v="90" actId="478"/>
          <ac:spMkLst>
            <pc:docMk/>
            <pc:sldMk cId="1974749917" sldId="344"/>
            <ac:spMk id="2" creationId="{AA708A63-C475-4F44-A411-02E0C1CA9D43}"/>
          </ac:spMkLst>
        </pc:spChg>
        <pc:spChg chg="del mod">
          <ac:chgData name="He Li" userId="d9c76fd2-938e-46d4-9025-cac18f4a4a12" providerId="ADAL" clId="{54EFC9FA-D782-42E7-87AF-E86FD73970F4}" dt="2020-10-04T20:48:13.450" v="168" actId="478"/>
          <ac:spMkLst>
            <pc:docMk/>
            <pc:sldMk cId="1974749917" sldId="344"/>
            <ac:spMk id="3" creationId="{E7C60425-3607-4996-8F48-7FAEC339A13E}"/>
          </ac:spMkLst>
        </pc:spChg>
        <pc:spChg chg="add mod">
          <ac:chgData name="He Li" userId="d9c76fd2-938e-46d4-9025-cac18f4a4a12" providerId="ADAL" clId="{54EFC9FA-D782-42E7-87AF-E86FD73970F4}" dt="2020-10-04T20:47:44.262" v="165" actId="13822"/>
          <ac:spMkLst>
            <pc:docMk/>
            <pc:sldMk cId="1974749917" sldId="344"/>
            <ac:spMk id="5" creationId="{85078FC5-5698-4362-A398-247853202049}"/>
          </ac:spMkLst>
        </pc:spChg>
        <pc:spChg chg="add del mod">
          <ac:chgData name="He Li" userId="d9c76fd2-938e-46d4-9025-cac18f4a4a12" providerId="ADAL" clId="{54EFC9FA-D782-42E7-87AF-E86FD73970F4}" dt="2020-10-04T20:45:13.468" v="91" actId="478"/>
          <ac:spMkLst>
            <pc:docMk/>
            <pc:sldMk cId="1974749917" sldId="344"/>
            <ac:spMk id="7" creationId="{939CBACE-90B4-4544-8F00-5B15CEE3BADE}"/>
          </ac:spMkLst>
        </pc:spChg>
        <pc:spChg chg="add mod">
          <ac:chgData name="He Li" userId="d9c76fd2-938e-46d4-9025-cac18f4a4a12" providerId="ADAL" clId="{54EFC9FA-D782-42E7-87AF-E86FD73970F4}" dt="2020-10-04T20:47:57.038" v="167" actId="13822"/>
          <ac:spMkLst>
            <pc:docMk/>
            <pc:sldMk cId="1974749917" sldId="344"/>
            <ac:spMk id="8" creationId="{9A8812A0-AD33-4AF2-A94E-C18A7F77F982}"/>
          </ac:spMkLst>
        </pc:spChg>
        <pc:spChg chg="add del mod">
          <ac:chgData name="He Li" userId="d9c76fd2-938e-46d4-9025-cac18f4a4a12" providerId="ADAL" clId="{54EFC9FA-D782-42E7-87AF-E86FD73970F4}" dt="2020-10-04T20:48:16.321" v="169" actId="478"/>
          <ac:spMkLst>
            <pc:docMk/>
            <pc:sldMk cId="1974749917" sldId="344"/>
            <ac:spMk id="10" creationId="{DBC0D783-03B7-4585-B81C-DE1506C5BF13}"/>
          </ac:spMkLst>
        </pc:spChg>
        <pc:picChg chg="mod">
          <ac:chgData name="He Li" userId="d9c76fd2-938e-46d4-9025-cac18f4a4a12" providerId="ADAL" clId="{54EFC9FA-D782-42E7-87AF-E86FD73970F4}" dt="2020-10-04T20:46:48.344" v="130" actId="1036"/>
          <ac:picMkLst>
            <pc:docMk/>
            <pc:sldMk cId="1974749917" sldId="344"/>
            <ac:picMk id="4" creationId="{838E9A8F-6BF4-49A6-A74A-E52CC5EF8E01}"/>
          </ac:picMkLst>
        </pc:picChg>
      </pc:sldChg>
      <pc:sldChg chg="addSp delSp modSp addCm delCm modNotesTx">
        <pc:chgData name="He Li" userId="d9c76fd2-938e-46d4-9025-cac18f4a4a12" providerId="ADAL" clId="{54EFC9FA-D782-42E7-87AF-E86FD73970F4}" dt="2020-10-10T02:11:57.047" v="988" actId="1035"/>
        <pc:sldMkLst>
          <pc:docMk/>
          <pc:sldMk cId="2567120935" sldId="345"/>
        </pc:sldMkLst>
        <pc:spChg chg="mod">
          <ac:chgData name="He Li" userId="d9c76fd2-938e-46d4-9025-cac18f4a4a12" providerId="ADAL" clId="{54EFC9FA-D782-42E7-87AF-E86FD73970F4}" dt="2020-10-10T02:11:57.047" v="988" actId="1035"/>
          <ac:spMkLst>
            <pc:docMk/>
            <pc:sldMk cId="2567120935" sldId="345"/>
            <ac:spMk id="2" creationId="{79690BC9-2337-44D8-8D71-B0CAD123BB7E}"/>
          </ac:spMkLst>
        </pc:spChg>
        <pc:spChg chg="add del mod">
          <ac:chgData name="He Li" userId="d9c76fd2-938e-46d4-9025-cac18f4a4a12" providerId="ADAL" clId="{54EFC9FA-D782-42E7-87AF-E86FD73970F4}" dt="2020-10-10T02:11:16.760" v="945" actId="478"/>
          <ac:spMkLst>
            <pc:docMk/>
            <pc:sldMk cId="2567120935" sldId="345"/>
            <ac:spMk id="3" creationId="{53536D34-2E67-48AD-B012-9C5647FCD6A6}"/>
          </ac:spMkLst>
        </pc:spChg>
        <pc:spChg chg="del mod">
          <ac:chgData name="He Li" userId="d9c76fd2-938e-46d4-9025-cac18f4a4a12" providerId="ADAL" clId="{54EFC9FA-D782-42E7-87AF-E86FD73970F4}" dt="2020-10-04T20:53:07.039" v="215" actId="478"/>
          <ac:spMkLst>
            <pc:docMk/>
            <pc:sldMk cId="2567120935" sldId="345"/>
            <ac:spMk id="5" creationId="{9BA46675-0394-4C5D-B798-AD77E30D9D7B}"/>
          </ac:spMkLst>
        </pc:spChg>
        <pc:spChg chg="add del mod">
          <ac:chgData name="He Li" userId="d9c76fd2-938e-46d4-9025-cac18f4a4a12" providerId="ADAL" clId="{54EFC9FA-D782-42E7-87AF-E86FD73970F4}" dt="2020-10-10T02:11:14.820" v="944" actId="478"/>
          <ac:spMkLst>
            <pc:docMk/>
            <pc:sldMk cId="2567120935" sldId="345"/>
            <ac:spMk id="6" creationId="{663E336B-5B49-40B4-A061-B15E0A06AFFD}"/>
          </ac:spMkLst>
        </pc:spChg>
        <pc:picChg chg="mod">
          <ac:chgData name="He Li" userId="d9c76fd2-938e-46d4-9025-cac18f4a4a12" providerId="ADAL" clId="{54EFC9FA-D782-42E7-87AF-E86FD73970F4}" dt="2020-10-10T02:11:30.991" v="964" actId="1036"/>
          <ac:picMkLst>
            <pc:docMk/>
            <pc:sldMk cId="2567120935" sldId="345"/>
            <ac:picMk id="4" creationId="{7E06BD0E-55CF-470C-BF76-D4850B40643B}"/>
          </ac:picMkLst>
        </pc:picChg>
        <pc:cxnChg chg="add del mod">
          <ac:chgData name="He Li" userId="d9c76fd2-938e-46d4-9025-cac18f4a4a12" providerId="ADAL" clId="{54EFC9FA-D782-42E7-87AF-E86FD73970F4}" dt="2020-10-10T02:11:10.713" v="941" actId="478"/>
          <ac:cxnSpMkLst>
            <pc:docMk/>
            <pc:sldMk cId="2567120935" sldId="345"/>
            <ac:cxnSpMk id="8" creationId="{0BA7428C-6557-46E3-A014-027A43F749C7}"/>
          </ac:cxnSpMkLst>
        </pc:cxnChg>
        <pc:cxnChg chg="add del mod">
          <ac:chgData name="He Li" userId="d9c76fd2-938e-46d4-9025-cac18f4a4a12" providerId="ADAL" clId="{54EFC9FA-D782-42E7-87AF-E86FD73970F4}" dt="2020-10-10T02:11:12.647" v="942" actId="478"/>
          <ac:cxnSpMkLst>
            <pc:docMk/>
            <pc:sldMk cId="2567120935" sldId="345"/>
            <ac:cxnSpMk id="10" creationId="{66CB32BE-2554-428E-AA12-087392B3D453}"/>
          </ac:cxnSpMkLst>
        </pc:cxnChg>
      </pc:sldChg>
      <pc:sldChg chg="modSp">
        <pc:chgData name="He Li" userId="d9c76fd2-938e-46d4-9025-cac18f4a4a12" providerId="ADAL" clId="{54EFC9FA-D782-42E7-87AF-E86FD73970F4}" dt="2020-10-10T02:21:05.971" v="1003"/>
        <pc:sldMkLst>
          <pc:docMk/>
          <pc:sldMk cId="2966150989" sldId="346"/>
        </pc:sldMkLst>
        <pc:spChg chg="mod">
          <ac:chgData name="He Li" userId="d9c76fd2-938e-46d4-9025-cac18f4a4a12" providerId="ADAL" clId="{54EFC9FA-D782-42E7-87AF-E86FD73970F4}" dt="2020-10-04T20:58:09.776" v="315" actId="1076"/>
          <ac:spMkLst>
            <pc:docMk/>
            <pc:sldMk cId="2966150989" sldId="346"/>
            <ac:spMk id="2" creationId="{20CA5F9A-A910-4A4D-9A5B-BB2E9FBA9086}"/>
          </ac:spMkLst>
        </pc:spChg>
        <pc:picChg chg="mod">
          <ac:chgData name="He Li" userId="d9c76fd2-938e-46d4-9025-cac18f4a4a12" providerId="ADAL" clId="{54EFC9FA-D782-42E7-87AF-E86FD73970F4}" dt="2020-10-10T02:21:05.971" v="1003"/>
          <ac:picMkLst>
            <pc:docMk/>
            <pc:sldMk cId="2966150989" sldId="346"/>
            <ac:picMk id="4" creationId="{99D14698-A7AD-4BAB-A783-01865B042D39}"/>
          </ac:picMkLst>
        </pc:picChg>
      </pc:sldChg>
      <pc:sldChg chg="modSp modNotesTx">
        <pc:chgData name="He Li" userId="d9c76fd2-938e-46d4-9025-cac18f4a4a12" providerId="ADAL" clId="{54EFC9FA-D782-42E7-87AF-E86FD73970F4}" dt="2020-10-11T20:16:20.347" v="3205" actId="20577"/>
        <pc:sldMkLst>
          <pc:docMk/>
          <pc:sldMk cId="1468600133" sldId="347"/>
        </pc:sldMkLst>
        <pc:spChg chg="mod">
          <ac:chgData name="He Li" userId="d9c76fd2-938e-46d4-9025-cac18f4a4a12" providerId="ADAL" clId="{54EFC9FA-D782-42E7-87AF-E86FD73970F4}" dt="2020-10-04T20:58:16.291" v="317" actId="1076"/>
          <ac:spMkLst>
            <pc:docMk/>
            <pc:sldMk cId="1468600133" sldId="347"/>
            <ac:spMk id="2" creationId="{B0E1C023-01B3-4F6E-BBC3-9ADDC15D9DCD}"/>
          </ac:spMkLst>
        </pc:spChg>
        <pc:spChg chg="mod">
          <ac:chgData name="He Li" userId="d9c76fd2-938e-46d4-9025-cac18f4a4a12" providerId="ADAL" clId="{54EFC9FA-D782-42E7-87AF-E86FD73970F4}" dt="2020-10-04T20:58:20.865" v="319" actId="1076"/>
          <ac:spMkLst>
            <pc:docMk/>
            <pc:sldMk cId="1468600133" sldId="347"/>
            <ac:spMk id="3" creationId="{387B0B50-4278-469E-B633-634ACC504D8B}"/>
          </ac:spMkLst>
        </pc:spChg>
        <pc:picChg chg="mod">
          <ac:chgData name="He Li" userId="d9c76fd2-938e-46d4-9025-cac18f4a4a12" providerId="ADAL" clId="{54EFC9FA-D782-42E7-87AF-E86FD73970F4}" dt="2020-10-10T02:21:17.148" v="1004"/>
          <ac:picMkLst>
            <pc:docMk/>
            <pc:sldMk cId="1468600133" sldId="347"/>
            <ac:picMk id="5" creationId="{FB667714-A2F2-42DA-A4F1-6CB0E81BFF7B}"/>
          </ac:picMkLst>
        </pc:picChg>
      </pc:sldChg>
      <pc:sldChg chg="modSp ord modNotesTx">
        <pc:chgData name="He Li" userId="d9c76fd2-938e-46d4-9025-cac18f4a4a12" providerId="ADAL" clId="{54EFC9FA-D782-42E7-87AF-E86FD73970F4}" dt="2020-10-10T02:20:42.304" v="1002" actId="20577"/>
        <pc:sldMkLst>
          <pc:docMk/>
          <pc:sldMk cId="3883560742" sldId="348"/>
        </pc:sldMkLst>
        <pc:spChg chg="mod">
          <ac:chgData name="He Li" userId="d9c76fd2-938e-46d4-9025-cac18f4a4a12" providerId="ADAL" clId="{54EFC9FA-D782-42E7-87AF-E86FD73970F4}" dt="2020-10-04T20:58:37.511" v="329" actId="1038"/>
          <ac:spMkLst>
            <pc:docMk/>
            <pc:sldMk cId="3883560742" sldId="348"/>
            <ac:spMk id="2" creationId="{F2120885-0334-40CF-9412-43E2E76D0F3C}"/>
          </ac:spMkLst>
        </pc:spChg>
        <pc:picChg chg="mod">
          <ac:chgData name="He Li" userId="d9c76fd2-938e-46d4-9025-cac18f4a4a12" providerId="ADAL" clId="{54EFC9FA-D782-42E7-87AF-E86FD73970F4}" dt="2020-10-04T20:58:29.285" v="321" actId="1076"/>
          <ac:picMkLst>
            <pc:docMk/>
            <pc:sldMk cId="3883560742" sldId="348"/>
            <ac:picMk id="4" creationId="{F8E667D4-3BE3-4B1E-BA20-FF9D19150FA8}"/>
          </ac:picMkLst>
        </pc:picChg>
      </pc:sldChg>
      <pc:sldChg chg="modSp modNotesTx">
        <pc:chgData name="He Li" userId="d9c76fd2-938e-46d4-9025-cac18f4a4a12" providerId="ADAL" clId="{54EFC9FA-D782-42E7-87AF-E86FD73970F4}" dt="2020-10-10T02:42:12.101" v="2400"/>
        <pc:sldMkLst>
          <pc:docMk/>
          <pc:sldMk cId="1968765254" sldId="349"/>
        </pc:sldMkLst>
        <pc:picChg chg="mod">
          <ac:chgData name="He Li" userId="d9c76fd2-938e-46d4-9025-cac18f4a4a12" providerId="ADAL" clId="{54EFC9FA-D782-42E7-87AF-E86FD73970F4}" dt="2020-10-10T02:42:12.101" v="2400"/>
          <ac:picMkLst>
            <pc:docMk/>
            <pc:sldMk cId="1968765254" sldId="349"/>
            <ac:picMk id="5" creationId="{ED40E1C7-26D2-4E44-BE6F-FA814EAA762D}"/>
          </ac:picMkLst>
        </pc:picChg>
      </pc:sldChg>
      <pc:sldChg chg="modSp">
        <pc:chgData name="He Li" userId="d9c76fd2-938e-46d4-9025-cac18f4a4a12" providerId="ADAL" clId="{54EFC9FA-D782-42E7-87AF-E86FD73970F4}" dt="2020-10-10T02:34:39.395" v="2371"/>
        <pc:sldMkLst>
          <pc:docMk/>
          <pc:sldMk cId="4181857888" sldId="350"/>
        </pc:sldMkLst>
        <pc:spChg chg="mod">
          <ac:chgData name="He Li" userId="d9c76fd2-938e-46d4-9025-cac18f4a4a12" providerId="ADAL" clId="{54EFC9FA-D782-42E7-87AF-E86FD73970F4}" dt="2020-10-10T02:32:34.526" v="2362" actId="1076"/>
          <ac:spMkLst>
            <pc:docMk/>
            <pc:sldMk cId="4181857888" sldId="350"/>
            <ac:spMk id="3" creationId="{9F4F28B1-B58E-425B-B447-4521DB02DFDA}"/>
          </ac:spMkLst>
        </pc:spChg>
        <pc:picChg chg="mod">
          <ac:chgData name="He Li" userId="d9c76fd2-938e-46d4-9025-cac18f4a4a12" providerId="ADAL" clId="{54EFC9FA-D782-42E7-87AF-E86FD73970F4}" dt="2020-10-10T02:34:39.395" v="2371"/>
          <ac:picMkLst>
            <pc:docMk/>
            <pc:sldMk cId="4181857888" sldId="350"/>
            <ac:picMk id="4" creationId="{7E6326E4-C077-4267-88B6-7CB076F3CD40}"/>
          </ac:picMkLst>
        </pc:picChg>
      </pc:sldChg>
      <pc:sldChg chg="modSp modNotesTx">
        <pc:chgData name="He Li" userId="d9c76fd2-938e-46d4-9025-cac18f4a4a12" providerId="ADAL" clId="{54EFC9FA-D782-42E7-87AF-E86FD73970F4}" dt="2020-10-11T01:07:59.260" v="3121" actId="20577"/>
        <pc:sldMkLst>
          <pc:docMk/>
          <pc:sldMk cId="341020584" sldId="351"/>
        </pc:sldMkLst>
        <pc:spChg chg="mod">
          <ac:chgData name="He Li" userId="d9c76fd2-938e-46d4-9025-cac18f4a4a12" providerId="ADAL" clId="{54EFC9FA-D782-42E7-87AF-E86FD73970F4}" dt="2020-10-04T21:00:44.149" v="411" actId="1035"/>
          <ac:spMkLst>
            <pc:docMk/>
            <pc:sldMk cId="341020584" sldId="351"/>
            <ac:spMk id="2" creationId="{7C5CAE08-5947-4402-ADB1-332F095C0D79}"/>
          </ac:spMkLst>
        </pc:spChg>
        <pc:picChg chg="mod">
          <ac:chgData name="He Li" userId="d9c76fd2-938e-46d4-9025-cac18f4a4a12" providerId="ADAL" clId="{54EFC9FA-D782-42E7-87AF-E86FD73970F4}" dt="2020-10-10T02:34:59.900" v="2374" actId="1076"/>
          <ac:picMkLst>
            <pc:docMk/>
            <pc:sldMk cId="341020584" sldId="351"/>
            <ac:picMk id="4" creationId="{5FB2710E-4AC3-417D-9D9C-6BC0EAD31979}"/>
          </ac:picMkLst>
        </pc:picChg>
      </pc:sldChg>
      <pc:sldChg chg="modSp modNotesTx">
        <pc:chgData name="He Li" userId="d9c76fd2-938e-46d4-9025-cac18f4a4a12" providerId="ADAL" clId="{54EFC9FA-D782-42E7-87AF-E86FD73970F4}" dt="2020-10-10T02:37:33.400" v="2389" actId="113"/>
        <pc:sldMkLst>
          <pc:docMk/>
          <pc:sldMk cId="378247529" sldId="352"/>
        </pc:sldMkLst>
        <pc:spChg chg="mod">
          <ac:chgData name="He Li" userId="d9c76fd2-938e-46d4-9025-cac18f4a4a12" providerId="ADAL" clId="{54EFC9FA-D782-42E7-87AF-E86FD73970F4}" dt="2020-10-04T21:00:54.855" v="423" actId="1035"/>
          <ac:spMkLst>
            <pc:docMk/>
            <pc:sldMk cId="378247529" sldId="352"/>
            <ac:spMk id="2" creationId="{1D8E9352-E6F8-41B3-B4FB-93E793DA3742}"/>
          </ac:spMkLst>
        </pc:spChg>
        <pc:spChg chg="mod">
          <ac:chgData name="He Li" userId="d9c76fd2-938e-46d4-9025-cac18f4a4a12" providerId="ADAL" clId="{54EFC9FA-D782-42E7-87AF-E86FD73970F4}" dt="2020-10-10T02:37:33.400" v="2389" actId="113"/>
          <ac:spMkLst>
            <pc:docMk/>
            <pc:sldMk cId="378247529" sldId="352"/>
            <ac:spMk id="3" creationId="{3E92527F-3475-4928-86E1-840B9F342101}"/>
          </ac:spMkLst>
        </pc:spChg>
      </pc:sldChg>
      <pc:sldChg chg="modSp modNotesTx">
        <pc:chgData name="He Li" userId="d9c76fd2-938e-46d4-9025-cac18f4a4a12" providerId="ADAL" clId="{54EFC9FA-D782-42E7-87AF-E86FD73970F4}" dt="2020-10-12T02:37:43.611" v="3229" actId="1035"/>
        <pc:sldMkLst>
          <pc:docMk/>
          <pc:sldMk cId="593748184" sldId="353"/>
        </pc:sldMkLst>
        <pc:spChg chg="mod">
          <ac:chgData name="He Li" userId="d9c76fd2-938e-46d4-9025-cac18f4a4a12" providerId="ADAL" clId="{54EFC9FA-D782-42E7-87AF-E86FD73970F4}" dt="2020-10-04T21:01:01.607" v="435" actId="1035"/>
          <ac:spMkLst>
            <pc:docMk/>
            <pc:sldMk cId="593748184" sldId="353"/>
            <ac:spMk id="2" creationId="{1D8E9352-E6F8-41B3-B4FB-93E793DA3742}"/>
          </ac:spMkLst>
        </pc:spChg>
        <pc:spChg chg="mod">
          <ac:chgData name="He Li" userId="d9c76fd2-938e-46d4-9025-cac18f4a4a12" providerId="ADAL" clId="{54EFC9FA-D782-42E7-87AF-E86FD73970F4}" dt="2020-10-04T21:01:15.121" v="442" actId="20577"/>
          <ac:spMkLst>
            <pc:docMk/>
            <pc:sldMk cId="593748184" sldId="353"/>
            <ac:spMk id="3" creationId="{3E92527F-3475-4928-86E1-840B9F342101}"/>
          </ac:spMkLst>
        </pc:spChg>
        <pc:spChg chg="mod">
          <ac:chgData name="He Li" userId="d9c76fd2-938e-46d4-9025-cac18f4a4a12" providerId="ADAL" clId="{54EFC9FA-D782-42E7-87AF-E86FD73970F4}" dt="2020-10-12T02:37:40.007" v="3227" actId="1035"/>
          <ac:spMkLst>
            <pc:docMk/>
            <pc:sldMk cId="593748184" sldId="353"/>
            <ac:spMk id="7" creationId="{47EB7E5C-C240-4EA5-8C17-C7E96C568610}"/>
          </ac:spMkLst>
        </pc:spChg>
        <pc:picChg chg="mod">
          <ac:chgData name="He Li" userId="d9c76fd2-938e-46d4-9025-cac18f4a4a12" providerId="ADAL" clId="{54EFC9FA-D782-42E7-87AF-E86FD73970F4}" dt="2020-10-12T02:37:43.611" v="3229" actId="1035"/>
          <ac:picMkLst>
            <pc:docMk/>
            <pc:sldMk cId="593748184" sldId="353"/>
            <ac:picMk id="6" creationId="{BE0069FB-36F4-4C34-A99F-744797AD996D}"/>
          </ac:picMkLst>
        </pc:picChg>
      </pc:sldChg>
      <pc:sldChg chg="modSp">
        <pc:chgData name="He Li" userId="d9c76fd2-938e-46d4-9025-cac18f4a4a12" providerId="ADAL" clId="{54EFC9FA-D782-42E7-87AF-E86FD73970F4}" dt="2020-10-10T02:41:47.196" v="2398"/>
        <pc:sldMkLst>
          <pc:docMk/>
          <pc:sldMk cId="2871710320" sldId="366"/>
        </pc:sldMkLst>
        <pc:spChg chg="mod">
          <ac:chgData name="He Li" userId="d9c76fd2-938e-46d4-9025-cac18f4a4a12" providerId="ADAL" clId="{54EFC9FA-D782-42E7-87AF-E86FD73970F4}" dt="2020-10-04T21:01:43.867" v="486" actId="14100"/>
          <ac:spMkLst>
            <pc:docMk/>
            <pc:sldMk cId="2871710320" sldId="366"/>
            <ac:spMk id="3" creationId="{9B7512B4-A8CB-4335-A1DB-EC3B2B8CC911}"/>
          </ac:spMkLst>
        </pc:spChg>
        <pc:spChg chg="mod">
          <ac:chgData name="He Li" userId="d9c76fd2-938e-46d4-9025-cac18f4a4a12" providerId="ADAL" clId="{54EFC9FA-D782-42E7-87AF-E86FD73970F4}" dt="2020-10-04T21:01:37.539" v="484" actId="1035"/>
          <ac:spMkLst>
            <pc:docMk/>
            <pc:sldMk cId="2871710320" sldId="366"/>
            <ac:spMk id="4" creationId="{4F8D0BF7-2A1A-4586-BA6B-324EFFA26042}"/>
          </ac:spMkLst>
        </pc:spChg>
        <pc:picChg chg="mod">
          <ac:chgData name="He Li" userId="d9c76fd2-938e-46d4-9025-cac18f4a4a12" providerId="ADAL" clId="{54EFC9FA-D782-42E7-87AF-E86FD73970F4}" dt="2020-10-10T02:41:47.196" v="2398"/>
          <ac:picMkLst>
            <pc:docMk/>
            <pc:sldMk cId="2871710320" sldId="366"/>
            <ac:picMk id="5" creationId="{028028F4-0848-4308-918C-8A720957BFF7}"/>
          </ac:picMkLst>
        </pc:picChg>
      </pc:sldChg>
      <pc:sldChg chg="modSp">
        <pc:chgData name="He Li" userId="d9c76fd2-938e-46d4-9025-cac18f4a4a12" providerId="ADAL" clId="{54EFC9FA-D782-42E7-87AF-E86FD73970F4}" dt="2020-10-04T21:01:51.378" v="488" actId="404"/>
        <pc:sldMkLst>
          <pc:docMk/>
          <pc:sldMk cId="1004521096" sldId="367"/>
        </pc:sldMkLst>
        <pc:spChg chg="mod">
          <ac:chgData name="He Li" userId="d9c76fd2-938e-46d4-9025-cac18f4a4a12" providerId="ADAL" clId="{54EFC9FA-D782-42E7-87AF-E86FD73970F4}" dt="2020-10-04T21:01:51.378" v="488" actId="404"/>
          <ac:spMkLst>
            <pc:docMk/>
            <pc:sldMk cId="1004521096" sldId="367"/>
            <ac:spMk id="3" creationId="{36259601-8F78-4706-80A7-73A1FC3D89E5}"/>
          </ac:spMkLst>
        </pc:spChg>
      </pc:sldChg>
      <pc:sldChg chg="modSp">
        <pc:chgData name="He Li" userId="d9c76fd2-938e-46d4-9025-cac18f4a4a12" providerId="ADAL" clId="{54EFC9FA-D782-42E7-87AF-E86FD73970F4}" dt="2020-10-10T02:41:31.642" v="2397"/>
        <pc:sldMkLst>
          <pc:docMk/>
          <pc:sldMk cId="3917080379" sldId="368"/>
        </pc:sldMkLst>
        <pc:picChg chg="mod">
          <ac:chgData name="He Li" userId="d9c76fd2-938e-46d4-9025-cac18f4a4a12" providerId="ADAL" clId="{54EFC9FA-D782-42E7-87AF-E86FD73970F4}" dt="2020-10-10T02:41:31.642" v="2397"/>
          <ac:picMkLst>
            <pc:docMk/>
            <pc:sldMk cId="3917080379" sldId="368"/>
            <ac:picMk id="4" creationId="{ABFD2B15-B78B-4D15-A68A-A3BF6E246725}"/>
          </ac:picMkLst>
        </pc:picChg>
      </pc:sldChg>
      <pc:sldChg chg="modSp modNotesTx">
        <pc:chgData name="He Li" userId="d9c76fd2-938e-46d4-9025-cac18f4a4a12" providerId="ADAL" clId="{54EFC9FA-D782-42E7-87AF-E86FD73970F4}" dt="2020-10-10T02:45:44.005" v="2425" actId="20577"/>
        <pc:sldMkLst>
          <pc:docMk/>
          <pc:sldMk cId="1390590099" sldId="369"/>
        </pc:sldMkLst>
        <pc:spChg chg="mod">
          <ac:chgData name="He Li" userId="d9c76fd2-938e-46d4-9025-cac18f4a4a12" providerId="ADAL" clId="{54EFC9FA-D782-42E7-87AF-E86FD73970F4}" dt="2020-10-10T02:44:12.041" v="2412" actId="1035"/>
          <ac:spMkLst>
            <pc:docMk/>
            <pc:sldMk cId="1390590099" sldId="369"/>
            <ac:spMk id="3" creationId="{14FBB0A0-E82B-4CB7-B9E4-7FF4B6512C7C}"/>
          </ac:spMkLst>
        </pc:spChg>
        <pc:picChg chg="mod">
          <ac:chgData name="He Li" userId="d9c76fd2-938e-46d4-9025-cac18f4a4a12" providerId="ADAL" clId="{54EFC9FA-D782-42E7-87AF-E86FD73970F4}" dt="2020-10-10T02:44:06.754" v="2410" actId="1038"/>
          <ac:picMkLst>
            <pc:docMk/>
            <pc:sldMk cId="1390590099" sldId="369"/>
            <ac:picMk id="5" creationId="{5B912874-B4C3-49CD-BCEE-02CB15116E5E}"/>
          </ac:picMkLst>
        </pc:picChg>
      </pc:sldChg>
      <pc:sldChg chg="modSp">
        <pc:chgData name="He Li" userId="d9c76fd2-938e-46d4-9025-cac18f4a4a12" providerId="ADAL" clId="{54EFC9FA-D782-42E7-87AF-E86FD73970F4}" dt="2020-10-10T02:50:34.682" v="2437"/>
        <pc:sldMkLst>
          <pc:docMk/>
          <pc:sldMk cId="1008541413" sldId="370"/>
        </pc:sldMkLst>
        <pc:picChg chg="mod">
          <ac:chgData name="He Li" userId="d9c76fd2-938e-46d4-9025-cac18f4a4a12" providerId="ADAL" clId="{54EFC9FA-D782-42E7-87AF-E86FD73970F4}" dt="2020-10-10T02:50:34.682" v="2437"/>
          <ac:picMkLst>
            <pc:docMk/>
            <pc:sldMk cId="1008541413" sldId="370"/>
            <ac:picMk id="8" creationId="{4261F8D2-C10C-4ACD-8D8D-734D53AE5A43}"/>
          </ac:picMkLst>
        </pc:picChg>
      </pc:sldChg>
      <pc:sldChg chg="addSp delSp modSp">
        <pc:chgData name="He Li" userId="d9c76fd2-938e-46d4-9025-cac18f4a4a12" providerId="ADAL" clId="{54EFC9FA-D782-42E7-87AF-E86FD73970F4}" dt="2020-10-10T02:51:10.340" v="2469" actId="1076"/>
        <pc:sldMkLst>
          <pc:docMk/>
          <pc:sldMk cId="2475647546" sldId="371"/>
        </pc:sldMkLst>
        <pc:spChg chg="mod">
          <ac:chgData name="He Li" userId="d9c76fd2-938e-46d4-9025-cac18f4a4a12" providerId="ADAL" clId="{54EFC9FA-D782-42E7-87AF-E86FD73970F4}" dt="2020-10-10T02:50:56.832" v="2444" actId="1035"/>
          <ac:spMkLst>
            <pc:docMk/>
            <pc:sldMk cId="2475647546" sldId="371"/>
            <ac:spMk id="2" creationId="{44776BCD-F751-4C8A-A182-5E8518BFA2C5}"/>
          </ac:spMkLst>
        </pc:spChg>
        <pc:spChg chg="mod">
          <ac:chgData name="He Li" userId="d9c76fd2-938e-46d4-9025-cac18f4a4a12" providerId="ADAL" clId="{54EFC9FA-D782-42E7-87AF-E86FD73970F4}" dt="2020-10-10T02:51:06.591" v="2468" actId="1035"/>
          <ac:spMkLst>
            <pc:docMk/>
            <pc:sldMk cId="2475647546" sldId="371"/>
            <ac:spMk id="3" creationId="{5129EA2C-0CD5-4350-AA24-759CA3B37CDC}"/>
          </ac:spMkLst>
        </pc:spChg>
        <pc:picChg chg="mod">
          <ac:chgData name="He Li" userId="d9c76fd2-938e-46d4-9025-cac18f4a4a12" providerId="ADAL" clId="{54EFC9FA-D782-42E7-87AF-E86FD73970F4}" dt="2020-10-10T02:51:10.340" v="2469" actId="1076"/>
          <ac:picMkLst>
            <pc:docMk/>
            <pc:sldMk cId="2475647546" sldId="371"/>
            <ac:picMk id="5" creationId="{63CAF307-D2B4-45B8-BC5C-83941D424957}"/>
          </ac:picMkLst>
        </pc:picChg>
        <pc:inkChg chg="add">
          <ac:chgData name="He Li" userId="d9c76fd2-938e-46d4-9025-cac18f4a4a12" providerId="ADAL" clId="{54EFC9FA-D782-42E7-87AF-E86FD73970F4}" dt="2020-10-10T02:49:53.221" v="2426" actId="9405"/>
          <ac:inkMkLst>
            <pc:docMk/>
            <pc:sldMk cId="2475647546" sldId="371"/>
            <ac:inkMk id="4" creationId="{6F93DE9D-35CB-4C1D-B763-84DB5940D651}"/>
          </ac:inkMkLst>
        </pc:inkChg>
        <pc:inkChg chg="add del">
          <ac:chgData name="He Li" userId="d9c76fd2-938e-46d4-9025-cac18f4a4a12" providerId="ADAL" clId="{54EFC9FA-D782-42E7-87AF-E86FD73970F4}" dt="2020-10-10T02:50:00.157" v="2432" actId="9405"/>
          <ac:inkMkLst>
            <pc:docMk/>
            <pc:sldMk cId="2475647546" sldId="371"/>
            <ac:inkMk id="6" creationId="{1ACEABF0-31CC-428B-B6D1-D8AA931A0D4E}"/>
          </ac:inkMkLst>
        </pc:inkChg>
        <pc:inkChg chg="add del">
          <ac:chgData name="He Li" userId="d9c76fd2-938e-46d4-9025-cac18f4a4a12" providerId="ADAL" clId="{54EFC9FA-D782-42E7-87AF-E86FD73970F4}" dt="2020-10-10T02:49:59.609" v="2431" actId="9405"/>
          <ac:inkMkLst>
            <pc:docMk/>
            <pc:sldMk cId="2475647546" sldId="371"/>
            <ac:inkMk id="7" creationId="{32579199-B27D-4545-8A6C-D32313AAC907}"/>
          </ac:inkMkLst>
        </pc:inkChg>
        <pc:inkChg chg="add del">
          <ac:chgData name="He Li" userId="d9c76fd2-938e-46d4-9025-cac18f4a4a12" providerId="ADAL" clId="{54EFC9FA-D782-42E7-87AF-E86FD73970F4}" dt="2020-10-10T02:49:58.964" v="2430" actId="9405"/>
          <ac:inkMkLst>
            <pc:docMk/>
            <pc:sldMk cId="2475647546" sldId="371"/>
            <ac:inkMk id="8" creationId="{49FE2978-3269-4292-9925-2643572C80F6}"/>
          </ac:inkMkLst>
        </pc:inkChg>
      </pc:sldChg>
      <pc:sldChg chg="modSp">
        <pc:chgData name="He Li" userId="d9c76fd2-938e-46d4-9025-cac18f4a4a12" providerId="ADAL" clId="{54EFC9FA-D782-42E7-87AF-E86FD73970F4}" dt="2020-10-10T02:52:45.365" v="2478" actId="1076"/>
        <pc:sldMkLst>
          <pc:docMk/>
          <pc:sldMk cId="3414375077" sldId="372"/>
        </pc:sldMkLst>
        <pc:spChg chg="mod">
          <ac:chgData name="He Li" userId="d9c76fd2-938e-46d4-9025-cac18f4a4a12" providerId="ADAL" clId="{54EFC9FA-D782-42E7-87AF-E86FD73970F4}" dt="2020-10-10T02:52:45.365" v="2478" actId="1076"/>
          <ac:spMkLst>
            <pc:docMk/>
            <pc:sldMk cId="3414375077" sldId="372"/>
            <ac:spMk id="3" creationId="{CF8F6EFD-DCFF-4C5E-9433-2F079108C2F7}"/>
          </ac:spMkLst>
        </pc:spChg>
        <pc:picChg chg="mod">
          <ac:chgData name="He Li" userId="d9c76fd2-938e-46d4-9025-cac18f4a4a12" providerId="ADAL" clId="{54EFC9FA-D782-42E7-87AF-E86FD73970F4}" dt="2020-10-10T02:52:18.805" v="2471"/>
          <ac:picMkLst>
            <pc:docMk/>
            <pc:sldMk cId="3414375077" sldId="372"/>
            <ac:picMk id="6" creationId="{6918104E-87B9-44EC-AC26-E1CC2CD8F0CB}"/>
          </ac:picMkLst>
        </pc:picChg>
        <pc:picChg chg="mod">
          <ac:chgData name="He Li" userId="d9c76fd2-938e-46d4-9025-cac18f4a4a12" providerId="ADAL" clId="{54EFC9FA-D782-42E7-87AF-E86FD73970F4}" dt="2020-10-10T02:52:28.186" v="2473"/>
          <ac:picMkLst>
            <pc:docMk/>
            <pc:sldMk cId="3414375077" sldId="372"/>
            <ac:picMk id="9" creationId="{534F3A4F-8740-4B40-BB6E-B286E025CB03}"/>
          </ac:picMkLst>
        </pc:picChg>
      </pc:sldChg>
      <pc:sldChg chg="modSp modNotesTx">
        <pc:chgData name="He Li" userId="d9c76fd2-938e-46d4-9025-cac18f4a4a12" providerId="ADAL" clId="{54EFC9FA-D782-42E7-87AF-E86FD73970F4}" dt="2020-10-11T01:40:04.612" v="3194" actId="207"/>
        <pc:sldMkLst>
          <pc:docMk/>
          <pc:sldMk cId="1550897363" sldId="373"/>
        </pc:sldMkLst>
        <pc:spChg chg="mod">
          <ac:chgData name="He Li" userId="d9c76fd2-938e-46d4-9025-cac18f4a4a12" providerId="ADAL" clId="{54EFC9FA-D782-42E7-87AF-E86FD73970F4}" dt="2020-10-11T01:39:47.770" v="3148" actId="207"/>
          <ac:spMkLst>
            <pc:docMk/>
            <pc:sldMk cId="1550897363" sldId="373"/>
            <ac:spMk id="2" creationId="{4A442D7D-C52F-4C23-90B3-A421D96FF994}"/>
          </ac:spMkLst>
        </pc:spChg>
        <pc:picChg chg="mod">
          <ac:chgData name="He Li" userId="d9c76fd2-938e-46d4-9025-cac18f4a4a12" providerId="ADAL" clId="{54EFC9FA-D782-42E7-87AF-E86FD73970F4}" dt="2020-10-10T02:55:36.780" v="2496"/>
          <ac:picMkLst>
            <pc:docMk/>
            <pc:sldMk cId="1550897363" sldId="373"/>
            <ac:picMk id="5" creationId="{0C980278-6F75-4A63-81FA-1BAF252D4152}"/>
          </ac:picMkLst>
        </pc:picChg>
        <pc:picChg chg="mod">
          <ac:chgData name="He Li" userId="d9c76fd2-938e-46d4-9025-cac18f4a4a12" providerId="ADAL" clId="{54EFC9FA-D782-42E7-87AF-E86FD73970F4}" dt="2020-10-10T02:55:45.652" v="2498"/>
          <ac:picMkLst>
            <pc:docMk/>
            <pc:sldMk cId="1550897363" sldId="373"/>
            <ac:picMk id="7" creationId="{8F546B6C-1B9A-4E93-A935-0DA9DC6E4CE0}"/>
          </ac:picMkLst>
        </pc:picChg>
      </pc:sldChg>
      <pc:sldChg chg="modSp">
        <pc:chgData name="He Li" userId="d9c76fd2-938e-46d4-9025-cac18f4a4a12" providerId="ADAL" clId="{54EFC9FA-D782-42E7-87AF-E86FD73970F4}" dt="2020-10-04T21:03:21.771" v="558" actId="1076"/>
        <pc:sldMkLst>
          <pc:docMk/>
          <pc:sldMk cId="918462823" sldId="374"/>
        </pc:sldMkLst>
        <pc:spChg chg="mod">
          <ac:chgData name="He Li" userId="d9c76fd2-938e-46d4-9025-cac18f4a4a12" providerId="ADAL" clId="{54EFC9FA-D782-42E7-87AF-E86FD73970F4}" dt="2020-10-04T21:03:19.332" v="557" actId="1076"/>
          <ac:spMkLst>
            <pc:docMk/>
            <pc:sldMk cId="918462823" sldId="374"/>
            <ac:spMk id="2" creationId="{D5216A8F-4334-46D8-A644-C9EE51E79FEE}"/>
          </ac:spMkLst>
        </pc:spChg>
        <pc:picChg chg="mod">
          <ac:chgData name="He Li" userId="d9c76fd2-938e-46d4-9025-cac18f4a4a12" providerId="ADAL" clId="{54EFC9FA-D782-42E7-87AF-E86FD73970F4}" dt="2020-10-04T21:03:21.771" v="558" actId="1076"/>
          <ac:picMkLst>
            <pc:docMk/>
            <pc:sldMk cId="918462823" sldId="374"/>
            <ac:picMk id="4" creationId="{E7279902-9421-45B4-BB46-BD4EB367163C}"/>
          </ac:picMkLst>
        </pc:picChg>
      </pc:sldChg>
      <pc:sldChg chg="addSp delSp modSp">
        <pc:chgData name="He Li" userId="d9c76fd2-938e-46d4-9025-cac18f4a4a12" providerId="ADAL" clId="{54EFC9FA-D782-42E7-87AF-E86FD73970F4}" dt="2020-10-10T02:53:41.588" v="2494" actId="1035"/>
        <pc:sldMkLst>
          <pc:docMk/>
          <pc:sldMk cId="2949945097" sldId="375"/>
        </pc:sldMkLst>
        <pc:spChg chg="mod">
          <ac:chgData name="He Li" userId="d9c76fd2-938e-46d4-9025-cac18f4a4a12" providerId="ADAL" clId="{54EFC9FA-D782-42E7-87AF-E86FD73970F4}" dt="2020-10-04T21:02:53.727" v="553" actId="1037"/>
          <ac:spMkLst>
            <pc:docMk/>
            <pc:sldMk cId="2949945097" sldId="375"/>
            <ac:spMk id="2" creationId="{CA652849-1FEB-42FC-A0D2-1949BDCEA423}"/>
          </ac:spMkLst>
        </pc:spChg>
        <pc:picChg chg="mod">
          <ac:chgData name="He Li" userId="d9c76fd2-938e-46d4-9025-cac18f4a4a12" providerId="ADAL" clId="{54EFC9FA-D782-42E7-87AF-E86FD73970F4}" dt="2020-10-10T02:53:41.588" v="2494" actId="1035"/>
          <ac:picMkLst>
            <pc:docMk/>
            <pc:sldMk cId="2949945097" sldId="375"/>
            <ac:picMk id="5" creationId="{1411202F-A869-4A3F-A4B7-2FA40CD3F894}"/>
          </ac:picMkLst>
        </pc:picChg>
        <pc:picChg chg="mod">
          <ac:chgData name="He Li" userId="d9c76fd2-938e-46d4-9025-cac18f4a4a12" providerId="ADAL" clId="{54EFC9FA-D782-42E7-87AF-E86FD73970F4}" dt="2020-10-10T02:53:33.566" v="2484"/>
          <ac:picMkLst>
            <pc:docMk/>
            <pc:sldMk cId="2949945097" sldId="375"/>
            <ac:picMk id="7" creationId="{C18B52C6-29A2-4FB8-B537-3FE50803016E}"/>
          </ac:picMkLst>
        </pc:picChg>
        <pc:inkChg chg="add del">
          <ac:chgData name="He Li" userId="d9c76fd2-938e-46d4-9025-cac18f4a4a12" providerId="ADAL" clId="{54EFC9FA-D782-42E7-87AF-E86FD73970F4}" dt="2020-10-10T02:53:15.598" v="2480" actId="9405"/>
          <ac:inkMkLst>
            <pc:docMk/>
            <pc:sldMk cId="2949945097" sldId="375"/>
            <ac:inkMk id="3" creationId="{57F3706C-FDBB-4163-BAF5-54A192536CC4}"/>
          </ac:inkMkLst>
        </pc:inkChg>
      </pc:sldChg>
      <pc:sldChg chg="addSp delSp modSp modNotesTx">
        <pc:chgData name="He Li" userId="d9c76fd2-938e-46d4-9025-cac18f4a4a12" providerId="ADAL" clId="{54EFC9FA-D782-42E7-87AF-E86FD73970F4}" dt="2020-10-10T02:16:27.424" v="994" actId="20577"/>
        <pc:sldMkLst>
          <pc:docMk/>
          <pc:sldMk cId="1007932606" sldId="378"/>
        </pc:sldMkLst>
        <pc:spChg chg="mod">
          <ac:chgData name="He Li" userId="d9c76fd2-938e-46d4-9025-cac18f4a4a12" providerId="ADAL" clId="{54EFC9FA-D782-42E7-87AF-E86FD73970F4}" dt="2020-10-04T20:57:52" v="312" actId="1076"/>
          <ac:spMkLst>
            <pc:docMk/>
            <pc:sldMk cId="1007932606" sldId="378"/>
            <ac:spMk id="2" creationId="{393EAF2E-021D-413E-810F-F03A33E35823}"/>
          </ac:spMkLst>
        </pc:spChg>
        <pc:spChg chg="del">
          <ac:chgData name="He Li" userId="d9c76fd2-938e-46d4-9025-cac18f4a4a12" providerId="ADAL" clId="{54EFC9FA-D782-42E7-87AF-E86FD73970F4}" dt="2020-10-04T20:57:20.466" v="303" actId="478"/>
          <ac:spMkLst>
            <pc:docMk/>
            <pc:sldMk cId="1007932606" sldId="378"/>
            <ac:spMk id="3" creationId="{23971432-1B4F-4E63-A90C-28C00BCBC57F}"/>
          </ac:spMkLst>
        </pc:spChg>
        <pc:spChg chg="add del mod">
          <ac:chgData name="He Li" userId="d9c76fd2-938e-46d4-9025-cac18f4a4a12" providerId="ADAL" clId="{54EFC9FA-D782-42E7-87AF-E86FD73970F4}" dt="2020-10-04T20:57:21.400" v="304" actId="478"/>
          <ac:spMkLst>
            <pc:docMk/>
            <pc:sldMk cId="1007932606" sldId="378"/>
            <ac:spMk id="6" creationId="{A5C4B0C7-A36B-4220-94A7-59CFD1D3D0BE}"/>
          </ac:spMkLst>
        </pc:spChg>
        <pc:picChg chg="mod">
          <ac:chgData name="He Li" userId="d9c76fd2-938e-46d4-9025-cac18f4a4a12" providerId="ADAL" clId="{54EFC9FA-D782-42E7-87AF-E86FD73970F4}" dt="2020-10-04T20:57:59.965" v="314" actId="1035"/>
          <ac:picMkLst>
            <pc:docMk/>
            <pc:sldMk cId="1007932606" sldId="378"/>
            <ac:picMk id="4" creationId="{F46BF4EB-AD89-4CED-92F5-C4D1C852D6D5}"/>
          </ac:picMkLst>
        </pc:picChg>
      </pc:sldChg>
      <pc:sldChg chg="modSp">
        <pc:chgData name="He Li" userId="d9c76fd2-938e-46d4-9025-cac18f4a4a12" providerId="ADAL" clId="{54EFC9FA-D782-42E7-87AF-E86FD73970F4}" dt="2020-10-04T20:56:29.844" v="241" actId="113"/>
        <pc:sldMkLst>
          <pc:docMk/>
          <pc:sldMk cId="1079918762" sldId="379"/>
        </pc:sldMkLst>
        <pc:spChg chg="mod">
          <ac:chgData name="He Li" userId="d9c76fd2-938e-46d4-9025-cac18f4a4a12" providerId="ADAL" clId="{54EFC9FA-D782-42E7-87AF-E86FD73970F4}" dt="2020-10-04T20:56:24.117" v="239" actId="113"/>
          <ac:spMkLst>
            <pc:docMk/>
            <pc:sldMk cId="1079918762" sldId="379"/>
            <ac:spMk id="4" creationId="{458493D2-4052-4648-97CD-1EEECD5E3E20}"/>
          </ac:spMkLst>
        </pc:spChg>
        <pc:spChg chg="mod">
          <ac:chgData name="He Li" userId="d9c76fd2-938e-46d4-9025-cac18f4a4a12" providerId="ADAL" clId="{54EFC9FA-D782-42E7-87AF-E86FD73970F4}" dt="2020-10-04T20:56:29.844" v="241" actId="113"/>
          <ac:spMkLst>
            <pc:docMk/>
            <pc:sldMk cId="1079918762" sldId="379"/>
            <ac:spMk id="5" creationId="{294022C6-C80C-44F8-8141-689C6BD91403}"/>
          </ac:spMkLst>
        </pc:spChg>
        <pc:spChg chg="mod">
          <ac:chgData name="He Li" userId="d9c76fd2-938e-46d4-9025-cac18f4a4a12" providerId="ADAL" clId="{54EFC9FA-D782-42E7-87AF-E86FD73970F4}" dt="2020-10-04T20:56:27.630" v="240" actId="113"/>
          <ac:spMkLst>
            <pc:docMk/>
            <pc:sldMk cId="1079918762" sldId="379"/>
            <ac:spMk id="6" creationId="{77A2E100-10FB-447D-8893-DF150699D868}"/>
          </ac:spMkLst>
        </pc:spChg>
      </pc:sldChg>
      <pc:sldChg chg="add modNotesTx">
        <pc:chgData name="He Li" userId="d9c76fd2-938e-46d4-9025-cac18f4a4a12" providerId="ADAL" clId="{54EFC9FA-D782-42E7-87AF-E86FD73970F4}" dt="2020-10-10T02:29:17.630" v="2306" actId="20577"/>
        <pc:sldMkLst>
          <pc:docMk/>
          <pc:sldMk cId="1574266657" sldId="380"/>
        </pc:sldMkLst>
      </pc:sldChg>
      <pc:sldChg chg="modSp del">
        <pc:chgData name="He Li" userId="d9c76fd2-938e-46d4-9025-cac18f4a4a12" providerId="ADAL" clId="{54EFC9FA-D782-42E7-87AF-E86FD73970F4}" dt="2020-10-10T02:22:46.775" v="1007" actId="2696"/>
        <pc:sldMkLst>
          <pc:docMk/>
          <pc:sldMk cId="2776491211" sldId="380"/>
        </pc:sldMkLst>
        <pc:picChg chg="mod">
          <ac:chgData name="He Li" userId="d9c76fd2-938e-46d4-9025-cac18f4a4a12" providerId="ADAL" clId="{54EFC9FA-D782-42E7-87AF-E86FD73970F4}" dt="2020-10-04T21:00:13.751" v="393" actId="1076"/>
          <ac:picMkLst>
            <pc:docMk/>
            <pc:sldMk cId="2776491211" sldId="380"/>
            <ac:picMk id="4" creationId="{F6EA4E97-E38B-4A9B-B7FE-4D6DEC1DF57B}"/>
          </ac:picMkLst>
        </pc:picChg>
      </pc:sldChg>
      <pc:sldChg chg="add modNotesTx">
        <pc:chgData name="He Li" userId="d9c76fd2-938e-46d4-9025-cac18f4a4a12" providerId="ADAL" clId="{54EFC9FA-D782-42E7-87AF-E86FD73970F4}" dt="2020-10-10T02:27:33.736" v="1938" actId="20577"/>
        <pc:sldMkLst>
          <pc:docMk/>
          <pc:sldMk cId="95403408" sldId="381"/>
        </pc:sldMkLst>
      </pc:sldChg>
      <pc:sldChg chg="modSp del">
        <pc:chgData name="He Li" userId="d9c76fd2-938e-46d4-9025-cac18f4a4a12" providerId="ADAL" clId="{54EFC9FA-D782-42E7-87AF-E86FD73970F4}" dt="2020-10-10T02:22:46.786" v="1008" actId="2696"/>
        <pc:sldMkLst>
          <pc:docMk/>
          <pc:sldMk cId="1442506732" sldId="381"/>
        </pc:sldMkLst>
        <pc:spChg chg="mod">
          <ac:chgData name="He Li" userId="d9c76fd2-938e-46d4-9025-cac18f4a4a12" providerId="ADAL" clId="{54EFC9FA-D782-42E7-87AF-E86FD73970F4}" dt="2020-10-04T21:00:02.434" v="392" actId="1035"/>
          <ac:spMkLst>
            <pc:docMk/>
            <pc:sldMk cId="1442506732" sldId="381"/>
            <ac:spMk id="2" creationId="{84A44F2F-53B9-46D8-85FC-2172716BAB2B}"/>
          </ac:spMkLst>
        </pc:spChg>
        <pc:spChg chg="mod">
          <ac:chgData name="He Li" userId="d9c76fd2-938e-46d4-9025-cac18f4a4a12" providerId="ADAL" clId="{54EFC9FA-D782-42E7-87AF-E86FD73970F4}" dt="2020-10-04T20:59:24.056" v="375" actId="1035"/>
          <ac:spMkLst>
            <pc:docMk/>
            <pc:sldMk cId="1442506732" sldId="381"/>
            <ac:spMk id="3" creationId="{0480B13D-9BE6-4A8F-A8AF-59F549478646}"/>
          </ac:spMkLst>
        </pc:spChg>
        <pc:spChg chg="mod">
          <ac:chgData name="He Li" userId="d9c76fd2-938e-46d4-9025-cac18f4a4a12" providerId="ADAL" clId="{54EFC9FA-D782-42E7-87AF-E86FD73970F4}" dt="2020-10-04T20:59:43.629" v="383" actId="255"/>
          <ac:spMkLst>
            <pc:docMk/>
            <pc:sldMk cId="1442506732" sldId="381"/>
            <ac:spMk id="4" creationId="{CD06A1A0-AB45-42F0-8957-E9EBC165C95D}"/>
          </ac:spMkLst>
        </pc:spChg>
        <pc:spChg chg="mod">
          <ac:chgData name="He Li" userId="d9c76fd2-938e-46d4-9025-cac18f4a4a12" providerId="ADAL" clId="{54EFC9FA-D782-42E7-87AF-E86FD73970F4}" dt="2020-10-04T20:59:24.056" v="375" actId="1035"/>
          <ac:spMkLst>
            <pc:docMk/>
            <pc:sldMk cId="1442506732" sldId="381"/>
            <ac:spMk id="5" creationId="{954140D8-A885-4649-A530-417ED4D5E077}"/>
          </ac:spMkLst>
        </pc:spChg>
        <pc:spChg chg="mod">
          <ac:chgData name="He Li" userId="d9c76fd2-938e-46d4-9025-cac18f4a4a12" providerId="ADAL" clId="{54EFC9FA-D782-42E7-87AF-E86FD73970F4}" dt="2020-10-04T20:59:55.152" v="387" actId="255"/>
          <ac:spMkLst>
            <pc:docMk/>
            <pc:sldMk cId="1442506732" sldId="381"/>
            <ac:spMk id="6" creationId="{0DEBBC2C-2FB5-4D7F-9B85-C6A8727DA37F}"/>
          </ac:spMkLst>
        </pc:spChg>
      </pc:sldChg>
      <pc:sldChg chg="del">
        <pc:chgData name="He Li" userId="d9c76fd2-938e-46d4-9025-cac18f4a4a12" providerId="ADAL" clId="{54EFC9FA-D782-42E7-87AF-E86FD73970F4}" dt="2020-10-10T03:04:12.644" v="2507" actId="2696"/>
        <pc:sldMkLst>
          <pc:docMk/>
          <pc:sldMk cId="3465245938" sldId="382"/>
        </pc:sldMkLst>
      </pc:sldChg>
      <pc:sldChg chg="add del">
        <pc:chgData name="He Li" userId="d9c76fd2-938e-46d4-9025-cac18f4a4a12" providerId="ADAL" clId="{54EFC9FA-D782-42E7-87AF-E86FD73970F4}" dt="2020-10-04T21:02:26.682" v="515" actId="2696"/>
        <pc:sldMkLst>
          <pc:docMk/>
          <pc:sldMk cId="2638455635" sldId="386"/>
        </pc:sldMkLst>
      </pc:sldChg>
      <pc:sldChg chg="modSp add">
        <pc:chgData name="He Li" userId="d9c76fd2-938e-46d4-9025-cac18f4a4a12" providerId="ADAL" clId="{54EFC9FA-D782-42E7-87AF-E86FD73970F4}" dt="2020-10-10T02:02:55.434" v="773" actId="1037"/>
        <pc:sldMkLst>
          <pc:docMk/>
          <pc:sldMk cId="3539297623" sldId="386"/>
        </pc:sldMkLst>
        <pc:spChg chg="mod">
          <ac:chgData name="He Li" userId="d9c76fd2-938e-46d4-9025-cac18f4a4a12" providerId="ADAL" clId="{54EFC9FA-D782-42E7-87AF-E86FD73970F4}" dt="2020-10-10T02:02:55.434" v="773" actId="1037"/>
          <ac:spMkLst>
            <pc:docMk/>
            <pc:sldMk cId="3539297623" sldId="386"/>
            <ac:spMk id="3" creationId="{00000000-0000-0000-0000-000000000000}"/>
          </ac:spMkLst>
        </pc:spChg>
      </pc:sldChg>
      <pc:sldChg chg="add del">
        <pc:chgData name="He Li" userId="d9c76fd2-938e-46d4-9025-cac18f4a4a12" providerId="ADAL" clId="{54EFC9FA-D782-42E7-87AF-E86FD73970F4}" dt="2020-10-04T21:02:26.810" v="516" actId="2696"/>
        <pc:sldMkLst>
          <pc:docMk/>
          <pc:sldMk cId="651623147" sldId="387"/>
        </pc:sldMkLst>
      </pc:sldChg>
      <pc:sldChg chg="modSp add">
        <pc:chgData name="He Li" userId="d9c76fd2-938e-46d4-9025-cac18f4a4a12" providerId="ADAL" clId="{54EFC9FA-D782-42E7-87AF-E86FD73970F4}" dt="2020-10-10T02:08:05.177" v="921" actId="27636"/>
        <pc:sldMkLst>
          <pc:docMk/>
          <pc:sldMk cId="1943029910" sldId="387"/>
        </pc:sldMkLst>
        <pc:spChg chg="mod">
          <ac:chgData name="He Li" userId="d9c76fd2-938e-46d4-9025-cac18f4a4a12" providerId="ADAL" clId="{54EFC9FA-D782-42E7-87AF-E86FD73970F4}" dt="2020-10-10T02:08:05.177" v="921" actId="27636"/>
          <ac:spMkLst>
            <pc:docMk/>
            <pc:sldMk cId="1943029910" sldId="387"/>
            <ac:spMk id="3" creationId="{00000000-0000-0000-0000-000000000000}"/>
          </ac:spMkLst>
        </pc:spChg>
      </pc:sldChg>
      <pc:sldChg chg="add del">
        <pc:chgData name="He Li" userId="d9c76fd2-938e-46d4-9025-cac18f4a4a12" providerId="ADAL" clId="{54EFC9FA-D782-42E7-87AF-E86FD73970F4}" dt="2020-10-04T21:02:26.971" v="517" actId="2696"/>
        <pc:sldMkLst>
          <pc:docMk/>
          <pc:sldMk cId="210512501" sldId="388"/>
        </pc:sldMkLst>
      </pc:sldChg>
      <pc:sldChg chg="modSp add ord">
        <pc:chgData name="He Li" userId="d9c76fd2-938e-46d4-9025-cac18f4a4a12" providerId="ADAL" clId="{54EFC9FA-D782-42E7-87AF-E86FD73970F4}" dt="2020-10-10T02:30:15.275" v="2359"/>
        <pc:sldMkLst>
          <pc:docMk/>
          <pc:sldMk cId="2806913660" sldId="388"/>
        </pc:sldMkLst>
        <pc:spChg chg="mod">
          <ac:chgData name="He Li" userId="d9c76fd2-938e-46d4-9025-cac18f4a4a12" providerId="ADAL" clId="{54EFC9FA-D782-42E7-87AF-E86FD73970F4}" dt="2020-10-10T02:30:00.079" v="2358" actId="20577"/>
          <ac:spMkLst>
            <pc:docMk/>
            <pc:sldMk cId="2806913660" sldId="388"/>
            <ac:spMk id="3" creationId="{00000000-0000-0000-0000-000000000000}"/>
          </ac:spMkLst>
        </pc:spChg>
      </pc:sldChg>
      <pc:sldChg chg="add del">
        <pc:chgData name="He Li" userId="d9c76fd2-938e-46d4-9025-cac18f4a4a12" providerId="ADAL" clId="{54EFC9FA-D782-42E7-87AF-E86FD73970F4}" dt="2020-10-04T21:02:27.590" v="518" actId="2696"/>
        <pc:sldMkLst>
          <pc:docMk/>
          <pc:sldMk cId="1542711525" sldId="389"/>
        </pc:sldMkLst>
      </pc:sldChg>
      <pc:sldChg chg="modSp add">
        <pc:chgData name="He Li" userId="d9c76fd2-938e-46d4-9025-cac18f4a4a12" providerId="ADAL" clId="{54EFC9FA-D782-42E7-87AF-E86FD73970F4}" dt="2020-10-10T03:04:05.761" v="2506" actId="27636"/>
        <pc:sldMkLst>
          <pc:docMk/>
          <pc:sldMk cId="2057547531" sldId="389"/>
        </pc:sldMkLst>
        <pc:spChg chg="mod">
          <ac:chgData name="He Li" userId="d9c76fd2-938e-46d4-9025-cac18f4a4a12" providerId="ADAL" clId="{54EFC9FA-D782-42E7-87AF-E86FD73970F4}" dt="2020-10-10T03:04:05.761" v="2506" actId="27636"/>
          <ac:spMkLst>
            <pc:docMk/>
            <pc:sldMk cId="2057547531" sldId="389"/>
            <ac:spMk id="3" creationId="{00000000-0000-0000-0000-000000000000}"/>
          </ac:spMkLst>
        </pc:spChg>
      </pc:sldChg>
      <pc:sldChg chg="add del">
        <pc:chgData name="He Li" userId="d9c76fd2-938e-46d4-9025-cac18f4a4a12" providerId="ADAL" clId="{54EFC9FA-D782-42E7-87AF-E86FD73970F4}" dt="2020-10-04T21:02:27.926" v="519" actId="2696"/>
        <pc:sldMkLst>
          <pc:docMk/>
          <pc:sldMk cId="176377038" sldId="390"/>
        </pc:sldMkLst>
      </pc:sldChg>
      <pc:sldChg chg="add del">
        <pc:chgData name="He Li" userId="d9c76fd2-938e-46d4-9025-cac18f4a4a12" providerId="ADAL" clId="{54EFC9FA-D782-42E7-87AF-E86FD73970F4}" dt="2020-10-04T21:02:28.163" v="520" actId="2696"/>
        <pc:sldMkLst>
          <pc:docMk/>
          <pc:sldMk cId="3278318996" sldId="391"/>
        </pc:sldMkLst>
      </pc:sldChg>
      <pc:sldChg chg="add del">
        <pc:chgData name="He Li" userId="d9c76fd2-938e-46d4-9025-cac18f4a4a12" providerId="ADAL" clId="{54EFC9FA-D782-42E7-87AF-E86FD73970F4}" dt="2020-10-04T21:02:28.610" v="521" actId="2696"/>
        <pc:sldMkLst>
          <pc:docMk/>
          <pc:sldMk cId="1006789692" sldId="392"/>
        </pc:sldMkLst>
      </pc:sldChg>
      <pc:sldChg chg="add del">
        <pc:chgData name="He Li" userId="d9c76fd2-938e-46d4-9025-cac18f4a4a12" providerId="ADAL" clId="{54EFC9FA-D782-42E7-87AF-E86FD73970F4}" dt="2020-10-04T21:02:29.203" v="522" actId="2696"/>
        <pc:sldMkLst>
          <pc:docMk/>
          <pc:sldMk cId="3702371527" sldId="393"/>
        </pc:sldMkLst>
      </pc:sldChg>
      <pc:sldChg chg="add del">
        <pc:chgData name="He Li" userId="d9c76fd2-938e-46d4-9025-cac18f4a4a12" providerId="ADAL" clId="{54EFC9FA-D782-42E7-87AF-E86FD73970F4}" dt="2020-10-04T21:02:29.521" v="523" actId="2696"/>
        <pc:sldMkLst>
          <pc:docMk/>
          <pc:sldMk cId="542947242" sldId="394"/>
        </pc:sldMkLst>
      </pc:sldChg>
      <pc:sldChg chg="add del">
        <pc:chgData name="He Li" userId="d9c76fd2-938e-46d4-9025-cac18f4a4a12" providerId="ADAL" clId="{54EFC9FA-D782-42E7-87AF-E86FD73970F4}" dt="2020-10-04T21:02:29.844" v="524" actId="2696"/>
        <pc:sldMkLst>
          <pc:docMk/>
          <pc:sldMk cId="840668757" sldId="395"/>
        </pc:sldMkLst>
      </pc:sldChg>
      <pc:sldChg chg="add del">
        <pc:chgData name="He Li" userId="d9c76fd2-938e-46d4-9025-cac18f4a4a12" providerId="ADAL" clId="{54EFC9FA-D782-42E7-87AF-E86FD73970F4}" dt="2020-10-04T21:02:30.180" v="525" actId="2696"/>
        <pc:sldMkLst>
          <pc:docMk/>
          <pc:sldMk cId="859140408" sldId="396"/>
        </pc:sldMkLst>
      </pc:sldChg>
      <pc:sldChg chg="add del">
        <pc:chgData name="He Li" userId="d9c76fd2-938e-46d4-9025-cac18f4a4a12" providerId="ADAL" clId="{54EFC9FA-D782-42E7-87AF-E86FD73970F4}" dt="2020-10-04T21:02:31.515" v="526" actId="2696"/>
        <pc:sldMkLst>
          <pc:docMk/>
          <pc:sldMk cId="57302284" sldId="397"/>
        </pc:sldMkLst>
      </pc:sldChg>
      <pc:sldChg chg="add del">
        <pc:chgData name="He Li" userId="d9c76fd2-938e-46d4-9025-cac18f4a4a12" providerId="ADAL" clId="{54EFC9FA-D782-42E7-87AF-E86FD73970F4}" dt="2020-10-04T21:02:31.663" v="527" actId="2696"/>
        <pc:sldMkLst>
          <pc:docMk/>
          <pc:sldMk cId="600985650" sldId="398"/>
        </pc:sldMkLst>
      </pc:sldChg>
      <pc:sldChg chg="add del">
        <pc:chgData name="He Li" userId="d9c76fd2-938e-46d4-9025-cac18f4a4a12" providerId="ADAL" clId="{54EFC9FA-D782-42E7-87AF-E86FD73970F4}" dt="2020-10-04T21:02:31.852" v="528" actId="2696"/>
        <pc:sldMkLst>
          <pc:docMk/>
          <pc:sldMk cId="583231879" sldId="399"/>
        </pc:sldMkLst>
      </pc:sldChg>
      <pc:sldChg chg="add del">
        <pc:chgData name="He Li" userId="d9c76fd2-938e-46d4-9025-cac18f4a4a12" providerId="ADAL" clId="{54EFC9FA-D782-42E7-87AF-E86FD73970F4}" dt="2020-10-04T21:02:32.519" v="529" actId="2696"/>
        <pc:sldMkLst>
          <pc:docMk/>
          <pc:sldMk cId="794686489" sldId="400"/>
        </pc:sldMkLst>
      </pc:sldChg>
      <pc:sldChg chg="add del">
        <pc:chgData name="He Li" userId="d9c76fd2-938e-46d4-9025-cac18f4a4a12" providerId="ADAL" clId="{54EFC9FA-D782-42E7-87AF-E86FD73970F4}" dt="2020-10-04T21:02:32.690" v="530" actId="2696"/>
        <pc:sldMkLst>
          <pc:docMk/>
          <pc:sldMk cId="1659901994" sldId="401"/>
        </pc:sldMkLst>
      </pc:sldChg>
      <pc:sldChg chg="add del">
        <pc:chgData name="He Li" userId="d9c76fd2-938e-46d4-9025-cac18f4a4a12" providerId="ADAL" clId="{54EFC9FA-D782-42E7-87AF-E86FD73970F4}" dt="2020-10-04T21:02:33.784" v="531" actId="2696"/>
        <pc:sldMkLst>
          <pc:docMk/>
          <pc:sldMk cId="1230166372" sldId="402"/>
        </pc:sldMkLst>
      </pc:sldChg>
      <pc:sldChg chg="add del">
        <pc:chgData name="He Li" userId="d9c76fd2-938e-46d4-9025-cac18f4a4a12" providerId="ADAL" clId="{54EFC9FA-D782-42E7-87AF-E86FD73970F4}" dt="2020-10-04T21:02:33.964" v="532" actId="2696"/>
        <pc:sldMkLst>
          <pc:docMk/>
          <pc:sldMk cId="3365906950" sldId="403"/>
        </pc:sldMkLst>
      </pc:sldChg>
      <pc:sldChg chg="add del">
        <pc:chgData name="He Li" userId="d9c76fd2-938e-46d4-9025-cac18f4a4a12" providerId="ADAL" clId="{54EFC9FA-D782-42E7-87AF-E86FD73970F4}" dt="2020-10-04T21:02:35.402" v="533" actId="2696"/>
        <pc:sldMkLst>
          <pc:docMk/>
          <pc:sldMk cId="3693811800" sldId="404"/>
        </pc:sldMkLst>
      </pc:sldChg>
      <pc:sldChg chg="add del">
        <pc:chgData name="He Li" userId="d9c76fd2-938e-46d4-9025-cac18f4a4a12" providerId="ADAL" clId="{54EFC9FA-D782-42E7-87AF-E86FD73970F4}" dt="2020-10-04T21:02:35.555" v="534" actId="2696"/>
        <pc:sldMkLst>
          <pc:docMk/>
          <pc:sldMk cId="1507970445" sldId="405"/>
        </pc:sldMkLst>
      </pc:sldChg>
      <pc:sldChg chg="add del">
        <pc:chgData name="He Li" userId="d9c76fd2-938e-46d4-9025-cac18f4a4a12" providerId="ADAL" clId="{54EFC9FA-D782-42E7-87AF-E86FD73970F4}" dt="2020-10-04T21:02:35.723" v="535" actId="2696"/>
        <pc:sldMkLst>
          <pc:docMk/>
          <pc:sldMk cId="2326410679" sldId="406"/>
        </pc:sldMkLst>
      </pc:sldChg>
      <pc:sldChg chg="add del">
        <pc:chgData name="He Li" userId="d9c76fd2-938e-46d4-9025-cac18f4a4a12" providerId="ADAL" clId="{54EFC9FA-D782-42E7-87AF-E86FD73970F4}" dt="2020-10-04T21:02:36.217" v="536" actId="2696"/>
        <pc:sldMkLst>
          <pc:docMk/>
          <pc:sldMk cId="2281236336" sldId="407"/>
        </pc:sldMkLst>
      </pc:sldChg>
      <pc:sldChg chg="add del">
        <pc:chgData name="He Li" userId="d9c76fd2-938e-46d4-9025-cac18f4a4a12" providerId="ADAL" clId="{54EFC9FA-D782-42E7-87AF-E86FD73970F4}" dt="2020-10-04T21:02:36.369" v="537" actId="2696"/>
        <pc:sldMkLst>
          <pc:docMk/>
          <pc:sldMk cId="2637401329" sldId="408"/>
        </pc:sldMkLst>
      </pc:sldChg>
      <pc:sldChg chg="add del">
        <pc:chgData name="He Li" userId="d9c76fd2-938e-46d4-9025-cac18f4a4a12" providerId="ADAL" clId="{54EFC9FA-D782-42E7-87AF-E86FD73970F4}" dt="2020-10-04T21:02:37.858" v="538" actId="2696"/>
        <pc:sldMkLst>
          <pc:docMk/>
          <pc:sldMk cId="20332782" sldId="409"/>
        </pc:sldMkLst>
      </pc:sldChg>
      <pc:sldChg chg="add del">
        <pc:chgData name="He Li" userId="d9c76fd2-938e-46d4-9025-cac18f4a4a12" providerId="ADAL" clId="{54EFC9FA-D782-42E7-87AF-E86FD73970F4}" dt="2020-10-04T21:02:20.210" v="514" actId="2696"/>
        <pc:sldMkLst>
          <pc:docMk/>
          <pc:sldMk cId="3774163265" sldId="41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CDFF9C-19A6-448A-804F-01CDF509D6DD}" type="doc">
      <dgm:prSet loTypeId="urn:microsoft.com/office/officeart/2005/8/layout/list1" loCatId="list" qsTypeId="urn:microsoft.com/office/officeart/2005/8/quickstyle/3d7" qsCatId="3D" csTypeId="urn:microsoft.com/office/officeart/2005/8/colors/accent0_1" csCatId="mainScheme" phldr="1"/>
      <dgm:spPr/>
      <dgm:t>
        <a:bodyPr/>
        <a:lstStyle/>
        <a:p>
          <a:endParaRPr lang="en-US"/>
        </a:p>
      </dgm:t>
    </dgm:pt>
    <dgm:pt modelId="{B07E0B45-6055-4992-BF54-440CF836131B}">
      <dgm:prSet phldrT="[Text]" custT="1"/>
      <dgm:spPr/>
      <dgm:t>
        <a:bodyPr/>
        <a:lstStyle/>
        <a:p>
          <a:pPr>
            <a:buFont typeface="+mj-lt"/>
            <a:buAutoNum type="arabicPeriod"/>
          </a:pPr>
          <a:r>
            <a:rPr lang="en-US" sz="2400" b="0" dirty="0">
              <a:latin typeface="Arial" panose="020B0604020202020204" pitchFamily="34" charset="0"/>
              <a:cs typeface="Arial" panose="020B0604020202020204" pitchFamily="34" charset="0"/>
            </a:rPr>
            <a:t>No single system of records</a:t>
          </a:r>
        </a:p>
      </dgm:t>
    </dgm:pt>
    <dgm:pt modelId="{894563D1-F434-4F4E-9850-736091066851}" type="parTrans" cxnId="{B916788B-C94A-4DE0-BF25-271CE38E1B35}">
      <dgm:prSet/>
      <dgm:spPr/>
      <dgm:t>
        <a:bodyPr/>
        <a:lstStyle/>
        <a:p>
          <a:endParaRPr lang="en-US" sz="2400" b="0">
            <a:latin typeface="Arial" panose="020B0604020202020204" pitchFamily="34" charset="0"/>
            <a:cs typeface="Arial" panose="020B0604020202020204" pitchFamily="34" charset="0"/>
          </a:endParaRPr>
        </a:p>
      </dgm:t>
    </dgm:pt>
    <dgm:pt modelId="{81192E14-79F7-43B2-8EC3-3EC54C8FC3B2}" type="sibTrans" cxnId="{B916788B-C94A-4DE0-BF25-271CE38E1B35}">
      <dgm:prSet/>
      <dgm:spPr/>
      <dgm:t>
        <a:bodyPr/>
        <a:lstStyle/>
        <a:p>
          <a:endParaRPr lang="en-US" sz="2400" b="0">
            <a:latin typeface="Arial" panose="020B0604020202020204" pitchFamily="34" charset="0"/>
            <a:cs typeface="Arial" panose="020B0604020202020204" pitchFamily="34" charset="0"/>
          </a:endParaRPr>
        </a:p>
      </dgm:t>
    </dgm:pt>
    <dgm:pt modelId="{D4D8EEC0-DE79-4B82-9218-3F257539F49B}">
      <dgm:prSet phldrT="[Text]" custT="1"/>
      <dgm:spPr/>
      <dgm:t>
        <a:bodyPr/>
        <a:lstStyle/>
        <a:p>
          <a:pPr>
            <a:buFont typeface="+mj-lt"/>
            <a:buAutoNum type="arabicPeriod"/>
          </a:pPr>
          <a:r>
            <a:rPr lang="en-US" sz="2400" b="0" dirty="0">
              <a:latin typeface="Arial" panose="020B0604020202020204" pitchFamily="34" charset="0"/>
              <a:cs typeface="Arial" panose="020B0604020202020204" pitchFamily="34" charset="0"/>
            </a:rPr>
            <a:t>Multiple systems not synchronized</a:t>
          </a:r>
        </a:p>
      </dgm:t>
    </dgm:pt>
    <dgm:pt modelId="{6CE46931-61AA-4BFD-81BC-4099AC822D82}" type="parTrans" cxnId="{624B7B4A-1B36-437E-A9F3-44C4A4A01939}">
      <dgm:prSet/>
      <dgm:spPr/>
      <dgm:t>
        <a:bodyPr/>
        <a:lstStyle/>
        <a:p>
          <a:endParaRPr lang="en-US" sz="2400" b="0">
            <a:latin typeface="Arial" panose="020B0604020202020204" pitchFamily="34" charset="0"/>
            <a:cs typeface="Arial" panose="020B0604020202020204" pitchFamily="34" charset="0"/>
          </a:endParaRPr>
        </a:p>
      </dgm:t>
    </dgm:pt>
    <dgm:pt modelId="{D25405A1-8CFA-49B4-9BBB-53F7C19C2AA3}" type="sibTrans" cxnId="{624B7B4A-1B36-437E-A9F3-44C4A4A01939}">
      <dgm:prSet/>
      <dgm:spPr/>
      <dgm:t>
        <a:bodyPr/>
        <a:lstStyle/>
        <a:p>
          <a:endParaRPr lang="en-US" sz="2400" b="0">
            <a:latin typeface="Arial" panose="020B0604020202020204" pitchFamily="34" charset="0"/>
            <a:cs typeface="Arial" panose="020B0604020202020204" pitchFamily="34" charset="0"/>
          </a:endParaRPr>
        </a:p>
      </dgm:t>
    </dgm:pt>
    <dgm:pt modelId="{0EB0B136-238A-41F9-B325-9F6AE8B56454}">
      <dgm:prSet phldrT="[Text]" custT="1"/>
      <dgm:spPr/>
      <dgm:t>
        <a:bodyPr/>
        <a:lstStyle/>
        <a:p>
          <a:pPr>
            <a:buFont typeface="+mj-lt"/>
            <a:buAutoNum type="arabicPeriod"/>
          </a:pPr>
          <a:r>
            <a:rPr lang="en-US" sz="2400" b="0" dirty="0">
              <a:latin typeface="Arial" panose="020B0604020202020204" pitchFamily="34" charset="0"/>
              <a:cs typeface="Arial" panose="020B0604020202020204" pitchFamily="34" charset="0"/>
            </a:rPr>
            <a:t>Supplier relationship management</a:t>
          </a:r>
        </a:p>
      </dgm:t>
    </dgm:pt>
    <dgm:pt modelId="{5453ED7C-738D-4FF3-A0CF-A28F9DB0937B}" type="parTrans" cxnId="{E895D59D-331F-47BC-A819-981D35197810}">
      <dgm:prSet/>
      <dgm:spPr/>
      <dgm:t>
        <a:bodyPr/>
        <a:lstStyle/>
        <a:p>
          <a:endParaRPr lang="en-US" sz="2400" b="0">
            <a:latin typeface="Arial" panose="020B0604020202020204" pitchFamily="34" charset="0"/>
            <a:cs typeface="Arial" panose="020B0604020202020204" pitchFamily="34" charset="0"/>
          </a:endParaRPr>
        </a:p>
      </dgm:t>
    </dgm:pt>
    <dgm:pt modelId="{F664C0C1-2194-4B8B-BA1A-998ADD6F747C}" type="sibTrans" cxnId="{E895D59D-331F-47BC-A819-981D35197810}">
      <dgm:prSet/>
      <dgm:spPr/>
      <dgm:t>
        <a:bodyPr/>
        <a:lstStyle/>
        <a:p>
          <a:endParaRPr lang="en-US" sz="2400" b="0">
            <a:latin typeface="Arial" panose="020B0604020202020204" pitchFamily="34" charset="0"/>
            <a:cs typeface="Arial" panose="020B0604020202020204" pitchFamily="34" charset="0"/>
          </a:endParaRPr>
        </a:p>
      </dgm:t>
    </dgm:pt>
    <dgm:pt modelId="{DC216191-E6C9-486C-BE1B-2A24F177D940}">
      <dgm:prSet phldrT="[Text]" custT="1"/>
      <dgm:spPr/>
      <dgm:t>
        <a:bodyPr/>
        <a:lstStyle/>
        <a:p>
          <a:pPr>
            <a:buFont typeface="+mj-lt"/>
            <a:buAutoNum type="arabicPeriod"/>
          </a:pPr>
          <a:r>
            <a:rPr lang="en-US" sz="2400" b="0" dirty="0">
              <a:latin typeface="Arial" panose="020B0604020202020204" pitchFamily="34" charset="0"/>
              <a:cs typeface="Arial" panose="020B0604020202020204" pitchFamily="34" charset="0"/>
            </a:rPr>
            <a:t>Customer relationship management</a:t>
          </a:r>
        </a:p>
      </dgm:t>
    </dgm:pt>
    <dgm:pt modelId="{DC031B8E-17CF-4869-ACA7-C1B4CFBE7402}" type="parTrans" cxnId="{FC419F1C-5D90-4794-B835-FA8E36F5B344}">
      <dgm:prSet/>
      <dgm:spPr/>
      <dgm:t>
        <a:bodyPr/>
        <a:lstStyle/>
        <a:p>
          <a:endParaRPr lang="en-US" sz="2400" b="0">
            <a:latin typeface="Arial" panose="020B0604020202020204" pitchFamily="34" charset="0"/>
            <a:cs typeface="Arial" panose="020B0604020202020204" pitchFamily="34" charset="0"/>
          </a:endParaRPr>
        </a:p>
      </dgm:t>
    </dgm:pt>
    <dgm:pt modelId="{86B5173C-C77C-48BE-BC8F-43AD4890B5A8}" type="sibTrans" cxnId="{FC419F1C-5D90-4794-B835-FA8E36F5B344}">
      <dgm:prSet/>
      <dgm:spPr/>
      <dgm:t>
        <a:bodyPr/>
        <a:lstStyle/>
        <a:p>
          <a:endParaRPr lang="en-US" sz="2400" b="0">
            <a:latin typeface="Arial" panose="020B0604020202020204" pitchFamily="34" charset="0"/>
            <a:cs typeface="Arial" panose="020B0604020202020204" pitchFamily="34" charset="0"/>
          </a:endParaRPr>
        </a:p>
      </dgm:t>
    </dgm:pt>
    <dgm:pt modelId="{355EB195-B740-447C-9D8C-2E00625E6592}">
      <dgm:prSet phldrT="[Text]" custT="1"/>
      <dgm:spPr/>
      <dgm:t>
        <a:bodyPr/>
        <a:lstStyle/>
        <a:p>
          <a:pPr>
            <a:buFont typeface="+mj-lt"/>
            <a:buAutoNum type="arabicPeriod"/>
          </a:pPr>
          <a:r>
            <a:rPr lang="en-US" sz="2400" b="0" dirty="0">
              <a:latin typeface="Arial" panose="020B0604020202020204" pitchFamily="34" charset="0"/>
              <a:cs typeface="Arial" panose="020B0604020202020204" pitchFamily="34" charset="0"/>
            </a:rPr>
            <a:t>Organizational need to analyze activities in a balanced way</a:t>
          </a:r>
        </a:p>
      </dgm:t>
    </dgm:pt>
    <dgm:pt modelId="{001411C8-0BA9-4CC5-84D7-E37C80E5390E}" type="parTrans" cxnId="{62E2EA61-BE55-4B8B-A4C5-206C1E54C805}">
      <dgm:prSet/>
      <dgm:spPr/>
      <dgm:t>
        <a:bodyPr/>
        <a:lstStyle/>
        <a:p>
          <a:endParaRPr lang="en-US" sz="2400" b="0">
            <a:latin typeface="Arial" panose="020B0604020202020204" pitchFamily="34" charset="0"/>
            <a:cs typeface="Arial" panose="020B0604020202020204" pitchFamily="34" charset="0"/>
          </a:endParaRPr>
        </a:p>
      </dgm:t>
    </dgm:pt>
    <dgm:pt modelId="{3E33BBD8-725D-4B6E-BDF1-38CE00700479}" type="sibTrans" cxnId="{62E2EA61-BE55-4B8B-A4C5-206C1E54C805}">
      <dgm:prSet/>
      <dgm:spPr/>
      <dgm:t>
        <a:bodyPr/>
        <a:lstStyle/>
        <a:p>
          <a:endParaRPr lang="en-US" sz="2400" b="0">
            <a:latin typeface="Arial" panose="020B0604020202020204" pitchFamily="34" charset="0"/>
            <a:cs typeface="Arial" panose="020B0604020202020204" pitchFamily="34" charset="0"/>
          </a:endParaRPr>
        </a:p>
      </dgm:t>
    </dgm:pt>
    <dgm:pt modelId="{2DBAB864-670B-401C-B839-7A292C5B7DA7}" type="pres">
      <dgm:prSet presAssocID="{84CDFF9C-19A6-448A-804F-01CDF509D6DD}" presName="linear" presStyleCnt="0">
        <dgm:presLayoutVars>
          <dgm:dir/>
          <dgm:animLvl val="lvl"/>
          <dgm:resizeHandles val="exact"/>
        </dgm:presLayoutVars>
      </dgm:prSet>
      <dgm:spPr/>
    </dgm:pt>
    <dgm:pt modelId="{7D048548-ECE6-47AF-B13E-17C58EDE04A5}" type="pres">
      <dgm:prSet presAssocID="{B07E0B45-6055-4992-BF54-440CF836131B}" presName="parentLin" presStyleCnt="0"/>
      <dgm:spPr/>
    </dgm:pt>
    <dgm:pt modelId="{D75C7B64-FF7A-40E4-99BE-AAD380058829}" type="pres">
      <dgm:prSet presAssocID="{B07E0B45-6055-4992-BF54-440CF836131B}" presName="parentLeftMargin" presStyleLbl="node1" presStyleIdx="0" presStyleCnt="5"/>
      <dgm:spPr/>
    </dgm:pt>
    <dgm:pt modelId="{38F994B4-2D87-4855-8BD4-741DF66A4DEF}" type="pres">
      <dgm:prSet presAssocID="{B07E0B45-6055-4992-BF54-440CF836131B}" presName="parentText" presStyleLbl="node1" presStyleIdx="0" presStyleCnt="5">
        <dgm:presLayoutVars>
          <dgm:chMax val="0"/>
          <dgm:bulletEnabled val="1"/>
        </dgm:presLayoutVars>
      </dgm:prSet>
      <dgm:spPr/>
    </dgm:pt>
    <dgm:pt modelId="{5AAE39C7-CFDD-4543-B2EF-0548EDADFEE8}" type="pres">
      <dgm:prSet presAssocID="{B07E0B45-6055-4992-BF54-440CF836131B}" presName="negativeSpace" presStyleCnt="0"/>
      <dgm:spPr/>
    </dgm:pt>
    <dgm:pt modelId="{5670A441-592A-4A05-B1C1-B0DDA3C45B60}" type="pres">
      <dgm:prSet presAssocID="{B07E0B45-6055-4992-BF54-440CF836131B}" presName="childText" presStyleLbl="conFgAcc1" presStyleIdx="0" presStyleCnt="5">
        <dgm:presLayoutVars>
          <dgm:bulletEnabled val="1"/>
        </dgm:presLayoutVars>
      </dgm:prSet>
      <dgm:spPr/>
    </dgm:pt>
    <dgm:pt modelId="{7F3BF7DF-A784-4BEF-A732-40D6EA6002AD}" type="pres">
      <dgm:prSet presAssocID="{81192E14-79F7-43B2-8EC3-3EC54C8FC3B2}" presName="spaceBetweenRectangles" presStyleCnt="0"/>
      <dgm:spPr/>
    </dgm:pt>
    <dgm:pt modelId="{2D0A53CD-06B1-4EB2-B541-EE551C7121CE}" type="pres">
      <dgm:prSet presAssocID="{D4D8EEC0-DE79-4B82-9218-3F257539F49B}" presName="parentLin" presStyleCnt="0"/>
      <dgm:spPr/>
    </dgm:pt>
    <dgm:pt modelId="{30243E18-C19D-4B52-A89D-0F484170294D}" type="pres">
      <dgm:prSet presAssocID="{D4D8EEC0-DE79-4B82-9218-3F257539F49B}" presName="parentLeftMargin" presStyleLbl="node1" presStyleIdx="0" presStyleCnt="5"/>
      <dgm:spPr/>
    </dgm:pt>
    <dgm:pt modelId="{35B785DB-6D4B-4298-B866-6FC1E24E09B5}" type="pres">
      <dgm:prSet presAssocID="{D4D8EEC0-DE79-4B82-9218-3F257539F49B}" presName="parentText" presStyleLbl="node1" presStyleIdx="1" presStyleCnt="5">
        <dgm:presLayoutVars>
          <dgm:chMax val="0"/>
          <dgm:bulletEnabled val="1"/>
        </dgm:presLayoutVars>
      </dgm:prSet>
      <dgm:spPr/>
    </dgm:pt>
    <dgm:pt modelId="{1CD4AB6E-921E-419C-9C3E-9C73A6BB69B1}" type="pres">
      <dgm:prSet presAssocID="{D4D8EEC0-DE79-4B82-9218-3F257539F49B}" presName="negativeSpace" presStyleCnt="0"/>
      <dgm:spPr/>
    </dgm:pt>
    <dgm:pt modelId="{9A81A6AB-37D8-4D57-BAEB-FA1219F62180}" type="pres">
      <dgm:prSet presAssocID="{D4D8EEC0-DE79-4B82-9218-3F257539F49B}" presName="childText" presStyleLbl="conFgAcc1" presStyleIdx="1" presStyleCnt="5">
        <dgm:presLayoutVars>
          <dgm:bulletEnabled val="1"/>
        </dgm:presLayoutVars>
      </dgm:prSet>
      <dgm:spPr/>
    </dgm:pt>
    <dgm:pt modelId="{59795BE5-E05C-4D97-81B9-F50706AA5F23}" type="pres">
      <dgm:prSet presAssocID="{D25405A1-8CFA-49B4-9BBB-53F7C19C2AA3}" presName="spaceBetweenRectangles" presStyleCnt="0"/>
      <dgm:spPr/>
    </dgm:pt>
    <dgm:pt modelId="{547E57D3-0ED7-444F-B5DC-811C4D517E7A}" type="pres">
      <dgm:prSet presAssocID="{355EB195-B740-447C-9D8C-2E00625E6592}" presName="parentLin" presStyleCnt="0"/>
      <dgm:spPr/>
    </dgm:pt>
    <dgm:pt modelId="{AA15A0D2-5CE9-4505-88CC-C9D12FF2568D}" type="pres">
      <dgm:prSet presAssocID="{355EB195-B740-447C-9D8C-2E00625E6592}" presName="parentLeftMargin" presStyleLbl="node1" presStyleIdx="1" presStyleCnt="5"/>
      <dgm:spPr/>
    </dgm:pt>
    <dgm:pt modelId="{6998269A-535A-46F5-8620-3E81DFBFDD96}" type="pres">
      <dgm:prSet presAssocID="{355EB195-B740-447C-9D8C-2E00625E6592}" presName="parentText" presStyleLbl="node1" presStyleIdx="2" presStyleCnt="5">
        <dgm:presLayoutVars>
          <dgm:chMax val="0"/>
          <dgm:bulletEnabled val="1"/>
        </dgm:presLayoutVars>
      </dgm:prSet>
      <dgm:spPr/>
    </dgm:pt>
    <dgm:pt modelId="{4419EBE8-C4E2-4768-9F8C-7C4AC269D8B9}" type="pres">
      <dgm:prSet presAssocID="{355EB195-B740-447C-9D8C-2E00625E6592}" presName="negativeSpace" presStyleCnt="0"/>
      <dgm:spPr/>
    </dgm:pt>
    <dgm:pt modelId="{A71BDF93-A40B-431D-9C70-36DF89B37D48}" type="pres">
      <dgm:prSet presAssocID="{355EB195-B740-447C-9D8C-2E00625E6592}" presName="childText" presStyleLbl="conFgAcc1" presStyleIdx="2" presStyleCnt="5">
        <dgm:presLayoutVars>
          <dgm:bulletEnabled val="1"/>
        </dgm:presLayoutVars>
      </dgm:prSet>
      <dgm:spPr/>
    </dgm:pt>
    <dgm:pt modelId="{FCA7B1EA-2798-4C37-8913-27B696E47C23}" type="pres">
      <dgm:prSet presAssocID="{3E33BBD8-725D-4B6E-BDF1-38CE00700479}" presName="spaceBetweenRectangles" presStyleCnt="0"/>
      <dgm:spPr/>
    </dgm:pt>
    <dgm:pt modelId="{B08E63AD-CAB9-4307-9D73-7E6752F6CEF2}" type="pres">
      <dgm:prSet presAssocID="{DC216191-E6C9-486C-BE1B-2A24F177D940}" presName="parentLin" presStyleCnt="0"/>
      <dgm:spPr/>
    </dgm:pt>
    <dgm:pt modelId="{9DEBE3B9-002E-455A-AD61-DF8D08D7FF29}" type="pres">
      <dgm:prSet presAssocID="{DC216191-E6C9-486C-BE1B-2A24F177D940}" presName="parentLeftMargin" presStyleLbl="node1" presStyleIdx="2" presStyleCnt="5"/>
      <dgm:spPr/>
    </dgm:pt>
    <dgm:pt modelId="{00930744-F253-4FB8-8E29-25C89356502F}" type="pres">
      <dgm:prSet presAssocID="{DC216191-E6C9-486C-BE1B-2A24F177D940}" presName="parentText" presStyleLbl="node1" presStyleIdx="3" presStyleCnt="5">
        <dgm:presLayoutVars>
          <dgm:chMax val="0"/>
          <dgm:bulletEnabled val="1"/>
        </dgm:presLayoutVars>
      </dgm:prSet>
      <dgm:spPr/>
    </dgm:pt>
    <dgm:pt modelId="{438D4093-357B-405F-8EFA-7ECFDC09BFE2}" type="pres">
      <dgm:prSet presAssocID="{DC216191-E6C9-486C-BE1B-2A24F177D940}" presName="negativeSpace" presStyleCnt="0"/>
      <dgm:spPr/>
    </dgm:pt>
    <dgm:pt modelId="{91CB38C7-7BDC-4223-9A69-2A379EAF1170}" type="pres">
      <dgm:prSet presAssocID="{DC216191-E6C9-486C-BE1B-2A24F177D940}" presName="childText" presStyleLbl="conFgAcc1" presStyleIdx="3" presStyleCnt="5">
        <dgm:presLayoutVars>
          <dgm:bulletEnabled val="1"/>
        </dgm:presLayoutVars>
      </dgm:prSet>
      <dgm:spPr/>
    </dgm:pt>
    <dgm:pt modelId="{80F35236-2CE1-4238-98F9-31E76F44DEA7}" type="pres">
      <dgm:prSet presAssocID="{86B5173C-C77C-48BE-BC8F-43AD4890B5A8}" presName="spaceBetweenRectangles" presStyleCnt="0"/>
      <dgm:spPr/>
    </dgm:pt>
    <dgm:pt modelId="{9935EEC3-00CF-4B00-9082-FE8C62F9FCFB}" type="pres">
      <dgm:prSet presAssocID="{0EB0B136-238A-41F9-B325-9F6AE8B56454}" presName="parentLin" presStyleCnt="0"/>
      <dgm:spPr/>
    </dgm:pt>
    <dgm:pt modelId="{06AB6BD7-B2BC-45D3-B7D3-C1575D90E7D2}" type="pres">
      <dgm:prSet presAssocID="{0EB0B136-238A-41F9-B325-9F6AE8B56454}" presName="parentLeftMargin" presStyleLbl="node1" presStyleIdx="3" presStyleCnt="5"/>
      <dgm:spPr/>
    </dgm:pt>
    <dgm:pt modelId="{BD0DE294-2F70-427B-9494-1435AC4925F4}" type="pres">
      <dgm:prSet presAssocID="{0EB0B136-238A-41F9-B325-9F6AE8B56454}" presName="parentText" presStyleLbl="node1" presStyleIdx="4" presStyleCnt="5">
        <dgm:presLayoutVars>
          <dgm:chMax val="0"/>
          <dgm:bulletEnabled val="1"/>
        </dgm:presLayoutVars>
      </dgm:prSet>
      <dgm:spPr/>
    </dgm:pt>
    <dgm:pt modelId="{D4AE83D6-F026-4853-ADF2-E2E961C96AD9}" type="pres">
      <dgm:prSet presAssocID="{0EB0B136-238A-41F9-B325-9F6AE8B56454}" presName="negativeSpace" presStyleCnt="0"/>
      <dgm:spPr/>
    </dgm:pt>
    <dgm:pt modelId="{F0E6811F-FDE1-445B-AAC2-97FE71BE4CB2}" type="pres">
      <dgm:prSet presAssocID="{0EB0B136-238A-41F9-B325-9F6AE8B56454}" presName="childText" presStyleLbl="conFgAcc1" presStyleIdx="4" presStyleCnt="5">
        <dgm:presLayoutVars>
          <dgm:bulletEnabled val="1"/>
        </dgm:presLayoutVars>
      </dgm:prSet>
      <dgm:spPr/>
    </dgm:pt>
  </dgm:ptLst>
  <dgm:cxnLst>
    <dgm:cxn modelId="{2EC4BE16-E488-431B-99FD-851B20768DAA}" type="presOf" srcId="{355EB195-B740-447C-9D8C-2E00625E6592}" destId="{AA15A0D2-5CE9-4505-88CC-C9D12FF2568D}" srcOrd="0" destOrd="0" presId="urn:microsoft.com/office/officeart/2005/8/layout/list1"/>
    <dgm:cxn modelId="{FC419F1C-5D90-4794-B835-FA8E36F5B344}" srcId="{84CDFF9C-19A6-448A-804F-01CDF509D6DD}" destId="{DC216191-E6C9-486C-BE1B-2A24F177D940}" srcOrd="3" destOrd="0" parTransId="{DC031B8E-17CF-4869-ACA7-C1B4CFBE7402}" sibTransId="{86B5173C-C77C-48BE-BC8F-43AD4890B5A8}"/>
    <dgm:cxn modelId="{F604255C-150D-4B7C-A0F3-6347EEE3098A}" type="presOf" srcId="{DC216191-E6C9-486C-BE1B-2A24F177D940}" destId="{9DEBE3B9-002E-455A-AD61-DF8D08D7FF29}" srcOrd="0" destOrd="0" presId="urn:microsoft.com/office/officeart/2005/8/layout/list1"/>
    <dgm:cxn modelId="{4C8DDC41-75C7-4375-BCC3-E4E676B012C3}" type="presOf" srcId="{D4D8EEC0-DE79-4B82-9218-3F257539F49B}" destId="{30243E18-C19D-4B52-A89D-0F484170294D}" srcOrd="0" destOrd="0" presId="urn:microsoft.com/office/officeart/2005/8/layout/list1"/>
    <dgm:cxn modelId="{62E2EA61-BE55-4B8B-A4C5-206C1E54C805}" srcId="{84CDFF9C-19A6-448A-804F-01CDF509D6DD}" destId="{355EB195-B740-447C-9D8C-2E00625E6592}" srcOrd="2" destOrd="0" parTransId="{001411C8-0BA9-4CC5-84D7-E37C80E5390E}" sibTransId="{3E33BBD8-725D-4B6E-BDF1-38CE00700479}"/>
    <dgm:cxn modelId="{624B7B4A-1B36-437E-A9F3-44C4A4A01939}" srcId="{84CDFF9C-19A6-448A-804F-01CDF509D6DD}" destId="{D4D8EEC0-DE79-4B82-9218-3F257539F49B}" srcOrd="1" destOrd="0" parTransId="{6CE46931-61AA-4BFD-81BC-4099AC822D82}" sibTransId="{D25405A1-8CFA-49B4-9BBB-53F7C19C2AA3}"/>
    <dgm:cxn modelId="{D37D9B73-6588-4F14-B5F1-83A0074FAF66}" type="presOf" srcId="{DC216191-E6C9-486C-BE1B-2A24F177D940}" destId="{00930744-F253-4FB8-8E29-25C89356502F}" srcOrd="1" destOrd="0" presId="urn:microsoft.com/office/officeart/2005/8/layout/list1"/>
    <dgm:cxn modelId="{56235355-D4A4-4D51-9C80-7B3A4E8DA5B9}" type="presOf" srcId="{355EB195-B740-447C-9D8C-2E00625E6592}" destId="{6998269A-535A-46F5-8620-3E81DFBFDD96}" srcOrd="1" destOrd="0" presId="urn:microsoft.com/office/officeart/2005/8/layout/list1"/>
    <dgm:cxn modelId="{31D0787C-C28D-4730-B622-47868CB0D087}" type="presOf" srcId="{B07E0B45-6055-4992-BF54-440CF836131B}" destId="{38F994B4-2D87-4855-8BD4-741DF66A4DEF}" srcOrd="1" destOrd="0" presId="urn:microsoft.com/office/officeart/2005/8/layout/list1"/>
    <dgm:cxn modelId="{B916788B-C94A-4DE0-BF25-271CE38E1B35}" srcId="{84CDFF9C-19A6-448A-804F-01CDF509D6DD}" destId="{B07E0B45-6055-4992-BF54-440CF836131B}" srcOrd="0" destOrd="0" parTransId="{894563D1-F434-4F4E-9850-736091066851}" sibTransId="{81192E14-79F7-43B2-8EC3-3EC54C8FC3B2}"/>
    <dgm:cxn modelId="{E895D59D-331F-47BC-A819-981D35197810}" srcId="{84CDFF9C-19A6-448A-804F-01CDF509D6DD}" destId="{0EB0B136-238A-41F9-B325-9F6AE8B56454}" srcOrd="4" destOrd="0" parTransId="{5453ED7C-738D-4FF3-A0CF-A28F9DB0937B}" sibTransId="{F664C0C1-2194-4B8B-BA1A-998ADD6F747C}"/>
    <dgm:cxn modelId="{4AAC68A9-877E-45A2-9AB2-338ED0FD8E6F}" type="presOf" srcId="{0EB0B136-238A-41F9-B325-9F6AE8B56454}" destId="{BD0DE294-2F70-427B-9494-1435AC4925F4}" srcOrd="1" destOrd="0" presId="urn:microsoft.com/office/officeart/2005/8/layout/list1"/>
    <dgm:cxn modelId="{E1CA49B9-97D0-4A25-A4DC-2104F057B4D2}" type="presOf" srcId="{D4D8EEC0-DE79-4B82-9218-3F257539F49B}" destId="{35B785DB-6D4B-4298-B866-6FC1E24E09B5}" srcOrd="1" destOrd="0" presId="urn:microsoft.com/office/officeart/2005/8/layout/list1"/>
    <dgm:cxn modelId="{06F5F6DA-A1DF-41F7-9709-AB48B3CDEFAD}" type="presOf" srcId="{0EB0B136-238A-41F9-B325-9F6AE8B56454}" destId="{06AB6BD7-B2BC-45D3-B7D3-C1575D90E7D2}" srcOrd="0" destOrd="0" presId="urn:microsoft.com/office/officeart/2005/8/layout/list1"/>
    <dgm:cxn modelId="{861336EC-6922-4580-B99A-5A623055B7E2}" type="presOf" srcId="{B07E0B45-6055-4992-BF54-440CF836131B}" destId="{D75C7B64-FF7A-40E4-99BE-AAD380058829}" srcOrd="0" destOrd="0" presId="urn:microsoft.com/office/officeart/2005/8/layout/list1"/>
    <dgm:cxn modelId="{7F97F1EF-595E-4E70-BD31-9AF6B1BCD018}" type="presOf" srcId="{84CDFF9C-19A6-448A-804F-01CDF509D6DD}" destId="{2DBAB864-670B-401C-B839-7A292C5B7DA7}" srcOrd="0" destOrd="0" presId="urn:microsoft.com/office/officeart/2005/8/layout/list1"/>
    <dgm:cxn modelId="{C7F02D23-6263-4FD6-AE12-B6152467C4E7}" type="presParOf" srcId="{2DBAB864-670B-401C-B839-7A292C5B7DA7}" destId="{7D048548-ECE6-47AF-B13E-17C58EDE04A5}" srcOrd="0" destOrd="0" presId="urn:microsoft.com/office/officeart/2005/8/layout/list1"/>
    <dgm:cxn modelId="{F3F8B8EE-3752-4F54-95C2-863F3969D78C}" type="presParOf" srcId="{7D048548-ECE6-47AF-B13E-17C58EDE04A5}" destId="{D75C7B64-FF7A-40E4-99BE-AAD380058829}" srcOrd="0" destOrd="0" presId="urn:microsoft.com/office/officeart/2005/8/layout/list1"/>
    <dgm:cxn modelId="{D901A178-25F1-4965-973E-34A3E475AF45}" type="presParOf" srcId="{7D048548-ECE6-47AF-B13E-17C58EDE04A5}" destId="{38F994B4-2D87-4855-8BD4-741DF66A4DEF}" srcOrd="1" destOrd="0" presId="urn:microsoft.com/office/officeart/2005/8/layout/list1"/>
    <dgm:cxn modelId="{B529CB6F-C709-49F2-B29A-7BD88DE12FC2}" type="presParOf" srcId="{2DBAB864-670B-401C-B839-7A292C5B7DA7}" destId="{5AAE39C7-CFDD-4543-B2EF-0548EDADFEE8}" srcOrd="1" destOrd="0" presId="urn:microsoft.com/office/officeart/2005/8/layout/list1"/>
    <dgm:cxn modelId="{F486E036-8390-4248-ABA0-B1D9F47A4B77}" type="presParOf" srcId="{2DBAB864-670B-401C-B839-7A292C5B7DA7}" destId="{5670A441-592A-4A05-B1C1-B0DDA3C45B60}" srcOrd="2" destOrd="0" presId="urn:microsoft.com/office/officeart/2005/8/layout/list1"/>
    <dgm:cxn modelId="{C70E63FC-D683-4652-8C58-22A21728BA0F}" type="presParOf" srcId="{2DBAB864-670B-401C-B839-7A292C5B7DA7}" destId="{7F3BF7DF-A784-4BEF-A732-40D6EA6002AD}" srcOrd="3" destOrd="0" presId="urn:microsoft.com/office/officeart/2005/8/layout/list1"/>
    <dgm:cxn modelId="{6CC150F6-5F6A-4220-A432-BC762D2672D8}" type="presParOf" srcId="{2DBAB864-670B-401C-B839-7A292C5B7DA7}" destId="{2D0A53CD-06B1-4EB2-B541-EE551C7121CE}" srcOrd="4" destOrd="0" presId="urn:microsoft.com/office/officeart/2005/8/layout/list1"/>
    <dgm:cxn modelId="{A5772E8C-D6F9-45D3-9EA6-4486CA00AFC2}" type="presParOf" srcId="{2D0A53CD-06B1-4EB2-B541-EE551C7121CE}" destId="{30243E18-C19D-4B52-A89D-0F484170294D}" srcOrd="0" destOrd="0" presId="urn:microsoft.com/office/officeart/2005/8/layout/list1"/>
    <dgm:cxn modelId="{F36AE6CD-6499-468C-AFE4-5936EC3D8767}" type="presParOf" srcId="{2D0A53CD-06B1-4EB2-B541-EE551C7121CE}" destId="{35B785DB-6D4B-4298-B866-6FC1E24E09B5}" srcOrd="1" destOrd="0" presId="urn:microsoft.com/office/officeart/2005/8/layout/list1"/>
    <dgm:cxn modelId="{D2459B5F-2D8A-4D50-97E4-9D5AF7818AB6}" type="presParOf" srcId="{2DBAB864-670B-401C-B839-7A292C5B7DA7}" destId="{1CD4AB6E-921E-419C-9C3E-9C73A6BB69B1}" srcOrd="5" destOrd="0" presId="urn:microsoft.com/office/officeart/2005/8/layout/list1"/>
    <dgm:cxn modelId="{4FE4716F-684F-4B67-8261-5CE8AEC6B45F}" type="presParOf" srcId="{2DBAB864-670B-401C-B839-7A292C5B7DA7}" destId="{9A81A6AB-37D8-4D57-BAEB-FA1219F62180}" srcOrd="6" destOrd="0" presId="urn:microsoft.com/office/officeart/2005/8/layout/list1"/>
    <dgm:cxn modelId="{A149DB2C-0982-465C-8085-B766C4C36231}" type="presParOf" srcId="{2DBAB864-670B-401C-B839-7A292C5B7DA7}" destId="{59795BE5-E05C-4D97-81B9-F50706AA5F23}" srcOrd="7" destOrd="0" presId="urn:microsoft.com/office/officeart/2005/8/layout/list1"/>
    <dgm:cxn modelId="{27ABD560-CFF2-4044-92DB-814EA46D4291}" type="presParOf" srcId="{2DBAB864-670B-401C-B839-7A292C5B7DA7}" destId="{547E57D3-0ED7-444F-B5DC-811C4D517E7A}" srcOrd="8" destOrd="0" presId="urn:microsoft.com/office/officeart/2005/8/layout/list1"/>
    <dgm:cxn modelId="{E3D092CB-85C5-43E9-B799-F00632D70ECA}" type="presParOf" srcId="{547E57D3-0ED7-444F-B5DC-811C4D517E7A}" destId="{AA15A0D2-5CE9-4505-88CC-C9D12FF2568D}" srcOrd="0" destOrd="0" presId="urn:microsoft.com/office/officeart/2005/8/layout/list1"/>
    <dgm:cxn modelId="{8A936188-414D-4990-AAF0-590E5E8373B8}" type="presParOf" srcId="{547E57D3-0ED7-444F-B5DC-811C4D517E7A}" destId="{6998269A-535A-46F5-8620-3E81DFBFDD96}" srcOrd="1" destOrd="0" presId="urn:microsoft.com/office/officeart/2005/8/layout/list1"/>
    <dgm:cxn modelId="{B0ED06B3-84D4-4435-8EF0-1FD251BC6CEE}" type="presParOf" srcId="{2DBAB864-670B-401C-B839-7A292C5B7DA7}" destId="{4419EBE8-C4E2-4768-9F8C-7C4AC269D8B9}" srcOrd="9" destOrd="0" presId="urn:microsoft.com/office/officeart/2005/8/layout/list1"/>
    <dgm:cxn modelId="{72297414-9869-4B74-9011-0830AE684962}" type="presParOf" srcId="{2DBAB864-670B-401C-B839-7A292C5B7DA7}" destId="{A71BDF93-A40B-431D-9C70-36DF89B37D48}" srcOrd="10" destOrd="0" presId="urn:microsoft.com/office/officeart/2005/8/layout/list1"/>
    <dgm:cxn modelId="{D9974A91-8F88-4B7E-8F88-869449C800FF}" type="presParOf" srcId="{2DBAB864-670B-401C-B839-7A292C5B7DA7}" destId="{FCA7B1EA-2798-4C37-8913-27B696E47C23}" srcOrd="11" destOrd="0" presId="urn:microsoft.com/office/officeart/2005/8/layout/list1"/>
    <dgm:cxn modelId="{1797FE26-D424-43B9-966F-AF562154C522}" type="presParOf" srcId="{2DBAB864-670B-401C-B839-7A292C5B7DA7}" destId="{B08E63AD-CAB9-4307-9D73-7E6752F6CEF2}" srcOrd="12" destOrd="0" presId="urn:microsoft.com/office/officeart/2005/8/layout/list1"/>
    <dgm:cxn modelId="{16593795-5836-4FE2-98DA-8CF80BC30E23}" type="presParOf" srcId="{B08E63AD-CAB9-4307-9D73-7E6752F6CEF2}" destId="{9DEBE3B9-002E-455A-AD61-DF8D08D7FF29}" srcOrd="0" destOrd="0" presId="urn:microsoft.com/office/officeart/2005/8/layout/list1"/>
    <dgm:cxn modelId="{168D9EDA-64A8-4E06-8C65-44C41D0BC49E}" type="presParOf" srcId="{B08E63AD-CAB9-4307-9D73-7E6752F6CEF2}" destId="{00930744-F253-4FB8-8E29-25C89356502F}" srcOrd="1" destOrd="0" presId="urn:microsoft.com/office/officeart/2005/8/layout/list1"/>
    <dgm:cxn modelId="{D9114467-ABEC-4AE4-BB9C-867BAE869738}" type="presParOf" srcId="{2DBAB864-670B-401C-B839-7A292C5B7DA7}" destId="{438D4093-357B-405F-8EFA-7ECFDC09BFE2}" srcOrd="13" destOrd="0" presId="urn:microsoft.com/office/officeart/2005/8/layout/list1"/>
    <dgm:cxn modelId="{A6C3CE60-2723-4832-8F39-00EDEF4B5452}" type="presParOf" srcId="{2DBAB864-670B-401C-B839-7A292C5B7DA7}" destId="{91CB38C7-7BDC-4223-9A69-2A379EAF1170}" srcOrd="14" destOrd="0" presId="urn:microsoft.com/office/officeart/2005/8/layout/list1"/>
    <dgm:cxn modelId="{D9C7BB3E-1C2B-445C-9A70-74F965D6683A}" type="presParOf" srcId="{2DBAB864-670B-401C-B839-7A292C5B7DA7}" destId="{80F35236-2CE1-4238-98F9-31E76F44DEA7}" srcOrd="15" destOrd="0" presId="urn:microsoft.com/office/officeart/2005/8/layout/list1"/>
    <dgm:cxn modelId="{C9F7FE08-A9BC-482D-ACF7-39F92EC14922}" type="presParOf" srcId="{2DBAB864-670B-401C-B839-7A292C5B7DA7}" destId="{9935EEC3-00CF-4B00-9082-FE8C62F9FCFB}" srcOrd="16" destOrd="0" presId="urn:microsoft.com/office/officeart/2005/8/layout/list1"/>
    <dgm:cxn modelId="{45373FE2-12F0-4158-921A-64D45B1E89E9}" type="presParOf" srcId="{9935EEC3-00CF-4B00-9082-FE8C62F9FCFB}" destId="{06AB6BD7-B2BC-45D3-B7D3-C1575D90E7D2}" srcOrd="0" destOrd="0" presId="urn:microsoft.com/office/officeart/2005/8/layout/list1"/>
    <dgm:cxn modelId="{E34FCAFB-9CBB-47D7-A634-8B3B46BAC6BB}" type="presParOf" srcId="{9935EEC3-00CF-4B00-9082-FE8C62F9FCFB}" destId="{BD0DE294-2F70-427B-9494-1435AC4925F4}" srcOrd="1" destOrd="0" presId="urn:microsoft.com/office/officeart/2005/8/layout/list1"/>
    <dgm:cxn modelId="{0C8CCA02-8FD5-4C6A-B816-8CD1F00C01E0}" type="presParOf" srcId="{2DBAB864-670B-401C-B839-7A292C5B7DA7}" destId="{D4AE83D6-F026-4853-ADF2-E2E961C96AD9}" srcOrd="17" destOrd="0" presId="urn:microsoft.com/office/officeart/2005/8/layout/list1"/>
    <dgm:cxn modelId="{D0B558FB-9493-4FC8-8B31-18D97B61C26A}" type="presParOf" srcId="{2DBAB864-670B-401C-B839-7A292C5B7DA7}" destId="{F0E6811F-FDE1-445B-AAC2-97FE71BE4CB2}"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70A441-592A-4A05-B1C1-B0DDA3C45B60}">
      <dsp:nvSpPr>
        <dsp:cNvPr id="0" name=""/>
        <dsp:cNvSpPr/>
      </dsp:nvSpPr>
      <dsp:spPr>
        <a:xfrm>
          <a:off x="0" y="427940"/>
          <a:ext cx="9525359" cy="604800"/>
        </a:xfrm>
        <a:prstGeom prst="rect">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a:sp3d z="-161800" extrusionH="10600" prstMaterial="matte">
          <a:bevelT w="90600" h="18600" prst="softRound"/>
          <a:bevelB w="48600" h="8600" prst="relaxedInset"/>
        </a:sp3d>
      </dsp:spPr>
      <dsp:style>
        <a:lnRef idx="1">
          <a:scrgbClr r="0" g="0" b="0"/>
        </a:lnRef>
        <a:fillRef idx="1">
          <a:scrgbClr r="0" g="0" b="0"/>
        </a:fillRef>
        <a:effectRef idx="0">
          <a:scrgbClr r="0" g="0" b="0"/>
        </a:effectRef>
        <a:fontRef idx="minor"/>
      </dsp:style>
    </dsp:sp>
    <dsp:sp modelId="{38F994B4-2D87-4855-8BD4-741DF66A4DEF}">
      <dsp:nvSpPr>
        <dsp:cNvPr id="0" name=""/>
        <dsp:cNvSpPr/>
      </dsp:nvSpPr>
      <dsp:spPr>
        <a:xfrm>
          <a:off x="476267" y="73700"/>
          <a:ext cx="6667751" cy="708480"/>
        </a:xfrm>
        <a:prstGeom prst="roundRect">
          <a:avLst/>
        </a:prstGeom>
        <a:solidFill>
          <a:schemeClr val="lt1">
            <a:hueOff val="0"/>
            <a:satOff val="0"/>
            <a:lumOff val="0"/>
            <a:alphaOff val="0"/>
          </a:schemeClr>
        </a:solidFill>
        <a:ln>
          <a:noFill/>
        </a:ln>
        <a:effectLst>
          <a:outerShdw blurRad="40000" dist="20000" dir="5400000" rotWithShape="0">
            <a:srgbClr val="000000">
              <a:alpha val="38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252025" tIns="0" rIns="252025" bIns="0" numCol="1" spcCol="1270" anchor="ctr" anchorCtr="0">
          <a:noAutofit/>
        </a:bodyPr>
        <a:lstStyle/>
        <a:p>
          <a:pPr marL="0" lvl="0" indent="0" algn="l" defTabSz="1066800">
            <a:lnSpc>
              <a:spcPct val="90000"/>
            </a:lnSpc>
            <a:spcBef>
              <a:spcPct val="0"/>
            </a:spcBef>
            <a:spcAft>
              <a:spcPct val="35000"/>
            </a:spcAft>
            <a:buFont typeface="+mj-lt"/>
            <a:buNone/>
          </a:pPr>
          <a:r>
            <a:rPr lang="en-US" sz="2400" b="0" kern="1200" dirty="0">
              <a:latin typeface="Arial" panose="020B0604020202020204" pitchFamily="34" charset="0"/>
              <a:cs typeface="Arial" panose="020B0604020202020204" pitchFamily="34" charset="0"/>
            </a:rPr>
            <a:t>No single system of records</a:t>
          </a:r>
        </a:p>
      </dsp:txBody>
      <dsp:txXfrm>
        <a:off x="510852" y="108285"/>
        <a:ext cx="6598581" cy="639310"/>
      </dsp:txXfrm>
    </dsp:sp>
    <dsp:sp modelId="{9A81A6AB-37D8-4D57-BAEB-FA1219F62180}">
      <dsp:nvSpPr>
        <dsp:cNvPr id="0" name=""/>
        <dsp:cNvSpPr/>
      </dsp:nvSpPr>
      <dsp:spPr>
        <a:xfrm>
          <a:off x="0" y="1516580"/>
          <a:ext cx="9525359" cy="604800"/>
        </a:xfrm>
        <a:prstGeom prst="rect">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a:sp3d z="-161800" extrusionH="10600" prstMaterial="matte">
          <a:bevelT w="90600" h="18600" prst="softRound"/>
          <a:bevelB w="48600" h="8600" prst="relaxedInset"/>
        </a:sp3d>
      </dsp:spPr>
      <dsp:style>
        <a:lnRef idx="1">
          <a:scrgbClr r="0" g="0" b="0"/>
        </a:lnRef>
        <a:fillRef idx="1">
          <a:scrgbClr r="0" g="0" b="0"/>
        </a:fillRef>
        <a:effectRef idx="0">
          <a:scrgbClr r="0" g="0" b="0"/>
        </a:effectRef>
        <a:fontRef idx="minor"/>
      </dsp:style>
    </dsp:sp>
    <dsp:sp modelId="{35B785DB-6D4B-4298-B866-6FC1E24E09B5}">
      <dsp:nvSpPr>
        <dsp:cNvPr id="0" name=""/>
        <dsp:cNvSpPr/>
      </dsp:nvSpPr>
      <dsp:spPr>
        <a:xfrm>
          <a:off x="476267" y="1162340"/>
          <a:ext cx="6667751" cy="708480"/>
        </a:xfrm>
        <a:prstGeom prst="roundRect">
          <a:avLst/>
        </a:prstGeom>
        <a:solidFill>
          <a:schemeClr val="lt1">
            <a:hueOff val="0"/>
            <a:satOff val="0"/>
            <a:lumOff val="0"/>
            <a:alphaOff val="0"/>
          </a:schemeClr>
        </a:solidFill>
        <a:ln>
          <a:noFill/>
        </a:ln>
        <a:effectLst>
          <a:outerShdw blurRad="40000" dist="20000" dir="5400000" rotWithShape="0">
            <a:srgbClr val="000000">
              <a:alpha val="38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252025" tIns="0" rIns="252025" bIns="0" numCol="1" spcCol="1270" anchor="ctr" anchorCtr="0">
          <a:noAutofit/>
        </a:bodyPr>
        <a:lstStyle/>
        <a:p>
          <a:pPr marL="0" lvl="0" indent="0" algn="l" defTabSz="1066800">
            <a:lnSpc>
              <a:spcPct val="90000"/>
            </a:lnSpc>
            <a:spcBef>
              <a:spcPct val="0"/>
            </a:spcBef>
            <a:spcAft>
              <a:spcPct val="35000"/>
            </a:spcAft>
            <a:buFont typeface="+mj-lt"/>
            <a:buNone/>
          </a:pPr>
          <a:r>
            <a:rPr lang="en-US" sz="2400" b="0" kern="1200" dirty="0">
              <a:latin typeface="Arial" panose="020B0604020202020204" pitchFamily="34" charset="0"/>
              <a:cs typeface="Arial" panose="020B0604020202020204" pitchFamily="34" charset="0"/>
            </a:rPr>
            <a:t>Multiple systems not synchronized</a:t>
          </a:r>
        </a:p>
      </dsp:txBody>
      <dsp:txXfrm>
        <a:off x="510852" y="1196925"/>
        <a:ext cx="6598581" cy="639310"/>
      </dsp:txXfrm>
    </dsp:sp>
    <dsp:sp modelId="{A71BDF93-A40B-431D-9C70-36DF89B37D48}">
      <dsp:nvSpPr>
        <dsp:cNvPr id="0" name=""/>
        <dsp:cNvSpPr/>
      </dsp:nvSpPr>
      <dsp:spPr>
        <a:xfrm>
          <a:off x="0" y="2605220"/>
          <a:ext cx="9525359" cy="604800"/>
        </a:xfrm>
        <a:prstGeom prst="rect">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a:sp3d z="-161800" extrusionH="10600" prstMaterial="matte">
          <a:bevelT w="90600" h="18600" prst="softRound"/>
          <a:bevelB w="48600" h="8600" prst="relaxedInset"/>
        </a:sp3d>
      </dsp:spPr>
      <dsp:style>
        <a:lnRef idx="1">
          <a:scrgbClr r="0" g="0" b="0"/>
        </a:lnRef>
        <a:fillRef idx="1">
          <a:scrgbClr r="0" g="0" b="0"/>
        </a:fillRef>
        <a:effectRef idx="0">
          <a:scrgbClr r="0" g="0" b="0"/>
        </a:effectRef>
        <a:fontRef idx="minor"/>
      </dsp:style>
    </dsp:sp>
    <dsp:sp modelId="{6998269A-535A-46F5-8620-3E81DFBFDD96}">
      <dsp:nvSpPr>
        <dsp:cNvPr id="0" name=""/>
        <dsp:cNvSpPr/>
      </dsp:nvSpPr>
      <dsp:spPr>
        <a:xfrm>
          <a:off x="476267" y="2250980"/>
          <a:ext cx="6667751" cy="708480"/>
        </a:xfrm>
        <a:prstGeom prst="roundRect">
          <a:avLst/>
        </a:prstGeom>
        <a:solidFill>
          <a:schemeClr val="lt1">
            <a:hueOff val="0"/>
            <a:satOff val="0"/>
            <a:lumOff val="0"/>
            <a:alphaOff val="0"/>
          </a:schemeClr>
        </a:solidFill>
        <a:ln>
          <a:noFill/>
        </a:ln>
        <a:effectLst>
          <a:outerShdw blurRad="40000" dist="20000" dir="5400000" rotWithShape="0">
            <a:srgbClr val="000000">
              <a:alpha val="38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252025" tIns="0" rIns="252025" bIns="0" numCol="1" spcCol="1270" anchor="ctr" anchorCtr="0">
          <a:noAutofit/>
        </a:bodyPr>
        <a:lstStyle/>
        <a:p>
          <a:pPr marL="0" lvl="0" indent="0" algn="l" defTabSz="1066800">
            <a:lnSpc>
              <a:spcPct val="90000"/>
            </a:lnSpc>
            <a:spcBef>
              <a:spcPct val="0"/>
            </a:spcBef>
            <a:spcAft>
              <a:spcPct val="35000"/>
            </a:spcAft>
            <a:buFont typeface="+mj-lt"/>
            <a:buNone/>
          </a:pPr>
          <a:r>
            <a:rPr lang="en-US" sz="2400" b="0" kern="1200" dirty="0">
              <a:latin typeface="Arial" panose="020B0604020202020204" pitchFamily="34" charset="0"/>
              <a:cs typeface="Arial" panose="020B0604020202020204" pitchFamily="34" charset="0"/>
            </a:rPr>
            <a:t>Organizational need to analyze activities in a balanced way</a:t>
          </a:r>
        </a:p>
      </dsp:txBody>
      <dsp:txXfrm>
        <a:off x="510852" y="2285565"/>
        <a:ext cx="6598581" cy="639310"/>
      </dsp:txXfrm>
    </dsp:sp>
    <dsp:sp modelId="{91CB38C7-7BDC-4223-9A69-2A379EAF1170}">
      <dsp:nvSpPr>
        <dsp:cNvPr id="0" name=""/>
        <dsp:cNvSpPr/>
      </dsp:nvSpPr>
      <dsp:spPr>
        <a:xfrm>
          <a:off x="0" y="3693860"/>
          <a:ext cx="9525359" cy="604800"/>
        </a:xfrm>
        <a:prstGeom prst="rect">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a:sp3d z="-161800" extrusionH="10600" prstMaterial="matte">
          <a:bevelT w="90600" h="18600" prst="softRound"/>
          <a:bevelB w="48600" h="8600" prst="relaxedInset"/>
        </a:sp3d>
      </dsp:spPr>
      <dsp:style>
        <a:lnRef idx="1">
          <a:scrgbClr r="0" g="0" b="0"/>
        </a:lnRef>
        <a:fillRef idx="1">
          <a:scrgbClr r="0" g="0" b="0"/>
        </a:fillRef>
        <a:effectRef idx="0">
          <a:scrgbClr r="0" g="0" b="0"/>
        </a:effectRef>
        <a:fontRef idx="minor"/>
      </dsp:style>
    </dsp:sp>
    <dsp:sp modelId="{00930744-F253-4FB8-8E29-25C89356502F}">
      <dsp:nvSpPr>
        <dsp:cNvPr id="0" name=""/>
        <dsp:cNvSpPr/>
      </dsp:nvSpPr>
      <dsp:spPr>
        <a:xfrm>
          <a:off x="476267" y="3339620"/>
          <a:ext cx="6667751" cy="708480"/>
        </a:xfrm>
        <a:prstGeom prst="roundRect">
          <a:avLst/>
        </a:prstGeom>
        <a:solidFill>
          <a:schemeClr val="lt1">
            <a:hueOff val="0"/>
            <a:satOff val="0"/>
            <a:lumOff val="0"/>
            <a:alphaOff val="0"/>
          </a:schemeClr>
        </a:solidFill>
        <a:ln>
          <a:noFill/>
        </a:ln>
        <a:effectLst>
          <a:outerShdw blurRad="40000" dist="20000" dir="5400000" rotWithShape="0">
            <a:srgbClr val="000000">
              <a:alpha val="38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252025" tIns="0" rIns="252025" bIns="0" numCol="1" spcCol="1270" anchor="ctr" anchorCtr="0">
          <a:noAutofit/>
        </a:bodyPr>
        <a:lstStyle/>
        <a:p>
          <a:pPr marL="0" lvl="0" indent="0" algn="l" defTabSz="1066800">
            <a:lnSpc>
              <a:spcPct val="90000"/>
            </a:lnSpc>
            <a:spcBef>
              <a:spcPct val="0"/>
            </a:spcBef>
            <a:spcAft>
              <a:spcPct val="35000"/>
            </a:spcAft>
            <a:buFont typeface="+mj-lt"/>
            <a:buNone/>
          </a:pPr>
          <a:r>
            <a:rPr lang="en-US" sz="2400" b="0" kern="1200" dirty="0">
              <a:latin typeface="Arial" panose="020B0604020202020204" pitchFamily="34" charset="0"/>
              <a:cs typeface="Arial" panose="020B0604020202020204" pitchFamily="34" charset="0"/>
            </a:rPr>
            <a:t>Customer relationship management</a:t>
          </a:r>
        </a:p>
      </dsp:txBody>
      <dsp:txXfrm>
        <a:off x="510852" y="3374205"/>
        <a:ext cx="6598581" cy="639310"/>
      </dsp:txXfrm>
    </dsp:sp>
    <dsp:sp modelId="{F0E6811F-FDE1-445B-AAC2-97FE71BE4CB2}">
      <dsp:nvSpPr>
        <dsp:cNvPr id="0" name=""/>
        <dsp:cNvSpPr/>
      </dsp:nvSpPr>
      <dsp:spPr>
        <a:xfrm>
          <a:off x="0" y="4782499"/>
          <a:ext cx="9525359" cy="604800"/>
        </a:xfrm>
        <a:prstGeom prst="rect">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a:sp3d z="-161800" extrusionH="10600" prstMaterial="matte">
          <a:bevelT w="90600" h="18600" prst="softRound"/>
          <a:bevelB w="48600" h="8600" prst="relaxedInset"/>
        </a:sp3d>
      </dsp:spPr>
      <dsp:style>
        <a:lnRef idx="1">
          <a:scrgbClr r="0" g="0" b="0"/>
        </a:lnRef>
        <a:fillRef idx="1">
          <a:scrgbClr r="0" g="0" b="0"/>
        </a:fillRef>
        <a:effectRef idx="0">
          <a:scrgbClr r="0" g="0" b="0"/>
        </a:effectRef>
        <a:fontRef idx="minor"/>
      </dsp:style>
    </dsp:sp>
    <dsp:sp modelId="{BD0DE294-2F70-427B-9494-1435AC4925F4}">
      <dsp:nvSpPr>
        <dsp:cNvPr id="0" name=""/>
        <dsp:cNvSpPr/>
      </dsp:nvSpPr>
      <dsp:spPr>
        <a:xfrm>
          <a:off x="476267" y="4428259"/>
          <a:ext cx="6667751" cy="708480"/>
        </a:xfrm>
        <a:prstGeom prst="roundRect">
          <a:avLst/>
        </a:prstGeom>
        <a:solidFill>
          <a:schemeClr val="lt1">
            <a:hueOff val="0"/>
            <a:satOff val="0"/>
            <a:lumOff val="0"/>
            <a:alphaOff val="0"/>
          </a:schemeClr>
        </a:solidFill>
        <a:ln>
          <a:noFill/>
        </a:ln>
        <a:effectLst>
          <a:outerShdw blurRad="40000" dist="20000" dir="5400000" rotWithShape="0">
            <a:srgbClr val="000000">
              <a:alpha val="38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252025" tIns="0" rIns="252025" bIns="0" numCol="1" spcCol="1270" anchor="ctr" anchorCtr="0">
          <a:noAutofit/>
        </a:bodyPr>
        <a:lstStyle/>
        <a:p>
          <a:pPr marL="0" lvl="0" indent="0" algn="l" defTabSz="1066800">
            <a:lnSpc>
              <a:spcPct val="90000"/>
            </a:lnSpc>
            <a:spcBef>
              <a:spcPct val="0"/>
            </a:spcBef>
            <a:spcAft>
              <a:spcPct val="35000"/>
            </a:spcAft>
            <a:buFont typeface="+mj-lt"/>
            <a:buNone/>
          </a:pPr>
          <a:r>
            <a:rPr lang="en-US" sz="2400" b="0" kern="1200" dirty="0">
              <a:latin typeface="Arial" panose="020B0604020202020204" pitchFamily="34" charset="0"/>
              <a:cs typeface="Arial" panose="020B0604020202020204" pitchFamily="34" charset="0"/>
            </a:rPr>
            <a:t>Supplier relationship management</a:t>
          </a:r>
        </a:p>
      </dsp:txBody>
      <dsp:txXfrm>
        <a:off x="510852" y="4462844"/>
        <a:ext cx="6598581" cy="63931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CF6856-8C47-4594-AC1F-3BE6D1B2888D}"/>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9BE92A8-176D-4B0B-88D8-82F4FD69A740}"/>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511DA2B2-C15E-4041-976E-F50F3795EFE4}" type="datetimeFigureOut">
              <a:rPr lang="en-US" smtClean="0"/>
              <a:t>8/15/2021</a:t>
            </a:fld>
            <a:endParaRPr lang="en-US" dirty="0"/>
          </a:p>
        </p:txBody>
      </p:sp>
      <p:sp>
        <p:nvSpPr>
          <p:cNvPr id="4" name="Footer Placeholder 3">
            <a:extLst>
              <a:ext uri="{FF2B5EF4-FFF2-40B4-BE49-F238E27FC236}">
                <a16:creationId xmlns:a16="http://schemas.microsoft.com/office/drawing/2014/main" id="{0EE94B9E-7C24-4993-B4D5-302700B99A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FDEE273-EFCC-4AF1-B831-C29C1B3BCE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3F800F-8413-4AEE-87CF-E93EDB51F230}" type="slidenum">
              <a:rPr lang="en-US" smtClean="0"/>
              <a:t>‹#›</a:t>
            </a:fld>
            <a:endParaRPr lang="en-US" dirty="0"/>
          </a:p>
        </p:txBody>
      </p:sp>
    </p:spTree>
    <p:extLst>
      <p:ext uri="{BB962C8B-B14F-4D97-AF65-F5344CB8AC3E}">
        <p14:creationId xmlns:p14="http://schemas.microsoft.com/office/powerpoint/2010/main" val="6108672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10T02:49:53.209"/>
    </inkml:context>
    <inkml:brush xml:id="br0">
      <inkml:brushProperty name="width" value="0.025" units="cm"/>
      <inkml:brushProperty name="height" value="0.025" units="cm"/>
      <inkml:brushProperty name="color" value="#333333"/>
    </inkml:brush>
  </inkml:definitions>
  <inkml:trace contextRef="#ctx0" brushRef="#br0">67 34 6528,'-30'-16'0,"5"5"-32,14 4-1088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9C85FD3B-EADC-4E04-BA0F-3147368C183D}" type="datetimeFigureOut">
              <a:rPr lang="en-US" smtClean="0"/>
              <a:t>8/15/2021</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47B85-5C92-49FC-98A0-16FD07ABB6F8}" type="slidenum">
              <a:rPr lang="en-US" smtClean="0"/>
              <a:t>‹#›</a:t>
            </a:fld>
            <a:endParaRPr lang="en-US" dirty="0"/>
          </a:p>
        </p:txBody>
      </p:sp>
    </p:spTree>
    <p:extLst>
      <p:ext uri="{BB962C8B-B14F-4D97-AF65-F5344CB8AC3E}">
        <p14:creationId xmlns:p14="http://schemas.microsoft.com/office/powerpoint/2010/main" val="295303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we introduce the concept of data warehousing, why organizations need to develop such a data management strategy, data warehouse architecture, and dimensional modeling techniques. </a:t>
            </a:r>
          </a:p>
        </p:txBody>
      </p:sp>
      <p:sp>
        <p:nvSpPr>
          <p:cNvPr id="4" name="Slide Number Placeholder 3"/>
          <p:cNvSpPr>
            <a:spLocks noGrp="1"/>
          </p:cNvSpPr>
          <p:nvPr>
            <p:ph type="sldNum" sz="quarter" idx="5"/>
          </p:nvPr>
        </p:nvSpPr>
        <p:spPr/>
        <p:txBody>
          <a:bodyPr/>
          <a:lstStyle/>
          <a:p>
            <a:fld id="{7B547B85-5C92-49FC-98A0-16FD07ABB6F8}" type="slidenum">
              <a:rPr lang="en-US" smtClean="0"/>
              <a:t>1</a:t>
            </a:fld>
            <a:endParaRPr lang="en-US" dirty="0"/>
          </a:p>
        </p:txBody>
      </p:sp>
    </p:spTree>
    <p:extLst>
      <p:ext uri="{BB962C8B-B14F-4D97-AF65-F5344CB8AC3E}">
        <p14:creationId xmlns:p14="http://schemas.microsoft.com/office/powerpoint/2010/main" val="393470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 warehouse is a subject-oriented, integrated, time-variant, non</a:t>
            </a:r>
            <a:r>
              <a:rPr lang="en-US" altLang="zh-CN" dirty="0"/>
              <a:t>-</a:t>
            </a:r>
            <a:r>
              <a:rPr lang="en-US" dirty="0"/>
              <a:t>updateable collection of data used in support of management decision-making processes and business intelligence. The process of developing, maintaining, and using data warehouses to inform decision making is called data warehousing. Four major characteristics of a data warehouse:</a:t>
            </a:r>
          </a:p>
          <a:p>
            <a:endParaRPr lang="en-US" dirty="0"/>
          </a:p>
          <a:p>
            <a:pPr marL="171450" indent="-171450">
              <a:buFont typeface="Arial" panose="020B0604020202020204" pitchFamily="34" charset="0"/>
              <a:buChar char="•"/>
            </a:pPr>
            <a:r>
              <a:rPr lang="en-US" sz="1200" b="1" i="1" u="none" strike="noStrike" kern="1200" baseline="0" dirty="0">
                <a:solidFill>
                  <a:schemeClr val="tx1"/>
                </a:solidFill>
                <a:latin typeface="+mn-lt"/>
                <a:ea typeface="+mn-ea"/>
                <a:cs typeface="+mn-cs"/>
              </a:rPr>
              <a:t>Subject-oriented </a:t>
            </a:r>
            <a:r>
              <a:rPr lang="en-US" sz="1200" b="0" i="0" u="none" strike="noStrike" kern="1200" baseline="0" dirty="0">
                <a:solidFill>
                  <a:schemeClr val="tx1"/>
                </a:solidFill>
                <a:latin typeface="+mn-lt"/>
                <a:ea typeface="+mn-ea"/>
                <a:cs typeface="+mn-cs"/>
              </a:rPr>
              <a:t>A data warehouse is organized around the key subjects of the enterprise, for example, customers, patients, students, products, and time.</a:t>
            </a:r>
          </a:p>
          <a:p>
            <a:pPr marL="171450" indent="-171450">
              <a:buFont typeface="Arial" panose="020B0604020202020204" pitchFamily="34" charset="0"/>
              <a:buChar char="•"/>
            </a:pPr>
            <a:r>
              <a:rPr lang="en-US" sz="1200" b="1" i="1" u="none" strike="noStrike" kern="1200" baseline="0" dirty="0">
                <a:solidFill>
                  <a:schemeClr val="tx1"/>
                </a:solidFill>
                <a:latin typeface="+mn-lt"/>
                <a:ea typeface="+mn-ea"/>
                <a:cs typeface="+mn-cs"/>
              </a:rPr>
              <a:t>Integrated </a:t>
            </a:r>
            <a:r>
              <a:rPr lang="en-US" sz="1200" b="0" i="0" u="none" strike="noStrike" kern="1200" baseline="0" dirty="0">
                <a:solidFill>
                  <a:schemeClr val="tx1"/>
                </a:solidFill>
                <a:latin typeface="+mn-lt"/>
                <a:ea typeface="+mn-ea"/>
                <a:cs typeface="+mn-cs"/>
              </a:rPr>
              <a:t>Data in a data warehouse is defined using consistent naming conventions, formats, encoding structures, and related characteristics gathered from several internal systems of record and also often from external sources. </a:t>
            </a:r>
          </a:p>
          <a:p>
            <a:pPr marL="171450" indent="-171450">
              <a:buFont typeface="Arial" panose="020B0604020202020204" pitchFamily="34" charset="0"/>
              <a:buChar char="•"/>
            </a:pPr>
            <a:r>
              <a:rPr lang="en-US" sz="1200" b="1" i="1" u="none" strike="noStrike" kern="1200" baseline="0" dirty="0">
                <a:solidFill>
                  <a:schemeClr val="tx1"/>
                </a:solidFill>
                <a:latin typeface="+mn-lt"/>
                <a:ea typeface="+mn-ea"/>
                <a:cs typeface="+mn-cs"/>
              </a:rPr>
              <a:t>Time-variant </a:t>
            </a:r>
            <a:r>
              <a:rPr lang="en-US" sz="1200" b="0" i="0" u="none" strike="noStrike" kern="1200" baseline="0" dirty="0">
                <a:solidFill>
                  <a:schemeClr val="tx1"/>
                </a:solidFill>
                <a:latin typeface="+mn-lt"/>
                <a:ea typeface="+mn-ea"/>
                <a:cs typeface="+mn-cs"/>
              </a:rPr>
              <a:t>Data in the data warehouse contain a time dimension so that they may be used to study trends and changes.</a:t>
            </a:r>
          </a:p>
          <a:p>
            <a:pPr marL="171450" indent="-171450">
              <a:buFont typeface="Arial" panose="020B0604020202020204" pitchFamily="34" charset="0"/>
              <a:buChar char="•"/>
            </a:pPr>
            <a:r>
              <a:rPr lang="en-US" sz="1200" b="1" i="1" u="none" strike="noStrike" kern="1200" baseline="0" dirty="0">
                <a:solidFill>
                  <a:schemeClr val="tx1"/>
                </a:solidFill>
                <a:latin typeface="+mn-lt"/>
                <a:ea typeface="+mn-ea"/>
                <a:cs typeface="+mn-cs"/>
              </a:rPr>
              <a:t>Non-updateable </a:t>
            </a:r>
            <a:r>
              <a:rPr lang="en-US" sz="1200" b="0" i="0" u="none" strike="noStrike" kern="1200" baseline="0" dirty="0">
                <a:solidFill>
                  <a:schemeClr val="tx1"/>
                </a:solidFill>
                <a:latin typeface="+mn-lt"/>
                <a:ea typeface="+mn-ea"/>
                <a:cs typeface="+mn-cs"/>
              </a:rPr>
              <a:t>Data in the data warehouse are loaded and refreshed from operational systems but cannot be updated by end users.</a:t>
            </a:r>
            <a:endParaRPr lang="en-US" dirty="0"/>
          </a:p>
          <a:p>
            <a:endParaRPr lang="en-US" dirty="0"/>
          </a:p>
          <a:p>
            <a:pPr eaLnBrk="1" hangingPunct="1"/>
            <a:r>
              <a:rPr lang="en-US" dirty="0"/>
              <a:t>Two major forces driving the need for data warehousing in organizations today. First, o</a:t>
            </a:r>
            <a:r>
              <a:rPr lang="en-US" altLang="en-US" dirty="0"/>
              <a:t>perational data and systems are fragmented and inconsistent, often in separate, incompatible</a:t>
            </a:r>
            <a:r>
              <a:rPr lang="en-US" altLang="en-US" baseline="0" dirty="0"/>
              <a:t> silos</a:t>
            </a:r>
            <a:r>
              <a:rPr lang="en-US" altLang="en-US" dirty="0"/>
              <a:t>. They may be distributed in several hardware and software platforms,</a:t>
            </a:r>
            <a:r>
              <a:rPr lang="en-US" altLang="en-US" baseline="0" dirty="0"/>
              <a:t> with some running Oracle in a UNIX operating system, and another involving ERP products like SAP. </a:t>
            </a:r>
            <a:r>
              <a:rPr lang="en-US" altLang="en-US" dirty="0"/>
              <a:t>But, for decision-making purposes, it is often necessary to provide a single, corporate view of that information.</a:t>
            </a:r>
          </a:p>
          <a:p>
            <a:pPr eaLnBrk="1" hangingPunct="1"/>
            <a:endParaRPr lang="en-US" altLang="en-US" dirty="0"/>
          </a:p>
          <a:p>
            <a:pPr eaLnBrk="1" hangingPunct="1"/>
            <a:r>
              <a:rPr lang="en-US" altLang="en-US" dirty="0"/>
              <a:t>Second, queries on data warehouses</a:t>
            </a:r>
            <a:r>
              <a:rPr lang="en-US" altLang="en-US" baseline="0" dirty="0"/>
              <a:t> are often very complex, because of needing to deal with managerial needs. This requires significant computing resources. </a:t>
            </a:r>
            <a:r>
              <a:rPr lang="en-US" altLang="en-US" dirty="0"/>
              <a:t>Operational systems</a:t>
            </a:r>
            <a:r>
              <a:rPr lang="en-US" altLang="en-US" baseline="0" dirty="0"/>
              <a:t> should not need to compete for resources with data warehouses, so these should be separated. Also, as we’ll see, the data warehouse structure is different from an operational database, with much less need for normalization.</a:t>
            </a:r>
            <a:endParaRPr lang="en-US" altLang="en-US" dirty="0"/>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a:t>
            </a:fld>
            <a:endParaRPr lang="en-US" dirty="0"/>
          </a:p>
        </p:txBody>
      </p:sp>
    </p:spTree>
    <p:extLst>
      <p:ext uri="{BB962C8B-B14F-4D97-AF65-F5344CB8AC3E}">
        <p14:creationId xmlns:p14="http://schemas.microsoft.com/office/powerpoint/2010/main" val="74012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Let’s look at this simple example to understand the difficulty of deriving a single corporate view. This figure shows three tables from three separate systems of record, each containing similar student data. The STUDENT DATA table is from the class registration system, the STUDENT EMPLOYEE table is from the personnel system, and the STUDENT HEALTH table is from a health center system.</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Suppose we want to develop a profile for each student, consolidating all data into a single file format. Some of the issues that you must resolve are as follows:</a:t>
            </a:r>
          </a:p>
          <a:p>
            <a:pPr marL="171450" indent="-171450">
              <a:buFont typeface="Arial" panose="020B0604020202020204" pitchFamily="34" charset="0"/>
              <a:buChar char="•"/>
            </a:pPr>
            <a:r>
              <a:rPr lang="en-US" sz="1200" b="1" i="1" u="none" strike="noStrike" kern="1200" baseline="0" dirty="0">
                <a:solidFill>
                  <a:schemeClr val="tx1"/>
                </a:solidFill>
                <a:latin typeface="+mn-lt"/>
                <a:ea typeface="+mn-ea"/>
                <a:cs typeface="+mn-cs"/>
              </a:rPr>
              <a:t>Inconsistent key structures </a:t>
            </a:r>
            <a:r>
              <a:rPr lang="en-US" sz="1200" b="0" i="0" u="none" strike="noStrike" kern="1200" baseline="0" dirty="0">
                <a:solidFill>
                  <a:schemeClr val="tx1"/>
                </a:solidFill>
                <a:latin typeface="+mn-lt"/>
                <a:ea typeface="+mn-ea"/>
                <a:cs typeface="+mn-cs"/>
              </a:rPr>
              <a:t>The primary key of the first two tables is some version of the student Social Security number, whereas the primary key of STUDENT HEALTH is </a:t>
            </a:r>
            <a:r>
              <a:rPr lang="en-US" sz="1200" b="0" i="0" u="none" strike="noStrike" kern="1200" baseline="0" dirty="0" err="1">
                <a:solidFill>
                  <a:schemeClr val="tx1"/>
                </a:solidFill>
                <a:latin typeface="+mn-lt"/>
                <a:ea typeface="+mn-ea"/>
                <a:cs typeface="+mn-cs"/>
              </a:rPr>
              <a:t>StudentName</a:t>
            </a:r>
            <a:r>
              <a:rPr lang="en-US" sz="1200" b="0" i="0" u="none" strike="noStrike" kern="1200" baseline="0" dirty="0">
                <a:solidFill>
                  <a:schemeClr val="tx1"/>
                </a:solidFill>
                <a:latin typeface="+mn-lt"/>
                <a:ea typeface="+mn-ea"/>
                <a:cs typeface="+mn-cs"/>
              </a:rPr>
              <a:t>.</a:t>
            </a:r>
          </a:p>
          <a:p>
            <a:pPr marL="171450" indent="-171450">
              <a:buFont typeface="Arial" panose="020B0604020202020204" pitchFamily="34" charset="0"/>
              <a:buChar char="•"/>
            </a:pPr>
            <a:r>
              <a:rPr lang="en-US" sz="1200" b="1" i="1" u="none" strike="noStrike" kern="1200" baseline="0" dirty="0">
                <a:solidFill>
                  <a:schemeClr val="tx1"/>
                </a:solidFill>
                <a:latin typeface="+mn-lt"/>
                <a:ea typeface="+mn-ea"/>
                <a:cs typeface="+mn-cs"/>
              </a:rPr>
              <a:t>Synonyms </a:t>
            </a:r>
            <a:r>
              <a:rPr lang="en-US" sz="1200" b="0" i="0" u="none" strike="noStrike" kern="1200" baseline="0" dirty="0">
                <a:solidFill>
                  <a:schemeClr val="tx1"/>
                </a:solidFill>
                <a:latin typeface="+mn-lt"/>
                <a:ea typeface="+mn-ea"/>
                <a:cs typeface="+mn-cs"/>
              </a:rPr>
              <a:t>In STUDENT DATA, the primary key is named </a:t>
            </a:r>
            <a:r>
              <a:rPr lang="en-US" sz="1200" b="0" i="0" u="none" strike="noStrike" kern="1200" baseline="0" dirty="0" err="1">
                <a:solidFill>
                  <a:schemeClr val="tx1"/>
                </a:solidFill>
                <a:latin typeface="+mn-lt"/>
                <a:ea typeface="+mn-ea"/>
                <a:cs typeface="+mn-cs"/>
              </a:rPr>
              <a:t>StudentNo</a:t>
            </a:r>
            <a:r>
              <a:rPr lang="en-US" sz="1200" b="0" i="0" u="none" strike="noStrike" kern="1200" baseline="0" dirty="0">
                <a:solidFill>
                  <a:schemeClr val="tx1"/>
                </a:solidFill>
                <a:latin typeface="+mn-lt"/>
                <a:ea typeface="+mn-ea"/>
                <a:cs typeface="+mn-cs"/>
              </a:rPr>
              <a:t>, whereas in STUDENT EMPLOYEE it is named </a:t>
            </a:r>
            <a:r>
              <a:rPr lang="en-US" sz="1200" b="0" i="0" u="none" strike="noStrike" kern="1200" baseline="0" dirty="0" err="1">
                <a:solidFill>
                  <a:schemeClr val="tx1"/>
                </a:solidFill>
                <a:latin typeface="+mn-lt"/>
                <a:ea typeface="+mn-ea"/>
                <a:cs typeface="+mn-cs"/>
              </a:rPr>
              <a:t>StudentID</a:t>
            </a:r>
            <a:r>
              <a:rPr lang="en-US" sz="1200" b="0" i="0" u="none" strike="noStrike" kern="1200" baseline="0" dirty="0">
                <a:solidFill>
                  <a:schemeClr val="tx1"/>
                </a:solidFill>
                <a:latin typeface="+mn-lt"/>
                <a:ea typeface="+mn-ea"/>
                <a:cs typeface="+mn-cs"/>
              </a:rPr>
              <a:t>. </a:t>
            </a:r>
          </a:p>
          <a:p>
            <a:pPr marL="171450" indent="-171450">
              <a:buFont typeface="Arial" panose="020B0604020202020204" pitchFamily="34" charset="0"/>
              <a:buChar char="•"/>
            </a:pPr>
            <a:r>
              <a:rPr lang="en-US" sz="1200" b="1" i="1" u="none" strike="noStrike" kern="1200" baseline="0" dirty="0">
                <a:solidFill>
                  <a:schemeClr val="tx1"/>
                </a:solidFill>
                <a:latin typeface="+mn-lt"/>
                <a:ea typeface="+mn-ea"/>
                <a:cs typeface="+mn-cs"/>
              </a:rPr>
              <a:t>Free-form fields versus structured fields </a:t>
            </a:r>
            <a:r>
              <a:rPr lang="en-US" sz="1200" b="0" i="0" u="none" strike="noStrike" kern="1200" baseline="0" dirty="0">
                <a:solidFill>
                  <a:schemeClr val="tx1"/>
                </a:solidFill>
                <a:latin typeface="+mn-lt"/>
                <a:ea typeface="+mn-ea"/>
                <a:cs typeface="+mn-cs"/>
              </a:rPr>
              <a:t>In STUDENT HEALTH, </a:t>
            </a:r>
            <a:r>
              <a:rPr lang="en-US" sz="1200" b="0" i="0" u="none" strike="noStrike" kern="1200" baseline="0" dirty="0" err="1">
                <a:solidFill>
                  <a:schemeClr val="tx1"/>
                </a:solidFill>
                <a:latin typeface="+mn-lt"/>
                <a:ea typeface="+mn-ea"/>
                <a:cs typeface="+mn-cs"/>
              </a:rPr>
              <a:t>StudentName</a:t>
            </a:r>
            <a:r>
              <a:rPr lang="en-US" sz="1200" b="0" i="0" u="none" strike="noStrike" kern="1200" baseline="0" dirty="0">
                <a:solidFill>
                  <a:schemeClr val="tx1"/>
                </a:solidFill>
                <a:latin typeface="+mn-lt"/>
                <a:ea typeface="+mn-ea"/>
                <a:cs typeface="+mn-cs"/>
              </a:rPr>
              <a:t> is a single field. In STUDENT DATA, </a:t>
            </a:r>
            <a:r>
              <a:rPr lang="en-US" sz="1200" b="0" i="0" u="none" strike="noStrike" kern="1200" baseline="0" dirty="0" err="1">
                <a:solidFill>
                  <a:schemeClr val="tx1"/>
                </a:solidFill>
                <a:latin typeface="+mn-lt"/>
                <a:ea typeface="+mn-ea"/>
                <a:cs typeface="+mn-cs"/>
              </a:rPr>
              <a:t>StudentName</a:t>
            </a:r>
            <a:r>
              <a:rPr lang="en-US" sz="1200" b="0" i="0" u="none" strike="noStrike" kern="1200" baseline="0" dirty="0">
                <a:solidFill>
                  <a:schemeClr val="tx1"/>
                </a:solidFill>
                <a:latin typeface="+mn-lt"/>
                <a:ea typeface="+mn-ea"/>
                <a:cs typeface="+mn-cs"/>
              </a:rPr>
              <a:t> (a composite attribute) is broken into its component parts: </a:t>
            </a:r>
            <a:r>
              <a:rPr lang="en-US" sz="1200" b="0" i="0" u="none" strike="noStrike" kern="1200" baseline="0" dirty="0" err="1">
                <a:solidFill>
                  <a:schemeClr val="tx1"/>
                </a:solidFill>
                <a:latin typeface="+mn-lt"/>
                <a:ea typeface="+mn-ea"/>
                <a:cs typeface="+mn-cs"/>
              </a:rPr>
              <a:t>LastName</a:t>
            </a:r>
            <a:r>
              <a:rPr lang="en-US" sz="1200" b="0" i="0" u="none" strike="noStrike" kern="1200" baseline="0" dirty="0">
                <a:solidFill>
                  <a:schemeClr val="tx1"/>
                </a:solidFill>
                <a:latin typeface="+mn-lt"/>
                <a:ea typeface="+mn-ea"/>
                <a:cs typeface="+mn-cs"/>
              </a:rPr>
              <a:t>, MI, and FirstName.</a:t>
            </a:r>
          </a:p>
          <a:p>
            <a:pPr marL="171450" indent="-171450">
              <a:buFont typeface="Arial" panose="020B0604020202020204" pitchFamily="34" charset="0"/>
              <a:buChar char="•"/>
            </a:pPr>
            <a:r>
              <a:rPr lang="en-US" sz="1200" b="1" i="1" u="none" strike="noStrike" kern="1200" baseline="0" dirty="0">
                <a:solidFill>
                  <a:schemeClr val="tx1"/>
                </a:solidFill>
                <a:latin typeface="+mn-lt"/>
                <a:ea typeface="+mn-ea"/>
                <a:cs typeface="+mn-cs"/>
              </a:rPr>
              <a:t>Inconsistent data values </a:t>
            </a:r>
            <a:r>
              <a:rPr lang="en-US" sz="1200" b="0" i="0" u="none" strike="noStrike" kern="1200" baseline="0" dirty="0">
                <a:solidFill>
                  <a:schemeClr val="tx1"/>
                </a:solidFill>
                <a:latin typeface="+mn-lt"/>
                <a:ea typeface="+mn-ea"/>
                <a:cs typeface="+mn-cs"/>
              </a:rPr>
              <a:t>Elaine Smith has one telephone number in STUDENT DATA but a different number in STUDENT HEALTH. Is this an error, or does this person have two telephone numbers?</a:t>
            </a:r>
          </a:p>
          <a:p>
            <a:pPr marL="171450" indent="-171450">
              <a:buFont typeface="Arial" panose="020B0604020202020204" pitchFamily="34" charset="0"/>
              <a:buChar char="•"/>
            </a:pPr>
            <a:r>
              <a:rPr lang="en-US" sz="1200" b="1" i="1" u="none" strike="noStrike" kern="1200" baseline="0" dirty="0">
                <a:solidFill>
                  <a:schemeClr val="tx1"/>
                </a:solidFill>
                <a:latin typeface="+mn-lt"/>
                <a:ea typeface="+mn-ea"/>
                <a:cs typeface="+mn-cs"/>
              </a:rPr>
              <a:t>Missing data </a:t>
            </a:r>
            <a:r>
              <a:rPr lang="en-US" sz="1200" b="0" i="0" u="none" strike="noStrike" kern="1200" baseline="0" dirty="0">
                <a:solidFill>
                  <a:schemeClr val="tx1"/>
                </a:solidFill>
                <a:latin typeface="+mn-lt"/>
                <a:ea typeface="+mn-ea"/>
                <a:cs typeface="+mn-cs"/>
              </a:rPr>
              <a:t>The value for Insurance is missing (or null) for Elaine Smith in the STUDENT HEALTH table. How will this value be located?</a:t>
            </a:r>
          </a:p>
          <a:p>
            <a:endParaRPr lang="en-US" dirty="0"/>
          </a:p>
          <a:p>
            <a:r>
              <a:rPr lang="en-US" dirty="0"/>
              <a:t>This simple example illustrates the nature of the problem of developing a single corporate view but fails to capture the complexity of that task. A real-life scenario would likely have dozens (if not hundreds) of files and thousands (or millions) of records.</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3</a:t>
            </a:fld>
            <a:endParaRPr lang="en-US"/>
          </a:p>
        </p:txBody>
      </p:sp>
    </p:spTree>
    <p:extLst>
      <p:ext uri="{BB962C8B-B14F-4D97-AF65-F5344CB8AC3E}">
        <p14:creationId xmlns:p14="http://schemas.microsoft.com/office/powerpoint/2010/main" val="3042207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It is ironic that organizations spend so much</a:t>
            </a:r>
            <a:r>
              <a:rPr lang="en-US" altLang="en-US" baseline="0" dirty="0"/>
              <a:t> time and effort to normalize a database, and yet often keep many different databases for different business purposes. This leads to the possibility of </a:t>
            </a:r>
            <a:r>
              <a:rPr lang="en-US" altLang="en-US" baseline="0"/>
              <a:t>data duplication, </a:t>
            </a:r>
            <a:r>
              <a:rPr lang="en-US" altLang="en-US" baseline="0" dirty="0"/>
              <a:t>which normalization was supposed to remove.</a:t>
            </a:r>
          </a:p>
          <a:p>
            <a:endParaRPr lang="en-US" dirty="0"/>
          </a:p>
          <a:p>
            <a:r>
              <a:rPr lang="en-US" sz="1200" b="0" i="0" u="none" strike="noStrike" kern="1200" baseline="0" dirty="0">
                <a:solidFill>
                  <a:schemeClr val="tx1"/>
                </a:solidFill>
                <a:latin typeface="+mn-lt"/>
                <a:ea typeface="+mn-ea"/>
                <a:cs typeface="+mn-cs"/>
              </a:rPr>
              <a:t>In general, certain trends in organizations encourage the need for data warehousing.</a:t>
            </a:r>
          </a:p>
          <a:p>
            <a:endParaRPr lang="en-US" sz="1200" b="0" i="0" u="none" strike="noStrike" kern="1200" baseline="0" dirty="0">
              <a:solidFill>
                <a:schemeClr val="tx1"/>
              </a:solidFill>
              <a:latin typeface="+mn-lt"/>
              <a:ea typeface="+mn-ea"/>
              <a:cs typeface="+mn-cs"/>
            </a:endParaRPr>
          </a:p>
          <a:p>
            <a:pPr marL="228600" indent="-228600">
              <a:buFont typeface="+mj-lt"/>
              <a:buAutoNum type="arabicPeriod"/>
            </a:pPr>
            <a:r>
              <a:rPr lang="en-US" sz="1200" b="0" i="0" u="none" strike="noStrike" kern="1200" baseline="0" dirty="0">
                <a:solidFill>
                  <a:schemeClr val="tx1"/>
                </a:solidFill>
                <a:latin typeface="+mn-lt"/>
                <a:ea typeface="+mn-ea"/>
                <a:cs typeface="+mn-cs"/>
              </a:rPr>
              <a:t>First, organizations often have several different database systems, because of the heterogeneous needs for data in different operational settings, corporate mergers and acquisitions, and the sheer size of many organizations.</a:t>
            </a:r>
          </a:p>
          <a:p>
            <a:pPr marL="228600" indent="-228600">
              <a:buFont typeface="+mj-lt"/>
              <a:buAutoNum type="arabicPeriod"/>
            </a:pPr>
            <a:r>
              <a:rPr lang="en-US" sz="1200" b="0" i="0" u="none" strike="noStrike" kern="1200" baseline="0" dirty="0">
                <a:solidFill>
                  <a:schemeClr val="tx1"/>
                </a:solidFill>
                <a:latin typeface="+mn-lt"/>
                <a:ea typeface="+mn-ea"/>
                <a:cs typeface="+mn-cs"/>
              </a:rPr>
              <a:t>Second, it is difficult, if not impossible, to make separate databases consistent. Even if the metadata are controlled and made the same by one data administrator, the data values for the same attributes will not agree.</a:t>
            </a:r>
          </a:p>
          <a:p>
            <a:pPr marL="228600" indent="-228600">
              <a:buFont typeface="+mj-lt"/>
              <a:buAutoNum type="arabicPeriod"/>
            </a:pPr>
            <a:r>
              <a:rPr lang="en-US" b="0" dirty="0"/>
              <a:t>Third, many organizations have implemented some form of a balanced scorecard—metrics that show organization results in financial, human, customer satisfaction, product quality, and other terms simultaneously. To ensure that this multidimensional view of the organization shows consistent results, a data warehouse is necessary.</a:t>
            </a:r>
          </a:p>
          <a:p>
            <a:pPr marL="228600" indent="-228600">
              <a:buFont typeface="+mj-lt"/>
              <a:buAutoNum type="arabicPeriod"/>
            </a:pPr>
            <a:r>
              <a:rPr lang="en-US" sz="1200" b="0" i="0" u="none" strike="noStrike" kern="1200" baseline="0" dirty="0">
                <a:solidFill>
                  <a:schemeClr val="tx1"/>
                </a:solidFill>
                <a:latin typeface="+mn-lt"/>
                <a:ea typeface="+mn-ea"/>
                <a:cs typeface="+mn-cs"/>
              </a:rPr>
              <a:t>Fourth, relating to the customer relationship management, having a total picture of the activity with a given customer requires a consolidation of data from various operational systems.</a:t>
            </a:r>
          </a:p>
          <a:p>
            <a:pPr marL="228600" indent="-228600">
              <a:buFont typeface="+mj-lt"/>
              <a:buAutoNum type="arabicPeriod"/>
            </a:pPr>
            <a:r>
              <a:rPr lang="en-US" sz="1200" b="0" i="0" u="none" strike="noStrike" kern="1200" baseline="0" dirty="0">
                <a:solidFill>
                  <a:schemeClr val="tx1"/>
                </a:solidFill>
                <a:latin typeface="+mn-lt"/>
                <a:ea typeface="+mn-ea"/>
                <a:cs typeface="+mn-cs"/>
              </a:rPr>
              <a:t>Fifth, data about supplier activities can be locked inside separate operational systems (e.g., accounts payable, shipping and receiving, production scheduling, and maintenance).</a:t>
            </a:r>
          </a:p>
          <a:p>
            <a:endParaRPr lang="en-US" sz="1200" b="0" i="0" u="none" strike="noStrike" kern="1200" baseline="0" dirty="0">
              <a:solidFill>
                <a:schemeClr val="tx1"/>
              </a:solidFill>
              <a:latin typeface="+mn-lt"/>
              <a:ea typeface="+mn-ea"/>
              <a:cs typeface="+mn-cs"/>
            </a:endParaRPr>
          </a:p>
          <a:p>
            <a:endParaRPr lang="en-US" b="0" dirty="0"/>
          </a:p>
        </p:txBody>
      </p:sp>
      <p:sp>
        <p:nvSpPr>
          <p:cNvPr id="4" name="Slide Number Placeholder 3"/>
          <p:cNvSpPr>
            <a:spLocks noGrp="1"/>
          </p:cNvSpPr>
          <p:nvPr>
            <p:ph type="sldNum" sz="quarter" idx="5"/>
          </p:nvPr>
        </p:nvSpPr>
        <p:spPr/>
        <p:txBody>
          <a:bodyPr/>
          <a:lstStyle/>
          <a:p>
            <a:fld id="{7B547B85-5C92-49FC-98A0-16FD07ABB6F8}" type="slidenum">
              <a:rPr lang="en-US" smtClean="0"/>
              <a:t>4</a:t>
            </a:fld>
            <a:endParaRPr lang="en-US"/>
          </a:p>
        </p:txBody>
      </p:sp>
    </p:spTree>
    <p:extLst>
      <p:ext uri="{BB962C8B-B14F-4D97-AF65-F5344CB8AC3E}">
        <p14:creationId xmlns:p14="http://schemas.microsoft.com/office/powerpoint/2010/main" val="2004961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chapter when we introduce the framework of data management, we mentioned that it is important to distinguish operational versus information systems. An </a:t>
            </a:r>
            <a:r>
              <a:rPr lang="en-US" b="1" dirty="0"/>
              <a:t>operational system </a:t>
            </a:r>
            <a:r>
              <a:rPr lang="en-US" dirty="0"/>
              <a:t>is a system that is used to run a business in real time, based on current data. Examples of operational systems are sales order processing, reservation systems, and patient registration systems.</a:t>
            </a:r>
          </a:p>
          <a:p>
            <a:endParaRPr lang="en-US" dirty="0"/>
          </a:p>
          <a:p>
            <a:r>
              <a:rPr lang="en-US" b="1" dirty="0"/>
              <a:t>Informational systems </a:t>
            </a:r>
            <a:r>
              <a:rPr lang="en-US" dirty="0"/>
              <a:t>are designed to support decision making based on historical point-in-time and prediction data. They are also designed for complex queries or data-mining applications. Examples of informational systems are systems for sales trend analysis, customer segmentation, and human resources planning.</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table further summarizes the key differences between operational and informational systems.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The data warehouse is an informational system aiming at assisting with managerial decision-making. </a:t>
            </a:r>
            <a:r>
              <a:rPr lang="en-US" altLang="en-US" baseline="0" dirty="0"/>
              <a:t>This is different from the purpose of operational systems or transaction-oriented database, which is to support and record the day-to-day operations and transactions of a business. The data produced in transaction-oriented databases forms much of the input for a data warehouse.</a:t>
            </a:r>
            <a:r>
              <a:rPr lang="en-US" alt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Operational</a:t>
            </a:r>
            <a:r>
              <a:rPr lang="en-US" altLang="en-US" baseline="0" dirty="0"/>
              <a:t> databases are often called online transaction processing (OLTP) databases, whereas data warehouses are associated with online analytical processing (OLAP) systems.</a:t>
            </a:r>
            <a:endParaRPr lang="en-US" altLang="en-US" dirty="0"/>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5</a:t>
            </a:fld>
            <a:endParaRPr lang="en-US"/>
          </a:p>
        </p:txBody>
      </p:sp>
    </p:spTree>
    <p:extLst>
      <p:ext uri="{BB962C8B-B14F-4D97-AF65-F5344CB8AC3E}">
        <p14:creationId xmlns:p14="http://schemas.microsoft.com/office/powerpoint/2010/main" val="4215006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organizations need to create data warehouses—massive data stores of time-series data for decision support. Data are imported from various external and internal sources and are cleansed and organized in a manner consistent with the organization’s needs. After the data are populated in the data warehouse, data marts can be loaded for a specific area or department. Alternatively, data marts can be created first, as needed, and then integrated into an enterprise DW. Often, though, data marts are not developed, but data are simply loaded onto PCs or left in their original state for direct manipulation using BI tools. This figure illustrates this data warehousing process. Major components include data source, ETL process, Enterprise DW, data marts, metadata, middleware tools, and BI applications. </a:t>
            </a:r>
          </a:p>
          <a:p>
            <a:endParaRPr lang="en-US" dirty="0"/>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6</a:t>
            </a:fld>
            <a:endParaRPr lang="en-US"/>
          </a:p>
        </p:txBody>
      </p:sp>
    </p:spTree>
    <p:extLst>
      <p:ext uri="{BB962C8B-B14F-4D97-AF65-F5344CB8AC3E}">
        <p14:creationId xmlns:p14="http://schemas.microsoft.com/office/powerpoint/2010/main" val="2179191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At the heart of the technical side of the data warehousing process is ETL. </a:t>
            </a:r>
          </a:p>
          <a:p>
            <a:endParaRPr lang="en-US" dirty="0"/>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Capturing the relevant data from the source files and databases used to fill the EDW is typically called </a:t>
            </a:r>
            <a:r>
              <a:rPr lang="en-US" sz="1200" b="0" i="1" u="none" strike="noStrike" kern="1200" baseline="0" dirty="0">
                <a:solidFill>
                  <a:schemeClr val="tx1"/>
                </a:solidFill>
                <a:latin typeface="+mn-lt"/>
                <a:ea typeface="+mn-ea"/>
                <a:cs typeface="+mn-cs"/>
              </a:rPr>
              <a:t>extracting</a:t>
            </a:r>
            <a:r>
              <a:rPr lang="en-US" sz="1200" b="0" i="0" u="none" strike="noStrike" kern="1200" baseline="0" dirty="0">
                <a:solidFill>
                  <a:schemeClr val="tx1"/>
                </a:solidFill>
                <a:latin typeface="+mn-lt"/>
                <a:ea typeface="+mn-ea"/>
                <a:cs typeface="+mn-cs"/>
              </a:rPr>
              <a:t>.</a:t>
            </a:r>
          </a:p>
          <a:p>
            <a:pPr marL="171450" indent="-171450">
              <a:buFont typeface="Arial" panose="020B0604020202020204" pitchFamily="34" charset="0"/>
              <a:buChar char="•"/>
            </a:pPr>
            <a:r>
              <a:rPr lang="en-US" dirty="0"/>
              <a:t>Then, we convert the extracted data into appropriate form and clean the data. Cleaning data is a very important step. Some activities include consistent data names and definitions, correct errors, missing data, mismatched data, remove duplicate data, and resolve different primary keys across sources. This stage of transformation also includes formatting, aggregating and merging, and enrichment. </a:t>
            </a:r>
          </a:p>
          <a:p>
            <a:pPr marL="171450" indent="-171450">
              <a:buFont typeface="Arial" panose="020B0604020202020204" pitchFamily="34" charset="0"/>
              <a:buChar char="•"/>
            </a:pPr>
            <a:r>
              <a:rPr lang="en-US" dirty="0"/>
              <a:t>The third step is load, where we put the data into the data warehouse.</a:t>
            </a:r>
          </a:p>
        </p:txBody>
      </p:sp>
      <p:sp>
        <p:nvSpPr>
          <p:cNvPr id="4" name="Slide Number Placeholder 3"/>
          <p:cNvSpPr>
            <a:spLocks noGrp="1"/>
          </p:cNvSpPr>
          <p:nvPr>
            <p:ph type="sldNum" sz="quarter" idx="5"/>
          </p:nvPr>
        </p:nvSpPr>
        <p:spPr/>
        <p:txBody>
          <a:bodyPr/>
          <a:lstStyle/>
          <a:p>
            <a:fld id="{7B547B85-5C92-49FC-98A0-16FD07ABB6F8}" type="slidenum">
              <a:rPr lang="en-US" smtClean="0"/>
              <a:t>7</a:t>
            </a:fld>
            <a:endParaRPr lang="en-US" dirty="0"/>
          </a:p>
        </p:txBody>
      </p:sp>
    </p:spTree>
    <p:extLst>
      <p:ext uri="{BB962C8B-B14F-4D97-AF65-F5344CB8AC3E}">
        <p14:creationId xmlns:p14="http://schemas.microsoft.com/office/powerpoint/2010/main" val="1820857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What ETL does essentially is the data integration. </a:t>
            </a:r>
            <a:r>
              <a:rPr lang="en-US" altLang="en-US" baseline="0" dirty="0"/>
              <a:t>In other words, data comes from a wide variety of data sources and are combined into the data warehouses. These data sources can be databases, spreadsheet files, XML sources, Web services, legacy files, or other types of data. </a:t>
            </a:r>
            <a:r>
              <a:rPr lang="en-US" sz="1200" b="0" i="0" u="none" strike="noStrike" kern="1200" baseline="0" dirty="0">
                <a:solidFill>
                  <a:schemeClr val="tx1"/>
                </a:solidFill>
                <a:latin typeface="+mn-lt"/>
                <a:ea typeface="+mn-ea"/>
                <a:cs typeface="+mn-cs"/>
              </a:rPr>
              <a:t>Note that data also can be consolidated across an enterprise in other ways such as application integration, business process integration, and user interaction integration. </a:t>
            </a:r>
          </a:p>
          <a:p>
            <a:endParaRPr lang="en-US" altLang="en-US" baseline="0" dirty="0"/>
          </a:p>
          <a:p>
            <a:r>
              <a:rPr lang="en-US" sz="1200" b="0" i="0" u="none" strike="noStrike" kern="1200" baseline="0" dirty="0">
                <a:solidFill>
                  <a:schemeClr val="tx1"/>
                </a:solidFill>
                <a:latin typeface="+mn-lt"/>
                <a:ea typeface="+mn-ea"/>
                <a:cs typeface="+mn-cs"/>
              </a:rPr>
              <a:t>Three techniques form the building blocks of any data integration approach: data consolidation, data federation, and data propagation.</a:t>
            </a:r>
          </a:p>
          <a:p>
            <a:endParaRPr lang="en-US" sz="1200" b="0" i="0" u="none" strike="noStrike" kern="1200" baseline="0" dirty="0">
              <a:solidFill>
                <a:schemeClr val="tx1"/>
              </a:solidFill>
              <a:latin typeface="+mn-lt"/>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b="1" dirty="0"/>
              <a:t>ETL</a:t>
            </a:r>
            <a:r>
              <a:rPr lang="en-US" altLang="en-US" dirty="0"/>
              <a:t> stands for extract-transform-load. This</a:t>
            </a:r>
            <a:r>
              <a:rPr lang="en-US" altLang="en-US" baseline="0" dirty="0"/>
              <a:t> is the traditional approach for building physical data warehouses. It consolidates </a:t>
            </a:r>
            <a:r>
              <a:rPr lang="en-US" sz="1200" dirty="0"/>
              <a:t>all data into a centralized database (like a data warehouse). </a:t>
            </a:r>
            <a:endParaRPr lang="en-US" altLang="en-US" baseline="0" dirty="0"/>
          </a:p>
          <a:p>
            <a:pPr marL="171450" indent="-171450">
              <a:buFont typeface="Arial" panose="020B0604020202020204" pitchFamily="34" charset="0"/>
              <a:buChar char="•"/>
            </a:pPr>
            <a:r>
              <a:rPr lang="en-US" altLang="en-US" b="1" baseline="0" dirty="0"/>
              <a:t>EII</a:t>
            </a:r>
            <a:r>
              <a:rPr lang="en-US" altLang="en-US" baseline="0" dirty="0"/>
              <a:t> stands for enterprise information integration. In this case there is no physical data warehouse; rather the data warehouse is “virtual”, composed of dynamic queries and views that operate directly on the source data.</a:t>
            </a:r>
          </a:p>
          <a:p>
            <a:pPr marL="171450" indent="-171450">
              <a:buFont typeface="Arial" panose="020B0604020202020204" pitchFamily="34" charset="0"/>
              <a:buChar char="•"/>
            </a:pPr>
            <a:r>
              <a:rPr lang="en-US" altLang="en-US" b="1" baseline="0" dirty="0"/>
              <a:t>EAI</a:t>
            </a:r>
            <a:r>
              <a:rPr lang="en-US" altLang="en-US" baseline="0" dirty="0"/>
              <a:t> stands for enterprise application integration, and </a:t>
            </a:r>
            <a:r>
              <a:rPr lang="en-US" altLang="en-US" b="1" baseline="0" dirty="0"/>
              <a:t>EDR</a:t>
            </a:r>
            <a:r>
              <a:rPr lang="en-US" altLang="en-US" baseline="0" dirty="0"/>
              <a:t> stands for enterprise data replication. In both cases, </a:t>
            </a:r>
            <a:r>
              <a:rPr lang="en-US" sz="1200" b="0" i="0" u="none" strike="noStrike" kern="1200" cap="none" baseline="0" dirty="0">
                <a:solidFill>
                  <a:schemeClr val="tx1"/>
                </a:solidFill>
                <a:latin typeface="Times New Roman" pitchFamily="18" charset="0"/>
                <a:ea typeface="Arial"/>
                <a:cs typeface="Arial" charset="0"/>
                <a:sym typeface="Arial"/>
              </a:rPr>
              <a:t>data are pushed to duplicate sites as updates occur. Sometimes this is called event-driven propagation; the events are the updates themselves. </a:t>
            </a:r>
          </a:p>
          <a:p>
            <a:pPr marL="0" indent="0">
              <a:buFont typeface="Arial" panose="020B0604020202020204" pitchFamily="34" charset="0"/>
              <a:buNone/>
            </a:pPr>
            <a:endParaRPr lang="en-US" sz="1200" b="0" i="0" u="none" strike="noStrike" kern="1200" cap="none" baseline="0" dirty="0">
              <a:solidFill>
                <a:schemeClr val="tx1"/>
              </a:solidFill>
              <a:latin typeface="Times New Roman" pitchFamily="18" charset="0"/>
              <a:cs typeface="Arial" charset="0"/>
              <a:sym typeface="Arial"/>
            </a:endParaRPr>
          </a:p>
          <a:p>
            <a:pPr marL="0" indent="0">
              <a:buFont typeface="Arial" panose="020B0604020202020204" pitchFamily="34" charset="0"/>
              <a:buNone/>
            </a:pPr>
            <a:r>
              <a:rPr lang="en-US" sz="1200" b="0" i="0" u="none" strike="noStrike" kern="1200" cap="none" baseline="0" dirty="0">
                <a:solidFill>
                  <a:schemeClr val="tx1"/>
                </a:solidFill>
                <a:latin typeface="Times New Roman" pitchFamily="18" charset="0"/>
                <a:cs typeface="Arial" charset="0"/>
                <a:sym typeface="Arial"/>
              </a:rPr>
              <a:t>In this chapter, we focus on the data warehouse approach – ETL for data integration. It is notable that other approaches share a lot of similarities with the ETL approach. </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8</a:t>
            </a:fld>
            <a:endParaRPr lang="en-US" dirty="0"/>
          </a:p>
        </p:txBody>
      </p:sp>
    </p:spTree>
    <p:extLst>
      <p:ext uri="{BB962C8B-B14F-4D97-AF65-F5344CB8AC3E}">
        <p14:creationId xmlns:p14="http://schemas.microsoft.com/office/powerpoint/2010/main" val="190632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An </a:t>
            </a:r>
            <a:r>
              <a:rPr lang="en-US" sz="1200" b="1" i="0" u="none" strike="noStrike" kern="1200" baseline="0" dirty="0">
                <a:solidFill>
                  <a:schemeClr val="tx1"/>
                </a:solidFill>
                <a:latin typeface="+mn-lt"/>
                <a:ea typeface="+mn-ea"/>
                <a:cs typeface="+mn-cs"/>
              </a:rPr>
              <a:t>enterprise data warehouse </a:t>
            </a:r>
            <a:r>
              <a:rPr lang="en-US" sz="1200" b="0" i="0" u="none" strike="noStrike" kern="1200" baseline="0" dirty="0">
                <a:solidFill>
                  <a:schemeClr val="tx1"/>
                </a:solidFill>
                <a:latin typeface="+mn-lt"/>
                <a:ea typeface="+mn-ea"/>
                <a:cs typeface="+mn-cs"/>
              </a:rPr>
              <a:t>is a centralized, integrated data warehouse that is the control point and single source of all data made available to end users for decision support applications. A </a:t>
            </a:r>
            <a:r>
              <a:rPr lang="en-US" sz="1200" b="1" i="0" u="none" strike="noStrike" kern="1200" baseline="0" dirty="0">
                <a:solidFill>
                  <a:schemeClr val="tx1"/>
                </a:solidFill>
                <a:latin typeface="+mn-lt"/>
                <a:ea typeface="+mn-ea"/>
                <a:cs typeface="+mn-cs"/>
              </a:rPr>
              <a:t>data mart </a:t>
            </a:r>
            <a:r>
              <a:rPr lang="en-US" sz="1200" b="0" i="0" u="none" strike="noStrike" kern="1200" baseline="0" dirty="0">
                <a:solidFill>
                  <a:schemeClr val="tx1"/>
                </a:solidFill>
                <a:latin typeface="+mn-lt"/>
                <a:ea typeface="+mn-ea"/>
                <a:cs typeface="+mn-cs"/>
              </a:rPr>
              <a:t>is a data warehouse that is limited in scope, customized for the decision-making applications of a particular end-user group.</a:t>
            </a:r>
            <a:endParaRPr lang="en-US" dirty="0"/>
          </a:p>
          <a:p>
            <a:endParaRPr lang="en-US" dirty="0"/>
          </a:p>
          <a:p>
            <a:r>
              <a:rPr lang="en-US" dirty="0"/>
              <a:t>Data marts and data warehouses play different roles in a data warehousing environment, as summarized in this table. Although limited in scope, a data mart may not be small. </a:t>
            </a:r>
          </a:p>
        </p:txBody>
      </p:sp>
      <p:sp>
        <p:nvSpPr>
          <p:cNvPr id="4" name="Slide Number Placeholder 3"/>
          <p:cNvSpPr>
            <a:spLocks noGrp="1"/>
          </p:cNvSpPr>
          <p:nvPr>
            <p:ph type="sldNum" sz="quarter" idx="5"/>
          </p:nvPr>
        </p:nvSpPr>
        <p:spPr/>
        <p:txBody>
          <a:bodyPr/>
          <a:lstStyle/>
          <a:p>
            <a:fld id="{7B547B85-5C92-49FC-98A0-16FD07ABB6F8}" type="slidenum">
              <a:rPr lang="en-US" smtClean="0"/>
              <a:t>9</a:t>
            </a:fld>
            <a:endParaRPr lang="en-US"/>
          </a:p>
        </p:txBody>
      </p:sp>
    </p:spTree>
    <p:extLst>
      <p:ext uri="{BB962C8B-B14F-4D97-AF65-F5344CB8AC3E}">
        <p14:creationId xmlns:p14="http://schemas.microsoft.com/office/powerpoint/2010/main" val="37412896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Accordingly, there are two approaches for developing a data warehouse. </a:t>
            </a:r>
            <a:r>
              <a:rPr lang="en-US" dirty="0" err="1"/>
              <a:t>Inmon’s</a:t>
            </a:r>
            <a:r>
              <a:rPr lang="en-US" dirty="0"/>
              <a:t> EDW approach is often regarded as a top-down approach, which emphasizes on the development of enterprise wide centralized data warehouse. This approach supports business changes better and can easily generate data marts; however, it is often in larger-scale, higher up-front costs, and longer duration. </a:t>
            </a:r>
          </a:p>
          <a:p>
            <a:endParaRPr lang="en-US" dirty="0"/>
          </a:p>
          <a:p>
            <a:r>
              <a:rPr lang="en-US" dirty="0"/>
              <a:t>Reversely, Kimball’s approach, known as a bottom-up approach, starts from building data marts that satisfies business users as quickly as possibly. Although it has lower costs and is fairly simple in implementation, this approach may lack the big picture of the enterprise data warehouse. </a:t>
            </a:r>
          </a:p>
        </p:txBody>
      </p:sp>
      <p:sp>
        <p:nvSpPr>
          <p:cNvPr id="4" name="Slide Number Placeholder 3"/>
          <p:cNvSpPr>
            <a:spLocks noGrp="1"/>
          </p:cNvSpPr>
          <p:nvPr>
            <p:ph type="sldNum" sz="quarter" idx="5"/>
          </p:nvPr>
        </p:nvSpPr>
        <p:spPr/>
        <p:txBody>
          <a:bodyPr/>
          <a:lstStyle/>
          <a:p>
            <a:fld id="{7B547B85-5C92-49FC-98A0-16FD07ABB6F8}" type="slidenum">
              <a:rPr lang="en-US" smtClean="0"/>
              <a:t>10</a:t>
            </a:fld>
            <a:endParaRPr lang="en-US" dirty="0"/>
          </a:p>
        </p:txBody>
      </p:sp>
    </p:spTree>
    <p:extLst>
      <p:ext uri="{BB962C8B-B14F-4D97-AF65-F5344CB8AC3E}">
        <p14:creationId xmlns:p14="http://schemas.microsoft.com/office/powerpoint/2010/main" val="2905991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both Kimball and </a:t>
            </a:r>
            <a:r>
              <a:rPr lang="en-US" dirty="0" err="1"/>
              <a:t>Inmon</a:t>
            </a:r>
            <a:r>
              <a:rPr lang="en-US" dirty="0"/>
              <a:t> approaches have their advantages and disadvantages. Organizations can select the most appropriate approach depending on their unique business situations. For example, when the time to delivery of a data warehouse is emergent, the organization can pursue a Kimball’s bottom-up approach. </a:t>
            </a:r>
          </a:p>
        </p:txBody>
      </p:sp>
      <p:sp>
        <p:nvSpPr>
          <p:cNvPr id="4" name="Slide Number Placeholder 3"/>
          <p:cNvSpPr>
            <a:spLocks noGrp="1"/>
          </p:cNvSpPr>
          <p:nvPr>
            <p:ph type="sldNum" sz="quarter" idx="5"/>
          </p:nvPr>
        </p:nvSpPr>
        <p:spPr/>
        <p:txBody>
          <a:bodyPr/>
          <a:lstStyle/>
          <a:p>
            <a:fld id="{7B547B85-5C92-49FC-98A0-16FD07ABB6F8}" type="slidenum">
              <a:rPr lang="en-US" smtClean="0"/>
              <a:t>11</a:t>
            </a:fld>
            <a:endParaRPr lang="en-US" dirty="0"/>
          </a:p>
        </p:txBody>
      </p:sp>
    </p:spTree>
    <p:extLst>
      <p:ext uri="{BB962C8B-B14F-4D97-AF65-F5344CB8AC3E}">
        <p14:creationId xmlns:p14="http://schemas.microsoft.com/office/powerpoint/2010/main" val="2407778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highest level, data warehouse architecture design viewpoints can be categorized into enterprise DW design and data mart design. However, there are some alternatives to the basic architectural design types that are neither pure EDW nor pure DM, but in between or beyond the traditional architectural structures. </a:t>
            </a:r>
          </a:p>
          <a:p>
            <a:endParaRPr lang="en-US" dirty="0"/>
          </a:p>
          <a:p>
            <a:r>
              <a:rPr lang="en-US" b="1" dirty="0"/>
              <a:t>Independent Data Marts. </a:t>
            </a:r>
            <a:r>
              <a:rPr lang="en-US" dirty="0"/>
              <a:t>This is arguably the simplest and the least costly architecture alternative. The data marts are developed to operate independently of each another to serve the needs of individual organizational units. Because of their independence, they may have inconsistent data definitions and different dimensions and measures, making it difficult to analyze data across the data marts. </a:t>
            </a:r>
          </a:p>
          <a:p>
            <a:endParaRPr lang="en-US" dirty="0"/>
          </a:p>
          <a:p>
            <a:r>
              <a:rPr lang="en-US" i="1" dirty="0"/>
              <a:t>(</a:t>
            </a:r>
            <a:r>
              <a:rPr lang="en-US" sz="1200" b="0" i="1" u="none" strike="noStrike" kern="1200" baseline="0" dirty="0">
                <a:solidFill>
                  <a:schemeClr val="tx1"/>
                </a:solidFill>
                <a:latin typeface="+mn-lt"/>
                <a:ea typeface="+mn-ea"/>
                <a:cs typeface="+mn-cs"/>
              </a:rPr>
              <a:t>An independent data marts is a data mart filled with data extracted from the operational environment, without the benefit of a data warehouse. In contrary, the data mart filled exclusively from an enterprise data warehouse and its reconciled data refers to a dependent data mart.</a:t>
            </a:r>
            <a:r>
              <a:rPr lang="en-US" i="1" dirty="0"/>
              <a:t>)</a:t>
            </a:r>
          </a:p>
          <a:p>
            <a:endParaRPr lang="en-US" dirty="0"/>
          </a:p>
          <a:p>
            <a:r>
              <a:rPr lang="en-US" b="1" dirty="0"/>
              <a:t>Data Mart Bus Architecture. </a:t>
            </a:r>
            <a:r>
              <a:rPr lang="en-US" dirty="0"/>
              <a:t>This is a viable alternative to the independent data marts where the individual marts are linked to each other via some kind of middleware. Because the data are linked among the individual marts, there is a better chance of maintaining data consistency across the enterprise (at least at the metadata level). Even though it allows for complex data queries across data marts, the performance of these types of analysis may not be at a satisfactory level.</a:t>
            </a:r>
          </a:p>
          <a:p>
            <a:endParaRPr lang="en-US" dirty="0"/>
          </a:p>
          <a:p>
            <a:r>
              <a:rPr lang="en-US" b="1" dirty="0"/>
              <a:t>Hub-and-Spoke Architecture. </a:t>
            </a:r>
            <a:r>
              <a:rPr lang="en-US" dirty="0"/>
              <a:t>This is perhaps the most famous data warehousing architecture today. Here the attention is focused on building a scalable and maintainable infrastructure that includes a centralized data warehouse and several dependent data marts. This architecture allows for easy customization of user interfaces and reports. On the negative side, this architecture lacks the holistic enterprise view, and may lead to data redundancy and data latency.</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12</a:t>
            </a:fld>
            <a:endParaRPr lang="en-US"/>
          </a:p>
        </p:txBody>
      </p:sp>
    </p:spTree>
    <p:extLst>
      <p:ext uri="{BB962C8B-B14F-4D97-AF65-F5344CB8AC3E}">
        <p14:creationId xmlns:p14="http://schemas.microsoft.com/office/powerpoint/2010/main" val="1007019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Centralized Data Warehouse Architecture. </a:t>
            </a:r>
            <a:r>
              <a:rPr lang="en-US" dirty="0"/>
              <a:t>The centralized data warehouse architecture is similar to the hub-and-spoke architecture except that there are no dependent data marts; instead, there is an enterprise data warehouse that serves the needs of all organizational units. This centralized approach provides users with access to all data in the data warehouse instead of limiting them to data marts. In addition, it reduces the amount of data the technical team has to transfer or change, therefore simplifying data management and administration. If designed and implemented properly, this architecture provides a timely and holistic view of the enterprise to whomever, whenever, and wherever they may be within the organization. </a:t>
            </a:r>
          </a:p>
          <a:p>
            <a:endParaRPr lang="en-US" dirty="0"/>
          </a:p>
          <a:p>
            <a:r>
              <a:rPr lang="en-US" b="1" dirty="0"/>
              <a:t>Federated Architecture. </a:t>
            </a:r>
            <a:r>
              <a:rPr lang="en-US" dirty="0"/>
              <a:t>The federated approach is a concession to the natural forces that undermine the best plans for developing a perfect system. It uses all possible means to integrate analytical resources from multiple sources to meet changing needs or business conditions. Essentially, the federated approach involves integrating disparate systems. In a federated architecture, existing decision support structures are left in place, and data are accessed from those sources as needed. </a:t>
            </a:r>
          </a:p>
          <a:p>
            <a:endParaRPr lang="en-US" dirty="0"/>
          </a:p>
          <a:p>
            <a:r>
              <a:rPr lang="en-US" dirty="0"/>
              <a:t>Overall, each architecture has its advantages and disadvantages. Organizations need to select the “best” architecture based on their situations, such as information needs, urgency of need for a data warehouse, organizational enterprise architecture, nature of end-user tasks, constraints on resources, technical abilities and issues, and social/political factors.</a:t>
            </a:r>
          </a:p>
        </p:txBody>
      </p:sp>
      <p:sp>
        <p:nvSpPr>
          <p:cNvPr id="4" name="Slide Number Placeholder 3"/>
          <p:cNvSpPr>
            <a:spLocks noGrp="1"/>
          </p:cNvSpPr>
          <p:nvPr>
            <p:ph type="sldNum" sz="quarter" idx="5"/>
          </p:nvPr>
        </p:nvSpPr>
        <p:spPr/>
        <p:txBody>
          <a:bodyPr/>
          <a:lstStyle/>
          <a:p>
            <a:fld id="{7B547B85-5C92-49FC-98A0-16FD07ABB6F8}" type="slidenum">
              <a:rPr lang="en-US" smtClean="0"/>
              <a:t>13</a:t>
            </a:fld>
            <a:endParaRPr lang="en-US"/>
          </a:p>
        </p:txBody>
      </p:sp>
    </p:spTree>
    <p:extLst>
      <p:ext uri="{BB962C8B-B14F-4D97-AF65-F5344CB8AC3E}">
        <p14:creationId xmlns:p14="http://schemas.microsoft.com/office/powerpoint/2010/main" val="19972234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Real-time data warehouse is an enterprise data warehouse that accepts near-real-time feeds of transactional data from the systems of record, analyzes warehouse data, and in near-real-time relays business rules to the data warehouse and systems of record so that immediate action can be taken in response to business events.</a:t>
            </a:r>
          </a:p>
          <a:p>
            <a:endParaRPr lang="en-US" dirty="0"/>
          </a:p>
          <a:p>
            <a:r>
              <a:rPr lang="en-US" dirty="0"/>
              <a:t>An example of real-time data warehousing (with real-time analytics) would be an express mail and package delivery service using frequent scanning of parcels to know exactly where a package is in its transportation system. Real-time analytics, based on this package data, as well as pricing, customer service–level agreements, and logistics opportunities, could automatically reroute packages to meet delivery promises for their best customers. RFID technologies are allowing these kinds of opportunities for real-time data warehousing (with massive amounts of data) coupled with real-time analytics to be used to greatly reduce the latency between event data capture and appropriate actions being taken.</a:t>
            </a:r>
          </a:p>
        </p:txBody>
      </p:sp>
      <p:sp>
        <p:nvSpPr>
          <p:cNvPr id="4" name="Slide Number Placeholder 3"/>
          <p:cNvSpPr>
            <a:spLocks noGrp="1"/>
          </p:cNvSpPr>
          <p:nvPr>
            <p:ph type="sldNum" sz="quarter" idx="5"/>
          </p:nvPr>
        </p:nvSpPr>
        <p:spPr/>
        <p:txBody>
          <a:bodyPr/>
          <a:lstStyle/>
          <a:p>
            <a:fld id="{7B547B85-5C92-49FC-98A0-16FD07ABB6F8}" type="slidenum">
              <a:rPr lang="en-US" smtClean="0"/>
              <a:t>14</a:t>
            </a:fld>
            <a:endParaRPr lang="en-US"/>
          </a:p>
        </p:txBody>
      </p:sp>
    </p:spTree>
    <p:extLst>
      <p:ext uri="{BB962C8B-B14F-4D97-AF65-F5344CB8AC3E}">
        <p14:creationId xmlns:p14="http://schemas.microsoft.com/office/powerpoint/2010/main" val="30327894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Various conceptual data models or schemas can be used to design a data warehouse, which all involve the modeling of facts, as well as dimensions with which to analyze these facts.  </a:t>
            </a:r>
            <a:r>
              <a:rPr lang="en-US" altLang="en-US" dirty="0"/>
              <a:t>A star</a:t>
            </a:r>
            <a:r>
              <a:rPr lang="en-US" altLang="en-US" baseline="0" dirty="0"/>
              <a:t> schema is a</a:t>
            </a:r>
            <a:r>
              <a:rPr lang="it-IT" sz="1200" b="0" i="0" u="none" strike="noStrike" kern="1200" cap="none" baseline="0" dirty="0">
                <a:solidFill>
                  <a:schemeClr val="tx1"/>
                </a:solidFill>
                <a:latin typeface="Times New Roman" pitchFamily="18" charset="0"/>
                <a:ea typeface="Arial"/>
                <a:cs typeface="Arial" charset="0"/>
                <a:sym typeface="Arial"/>
              </a:rPr>
              <a:t> simple database design in </a:t>
            </a:r>
            <a:r>
              <a:rPr lang="en-US" sz="1200" b="0" i="0" u="none" strike="noStrike" kern="1200" cap="none" baseline="0" dirty="0">
                <a:solidFill>
                  <a:schemeClr val="tx1"/>
                </a:solidFill>
                <a:latin typeface="Times New Roman" pitchFamily="18" charset="0"/>
                <a:ea typeface="Arial"/>
                <a:cs typeface="Arial" charset="0"/>
                <a:sym typeface="Arial"/>
              </a:rPr>
              <a:t>which dimensional data are separated from fact or event data. Another name for star schema is “dimensional model”.</a:t>
            </a:r>
          </a:p>
          <a:p>
            <a:endParaRPr lang="en-US" sz="1200" b="0" i="0" u="none" strike="noStrike" kern="1200" cap="none" baseline="0" dirty="0">
              <a:solidFill>
                <a:schemeClr val="tx1"/>
              </a:solidFill>
              <a:latin typeface="Times New Roman" pitchFamily="18" charset="0"/>
              <a:ea typeface="Arial"/>
              <a:cs typeface="Arial" charset="0"/>
              <a:sym typeface="Arial"/>
            </a:endParaRPr>
          </a:p>
          <a:p>
            <a:r>
              <a:rPr lang="en-US" sz="1200" b="0" i="0" u="none" strike="noStrike" kern="1200" cap="none" baseline="0" dirty="0">
                <a:solidFill>
                  <a:schemeClr val="tx1"/>
                </a:solidFill>
                <a:latin typeface="Times New Roman" pitchFamily="18" charset="0"/>
                <a:ea typeface="Arial"/>
                <a:cs typeface="Arial" charset="0"/>
                <a:sym typeface="Arial"/>
              </a:rPr>
              <a:t>Note that the fact table is in essence an associative entity that joins various dimension tables. The dimension tables are usually the source of attributes used to qualify, categorize, or summarize facts in queries, reports, or graphs; thus, dimension data are usually textual and discrete.</a:t>
            </a:r>
          </a:p>
          <a:p>
            <a:endParaRPr lang="en-US" sz="1200" b="0" i="0" u="none" strike="noStrike" kern="1200" cap="none" baseline="0" dirty="0">
              <a:solidFill>
                <a:schemeClr val="tx1"/>
              </a:solidFill>
              <a:latin typeface="Times New Roman" pitchFamily="18" charset="0"/>
              <a:ea typeface="Arial"/>
              <a:cs typeface="Arial" charset="0"/>
              <a:sym typeface="Arial"/>
            </a:endParaRPr>
          </a:p>
          <a:p>
            <a:r>
              <a:rPr lang="en-US" sz="1200" b="0" i="1" u="none" strike="noStrike" kern="1200" cap="none" baseline="0" dirty="0">
                <a:solidFill>
                  <a:schemeClr val="tx1"/>
                </a:solidFill>
                <a:latin typeface="Times New Roman" pitchFamily="18" charset="0"/>
                <a:ea typeface="Arial"/>
                <a:cs typeface="Arial" charset="0"/>
                <a:sym typeface="Arial"/>
              </a:rPr>
              <a:t>Fact tables </a:t>
            </a:r>
            <a:r>
              <a:rPr lang="en-US" sz="1200" b="0" i="0" u="none" strike="noStrike" kern="1200" cap="none" baseline="0" dirty="0">
                <a:solidFill>
                  <a:schemeClr val="tx1"/>
                </a:solidFill>
                <a:latin typeface="Times New Roman" pitchFamily="18" charset="0"/>
                <a:ea typeface="Arial"/>
                <a:cs typeface="Arial" charset="0"/>
                <a:sym typeface="Arial"/>
              </a:rPr>
              <a:t>contain factual or quantitative data (measurements that are numerical, continuously valued, and additive) about a business, such as units sold, orders booked, and so on.</a:t>
            </a:r>
          </a:p>
          <a:p>
            <a:endParaRPr lang="en-US" sz="1200" b="0" i="0" u="none" strike="noStrike" kern="1200" cap="none" baseline="0" dirty="0">
              <a:solidFill>
                <a:schemeClr val="tx1"/>
              </a:solidFill>
              <a:latin typeface="Times New Roman" pitchFamily="18" charset="0"/>
              <a:ea typeface="Arial"/>
              <a:cs typeface="Arial" charset="0"/>
              <a:sym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solidFill>
                  <a:srgbClr val="990000"/>
                </a:solidFill>
                <a:cs typeface="Tahoma" pitchFamily="34" charset="0"/>
              </a:rPr>
              <a:t>Dimension tables are denormalized to maximize performance. The 1:N relationship between dimension tables and fact tables</a:t>
            </a:r>
            <a:r>
              <a:rPr lang="en-US" altLang="en-US" sz="1200" baseline="0" dirty="0">
                <a:solidFill>
                  <a:srgbClr val="990000"/>
                </a:solidFill>
                <a:cs typeface="Tahoma" pitchFamily="34" charset="0"/>
              </a:rPr>
              <a:t> means</a:t>
            </a:r>
            <a:r>
              <a:rPr lang="en-US" altLang="en-US" sz="1200" dirty="0">
                <a:solidFill>
                  <a:srgbClr val="990000"/>
                </a:solidFill>
                <a:cs typeface="Tahoma" pitchFamily="34" charset="0"/>
              </a:rPr>
              <a:t> you can think of fact tables as associative entities between dimensions.</a:t>
            </a:r>
            <a:endParaRPr lang="en-US" altLang="en-US" sz="1200" b="0" i="0" u="none" strike="noStrike" kern="1200" cap="none" baseline="0" dirty="0">
              <a:solidFill>
                <a:schemeClr val="tx1"/>
              </a:solidFill>
              <a:latin typeface="Times New Roman" pitchFamily="18" charset="0"/>
              <a:ea typeface="Arial"/>
              <a:cs typeface="Arial" charset="0"/>
              <a:sym typeface="Arial"/>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15</a:t>
            </a:fld>
            <a:endParaRPr lang="en-US"/>
          </a:p>
        </p:txBody>
      </p:sp>
    </p:spTree>
    <p:extLst>
      <p:ext uri="{BB962C8B-B14F-4D97-AF65-F5344CB8AC3E}">
        <p14:creationId xmlns:p14="http://schemas.microsoft.com/office/powerpoint/2010/main" val="294587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Here we have a fact table surrounded by three dimension tables. Each fact shows sales</a:t>
            </a:r>
            <a:r>
              <a:rPr lang="en-US" altLang="en-US" baseline="0" dirty="0"/>
              <a:t> data for a particular product from a particular store during a particular time period. The data in the fact table was likely derived from the operational database’s sales data. Note that this is </a:t>
            </a:r>
            <a:r>
              <a:rPr lang="en-US" altLang="en-US" b="1" baseline="0" dirty="0"/>
              <a:t>summary</a:t>
            </a:r>
            <a:r>
              <a:rPr lang="en-US" altLang="en-US" baseline="0" dirty="0"/>
              <a:t> data. The operational database has records of each sale, but here we are getting summary data (units sold, dollars sold, dollars cost). This is typical in data warehouses, and has to do with another concept we will soon discuss, the concept of “granularity”.</a:t>
            </a:r>
            <a:endParaRPr lang="en-US" altLang="en-US" dirty="0"/>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16</a:t>
            </a:fld>
            <a:endParaRPr lang="en-US"/>
          </a:p>
        </p:txBody>
      </p:sp>
    </p:spTree>
    <p:extLst>
      <p:ext uri="{BB962C8B-B14F-4D97-AF65-F5344CB8AC3E}">
        <p14:creationId xmlns:p14="http://schemas.microsoft.com/office/powerpoint/2010/main" val="3260593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This is the same star schema showing</a:t>
            </a:r>
            <a:r>
              <a:rPr lang="en-US" altLang="en-US" baseline="0" dirty="0"/>
              <a:t> the data. Notice that the fact table has numeric data and foreign keys. The dimension tables have primary keys and discrete data. We can use this to answer many managerial questions. For example:</a:t>
            </a:r>
          </a:p>
          <a:p>
            <a:pPr eaLnBrk="1" hangingPunct="1"/>
            <a:endParaRPr lang="en-US" altLang="en-US" baseline="0" dirty="0"/>
          </a:p>
          <a:p>
            <a:r>
              <a:rPr lang="en-US" altLang="en-US" sz="1200" b="0" i="0" u="none" strike="noStrike" kern="1200" cap="none" baseline="0" dirty="0">
                <a:solidFill>
                  <a:schemeClr val="tx1"/>
                </a:solidFill>
                <a:latin typeface="Times New Roman" pitchFamily="18" charset="0"/>
                <a:ea typeface="Arial"/>
                <a:cs typeface="Arial" charset="0"/>
                <a:sym typeface="Arial"/>
              </a:rPr>
              <a:t>Question: What can you say about unit sales for store S2?</a:t>
            </a:r>
          </a:p>
          <a:p>
            <a:r>
              <a:rPr lang="en-US" altLang="en-US" sz="1200" b="0" i="0" u="none" strike="noStrike" kern="1200" cap="none" baseline="0" dirty="0">
                <a:solidFill>
                  <a:schemeClr val="tx1"/>
                </a:solidFill>
                <a:latin typeface="Times New Roman" pitchFamily="18" charset="0"/>
                <a:ea typeface="Arial"/>
                <a:cs typeface="Arial" charset="0"/>
                <a:sym typeface="Arial"/>
              </a:rPr>
              <a:t>Answer: 50 units of product 125 (gloves) and 30 units of product 100 (sweaters) were sold in June 2018.</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altLang="en-US" sz="1200" b="0" i="0" u="none" strike="noStrike" kern="1200" cap="none" baseline="0" dirty="0">
                <a:solidFill>
                  <a:schemeClr val="tx1"/>
                </a:solidFill>
                <a:latin typeface="Times New Roman" pitchFamily="18" charset="0"/>
                <a:ea typeface="Arial"/>
                <a:cs typeface="Arial" charset="0"/>
                <a:sym typeface="Arial"/>
              </a:rPr>
              <a:t>Question: Which store(s) sold shoes and when?</a:t>
            </a:r>
          </a:p>
          <a:p>
            <a:r>
              <a:rPr lang="en-US" altLang="en-US" sz="1200" b="0" i="0" u="none" strike="noStrike" kern="1200" cap="none" baseline="0" dirty="0">
                <a:solidFill>
                  <a:schemeClr val="tx1"/>
                </a:solidFill>
                <a:latin typeface="Times New Roman" pitchFamily="18" charset="0"/>
                <a:ea typeface="Arial"/>
                <a:cs typeface="Arial" charset="0"/>
                <a:sym typeface="Arial"/>
              </a:rPr>
              <a:t>Answer: S1 (Jan’s) and S3 (Ed’s), both in May 2018.</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altLang="en-US" sz="1200" b="0" i="0" u="none" strike="noStrike" kern="1200" cap="none" baseline="0" dirty="0">
                <a:solidFill>
                  <a:schemeClr val="tx1"/>
                </a:solidFill>
                <a:latin typeface="Times New Roman" pitchFamily="18" charset="0"/>
                <a:ea typeface="Arial"/>
                <a:cs typeface="Arial" charset="0"/>
                <a:sym typeface="Arial"/>
              </a:rPr>
              <a:t>Question: Which time period has the most total dollars sold?</a:t>
            </a:r>
          </a:p>
          <a:p>
            <a:r>
              <a:rPr lang="en-US" altLang="en-US" sz="1200" b="0" i="0" u="none" strike="noStrike" kern="1200" cap="none" baseline="0" dirty="0">
                <a:solidFill>
                  <a:schemeClr val="tx1"/>
                </a:solidFill>
                <a:latin typeface="Times New Roman" pitchFamily="18" charset="0"/>
                <a:ea typeface="Arial"/>
                <a:cs typeface="Arial" charset="0"/>
                <a:sym typeface="Arial"/>
              </a:rPr>
              <a:t>Answer: Time period 002 (May 2018) has the most, with a total of $3500.</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17</a:t>
            </a:fld>
            <a:endParaRPr lang="en-US"/>
          </a:p>
        </p:txBody>
      </p:sp>
    </p:spTree>
    <p:extLst>
      <p:ext uri="{BB962C8B-B14F-4D97-AF65-F5344CB8AC3E}">
        <p14:creationId xmlns:p14="http://schemas.microsoft.com/office/powerpoint/2010/main" val="4761937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elaborate on some specific schema issues. </a:t>
            </a:r>
          </a:p>
          <a:p>
            <a:endParaRPr lang="en-US" dirty="0"/>
          </a:p>
          <a:p>
            <a:r>
              <a:rPr lang="en-US" dirty="0"/>
              <a:t>Every key used to join the fact table with a dimension table should be a surrogate (nonintelligent, or system-assigned) key, not a key that uses a business value (sometimes called a natural, smart, or production key), because 1. business keys may change over time; 2. it helps keep track of non-key attribute values for a given production key; 3. surrogate keys are simpler and shorter; and 4. surrogate keys can be same length and format for all keys.</a:t>
            </a:r>
          </a:p>
          <a:p>
            <a:endParaRPr lang="en-US" dirty="0"/>
          </a:p>
          <a:p>
            <a:r>
              <a:rPr lang="en-US" dirty="0"/>
              <a:t>The terms “grain” or “granularity” refer to the level of detail in a fact table, determined by the intersection of all the components of the primary key, including all foreign keys and any other primary key elements. </a:t>
            </a:r>
            <a:r>
              <a:rPr lang="en-US" sz="1200" b="0" i="0" u="none" strike="noStrike" kern="1200" cap="none" baseline="0" dirty="0">
                <a:solidFill>
                  <a:schemeClr val="tx1"/>
                </a:solidFill>
                <a:latin typeface="Times New Roman" pitchFamily="18" charset="0"/>
                <a:ea typeface="Arial"/>
                <a:cs typeface="Arial" charset="0"/>
                <a:sym typeface="Arial"/>
              </a:rPr>
              <a:t>Kimball and others recommend using the smallest grain possible, given the limitations of the data mart technology. Even when data mart user information requirements imply a certain level of aggregated grain, often after some use, users ask more detailed questions (drill down) as a way to explain why certain aggregated patterns exist. You cannot “drill down” below the grain of the fact tables. But, fine grain means higher volume of data.</a:t>
            </a:r>
            <a:endParaRPr lang="en-US" dirty="0"/>
          </a:p>
          <a:p>
            <a:endParaRPr lang="en-US" dirty="0"/>
          </a:p>
          <a:p>
            <a:r>
              <a:rPr lang="en-US" dirty="0"/>
              <a:t>As in the case of the EDW, another important decision in the design of a data mart is the amount of history to be kept, that is, the duration of the database. The natural duration is about 13 months or 5 calendar quarters, which is sufficient to see annual cycles in the data. Some businesses, such as financial institutions, have a need for longer durations. Older data may be difficult to source and cleanse if additional attributes are required from data sources. Even if sources of old data are available, it may be most difficult to find old values of dimension data, which are less likely than fact data to have been retained. Old fact data without associated dimension data at the time of the fact may be worthless.</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18</a:t>
            </a:fld>
            <a:endParaRPr lang="en-US"/>
          </a:p>
        </p:txBody>
      </p:sp>
    </p:spTree>
    <p:extLst>
      <p:ext uri="{BB962C8B-B14F-4D97-AF65-F5344CB8AC3E}">
        <p14:creationId xmlns:p14="http://schemas.microsoft.com/office/powerpoint/2010/main" val="651306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As you would expect, the grain and duration of the fact table have a direct impact on the size of that table. We can estimate the number of rows in the fact table using the product of number of possible values for each dimension associated with the fact table.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Here is an example. Assume that total number of stores is 1000, total number of products is 5,000, and total number of periods is 24. Then the total rows will be 1,000 </a:t>
            </a:r>
            <a:r>
              <a:rPr lang="en-US" sz="1200" dirty="0">
                <a:latin typeface="Arial Nova" panose="020B0504020202020204" pitchFamily="34" charset="0"/>
              </a:rPr>
              <a:t>stores × 5,000 active products × 24 months = 120,000,000 rows. </a:t>
            </a:r>
          </a:p>
          <a:p>
            <a:endParaRPr lang="en-US" sz="1200" dirty="0">
              <a:latin typeface="Arial Nova" panose="020B0504020202020204" pitchFamily="34" charset="0"/>
            </a:endParaRPr>
          </a:p>
          <a:p>
            <a:r>
              <a:rPr lang="en-US" dirty="0"/>
              <a:t>Many large retailers (e.g., Walmart, Kmart, Sears) and e-businesses (e.g., Amazon) now have data warehouses (or data marts). The size of most of these data warehouses is in the multiple-terabyte range and growing rapidly as marketing people continue to press for more dimensions and an ever-finer grain in the fact table.</a:t>
            </a:r>
          </a:p>
        </p:txBody>
      </p:sp>
      <p:sp>
        <p:nvSpPr>
          <p:cNvPr id="4" name="Slide Number Placeholder 3"/>
          <p:cNvSpPr>
            <a:spLocks noGrp="1"/>
          </p:cNvSpPr>
          <p:nvPr>
            <p:ph type="sldNum" sz="quarter" idx="5"/>
          </p:nvPr>
        </p:nvSpPr>
        <p:spPr/>
        <p:txBody>
          <a:bodyPr/>
          <a:lstStyle/>
          <a:p>
            <a:fld id="{7B547B85-5C92-49FC-98A0-16FD07ABB6F8}" type="slidenum">
              <a:rPr lang="en-US" smtClean="0"/>
              <a:t>19</a:t>
            </a:fld>
            <a:endParaRPr lang="en-US"/>
          </a:p>
        </p:txBody>
      </p:sp>
    </p:spTree>
    <p:extLst>
      <p:ext uri="{BB962C8B-B14F-4D97-AF65-F5344CB8AC3E}">
        <p14:creationId xmlns:p14="http://schemas.microsoft.com/office/powerpoint/2010/main" val="4768699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8" charset="0"/>
                <a:ea typeface="Arial"/>
                <a:cs typeface="Arial" charset="0"/>
                <a:sym typeface="Arial"/>
              </a:rPr>
              <a:t>Because data warehouses and data marts record facts about dimensions over time, date and time is always a dimension table, and a date surrogate key is always one of the components of the primary key of any fact table. This is one of the reasons we consider data warehouses to be time-variant. </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sz="1200" b="0" i="0" u="none" strike="noStrike" kern="1200" cap="none" baseline="0" dirty="0">
                <a:solidFill>
                  <a:schemeClr val="tx1"/>
                </a:solidFill>
                <a:latin typeface="Times New Roman" pitchFamily="18" charset="0"/>
                <a:ea typeface="Arial"/>
                <a:cs typeface="Arial" charset="0"/>
                <a:sym typeface="Arial"/>
              </a:rPr>
              <a:t>Note that the Date dimension table includes many non-key attributes, as you see here. The non-key attributes include all of the characteristics of dates that users use to categorize, summarize, and group facts.</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altLang="en-US" sz="1200" b="0" i="0" u="none" strike="noStrike" kern="1200" cap="none" baseline="0" dirty="0">
                <a:solidFill>
                  <a:schemeClr val="tx1"/>
                </a:solidFill>
                <a:latin typeface="Times New Roman" pitchFamily="18" charset="0"/>
                <a:ea typeface="Arial"/>
                <a:cs typeface="Arial" charset="0"/>
                <a:sym typeface="Arial"/>
              </a:rPr>
              <a:t>Question: In this model, what can you say about how many events could be associated with a particular date?</a:t>
            </a:r>
          </a:p>
          <a:p>
            <a:r>
              <a:rPr lang="en-US" altLang="en-US" sz="1200" b="0" i="0" u="none" strike="noStrike" kern="1200" cap="none" baseline="0" dirty="0">
                <a:solidFill>
                  <a:schemeClr val="tx1"/>
                </a:solidFill>
                <a:latin typeface="Times New Roman" pitchFamily="18" charset="0"/>
                <a:ea typeface="Arial"/>
                <a:cs typeface="Arial" charset="0"/>
                <a:sym typeface="Arial"/>
              </a:rPr>
              <a:t>Answer: Only one! That may be a weakness in the model.</a:t>
            </a:r>
            <a:endParaRPr lang="en-US" altLang="en-US" dirty="0"/>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20</a:t>
            </a:fld>
            <a:endParaRPr lang="en-US" dirty="0"/>
          </a:p>
        </p:txBody>
      </p:sp>
    </p:spTree>
    <p:extLst>
      <p:ext uri="{BB962C8B-B14F-4D97-AF65-F5344CB8AC3E}">
        <p14:creationId xmlns:p14="http://schemas.microsoft.com/office/powerpoint/2010/main" val="2085991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Although fact tables are normalized, often dimension tables may not be. This enables dimension tables to be only one join away from the fact table,</a:t>
            </a:r>
            <a:r>
              <a:rPr lang="en-US" altLang="en-US" baseline="0" dirty="0"/>
              <a:t> improving query performance. Of course, non-normalized data involves data duplication. </a:t>
            </a:r>
          </a:p>
          <a:p>
            <a:endParaRPr lang="en-US" altLang="en-US" baseline="0" dirty="0"/>
          </a:p>
          <a:p>
            <a:r>
              <a:rPr lang="en-US" altLang="en-US" baseline="0" dirty="0"/>
              <a:t>Question: Why is this not a problem?</a:t>
            </a:r>
          </a:p>
          <a:p>
            <a:r>
              <a:rPr lang="en-US" altLang="en-US" baseline="0" dirty="0"/>
              <a:t>Answer: Because the data warehouse is not volatile. Data doesn’t change like a transaction processing database.</a:t>
            </a:r>
            <a:endParaRPr lang="en-US" altLang="en-US" dirty="0"/>
          </a:p>
          <a:p>
            <a:endParaRPr lang="en-US" dirty="0"/>
          </a:p>
          <a:p>
            <a:r>
              <a:rPr lang="en-US" dirty="0"/>
              <a:t>Different from the star schema, snowflake schema normalizes the dimensional table. There are two difference cases: multivalued dimensions and hierarchies. Let’s look at two examples illustrating them. </a:t>
            </a:r>
          </a:p>
        </p:txBody>
      </p:sp>
      <p:sp>
        <p:nvSpPr>
          <p:cNvPr id="4" name="Slide Number Placeholder 3"/>
          <p:cNvSpPr>
            <a:spLocks noGrp="1"/>
          </p:cNvSpPr>
          <p:nvPr>
            <p:ph type="sldNum" sz="quarter" idx="5"/>
          </p:nvPr>
        </p:nvSpPr>
        <p:spPr/>
        <p:txBody>
          <a:bodyPr/>
          <a:lstStyle/>
          <a:p>
            <a:fld id="{7B547B85-5C92-49FC-98A0-16FD07ABB6F8}" type="slidenum">
              <a:rPr lang="en-US" smtClean="0"/>
              <a:t>21</a:t>
            </a:fld>
            <a:endParaRPr lang="en-US" dirty="0"/>
          </a:p>
        </p:txBody>
      </p:sp>
    </p:spTree>
    <p:extLst>
      <p:ext uri="{BB962C8B-B14F-4D97-AF65-F5344CB8AC3E}">
        <p14:creationId xmlns:p14="http://schemas.microsoft.com/office/powerpoint/2010/main" val="29000830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Although fact tables are usually on the many side of a 1:N relationship with their associated dimensions, there are circumstances where facts may need to have M:N relationships. In a data</a:t>
            </a:r>
            <a:r>
              <a:rPr lang="en-US" baseline="0" dirty="0"/>
              <a:t> warehouse, this is facilitated through the use of a “helper” table, which is an associative entity between the fact and the dimension.</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22</a:t>
            </a:fld>
            <a:endParaRPr lang="en-US" dirty="0"/>
          </a:p>
        </p:txBody>
      </p:sp>
    </p:spTree>
    <p:extLst>
      <p:ext uri="{BB962C8B-B14F-4D97-AF65-F5344CB8AC3E}">
        <p14:creationId xmlns:p14="http://schemas.microsoft.com/office/powerpoint/2010/main" val="4550973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figure, we see the hierarchy implemented through normalized dimension tables. This prevents duplication of product groups, categories, and families. But a query for a fact that required the product group</a:t>
            </a:r>
            <a:r>
              <a:rPr lang="en-US" baseline="0" dirty="0"/>
              <a:t> would need to involve five tables in the join.</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But, it could</a:t>
            </a:r>
            <a:r>
              <a:rPr lang="en-US" baseline="0" dirty="0"/>
              <a:t> also have been implemented as a single Product dimension table, with all the other data (group, category, family) included. In this case there would be data duplication, but the queries would be simplified, requiring only two tables in the join.</a:t>
            </a:r>
            <a:endParaRPr lang="en-US" dirty="0"/>
          </a:p>
          <a:p>
            <a:endParaRPr lang="en-US" sz="1200" b="0" i="0" u="none" strike="noStrike" kern="1200" cap="none" baseline="0" dirty="0">
              <a:solidFill>
                <a:schemeClr val="tx1"/>
              </a:solidFill>
              <a:latin typeface="Times New Roman" pitchFamily="18" charset="0"/>
              <a:ea typeface="Arial"/>
              <a:cs typeface="Arial" charset="0"/>
              <a:sym typeface="Arial"/>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23</a:t>
            </a:fld>
            <a:endParaRPr lang="en-US" dirty="0"/>
          </a:p>
        </p:txBody>
      </p:sp>
    </p:spTree>
    <p:extLst>
      <p:ext uri="{BB962C8B-B14F-4D97-AF65-F5344CB8AC3E}">
        <p14:creationId xmlns:p14="http://schemas.microsoft.com/office/powerpoint/2010/main" val="39868303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Another simple but more general alternative appears in this Figure. Figure (a) shows how this hierarchy is typically modeled in a data warehouse using a helper table. The problem with joining in a recursive relationship of arbitrary depth is that the user has to write code to join an arbitrary number of times (once for each level of subordination) and these joins in a data warehouse, because of its massive size, can be very time-consuming (except for some high-performance data warehouse technologies that use parallel processing). To avoid this problem, the helper table flattens out the hierarchy by recording a row for each organizational subunit and each of its parent organizational units (including itself) all the way up to the top unit of the customer organization. Figure (b) depicts an example customer organizational hierarchy and the rows that would be in the helper table to represent that total organization.</a:t>
            </a: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24</a:t>
            </a:fld>
            <a:endParaRPr lang="en-US" dirty="0"/>
          </a:p>
        </p:txBody>
      </p:sp>
    </p:spTree>
    <p:extLst>
      <p:ext uri="{BB962C8B-B14F-4D97-AF65-F5344CB8AC3E}">
        <p14:creationId xmlns:p14="http://schemas.microsoft.com/office/powerpoint/2010/main" val="3664801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8" charset="0"/>
                <a:ea typeface="Arial"/>
                <a:cs typeface="Arial" charset="0"/>
                <a:sym typeface="Arial"/>
              </a:rPr>
              <a:t>Here we see a typical situation of multiple fact tables with two related star schemas. In this example, there are two fact tables, one at the center of each star:</a:t>
            </a:r>
          </a:p>
          <a:p>
            <a:pPr lvl="1"/>
            <a:r>
              <a:rPr lang="en-US" sz="1200" b="0" i="0" u="none" strike="noStrike" kern="1200" cap="none" baseline="0" dirty="0">
                <a:solidFill>
                  <a:schemeClr val="tx1"/>
                </a:solidFill>
                <a:latin typeface="Times New Roman" pitchFamily="18" charset="0"/>
                <a:ea typeface="Arial"/>
                <a:cs typeface="Arial" charset="0"/>
                <a:sym typeface="Arial"/>
              </a:rPr>
              <a:t>Sales — facts about the sale of a product to a customer in a store on a date</a:t>
            </a:r>
          </a:p>
          <a:p>
            <a:pPr lvl="1"/>
            <a:r>
              <a:rPr lang="en-US" sz="1200" b="0" i="0" u="none" strike="noStrike" kern="1200" cap="none" baseline="0" dirty="0">
                <a:solidFill>
                  <a:schemeClr val="tx1"/>
                </a:solidFill>
                <a:latin typeface="Times New Roman" pitchFamily="18" charset="0"/>
                <a:ea typeface="Arial"/>
                <a:cs typeface="Arial" charset="0"/>
                <a:sym typeface="Arial"/>
              </a:rPr>
              <a:t>Receipts — facts about the receipt of a product from a vendor to a warehouse on a date</a:t>
            </a:r>
          </a:p>
          <a:p>
            <a:pPr lvl="0"/>
            <a:endParaRPr lang="en-US" sz="1200" b="0" i="0" u="none" strike="noStrike" kern="1200" cap="none" baseline="0" dirty="0">
              <a:solidFill>
                <a:schemeClr val="tx1"/>
              </a:solidFill>
              <a:latin typeface="Times New Roman" pitchFamily="18" charset="0"/>
              <a:ea typeface="Arial"/>
              <a:cs typeface="Arial" charset="0"/>
              <a:sym typeface="Arial"/>
            </a:endParaRPr>
          </a:p>
          <a:p>
            <a:r>
              <a:rPr lang="en-US" sz="1200" b="0" i="0" u="none" strike="noStrike" kern="1200" cap="none" baseline="0" dirty="0">
                <a:solidFill>
                  <a:schemeClr val="tx1"/>
                </a:solidFill>
                <a:latin typeface="Times New Roman" pitchFamily="18" charset="0"/>
                <a:ea typeface="Arial"/>
                <a:cs typeface="Arial" charset="0"/>
                <a:sym typeface="Arial"/>
              </a:rPr>
              <a:t>These two star schemas are connected via a common dimension (Date). The term for this is a “conformed dimension”. Conformed dimensions are dimension tables associated with two or more fact tables for which the dimension tables have the same business meaning and primary key with each fact table.</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25</a:t>
            </a:fld>
            <a:endParaRPr lang="en-US" dirty="0"/>
          </a:p>
        </p:txBody>
      </p:sp>
    </p:spTree>
    <p:extLst>
      <p:ext uri="{BB962C8B-B14F-4D97-AF65-F5344CB8AC3E}">
        <p14:creationId xmlns:p14="http://schemas.microsoft.com/office/powerpoint/2010/main" val="13458938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As strange as it may seem, there are applications for fact tables that do not have </a:t>
            </a:r>
            <a:r>
              <a:rPr lang="en-US" sz="1200" b="0" i="0" u="none" strike="noStrike" kern="1200" baseline="0" dirty="0" err="1">
                <a:solidFill>
                  <a:schemeClr val="tx1"/>
                </a:solidFill>
                <a:latin typeface="+mn-lt"/>
                <a:ea typeface="+mn-ea"/>
                <a:cs typeface="+mn-cs"/>
              </a:rPr>
              <a:t>nonkey</a:t>
            </a:r>
            <a:r>
              <a:rPr lang="en-US" sz="1200" b="0" i="0" u="none" strike="noStrike" kern="1200" baseline="0" dirty="0">
                <a:solidFill>
                  <a:schemeClr val="tx1"/>
                </a:solidFill>
                <a:latin typeface="+mn-lt"/>
                <a:ea typeface="+mn-ea"/>
                <a:cs typeface="+mn-cs"/>
              </a:rPr>
              <a:t> (fact) data but do have foreign keys for the associated dimensions.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b="0" i="0" u="none" strike="noStrike" kern="1200" baseline="0" dirty="0">
                <a:solidFill>
                  <a:schemeClr val="tx1"/>
                </a:solidFill>
                <a:latin typeface="+mn-lt"/>
                <a:ea typeface="+mn-ea"/>
                <a:cs typeface="+mn-cs"/>
              </a:rPr>
              <a:t>The two general situations in which </a:t>
            </a:r>
            <a:r>
              <a:rPr lang="en-US" sz="1200" b="0" i="0" u="none" strike="noStrike" kern="1200" baseline="0" dirty="0" err="1">
                <a:solidFill>
                  <a:schemeClr val="tx1"/>
                </a:solidFill>
                <a:latin typeface="+mn-lt"/>
                <a:ea typeface="+mn-ea"/>
                <a:cs typeface="+mn-cs"/>
              </a:rPr>
              <a:t>factless</a:t>
            </a:r>
            <a:r>
              <a:rPr lang="en-US" sz="1200" b="0" i="0" u="none" strike="noStrike" kern="1200" baseline="0" dirty="0">
                <a:solidFill>
                  <a:schemeClr val="tx1"/>
                </a:solidFill>
                <a:latin typeface="+mn-lt"/>
                <a:ea typeface="+mn-ea"/>
                <a:cs typeface="+mn-cs"/>
              </a:rPr>
              <a:t> fact tables may apply are tracking events (see Figure a) and taking inventory of the set of possible occurrences (called coverage) (see Figure b).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As shown in the upper figure, the star schema tracks which students attend which courses at which time in which facilities with which instructors. All that needs to be known is whether this event occurs, represented by the intersection of the five foreign keys.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bottom figure shows the set of possible sales of a product in a store at a particular time under a given promotion.</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26</a:t>
            </a:fld>
            <a:endParaRPr lang="en-US" dirty="0"/>
          </a:p>
        </p:txBody>
      </p:sp>
    </p:spTree>
    <p:extLst>
      <p:ext uri="{BB962C8B-B14F-4D97-AF65-F5344CB8AC3E}">
        <p14:creationId xmlns:p14="http://schemas.microsoft.com/office/powerpoint/2010/main" val="24978626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solidFill>
                  <a:srgbClr val="FF0000"/>
                </a:solidFill>
              </a:rPr>
              <a:t>This page is optional for students.</a:t>
            </a:r>
          </a:p>
          <a:p>
            <a:endParaRPr lang="en-US" dirty="0"/>
          </a:p>
          <a:p>
            <a:r>
              <a:rPr lang="en-US" dirty="0"/>
              <a:t>Recall that data warehouses and data marts track business activities over time, often for many years. The business does not remain static over time; products change size and weight, customers relocate, stores change layouts, and sales staff are assigned to different locations. in a data warehouse or data mart, we need to know the history of values to match the history of facts with the correct dimensional descriptions at the time the facts happened. For example, we need to associate a sales fact with the description of the associated customer during the time period of the sales fact, which may not be the description of that customer today. Of course, business subjects change slowly compared with most transactional data (e.g., inventory level). Thus, dimensional data change, but change slowly.</a:t>
            </a:r>
          </a:p>
          <a:p>
            <a:endParaRPr lang="en-US" dirty="0"/>
          </a:p>
          <a:p>
            <a:r>
              <a:rPr lang="en-US" sz="1200" b="0" i="0" u="none" strike="noStrike" kern="1200" baseline="0" dirty="0">
                <a:solidFill>
                  <a:schemeClr val="tx1"/>
                </a:solidFill>
                <a:latin typeface="+mn-lt"/>
                <a:ea typeface="+mn-ea"/>
                <a:cs typeface="+mn-cs"/>
              </a:rPr>
              <a:t>We might handle slowly changing dimension (SCD) attributes in one of three ways (Kimball, 1996b, 1999):</a:t>
            </a:r>
          </a:p>
          <a:p>
            <a:endParaRPr lang="en-US" sz="1200" b="0" i="0" u="none" strike="noStrike" kern="1200" baseline="0" dirty="0">
              <a:solidFill>
                <a:schemeClr val="tx1"/>
              </a:solidFill>
              <a:latin typeface="+mn-lt"/>
              <a:ea typeface="+mn-ea"/>
              <a:cs typeface="+mn-cs"/>
            </a:endParaRPr>
          </a:p>
          <a:p>
            <a:pPr marL="171450" indent="-171450">
              <a:buFont typeface="Arial" panose="020B0604020202020204" pitchFamily="34" charset="0"/>
              <a:buChar char="•"/>
            </a:pPr>
            <a:r>
              <a:rPr lang="en-US" dirty="0"/>
              <a:t>First, overwrite the current value with the new value, but this is unacceptable because it eliminates the description of the past that we need to interpret historical facts.</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Second, for each dimension attribute that changes, create a current value field and as many old value fields as we wish. This schema might work if there were a predictable number of changes over the length of history retained in the data warehouse (e.g., if we need to keep only 24 months of history and an attribute changes value monthly). However, this works only under this kind of restrictive assumption and cannot be generalized to any slowly changing dimension attribute. Further, queries can become quite complex because which column is needed may have to be determined within the query.</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Third, create a new dimension table row (with a new surrogate key) each time the dimension object changes; this new row contains all the dimension characteristics at the time of the change; the new surrogate key is the original surrogate key plus the start date for the period when these dimension values are in effect. </a:t>
            </a:r>
          </a:p>
          <a:p>
            <a:pPr marL="0" indent="0">
              <a:buFont typeface="Arial" panose="020B0604020202020204" pitchFamily="34" charset="0"/>
              <a:buNone/>
            </a:pPr>
            <a:endParaRPr lang="en-US" sz="1200" b="0" i="0" u="none" strike="noStrike" kern="1200" baseline="0" dirty="0">
              <a:solidFill>
                <a:schemeClr val="tx1"/>
              </a:solidFill>
              <a:latin typeface="+mn-lt"/>
              <a:ea typeface="+mn-ea"/>
              <a:cs typeface="+mn-cs"/>
            </a:endParaRPr>
          </a:p>
          <a:p>
            <a:r>
              <a:rPr lang="en-US" dirty="0"/>
              <a:t>Figure (a) shows an example of this most popular approach. </a:t>
            </a:r>
            <a:r>
              <a:rPr lang="en-US" sz="1200" b="0" i="0" u="none" strike="noStrike" kern="1200" baseline="0" dirty="0">
                <a:solidFill>
                  <a:schemeClr val="tx1"/>
                </a:solidFill>
                <a:latin typeface="+mn-lt"/>
                <a:ea typeface="+mn-ea"/>
                <a:cs typeface="+mn-cs"/>
              </a:rPr>
              <a:t>However, this schema can cause an excessive number of dimension table rows when dimension objects frequently change or when dimension rows are large “monster dimensions.” Also, if only a small portion of the dimension row has changing values, there are excessive redundant data created.</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Figure (b) illustrates one approach, dimension segmentation, which handles this situation as well as the more general case of subsets of dimension attributes that change at different frequencies. In this example, the Customer dimension is segmented into two dimension tables; one segment may hold nearly constant or very slowly changing dimensions and other segments (we show</a:t>
            </a:r>
          </a:p>
          <a:p>
            <a:r>
              <a:rPr lang="en-US" sz="1200" b="0" i="0" u="none" strike="noStrike" kern="1200" baseline="0" dirty="0">
                <a:solidFill>
                  <a:schemeClr val="tx1"/>
                </a:solidFill>
                <a:latin typeface="+mn-lt"/>
                <a:ea typeface="+mn-ea"/>
                <a:cs typeface="+mn-cs"/>
              </a:rPr>
              <a:t>only two in this example) hold clusters of attributes that change more rapidly and, for attributes in the same cluster, often change at the same time. These more rapidly changing attributes are often called “hot” attributes by data warehouse designers.</a:t>
            </a:r>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27</a:t>
            </a:fld>
            <a:endParaRPr lang="en-US" dirty="0"/>
          </a:p>
        </p:txBody>
      </p:sp>
    </p:spTree>
    <p:extLst>
      <p:ext uri="{BB962C8B-B14F-4D97-AF65-F5344CB8AC3E}">
        <p14:creationId xmlns:p14="http://schemas.microsoft.com/office/powerpoint/2010/main" val="32385486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Which dimensions and facts are required for a data mart is driven by the context for decision making. The starting point for determining what data should be in a data mart are the initial questions the users want answered. Each question can be broken down into discrete items of business information the user wants to know (facts) and the criteria used to access, sort, group, summarize, and present the facts (dimension attributes).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Here, we look at one example. We first develop a matrix as shown in the left side figure. In this figure, the rows are the qualifiers (dimension or dimension attributes) and the columns are the metrics (facts) referenced in the questions. The cells of the matrix contain codes to indicate which qualifiers and metrics are included in each question. For example, question 3 uses the fact number of complaints and the dimension attributes of product category, customer territory, year, and month. One or several star schemas may be required for any set of questions. For the example in Figure a, we have designed two fact tables, shown in Figure b because the grain of the facts are different (e.g., we determined complaints have nothing to do with stores or salespersons). We also created hierarchical relationships between product and product category and between customer and customer territory; alternatively it would have been possible, for example, to collapse product category into product, with resulting redundancy. We also understood season as a separate concept from month, and to be territory dependent. Product, Customer, and Month are conformed dimensions because they are shared by two fact tables.</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28</a:t>
            </a:fld>
            <a:endParaRPr lang="en-US" dirty="0"/>
          </a:p>
        </p:txBody>
      </p:sp>
    </p:spTree>
    <p:extLst>
      <p:ext uri="{BB962C8B-B14F-4D97-AF65-F5344CB8AC3E}">
        <p14:creationId xmlns:p14="http://schemas.microsoft.com/office/powerpoint/2010/main" val="23815162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So, if the type of analysis depicted in above represents the starting point for determining the dimensions and facts of a dimensional model, when do you know you are done? </a:t>
            </a:r>
            <a:r>
              <a:rPr lang="en-US" dirty="0"/>
              <a:t>Ross (2009) has identified what the consulting practice for Ralph Kimball and Kimball University considers to be the 10 essential rules of dimensional modeling. We summarize these rules in this Table; we think you will find these rules to be a helpful synthesis of many principles outlined in this chapter. When these rules are satisfied, you are done (for the time being).</a:t>
            </a:r>
          </a:p>
        </p:txBody>
      </p:sp>
      <p:sp>
        <p:nvSpPr>
          <p:cNvPr id="4" name="Slide Number Placeholder 3"/>
          <p:cNvSpPr>
            <a:spLocks noGrp="1"/>
          </p:cNvSpPr>
          <p:nvPr>
            <p:ph type="sldNum" sz="quarter" idx="5"/>
          </p:nvPr>
        </p:nvSpPr>
        <p:spPr/>
        <p:txBody>
          <a:bodyPr/>
          <a:lstStyle/>
          <a:p>
            <a:fld id="{7B547B85-5C92-49FC-98A0-16FD07ABB6F8}" type="slidenum">
              <a:rPr lang="en-US" smtClean="0"/>
              <a:t>29</a:t>
            </a:fld>
            <a:endParaRPr lang="en-US" dirty="0"/>
          </a:p>
        </p:txBody>
      </p:sp>
    </p:spTree>
    <p:extLst>
      <p:ext uri="{BB962C8B-B14F-4D97-AF65-F5344CB8AC3E}">
        <p14:creationId xmlns:p14="http://schemas.microsoft.com/office/powerpoint/2010/main" val="20137417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Tableau Prep workspace consists of the Connections pane to connect to data, and three panes that work together to provide visibility into your data preparation.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Connections</a:t>
            </a:r>
            <a:r>
              <a:rPr lang="en-US" sz="1200" b="0" i="0" u="none" strike="noStrike" kern="1200" baseline="0" dirty="0">
                <a:solidFill>
                  <a:schemeClr val="tx1"/>
                </a:solidFill>
                <a:latin typeface="+mn-lt"/>
                <a:ea typeface="+mn-ea"/>
                <a:cs typeface="+mn-cs"/>
              </a:rPr>
              <a:t> pane on the left side of the workspace shows the data connections.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 icon allows you to add connections to data.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databases and files you are connected to are listed.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tables you can work with in the flow pane are shown.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minimize the </a:t>
            </a:r>
            <a:r>
              <a:rPr lang="en-US" sz="1200" b="1" i="0" u="none" strike="noStrike" kern="1200" baseline="0" dirty="0">
                <a:solidFill>
                  <a:schemeClr val="tx1"/>
                </a:solidFill>
                <a:latin typeface="+mn-lt"/>
                <a:ea typeface="+mn-ea"/>
                <a:cs typeface="+mn-cs"/>
              </a:rPr>
              <a:t>Connections </a:t>
            </a:r>
            <a:r>
              <a:rPr lang="en-US" sz="1200" b="0" i="0" u="none" strike="noStrike" kern="1200" baseline="0" dirty="0">
                <a:solidFill>
                  <a:schemeClr val="tx1"/>
                </a:solidFill>
                <a:latin typeface="+mn-lt"/>
                <a:ea typeface="+mn-ea"/>
                <a:cs typeface="+mn-cs"/>
              </a:rPr>
              <a:t>pane by using the &lt; icon </a:t>
            </a:r>
          </a:p>
          <a:p>
            <a:endParaRPr lang="en-US" dirty="0"/>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flow pane</a:t>
            </a:r>
            <a:r>
              <a:rPr lang="en-US" sz="1200" b="0" i="0" u="none" strike="noStrike" kern="1200" baseline="0" dirty="0">
                <a:solidFill>
                  <a:schemeClr val="tx1"/>
                </a:solidFill>
                <a:latin typeface="+mn-lt"/>
                <a:ea typeface="+mn-ea"/>
                <a:cs typeface="+mn-cs"/>
              </a:rPr>
              <a:t> at the top of the workspace is a visual representation of the steps that are created as you prepare your data.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There are different types of steps used in a flow to clean, shape, combine, and output your data.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When you click on a particular step, the profile pane and the data grid show details for the data at that point in the flow.</a:t>
            </a:r>
          </a:p>
          <a:p>
            <a:endParaRPr lang="en-US" dirty="0"/>
          </a:p>
          <a:p>
            <a:r>
              <a:rPr lang="en-US" dirty="0"/>
              <a:t>The </a:t>
            </a:r>
            <a:r>
              <a:rPr lang="en-US" b="1" dirty="0"/>
              <a:t>profile pane </a:t>
            </a:r>
            <a:r>
              <a:rPr lang="en-US" dirty="0"/>
              <a:t>in the middle of the workspace shows the structure of your data for that step in the flow.</a:t>
            </a:r>
          </a:p>
          <a:p>
            <a:pPr marL="171450" indent="-171450">
              <a:buFont typeface="Arial" panose="020B0604020202020204" pitchFamily="34" charset="0"/>
              <a:buChar char="•"/>
            </a:pPr>
            <a:r>
              <a:rPr lang="en-US" dirty="0"/>
              <a:t>The profile pane shows a summary of the fields in your data sample.</a:t>
            </a:r>
          </a:p>
          <a:p>
            <a:pPr marL="171450" indent="-171450">
              <a:buFont typeface="Arial" panose="020B0604020202020204" pitchFamily="34" charset="0"/>
              <a:buChar char="•"/>
            </a:pPr>
            <a:r>
              <a:rPr lang="en-US" dirty="0"/>
              <a:t>A histogram shows the data distribution of each field to help you quickly find nulls and outliers.</a:t>
            </a:r>
          </a:p>
          <a:p>
            <a:pPr marL="171450" indent="-171450">
              <a:buFont typeface="Arial" panose="020B0604020202020204" pitchFamily="34" charset="0"/>
              <a:buChar char="•"/>
            </a:pPr>
            <a:r>
              <a:rPr lang="en-US" dirty="0"/>
              <a:t>The toolbar and the context menus for each field show the operations you can perform during that step in the flow.</a:t>
            </a:r>
          </a:p>
          <a:p>
            <a:pPr marL="171450" indent="-171450">
              <a:buFont typeface="Arial" panose="020B0604020202020204" pitchFamily="34" charset="0"/>
              <a:buChar char="•"/>
            </a:pPr>
            <a:r>
              <a:rPr lang="en-US" dirty="0"/>
              <a:t>The contents of the profile pane will vary depending on what type of operation you are on in the flow.</a:t>
            </a:r>
          </a:p>
          <a:p>
            <a:pPr marL="171450" indent="-171450">
              <a:buFont typeface="Arial" panose="020B0604020202020204" pitchFamily="34" charset="0"/>
              <a:buChar char="•"/>
            </a:pPr>
            <a:r>
              <a:rPr lang="en-US" dirty="0"/>
              <a:t>You can minimize the profile pane using the </a:t>
            </a:r>
            <a:r>
              <a:rPr lang="zh-CN" altLang="en-US" dirty="0"/>
              <a:t>√</a:t>
            </a:r>
            <a:r>
              <a:rPr lang="en-US" dirty="0"/>
              <a:t> icon.</a:t>
            </a:r>
          </a:p>
          <a:p>
            <a:endParaRPr lang="en-US" dirty="0"/>
          </a:p>
          <a:p>
            <a:r>
              <a:rPr lang="en-US" sz="1200" b="0" i="0" u="none" strike="noStrike" kern="1200" baseline="0" dirty="0">
                <a:solidFill>
                  <a:schemeClr val="tx1"/>
                </a:solidFill>
                <a:latin typeface="+mn-lt"/>
                <a:ea typeface="+mn-ea"/>
                <a:cs typeface="+mn-cs"/>
              </a:rPr>
              <a:t>As you clean your data, the operations you perform are listed in the </a:t>
            </a:r>
            <a:r>
              <a:rPr lang="en-US" sz="1200" b="1" i="0" u="none" strike="noStrike" kern="1200" baseline="0" dirty="0">
                <a:solidFill>
                  <a:schemeClr val="tx1"/>
                </a:solidFill>
                <a:latin typeface="+mn-lt"/>
                <a:ea typeface="+mn-ea"/>
                <a:cs typeface="+mn-cs"/>
              </a:rPr>
              <a:t>Changes </a:t>
            </a:r>
            <a:r>
              <a:rPr lang="en-US" sz="1200" b="0" i="0" u="none" strike="noStrike" kern="1200" baseline="0" dirty="0">
                <a:solidFill>
                  <a:schemeClr val="tx1"/>
                </a:solidFill>
                <a:latin typeface="+mn-lt"/>
                <a:ea typeface="+mn-ea"/>
                <a:cs typeface="+mn-cs"/>
              </a:rPr>
              <a:t>pane within the profile pane.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show the Changes pane using the &gt; icon in a cleaning step.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All cleaning operations are recorded.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Click on a particular change to see the details about that operation at that point in the flow. </a:t>
            </a:r>
          </a:p>
          <a:p>
            <a:endParaRPr lang="en-US" dirty="0"/>
          </a:p>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data grid </a:t>
            </a:r>
            <a:r>
              <a:rPr lang="en-US" sz="1200" b="0" i="0" u="none" strike="noStrike" kern="1200" baseline="0" dirty="0">
                <a:solidFill>
                  <a:schemeClr val="tx1"/>
                </a:solidFill>
                <a:latin typeface="+mn-lt"/>
                <a:ea typeface="+mn-ea"/>
                <a:cs typeface="+mn-cs"/>
              </a:rPr>
              <a:t>at the bottom of the workspace shows the row level detail for your data at that step in the flow. The data in the data grid reflects the selections in the profile pane. </a:t>
            </a:r>
          </a:p>
        </p:txBody>
      </p:sp>
      <p:sp>
        <p:nvSpPr>
          <p:cNvPr id="4" name="Slide Number Placeholder 3"/>
          <p:cNvSpPr>
            <a:spLocks noGrp="1"/>
          </p:cNvSpPr>
          <p:nvPr>
            <p:ph type="sldNum" sz="quarter" idx="5"/>
          </p:nvPr>
        </p:nvSpPr>
        <p:spPr/>
        <p:txBody>
          <a:bodyPr/>
          <a:lstStyle/>
          <a:p>
            <a:fld id="{7B547B85-5C92-49FC-98A0-16FD07ABB6F8}" type="slidenum">
              <a:rPr lang="en-US" smtClean="0"/>
              <a:t>32</a:t>
            </a:fld>
            <a:endParaRPr lang="en-US"/>
          </a:p>
        </p:txBody>
      </p:sp>
    </p:spTree>
    <p:extLst>
      <p:ext uri="{BB962C8B-B14F-4D97-AF65-F5344CB8AC3E}">
        <p14:creationId xmlns:p14="http://schemas.microsoft.com/office/powerpoint/2010/main" val="18221654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When an input is selected in the flow pane, the profile pane becomes the </a:t>
            </a:r>
            <a:r>
              <a:rPr lang="en-US" sz="1200" b="1" i="0" u="none" strike="noStrike" kern="1200" baseline="0" dirty="0">
                <a:solidFill>
                  <a:schemeClr val="tx1"/>
                </a:solidFill>
                <a:latin typeface="+mn-lt"/>
                <a:ea typeface="+mn-ea"/>
                <a:cs typeface="+mn-cs"/>
              </a:rPr>
              <a:t>Input </a:t>
            </a:r>
            <a:r>
              <a:rPr lang="en-US" sz="1200" b="0" i="0" u="none" strike="noStrike" kern="1200" baseline="0" dirty="0">
                <a:solidFill>
                  <a:schemeClr val="tx1"/>
                </a:solidFill>
                <a:latin typeface="+mn-lt"/>
                <a:ea typeface="+mn-ea"/>
                <a:cs typeface="+mn-cs"/>
              </a:rPr>
              <a:t>pane. Here, you can view and edit input settings and fields.</a:t>
            </a:r>
            <a:endParaRPr lang="en-US" dirty="0"/>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33</a:t>
            </a:fld>
            <a:endParaRPr lang="en-US"/>
          </a:p>
        </p:txBody>
      </p:sp>
    </p:spTree>
    <p:extLst>
      <p:ext uri="{BB962C8B-B14F-4D97-AF65-F5344CB8AC3E}">
        <p14:creationId xmlns:p14="http://schemas.microsoft.com/office/powerpoint/2010/main" val="25927354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flow pane </a:t>
            </a:r>
            <a:r>
              <a:rPr lang="en-US" sz="1200" b="0" i="0" u="none" strike="noStrike" kern="1200" baseline="0" dirty="0">
                <a:solidFill>
                  <a:schemeClr val="tx1"/>
                </a:solidFill>
                <a:latin typeface="+mn-lt"/>
                <a:ea typeface="+mn-ea"/>
                <a:cs typeface="+mn-cs"/>
              </a:rPr>
              <a:t>shows you all the data preparation steps that you applied to your data. Each step in your data preparation process is represented visually in the flow that you create and control.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To add a new step, click the + icon to the right of any step.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rename any step in the flow to be more descriptive.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also write a description for the step by right-clicking on a step and then clicking </a:t>
            </a:r>
            <a:r>
              <a:rPr lang="en-US" sz="1200" b="1" i="0" u="none" strike="noStrike" kern="1200" baseline="0" dirty="0">
                <a:solidFill>
                  <a:schemeClr val="tx1"/>
                </a:solidFill>
                <a:latin typeface="+mn-lt"/>
                <a:ea typeface="+mn-ea"/>
                <a:cs typeface="+mn-cs"/>
              </a:rPr>
              <a:t>Add Description</a:t>
            </a:r>
            <a:r>
              <a:rPr lang="en-US" sz="1200" b="0" i="0" u="none" strike="noStrike" kern="1200" baseline="0" dirty="0">
                <a:solidFill>
                  <a:schemeClr val="tx1"/>
                </a:solidFill>
                <a:latin typeface="+mn-lt"/>
                <a:ea typeface="+mn-ea"/>
                <a:cs typeface="+mn-cs"/>
              </a:rPr>
              <a:t>.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insert and remove a step in a flow.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disconnect and reconnect steps in a flow.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A branch can be used to split a flow.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Use an output step to save or publish your cleaned data.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save your flow and open it later to add or edit steps. </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34</a:t>
            </a:fld>
            <a:endParaRPr lang="en-US"/>
          </a:p>
        </p:txBody>
      </p:sp>
    </p:spTree>
    <p:extLst>
      <p:ext uri="{BB962C8B-B14F-4D97-AF65-F5344CB8AC3E}">
        <p14:creationId xmlns:p14="http://schemas.microsoft.com/office/powerpoint/2010/main" val="2360933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8/15/2021</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3463434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8/15/2021</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2493032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8/15/2021</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3415353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8/15/2021</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830493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8/15/2021</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185088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8/15/2021</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356273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8/15/2021</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1829627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8/15/2021</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554588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8/15/2021</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1531925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8/15/2021</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3981457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8/15/2021</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232724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9290" y="276841"/>
            <a:ext cx="6879252" cy="5815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9289" y="1166018"/>
            <a:ext cx="8770776" cy="555545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3E02F8F1-35F6-4FF9-A951-7340C912417D}"/>
              </a:ext>
            </a:extLst>
          </p:cNvPr>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7028542" y="50192"/>
            <a:ext cx="2049470" cy="808224"/>
          </a:xfrm>
          <a:prstGeom prst="rect">
            <a:avLst/>
          </a:prstGeom>
          <a:noFill/>
          <a:ln>
            <a:noFill/>
          </a:ln>
        </p:spPr>
      </p:pic>
    </p:spTree>
    <p:extLst>
      <p:ext uri="{BB962C8B-B14F-4D97-AF65-F5344CB8AC3E}">
        <p14:creationId xmlns:p14="http://schemas.microsoft.com/office/powerpoint/2010/main" val="12309350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b="1" kern="1200">
          <a:solidFill>
            <a:schemeClr val="tx1"/>
          </a:solidFill>
          <a:latin typeface="Arial Nova" panose="020B0504020202020204" pitchFamily="34" charset="0"/>
          <a:ea typeface="+mj-ea"/>
          <a:cs typeface="+mj-cs"/>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microsoft.com/office/2007/relationships/hdphoto" Target="../media/hdphoto3.wdp"/></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microsoft.com/office/2007/relationships/hdphoto" Target="../media/hdphoto4.wdp"/></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microsoft.com/office/2007/relationships/hdphoto" Target="../media/hdphoto5.wdp"/></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microsoft.com/office/2007/relationships/hdphoto" Target="../media/hdphoto6.wdp"/></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microsoft.com/office/2007/relationships/hdphoto" Target="../media/hdphoto5.wdp"/></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7.wdp"/></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microsoft.com/office/2007/relationships/hdphoto" Target="../media/hdphoto8.wdp"/></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microsoft.com/office/2007/relationships/hdphoto" Target="../media/hdphoto9.wdp"/></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microsoft.com/office/2007/relationships/hdphoto" Target="../media/hdphoto10.wdp"/></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customXml" Target="../ink/ink1.xml"/><Relationship Id="rId4" Type="http://schemas.microsoft.com/office/2007/relationships/hdphoto" Target="../media/hdphoto11.wdp"/></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microsoft.com/office/2007/relationships/hdphoto" Target="../media/hdphoto13.wdp"/><Relationship Id="rId5" Type="http://schemas.openxmlformats.org/officeDocument/2006/relationships/image" Target="../media/image25.png"/><Relationship Id="rId4" Type="http://schemas.microsoft.com/office/2007/relationships/hdphoto" Target="../media/hdphoto12.wdp"/></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microsoft.com/office/2007/relationships/hdphoto" Target="../media/hdphoto15.wdp"/><Relationship Id="rId5" Type="http://schemas.openxmlformats.org/officeDocument/2006/relationships/image" Target="../media/image27.png"/><Relationship Id="rId4" Type="http://schemas.microsoft.com/office/2007/relationships/hdphoto" Target="../media/hdphoto14.wdp"/></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microsoft.com/office/2007/relationships/hdphoto" Target="../media/hdphoto17.wdp"/><Relationship Id="rId5" Type="http://schemas.openxmlformats.org/officeDocument/2006/relationships/image" Target="../media/image29.png"/><Relationship Id="rId4" Type="http://schemas.microsoft.com/office/2007/relationships/hdphoto" Target="../media/hdphoto16.wdp"/></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microsoft.com/office/2007/relationships/hdphoto" Target="../media/hdphoto18.wdp"/></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tableau.com/learn/tutorials/on-demand/cleaning-step?product=tableau_desktop%2Btableau_prep&amp;version=tableau_desktop_2019_3%2Btableau_prep_2019_3_1&amp;topic=tableau_prep" TargetMode="External"/><Relationship Id="rId2" Type="http://schemas.openxmlformats.org/officeDocument/2006/relationships/hyperlink" Target="https://www.tableau.com/learn/training#prep" TargetMode="Externa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hyperlink" Target="https://help.tableau.com/current/prep/en-us/prep_whatsnew.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0" y="0"/>
            <a:ext cx="9169400" cy="6862836"/>
            <a:chOff x="0" y="0"/>
            <a:chExt cx="9169400" cy="6862836"/>
          </a:xfrm>
        </p:grpSpPr>
        <p:grpSp>
          <p:nvGrpSpPr>
            <p:cNvPr id="2" name="Group 1"/>
            <p:cNvGrpSpPr/>
            <p:nvPr/>
          </p:nvGrpSpPr>
          <p:grpSpPr>
            <a:xfrm>
              <a:off x="0" y="0"/>
              <a:ext cx="9169400" cy="6862836"/>
              <a:chOff x="0" y="0"/>
              <a:chExt cx="9169400" cy="6862836"/>
            </a:xfrm>
          </p:grpSpPr>
          <p:sp>
            <p:nvSpPr>
              <p:cNvPr id="12" name="Rectangle 11"/>
              <p:cNvSpPr/>
              <p:nvPr/>
            </p:nvSpPr>
            <p:spPr>
              <a:xfrm>
                <a:off x="0" y="0"/>
                <a:ext cx="9144000" cy="6862836"/>
              </a:xfrm>
              <a:prstGeom prst="rect">
                <a:avLst/>
              </a:prstGeom>
              <a:solidFill>
                <a:srgbClr val="EA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5" name="Straight Connector 4"/>
              <p:cNvCxnSpPr/>
              <p:nvPr/>
            </p:nvCxnSpPr>
            <p:spPr>
              <a:xfrm>
                <a:off x="25400" y="6106282"/>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25400" y="5854699"/>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5401" y="5979282"/>
                <a:ext cx="9143999"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25400" y="6489700"/>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25400" y="6362700"/>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5400" y="6238118"/>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0976" y="684143"/>
                <a:ext cx="2565400" cy="5842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bg1"/>
                  </a:solidFill>
                </a:endParaRPr>
              </a:p>
            </p:txBody>
          </p:sp>
          <p:pic>
            <p:nvPicPr>
              <p:cNvPr id="56" name="Picture 55" descr="Untitled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976" y="176800"/>
                <a:ext cx="3194304" cy="560832"/>
              </a:xfrm>
              <a:prstGeom prst="rect">
                <a:avLst/>
              </a:prstGeom>
              <a:ln>
                <a:noFill/>
              </a:ln>
            </p:spPr>
          </p:pic>
          <p:pic>
            <p:nvPicPr>
              <p:cNvPr id="57" name="Picture 56" descr="Untitled.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0976" y="587115"/>
                <a:ext cx="2645664" cy="719328"/>
              </a:xfrm>
              <a:prstGeom prst="rect">
                <a:avLst/>
              </a:prstGeom>
              <a:ln>
                <a:noFill/>
              </a:ln>
            </p:spPr>
          </p:pic>
        </p:grpSp>
        <p:cxnSp>
          <p:nvCxnSpPr>
            <p:cNvPr id="16" name="Straight Connector 15"/>
            <p:cNvCxnSpPr/>
            <p:nvPr/>
          </p:nvCxnSpPr>
          <p:spPr>
            <a:xfrm>
              <a:off x="25400" y="6106282"/>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25400" y="5854699"/>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25401" y="5979282"/>
              <a:ext cx="9143999"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25400" y="6489700"/>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25400" y="6362700"/>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25400" y="6238118"/>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grpSp>
      <p:sp>
        <p:nvSpPr>
          <p:cNvPr id="3" name="Title 2"/>
          <p:cNvSpPr>
            <a:spLocks noGrp="1"/>
          </p:cNvSpPr>
          <p:nvPr>
            <p:ph type="ctrTitle"/>
          </p:nvPr>
        </p:nvSpPr>
        <p:spPr>
          <a:xfrm>
            <a:off x="0" y="1939925"/>
            <a:ext cx="9143999" cy="1470025"/>
          </a:xfrm>
        </p:spPr>
        <p:txBody>
          <a:bodyPr>
            <a:normAutofit/>
          </a:bodyPr>
          <a:lstStyle/>
          <a:p>
            <a:pPr algn="ctr"/>
            <a:r>
              <a:rPr lang="en-US" altLang="zh-CN" sz="3600" b="1" dirty="0">
                <a:solidFill>
                  <a:srgbClr val="FFFFFF"/>
                </a:solidFill>
                <a:latin typeface="Goudy Old Style"/>
                <a:cs typeface="Goudy Old Style"/>
              </a:rPr>
              <a:t>Chapter 5</a:t>
            </a:r>
            <a:br>
              <a:rPr lang="en-US" altLang="zh-CN" sz="4000" b="1" dirty="0">
                <a:solidFill>
                  <a:srgbClr val="FFFFFF"/>
                </a:solidFill>
                <a:latin typeface="Goudy Old Style"/>
                <a:cs typeface="Goudy Old Style"/>
              </a:rPr>
            </a:br>
            <a:r>
              <a:rPr lang="en-US" altLang="zh-CN" sz="4400" b="1" dirty="0">
                <a:solidFill>
                  <a:srgbClr val="FFFFFF"/>
                </a:solidFill>
                <a:latin typeface="Goudy Old Style"/>
                <a:cs typeface="Goudy Old Style"/>
              </a:rPr>
              <a:t>Data Warehousing and Integration</a:t>
            </a:r>
            <a:endParaRPr lang="en-US" sz="4000" b="1" dirty="0">
              <a:solidFill>
                <a:srgbClr val="FFFFFF"/>
              </a:solidFill>
              <a:latin typeface="Goudy Old Style"/>
              <a:cs typeface="Goudy Old Style"/>
            </a:endParaRPr>
          </a:p>
        </p:txBody>
      </p:sp>
      <p:sp>
        <p:nvSpPr>
          <p:cNvPr id="4" name="Subtitle 3"/>
          <p:cNvSpPr>
            <a:spLocks noGrp="1"/>
          </p:cNvSpPr>
          <p:nvPr>
            <p:ph type="subTitle" idx="1"/>
          </p:nvPr>
        </p:nvSpPr>
        <p:spPr>
          <a:xfrm>
            <a:off x="0" y="4343402"/>
            <a:ext cx="9143999" cy="1386710"/>
          </a:xfrm>
        </p:spPr>
        <p:txBody>
          <a:bodyPr>
            <a:normAutofit/>
          </a:bodyPr>
          <a:lstStyle/>
          <a:p>
            <a:r>
              <a:rPr lang="en-US" sz="2800" dirty="0">
                <a:solidFill>
                  <a:srgbClr val="FFFFFF"/>
                </a:solidFill>
                <a:latin typeface="Goudy Old Style"/>
                <a:cs typeface="Goudy Old Style"/>
              </a:rPr>
              <a:t>Instructor: He Li</a:t>
            </a:r>
          </a:p>
        </p:txBody>
      </p:sp>
    </p:spTree>
    <p:extLst>
      <p:ext uri="{BB962C8B-B14F-4D97-AF65-F5344CB8AC3E}">
        <p14:creationId xmlns:p14="http://schemas.microsoft.com/office/powerpoint/2010/main" val="3992025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A3036-7F79-4E18-833A-AC2936B6AF44}"/>
              </a:ext>
            </a:extLst>
          </p:cNvPr>
          <p:cNvSpPr>
            <a:spLocks noGrp="1"/>
          </p:cNvSpPr>
          <p:nvPr>
            <p:ph type="title"/>
          </p:nvPr>
        </p:nvSpPr>
        <p:spPr>
          <a:xfrm>
            <a:off x="149290" y="169263"/>
            <a:ext cx="6879252" cy="581575"/>
          </a:xfrm>
        </p:spPr>
        <p:txBody>
          <a:bodyPr/>
          <a:lstStyle/>
          <a:p>
            <a:r>
              <a:rPr lang="en-US" dirty="0"/>
              <a:t>Data Warehouse</a:t>
            </a:r>
          </a:p>
        </p:txBody>
      </p:sp>
      <p:sp>
        <p:nvSpPr>
          <p:cNvPr id="3" name="Content Placeholder 2">
            <a:extLst>
              <a:ext uri="{FF2B5EF4-FFF2-40B4-BE49-F238E27FC236}">
                <a16:creationId xmlns:a16="http://schemas.microsoft.com/office/drawing/2014/main" id="{BFE5A05F-8C0A-4273-B9D4-42B0EE20F2E4}"/>
              </a:ext>
            </a:extLst>
          </p:cNvPr>
          <p:cNvSpPr>
            <a:spLocks noGrp="1"/>
          </p:cNvSpPr>
          <p:nvPr>
            <p:ph idx="1"/>
          </p:nvPr>
        </p:nvSpPr>
        <p:spPr>
          <a:xfrm>
            <a:off x="149289" y="915647"/>
            <a:ext cx="8770776" cy="3610377"/>
          </a:xfrm>
        </p:spPr>
        <p:txBody>
          <a:bodyPr>
            <a:normAutofit/>
          </a:bodyPr>
          <a:lstStyle/>
          <a:p>
            <a:r>
              <a:rPr lang="en-US" altLang="en-US" sz="2200" b="1" dirty="0">
                <a:solidFill>
                  <a:srgbClr val="522D80"/>
                </a:solidFill>
              </a:rPr>
              <a:t>Definition: </a:t>
            </a:r>
            <a:r>
              <a:rPr lang="en-US" altLang="en-US" sz="2200" dirty="0"/>
              <a:t>A </a:t>
            </a:r>
            <a:r>
              <a:rPr lang="en-US" altLang="en-US" sz="2200" i="1" dirty="0"/>
              <a:t>subject-oriented</a:t>
            </a:r>
            <a:r>
              <a:rPr lang="en-US" altLang="en-US" sz="2200" dirty="0"/>
              <a:t>, </a:t>
            </a:r>
            <a:r>
              <a:rPr lang="en-US" altLang="en-US" sz="2200" i="1" dirty="0"/>
              <a:t>integrated</a:t>
            </a:r>
            <a:r>
              <a:rPr lang="en-US" altLang="en-US" sz="2200" dirty="0"/>
              <a:t>, </a:t>
            </a:r>
            <a:r>
              <a:rPr lang="en-US" altLang="en-US" sz="2200" i="1" dirty="0"/>
              <a:t>time-variant</a:t>
            </a:r>
            <a:r>
              <a:rPr lang="en-US" altLang="en-US" sz="2200" dirty="0"/>
              <a:t>, </a:t>
            </a:r>
            <a:r>
              <a:rPr lang="en-US" altLang="en-US" sz="2200" i="1" dirty="0"/>
              <a:t>non-updatable</a:t>
            </a:r>
            <a:r>
              <a:rPr lang="en-US" altLang="en-US" sz="2200" dirty="0"/>
              <a:t> collection of data used in support of management decision-making processes</a:t>
            </a:r>
          </a:p>
        </p:txBody>
      </p:sp>
      <p:pic>
        <p:nvPicPr>
          <p:cNvPr id="1026" name="Picture 2" descr="What Is the Future of Data Warehousing?">
            <a:extLst>
              <a:ext uri="{FF2B5EF4-FFF2-40B4-BE49-F238E27FC236}">
                <a16:creationId xmlns:a16="http://schemas.microsoft.com/office/drawing/2014/main" id="{BEF943CE-1738-4346-BC06-206C19C109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683" b="2093"/>
          <a:stretch/>
        </p:blipFill>
        <p:spPr bwMode="auto">
          <a:xfrm>
            <a:off x="4808010" y="2503571"/>
            <a:ext cx="4186700" cy="2267314"/>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2">
            <a:extLst>
              <a:ext uri="{FF2B5EF4-FFF2-40B4-BE49-F238E27FC236}">
                <a16:creationId xmlns:a16="http://schemas.microsoft.com/office/drawing/2014/main" id="{081EF787-FF6B-4232-AC5C-7DDE6183B954}"/>
              </a:ext>
            </a:extLst>
          </p:cNvPr>
          <p:cNvSpPr txBox="1">
            <a:spLocks/>
          </p:cNvSpPr>
          <p:nvPr/>
        </p:nvSpPr>
        <p:spPr>
          <a:xfrm>
            <a:off x="149289" y="2436128"/>
            <a:ext cx="4584075" cy="240220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en-US" sz="2200" b="1" dirty="0">
                <a:solidFill>
                  <a:srgbClr val="7030A0"/>
                </a:solidFill>
              </a:rPr>
              <a:t>Why Data Warehousing?</a:t>
            </a:r>
          </a:p>
          <a:p>
            <a:pPr lvl="1"/>
            <a:r>
              <a:rPr lang="en-US" altLang="en-US" sz="2000" dirty="0"/>
              <a:t>Integrated, company-wide view of high-quality information (from disparate databases)</a:t>
            </a:r>
          </a:p>
          <a:p>
            <a:pPr lvl="1"/>
            <a:r>
              <a:rPr lang="en-US" altLang="en-US" sz="2000" dirty="0"/>
              <a:t>Separation of </a:t>
            </a:r>
            <a:r>
              <a:rPr lang="en-US" altLang="en-US" sz="2000" b="1" dirty="0"/>
              <a:t>operational</a:t>
            </a:r>
            <a:r>
              <a:rPr lang="en-US" altLang="en-US" sz="2000" dirty="0"/>
              <a:t> and </a:t>
            </a:r>
            <a:r>
              <a:rPr lang="en-US" altLang="en-US" sz="2000" b="1" dirty="0"/>
              <a:t>informational</a:t>
            </a:r>
            <a:r>
              <a:rPr lang="en-US" altLang="en-US" sz="2000" dirty="0"/>
              <a:t> systems and data (for improved performance)</a:t>
            </a:r>
          </a:p>
        </p:txBody>
      </p:sp>
    </p:spTree>
    <p:extLst>
      <p:ext uri="{BB962C8B-B14F-4D97-AF65-F5344CB8AC3E}">
        <p14:creationId xmlns:p14="http://schemas.microsoft.com/office/powerpoint/2010/main" val="3890081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11E10-E686-4080-9ADD-E93552214BBA}"/>
              </a:ext>
            </a:extLst>
          </p:cNvPr>
          <p:cNvSpPr>
            <a:spLocks noGrp="1"/>
          </p:cNvSpPr>
          <p:nvPr>
            <p:ph type="title"/>
          </p:nvPr>
        </p:nvSpPr>
        <p:spPr/>
        <p:txBody>
          <a:bodyPr>
            <a:normAutofit fontScale="90000"/>
          </a:bodyPr>
          <a:lstStyle/>
          <a:p>
            <a:r>
              <a:rPr lang="en-US" dirty="0"/>
              <a:t>Difficulty of Deriving Company-Wide View</a:t>
            </a:r>
          </a:p>
        </p:txBody>
      </p:sp>
      <p:pic>
        <p:nvPicPr>
          <p:cNvPr id="5" name="Picture 4">
            <a:extLst>
              <a:ext uri="{FF2B5EF4-FFF2-40B4-BE49-F238E27FC236}">
                <a16:creationId xmlns:a16="http://schemas.microsoft.com/office/drawing/2014/main" id="{95F64585-DAD7-4AC6-A4D7-07E0300525A2}"/>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b="2551"/>
          <a:stretch/>
        </p:blipFill>
        <p:spPr>
          <a:xfrm>
            <a:off x="1794934" y="886618"/>
            <a:ext cx="6157284" cy="5796404"/>
          </a:xfrm>
          <a:prstGeom prst="rect">
            <a:avLst/>
          </a:prstGeom>
        </p:spPr>
      </p:pic>
      <p:sp>
        <p:nvSpPr>
          <p:cNvPr id="6" name="Oval 5">
            <a:extLst>
              <a:ext uri="{FF2B5EF4-FFF2-40B4-BE49-F238E27FC236}">
                <a16:creationId xmlns:a16="http://schemas.microsoft.com/office/drawing/2014/main" id="{6A2F3F63-D8DE-4682-84BE-CA33E7F775D0}"/>
              </a:ext>
            </a:extLst>
          </p:cNvPr>
          <p:cNvSpPr/>
          <p:nvPr/>
        </p:nvSpPr>
        <p:spPr>
          <a:xfrm>
            <a:off x="2619022" y="1682044"/>
            <a:ext cx="969894" cy="733778"/>
          </a:xfrm>
          <a:prstGeom prst="ellipse">
            <a:avLst/>
          </a:prstGeom>
          <a:noFill/>
          <a:ln w="254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B73965FF-5EB2-4A04-9B91-6080E89CEBEB}"/>
              </a:ext>
            </a:extLst>
          </p:cNvPr>
          <p:cNvSpPr txBox="1"/>
          <p:nvPr/>
        </p:nvSpPr>
        <p:spPr>
          <a:xfrm>
            <a:off x="-28696" y="3911620"/>
            <a:ext cx="2167466" cy="707886"/>
          </a:xfrm>
          <a:prstGeom prst="rect">
            <a:avLst/>
          </a:prstGeom>
          <a:noFill/>
        </p:spPr>
        <p:txBody>
          <a:bodyPr wrap="square" rtlCol="0">
            <a:spAutoFit/>
          </a:bodyPr>
          <a:lstStyle/>
          <a:p>
            <a:r>
              <a:rPr lang="en-US" sz="2000" b="1" dirty="0">
                <a:solidFill>
                  <a:srgbClr val="7030A0"/>
                </a:solidFill>
                <a:latin typeface="Arial Nova" panose="020B0504020202020204" pitchFamily="34" charset="0"/>
              </a:rPr>
              <a:t>1. Inconsistent key structures</a:t>
            </a:r>
          </a:p>
        </p:txBody>
      </p:sp>
      <p:sp>
        <p:nvSpPr>
          <p:cNvPr id="8" name="Oval 7">
            <a:extLst>
              <a:ext uri="{FF2B5EF4-FFF2-40B4-BE49-F238E27FC236}">
                <a16:creationId xmlns:a16="http://schemas.microsoft.com/office/drawing/2014/main" id="{6633E2A5-45B4-4E7A-99F5-C479E104EEB3}"/>
              </a:ext>
            </a:extLst>
          </p:cNvPr>
          <p:cNvSpPr/>
          <p:nvPr/>
        </p:nvSpPr>
        <p:spPr>
          <a:xfrm>
            <a:off x="2619022" y="3708401"/>
            <a:ext cx="969894" cy="733778"/>
          </a:xfrm>
          <a:prstGeom prst="ellipse">
            <a:avLst/>
          </a:prstGeom>
          <a:noFill/>
          <a:ln w="254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1C83DCD1-BC42-4683-B4EC-BEDAF85F2B1E}"/>
              </a:ext>
            </a:extLst>
          </p:cNvPr>
          <p:cNvSpPr/>
          <p:nvPr/>
        </p:nvSpPr>
        <p:spPr>
          <a:xfrm>
            <a:off x="2619022" y="5734758"/>
            <a:ext cx="969894" cy="733778"/>
          </a:xfrm>
          <a:prstGeom prst="ellipse">
            <a:avLst/>
          </a:prstGeom>
          <a:noFill/>
          <a:ln w="254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BEB0A71F-A1E3-4157-9F67-A4F9C98AA8DF}"/>
              </a:ext>
            </a:extLst>
          </p:cNvPr>
          <p:cNvCxnSpPr>
            <a:cxnSpLocks/>
          </p:cNvCxnSpPr>
          <p:nvPr/>
        </p:nvCxnSpPr>
        <p:spPr>
          <a:xfrm flipH="1">
            <a:off x="1885244" y="2048933"/>
            <a:ext cx="733778" cy="2216630"/>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0FA7E9E-83A1-4778-A4CD-21620B313CFE}"/>
              </a:ext>
            </a:extLst>
          </p:cNvPr>
          <p:cNvCxnSpPr>
            <a:stCxn id="8" idx="2"/>
          </p:cNvCxnSpPr>
          <p:nvPr/>
        </p:nvCxnSpPr>
        <p:spPr>
          <a:xfrm flipH="1">
            <a:off x="1885244" y="4075290"/>
            <a:ext cx="733778" cy="190273"/>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02CA601-54A9-4F99-940E-6B8B78FA33E9}"/>
              </a:ext>
            </a:extLst>
          </p:cNvPr>
          <p:cNvCxnSpPr>
            <a:stCxn id="9" idx="2"/>
          </p:cNvCxnSpPr>
          <p:nvPr/>
        </p:nvCxnSpPr>
        <p:spPr>
          <a:xfrm flipH="1" flipV="1">
            <a:off x="1885244" y="4277669"/>
            <a:ext cx="733778" cy="1823978"/>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AC73D1B4-52A8-4805-AAE2-6BDEDC24DAF4}"/>
              </a:ext>
            </a:extLst>
          </p:cNvPr>
          <p:cNvSpPr/>
          <p:nvPr/>
        </p:nvSpPr>
        <p:spPr>
          <a:xfrm>
            <a:off x="2506133" y="1298222"/>
            <a:ext cx="969894" cy="355620"/>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8871F6E-C5E6-4264-97F2-73D5536BF2FB}"/>
              </a:ext>
            </a:extLst>
          </p:cNvPr>
          <p:cNvSpPr/>
          <p:nvPr/>
        </p:nvSpPr>
        <p:spPr>
          <a:xfrm>
            <a:off x="2517422" y="3290712"/>
            <a:ext cx="969894" cy="355620"/>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0" name="Straight Connector 19">
            <a:extLst>
              <a:ext uri="{FF2B5EF4-FFF2-40B4-BE49-F238E27FC236}">
                <a16:creationId xmlns:a16="http://schemas.microsoft.com/office/drawing/2014/main" id="{19DFC295-2745-4D96-8531-EBDE39DB288E}"/>
              </a:ext>
            </a:extLst>
          </p:cNvPr>
          <p:cNvCxnSpPr>
            <a:stCxn id="17" idx="1"/>
          </p:cNvCxnSpPr>
          <p:nvPr/>
        </p:nvCxnSpPr>
        <p:spPr>
          <a:xfrm flipH="1">
            <a:off x="1693333" y="1476032"/>
            <a:ext cx="812800" cy="20601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E3D58E1-C376-4271-AC69-6946B2C7268D}"/>
              </a:ext>
            </a:extLst>
          </p:cNvPr>
          <p:cNvCxnSpPr>
            <a:endCxn id="18" idx="1"/>
          </p:cNvCxnSpPr>
          <p:nvPr/>
        </p:nvCxnSpPr>
        <p:spPr>
          <a:xfrm>
            <a:off x="1693333" y="1682044"/>
            <a:ext cx="824089" cy="178647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2D050048-ABFB-49D4-AC6D-BEB316919D22}"/>
              </a:ext>
            </a:extLst>
          </p:cNvPr>
          <p:cNvSpPr txBox="1"/>
          <p:nvPr/>
        </p:nvSpPr>
        <p:spPr>
          <a:xfrm>
            <a:off x="128426" y="1467888"/>
            <a:ext cx="1619005" cy="400110"/>
          </a:xfrm>
          <a:prstGeom prst="rect">
            <a:avLst/>
          </a:prstGeom>
          <a:noFill/>
        </p:spPr>
        <p:txBody>
          <a:bodyPr wrap="square" rtlCol="0">
            <a:spAutoFit/>
          </a:bodyPr>
          <a:lstStyle/>
          <a:p>
            <a:r>
              <a:rPr lang="en-US" sz="2000" b="1" dirty="0">
                <a:solidFill>
                  <a:srgbClr val="FF0000"/>
                </a:solidFill>
                <a:latin typeface="Arial Nova" panose="020B0504020202020204" pitchFamily="34" charset="0"/>
              </a:rPr>
              <a:t>2. Synonym</a:t>
            </a:r>
          </a:p>
        </p:txBody>
      </p:sp>
      <p:sp>
        <p:nvSpPr>
          <p:cNvPr id="24" name="Rectangle: Rounded Corners 23">
            <a:extLst>
              <a:ext uri="{FF2B5EF4-FFF2-40B4-BE49-F238E27FC236}">
                <a16:creationId xmlns:a16="http://schemas.microsoft.com/office/drawing/2014/main" id="{3B8E4C5E-A8FF-41E5-9F31-5BACF0F31AF2}"/>
              </a:ext>
            </a:extLst>
          </p:cNvPr>
          <p:cNvSpPr/>
          <p:nvPr/>
        </p:nvSpPr>
        <p:spPr>
          <a:xfrm>
            <a:off x="3588916" y="1298222"/>
            <a:ext cx="1823630" cy="383822"/>
          </a:xfrm>
          <a:prstGeom prst="roundRect">
            <a:avLst/>
          </a:prstGeom>
          <a:noFill/>
          <a:ln w="25400">
            <a:solidFill>
              <a:srgbClr val="ED6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9B5D19B-1471-4029-8D74-55335FE48DD0}"/>
              </a:ext>
            </a:extLst>
          </p:cNvPr>
          <p:cNvSpPr/>
          <p:nvPr/>
        </p:nvSpPr>
        <p:spPr>
          <a:xfrm>
            <a:off x="2517422" y="5217880"/>
            <a:ext cx="1071494" cy="383822"/>
          </a:xfrm>
          <a:prstGeom prst="roundRect">
            <a:avLst/>
          </a:prstGeom>
          <a:noFill/>
          <a:ln w="25400">
            <a:solidFill>
              <a:srgbClr val="ED6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5B476B2B-C823-4DD1-9846-A30E76100CFB}"/>
              </a:ext>
            </a:extLst>
          </p:cNvPr>
          <p:cNvSpPr txBox="1"/>
          <p:nvPr/>
        </p:nvSpPr>
        <p:spPr>
          <a:xfrm>
            <a:off x="6976534" y="2535773"/>
            <a:ext cx="2167466" cy="707886"/>
          </a:xfrm>
          <a:prstGeom prst="rect">
            <a:avLst/>
          </a:prstGeom>
          <a:noFill/>
        </p:spPr>
        <p:txBody>
          <a:bodyPr wrap="square" rtlCol="0">
            <a:spAutoFit/>
          </a:bodyPr>
          <a:lstStyle/>
          <a:p>
            <a:r>
              <a:rPr lang="en-US" sz="2000" b="1" dirty="0">
                <a:solidFill>
                  <a:srgbClr val="ED6C22"/>
                </a:solidFill>
                <a:latin typeface="Arial Nova" panose="020B0504020202020204" pitchFamily="34" charset="0"/>
              </a:rPr>
              <a:t>3. Free-form vs structured fields</a:t>
            </a:r>
          </a:p>
        </p:txBody>
      </p:sp>
      <p:cxnSp>
        <p:nvCxnSpPr>
          <p:cNvPr id="28" name="Straight Connector 27">
            <a:extLst>
              <a:ext uri="{FF2B5EF4-FFF2-40B4-BE49-F238E27FC236}">
                <a16:creationId xmlns:a16="http://schemas.microsoft.com/office/drawing/2014/main" id="{1DD7CE21-34DF-41A6-B9BA-472820C5A1E1}"/>
              </a:ext>
            </a:extLst>
          </p:cNvPr>
          <p:cNvCxnSpPr>
            <a:stCxn id="24" idx="3"/>
            <a:endCxn id="26" idx="1"/>
          </p:cNvCxnSpPr>
          <p:nvPr/>
        </p:nvCxnSpPr>
        <p:spPr>
          <a:xfrm>
            <a:off x="5412546" y="1490133"/>
            <a:ext cx="1563988" cy="1399583"/>
          </a:xfrm>
          <a:prstGeom prst="line">
            <a:avLst/>
          </a:prstGeom>
          <a:ln>
            <a:solidFill>
              <a:srgbClr val="ED6C22"/>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15821F6-65E5-4C8C-9C88-5C57F1BF26C0}"/>
              </a:ext>
            </a:extLst>
          </p:cNvPr>
          <p:cNvCxnSpPr>
            <a:stCxn id="25" idx="3"/>
            <a:endCxn id="26" idx="1"/>
          </p:cNvCxnSpPr>
          <p:nvPr/>
        </p:nvCxnSpPr>
        <p:spPr>
          <a:xfrm flipV="1">
            <a:off x="3588916" y="2889716"/>
            <a:ext cx="3387618" cy="2520075"/>
          </a:xfrm>
          <a:prstGeom prst="line">
            <a:avLst/>
          </a:prstGeom>
          <a:ln>
            <a:solidFill>
              <a:srgbClr val="ED6C22"/>
            </a:solidFill>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C3C91CCA-ED4D-49B5-9BB9-BD0880897A4F}"/>
              </a:ext>
            </a:extLst>
          </p:cNvPr>
          <p:cNvSpPr/>
          <p:nvPr/>
        </p:nvSpPr>
        <p:spPr>
          <a:xfrm>
            <a:off x="5412546" y="2048933"/>
            <a:ext cx="852787" cy="383822"/>
          </a:xfrm>
          <a:prstGeom prst="ellipse">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6ECF722D-17A8-45C0-A2B7-123DC490EF95}"/>
              </a:ext>
            </a:extLst>
          </p:cNvPr>
          <p:cNvSpPr/>
          <p:nvPr/>
        </p:nvSpPr>
        <p:spPr>
          <a:xfrm>
            <a:off x="3636419" y="6084713"/>
            <a:ext cx="852787" cy="383822"/>
          </a:xfrm>
          <a:prstGeom prst="ellipse">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CF4AEBDA-D2F2-482B-9AE0-12E8AAFD3C3E}"/>
              </a:ext>
            </a:extLst>
          </p:cNvPr>
          <p:cNvSpPr txBox="1"/>
          <p:nvPr/>
        </p:nvSpPr>
        <p:spPr>
          <a:xfrm>
            <a:off x="7078134" y="4481772"/>
            <a:ext cx="2013858" cy="707886"/>
          </a:xfrm>
          <a:prstGeom prst="rect">
            <a:avLst/>
          </a:prstGeom>
          <a:noFill/>
        </p:spPr>
        <p:txBody>
          <a:bodyPr wrap="square" rtlCol="0">
            <a:spAutoFit/>
          </a:bodyPr>
          <a:lstStyle/>
          <a:p>
            <a:r>
              <a:rPr lang="en-US" sz="2000" b="1" dirty="0">
                <a:solidFill>
                  <a:schemeClr val="accent1">
                    <a:lumMod val="50000"/>
                  </a:schemeClr>
                </a:solidFill>
                <a:latin typeface="Arial Nova" panose="020B0504020202020204" pitchFamily="34" charset="0"/>
              </a:rPr>
              <a:t>4. Inconsistent data values</a:t>
            </a:r>
          </a:p>
        </p:txBody>
      </p:sp>
      <p:cxnSp>
        <p:nvCxnSpPr>
          <p:cNvPr id="35" name="Straight Connector 34">
            <a:extLst>
              <a:ext uri="{FF2B5EF4-FFF2-40B4-BE49-F238E27FC236}">
                <a16:creationId xmlns:a16="http://schemas.microsoft.com/office/drawing/2014/main" id="{85DB7177-4130-48EA-96E8-7768F59587E5}"/>
              </a:ext>
            </a:extLst>
          </p:cNvPr>
          <p:cNvCxnSpPr>
            <a:stCxn id="31" idx="5"/>
          </p:cNvCxnSpPr>
          <p:nvPr/>
        </p:nvCxnSpPr>
        <p:spPr>
          <a:xfrm>
            <a:off x="6140445" y="2376546"/>
            <a:ext cx="937689" cy="2459169"/>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43D57F1-2032-40C0-89AF-A48C209D0C14}"/>
              </a:ext>
            </a:extLst>
          </p:cNvPr>
          <p:cNvCxnSpPr>
            <a:cxnSpLocks/>
            <a:stCxn id="32" idx="0"/>
            <a:endCxn id="33" idx="1"/>
          </p:cNvCxnSpPr>
          <p:nvPr/>
        </p:nvCxnSpPr>
        <p:spPr>
          <a:xfrm flipV="1">
            <a:off x="4062813" y="4835715"/>
            <a:ext cx="3015321" cy="1248998"/>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39" name="Rectangle: Top Corners Rounded 38">
            <a:extLst>
              <a:ext uri="{FF2B5EF4-FFF2-40B4-BE49-F238E27FC236}">
                <a16:creationId xmlns:a16="http://schemas.microsoft.com/office/drawing/2014/main" id="{FF4CCF1F-A411-4901-9624-2BF7897CC922}"/>
              </a:ext>
            </a:extLst>
          </p:cNvPr>
          <p:cNvSpPr/>
          <p:nvPr/>
        </p:nvSpPr>
        <p:spPr>
          <a:xfrm>
            <a:off x="4500731" y="6084713"/>
            <a:ext cx="692158" cy="353943"/>
          </a:xfrm>
          <a:prstGeom prst="round2SameRect">
            <a:avLst/>
          </a:prstGeom>
          <a:noFill/>
          <a:ln w="25400">
            <a:solidFill>
              <a:schemeClr val="tx1">
                <a:lumMod val="95000"/>
                <a:lumOff val="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C1884195-C154-4495-AE41-35F8098236FE}"/>
              </a:ext>
            </a:extLst>
          </p:cNvPr>
          <p:cNvSpPr txBox="1"/>
          <p:nvPr/>
        </p:nvSpPr>
        <p:spPr>
          <a:xfrm>
            <a:off x="7164500" y="6054712"/>
            <a:ext cx="2013858" cy="400110"/>
          </a:xfrm>
          <a:prstGeom prst="rect">
            <a:avLst/>
          </a:prstGeom>
          <a:noFill/>
        </p:spPr>
        <p:txBody>
          <a:bodyPr wrap="square" rtlCol="0">
            <a:spAutoFit/>
          </a:bodyPr>
          <a:lstStyle/>
          <a:p>
            <a:r>
              <a:rPr lang="en-US" sz="2000" b="1" dirty="0">
                <a:latin typeface="Arial Nova" panose="020B0504020202020204" pitchFamily="34" charset="0"/>
              </a:rPr>
              <a:t>5. Missing data</a:t>
            </a:r>
          </a:p>
        </p:txBody>
      </p:sp>
      <p:cxnSp>
        <p:nvCxnSpPr>
          <p:cNvPr id="42" name="Straight Connector 41">
            <a:extLst>
              <a:ext uri="{FF2B5EF4-FFF2-40B4-BE49-F238E27FC236}">
                <a16:creationId xmlns:a16="http://schemas.microsoft.com/office/drawing/2014/main" id="{76F571FD-043B-4CE8-BF46-6162629EE6E3}"/>
              </a:ext>
            </a:extLst>
          </p:cNvPr>
          <p:cNvCxnSpPr>
            <a:stCxn id="39" idx="0"/>
            <a:endCxn id="40" idx="1"/>
          </p:cNvCxnSpPr>
          <p:nvPr/>
        </p:nvCxnSpPr>
        <p:spPr>
          <a:xfrm flipV="1">
            <a:off x="5192889" y="6254767"/>
            <a:ext cx="1971611" cy="69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610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6"/>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9"/>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4"/>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6"/>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17"/>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1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2"/>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20"/>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2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24"/>
                                        </p:tgtEl>
                                        <p:attrNameLst>
                                          <p:attrName>style.visibility</p:attrName>
                                        </p:attrNameLst>
                                      </p:cBhvr>
                                      <p:to>
                                        <p:strVal val="hidden"/>
                                      </p:to>
                                    </p:set>
                                  </p:childTnLst>
                                </p:cTn>
                              </p:par>
                              <p:par>
                                <p:cTn id="75" presetID="1" presetClass="exit" presetSubtype="0" fill="hold" grpId="1" nodeType="withEffect">
                                  <p:stCondLst>
                                    <p:cond delay="0"/>
                                  </p:stCondLst>
                                  <p:childTnLst>
                                    <p:set>
                                      <p:cBhvr>
                                        <p:cTn id="76" dur="1" fill="hold">
                                          <p:stCondLst>
                                            <p:cond delay="0"/>
                                          </p:stCondLst>
                                        </p:cTn>
                                        <p:tgtEl>
                                          <p:spTgt spid="25"/>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30"/>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28"/>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26"/>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7"/>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grpId="1" nodeType="clickEffect">
                                  <p:stCondLst>
                                    <p:cond delay="0"/>
                                  </p:stCondLst>
                                  <p:childTnLst>
                                    <p:set>
                                      <p:cBhvr>
                                        <p:cTn id="98" dur="1" fill="hold">
                                          <p:stCondLst>
                                            <p:cond delay="0"/>
                                          </p:stCondLst>
                                        </p:cTn>
                                        <p:tgtEl>
                                          <p:spTgt spid="31"/>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35"/>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32"/>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37"/>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33"/>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9"/>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42"/>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39"/>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42"/>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0"/>
                                          </p:stCondLst>
                                        </p:cTn>
                                        <p:tgtEl>
                                          <p:spTgt spid="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p:bldP spid="7" grpId="1"/>
      <p:bldP spid="8" grpId="0" animBg="1"/>
      <p:bldP spid="8" grpId="1" animBg="1"/>
      <p:bldP spid="9" grpId="0" animBg="1"/>
      <p:bldP spid="9" grpId="1" animBg="1"/>
      <p:bldP spid="17" grpId="0" animBg="1"/>
      <p:bldP spid="17" grpId="1" animBg="1"/>
      <p:bldP spid="18" grpId="0" animBg="1"/>
      <p:bldP spid="18" grpId="1" animBg="1"/>
      <p:bldP spid="23" grpId="0"/>
      <p:bldP spid="23" grpId="1"/>
      <p:bldP spid="24" grpId="0" animBg="1"/>
      <p:bldP spid="24" grpId="1" animBg="1"/>
      <p:bldP spid="25" grpId="0" animBg="1"/>
      <p:bldP spid="25" grpId="1" animBg="1"/>
      <p:bldP spid="26" grpId="0"/>
      <p:bldP spid="26" grpId="1"/>
      <p:bldP spid="31" grpId="0" animBg="1"/>
      <p:bldP spid="31" grpId="1" animBg="1"/>
      <p:bldP spid="32" grpId="0" animBg="1"/>
      <p:bldP spid="32" grpId="1" animBg="1"/>
      <p:bldP spid="33" grpId="0"/>
      <p:bldP spid="33" grpId="1"/>
      <p:bldP spid="39" grpId="0" animBg="1"/>
      <p:bldP spid="39" grpId="1" animBg="1"/>
      <p:bldP spid="40" grpId="0"/>
      <p:bldP spid="40"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91057-25DF-46C9-9EF0-0FEDC79E0A41}"/>
              </a:ext>
            </a:extLst>
          </p:cNvPr>
          <p:cNvSpPr>
            <a:spLocks noGrp="1"/>
          </p:cNvSpPr>
          <p:nvPr>
            <p:ph type="title"/>
          </p:nvPr>
        </p:nvSpPr>
        <p:spPr>
          <a:xfrm>
            <a:off x="172736" y="190201"/>
            <a:ext cx="6392187" cy="656492"/>
          </a:xfrm>
        </p:spPr>
        <p:txBody>
          <a:bodyPr>
            <a:noAutofit/>
          </a:bodyPr>
          <a:lstStyle/>
          <a:p>
            <a:r>
              <a:rPr lang="en-US" sz="2800" dirty="0"/>
              <a:t>Organizational Trends </a:t>
            </a:r>
            <a:br>
              <a:rPr lang="en-US" sz="2800" dirty="0"/>
            </a:br>
            <a:r>
              <a:rPr lang="en-US" sz="2800" dirty="0"/>
              <a:t>Motivating Data Warehouses</a:t>
            </a:r>
          </a:p>
        </p:txBody>
      </p:sp>
      <p:graphicFrame>
        <p:nvGraphicFramePr>
          <p:cNvPr id="5" name="Diagram 4">
            <a:extLst>
              <a:ext uri="{FF2B5EF4-FFF2-40B4-BE49-F238E27FC236}">
                <a16:creationId xmlns:a16="http://schemas.microsoft.com/office/drawing/2014/main" id="{B6A4621E-F2D6-4E67-9698-AB989401D237}"/>
              </a:ext>
            </a:extLst>
          </p:cNvPr>
          <p:cNvGraphicFramePr/>
          <p:nvPr>
            <p:extLst>
              <p:ext uri="{D42A27DB-BD31-4B8C-83A1-F6EECF244321}">
                <p14:modId xmlns:p14="http://schemas.microsoft.com/office/powerpoint/2010/main" val="3880059184"/>
              </p:ext>
            </p:extLst>
          </p:nvPr>
        </p:nvGraphicFramePr>
        <p:xfrm>
          <a:off x="-706497" y="858416"/>
          <a:ext cx="9525359" cy="546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6760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8E9A8F-6BF4-49A6-A74A-E52CC5EF8E01}"/>
              </a:ext>
            </a:extLst>
          </p:cNvPr>
          <p:cNvPicPr>
            <a:picLocks noChangeAspect="1"/>
          </p:cNvPicPr>
          <p:nvPr/>
        </p:nvPicPr>
        <p:blipFill>
          <a:blip r:embed="rId3"/>
          <a:stretch>
            <a:fillRect/>
          </a:stretch>
        </p:blipFill>
        <p:spPr>
          <a:xfrm>
            <a:off x="293076" y="2864911"/>
            <a:ext cx="8146293" cy="3243126"/>
          </a:xfrm>
          <a:prstGeom prst="rect">
            <a:avLst/>
          </a:prstGeom>
        </p:spPr>
      </p:pic>
      <p:sp>
        <p:nvSpPr>
          <p:cNvPr id="5" name="Callout: Bent Line 4">
            <a:extLst>
              <a:ext uri="{FF2B5EF4-FFF2-40B4-BE49-F238E27FC236}">
                <a16:creationId xmlns:a16="http://schemas.microsoft.com/office/drawing/2014/main" id="{85078FC5-5698-4362-A398-247853202049}"/>
              </a:ext>
            </a:extLst>
          </p:cNvPr>
          <p:cNvSpPr/>
          <p:nvPr/>
        </p:nvSpPr>
        <p:spPr>
          <a:xfrm>
            <a:off x="4431320" y="750277"/>
            <a:ext cx="4595449" cy="1614838"/>
          </a:xfrm>
          <a:prstGeom prst="borderCallout2">
            <a:avLst>
              <a:gd name="adj1" fmla="val 102989"/>
              <a:gd name="adj2" fmla="val 51037"/>
              <a:gd name="adj3" fmla="val 117819"/>
              <a:gd name="adj4" fmla="val 50882"/>
              <a:gd name="adj5" fmla="val 132558"/>
              <a:gd name="adj6" fmla="val 41321"/>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Informational System </a:t>
            </a:r>
            <a:r>
              <a:rPr lang="en-US" sz="2000" dirty="0">
                <a:solidFill>
                  <a:schemeClr val="tx1"/>
                </a:solidFill>
                <a:latin typeface="Arial" panose="020B0604020202020204" pitchFamily="34" charset="0"/>
                <a:cs typeface="Arial" panose="020B0604020202020204" pitchFamily="34" charset="0"/>
              </a:rPr>
              <a:t>– a system designed to support decision making based on historical point-in-time and prediction data for complex queries or data-mining applications</a:t>
            </a:r>
          </a:p>
        </p:txBody>
      </p:sp>
      <p:sp>
        <p:nvSpPr>
          <p:cNvPr id="8" name="Callout: Bent Line 7">
            <a:extLst>
              <a:ext uri="{FF2B5EF4-FFF2-40B4-BE49-F238E27FC236}">
                <a16:creationId xmlns:a16="http://schemas.microsoft.com/office/drawing/2014/main" id="{9A8812A0-AD33-4AF2-A94E-C18A7F77F982}"/>
              </a:ext>
            </a:extLst>
          </p:cNvPr>
          <p:cNvSpPr/>
          <p:nvPr/>
        </p:nvSpPr>
        <p:spPr>
          <a:xfrm>
            <a:off x="117230" y="296024"/>
            <a:ext cx="3810000" cy="1614838"/>
          </a:xfrm>
          <a:prstGeom prst="borderCallout2">
            <a:avLst>
              <a:gd name="adj1" fmla="val 100329"/>
              <a:gd name="adj2" fmla="val 50000"/>
              <a:gd name="adj3" fmla="val 125987"/>
              <a:gd name="adj4" fmla="val 50333"/>
              <a:gd name="adj5" fmla="val 159302"/>
              <a:gd name="adj6" fmla="val 74333"/>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Operational System </a:t>
            </a:r>
            <a:r>
              <a:rPr lang="en-US" sz="2000" dirty="0">
                <a:solidFill>
                  <a:schemeClr val="tx1"/>
                </a:solidFill>
                <a:latin typeface="Arial" panose="020B0604020202020204" pitchFamily="34" charset="0"/>
                <a:cs typeface="Arial" panose="020B0604020202020204" pitchFamily="34" charset="0"/>
              </a:rPr>
              <a:t>– a system that is used to run a business in real time, based on current data; also called a system of record</a:t>
            </a:r>
          </a:p>
        </p:txBody>
      </p:sp>
    </p:spTree>
    <p:extLst>
      <p:ext uri="{BB962C8B-B14F-4D97-AF65-F5344CB8AC3E}">
        <p14:creationId xmlns:p14="http://schemas.microsoft.com/office/powerpoint/2010/main" val="1974749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90BC9-2337-44D8-8D71-B0CAD123BB7E}"/>
              </a:ext>
            </a:extLst>
          </p:cNvPr>
          <p:cNvSpPr>
            <a:spLocks noGrp="1"/>
          </p:cNvSpPr>
          <p:nvPr>
            <p:ph type="title"/>
          </p:nvPr>
        </p:nvSpPr>
        <p:spPr>
          <a:xfrm>
            <a:off x="149290" y="211621"/>
            <a:ext cx="6879252" cy="914442"/>
          </a:xfrm>
        </p:spPr>
        <p:txBody>
          <a:bodyPr>
            <a:normAutofit fontScale="90000"/>
          </a:bodyPr>
          <a:lstStyle/>
          <a:p>
            <a:r>
              <a:rPr lang="en-US" dirty="0"/>
              <a:t>A Generic Data Warehousing Framework</a:t>
            </a:r>
          </a:p>
        </p:txBody>
      </p:sp>
      <p:pic>
        <p:nvPicPr>
          <p:cNvPr id="4" name="Picture 3">
            <a:extLst>
              <a:ext uri="{FF2B5EF4-FFF2-40B4-BE49-F238E27FC236}">
                <a16:creationId xmlns:a16="http://schemas.microsoft.com/office/drawing/2014/main" id="{7E06BD0E-55CF-470C-BF76-D4850B40643B}"/>
              </a:ext>
            </a:extLst>
          </p:cNvPr>
          <p:cNvPicPr>
            <a:picLocks noChangeAspect="1"/>
          </p:cNvPicPr>
          <p:nvPr/>
        </p:nvPicPr>
        <p:blipFill rotWithShape="1">
          <a:blip r:embed="rId3" cstate="print"/>
          <a:srcRect l="2034" t="3948" r="2220" b="3678"/>
          <a:stretch/>
        </p:blipFill>
        <p:spPr bwMode="auto">
          <a:xfrm>
            <a:off x="86559" y="1180768"/>
            <a:ext cx="8970881" cy="4516641"/>
          </a:xfrm>
          <a:prstGeom prst="rect">
            <a:avLst/>
          </a:prstGeom>
          <a:noFill/>
          <a:ln w="9525">
            <a:noFill/>
            <a:miter lim="800000"/>
            <a:headEnd/>
            <a:tailEnd/>
          </a:ln>
        </p:spPr>
      </p:pic>
    </p:spTree>
    <p:extLst>
      <p:ext uri="{BB962C8B-B14F-4D97-AF65-F5344CB8AC3E}">
        <p14:creationId xmlns:p14="http://schemas.microsoft.com/office/powerpoint/2010/main" val="2567120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2B7B6-E747-4789-A1D6-09E91D63F5BD}"/>
              </a:ext>
            </a:extLst>
          </p:cNvPr>
          <p:cNvSpPr>
            <a:spLocks noGrp="1"/>
          </p:cNvSpPr>
          <p:nvPr>
            <p:ph type="title"/>
          </p:nvPr>
        </p:nvSpPr>
        <p:spPr/>
        <p:txBody>
          <a:bodyPr>
            <a:normAutofit fontScale="90000"/>
          </a:bodyPr>
          <a:lstStyle/>
          <a:p>
            <a:r>
              <a:rPr lang="en-US" dirty="0"/>
              <a:t>ETL – Data Integration for Data Warehousing</a:t>
            </a:r>
          </a:p>
        </p:txBody>
      </p:sp>
      <p:pic>
        <p:nvPicPr>
          <p:cNvPr id="1026" name="Picture 2" descr="Image result for etl">
            <a:extLst>
              <a:ext uri="{FF2B5EF4-FFF2-40B4-BE49-F238E27FC236}">
                <a16:creationId xmlns:a16="http://schemas.microsoft.com/office/drawing/2014/main" id="{E2899FB7-30CF-4A58-A205-60E23E622B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062" y="1351523"/>
            <a:ext cx="8361981" cy="27433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58493D2-4052-4648-97CD-1EEECD5E3E20}"/>
              </a:ext>
            </a:extLst>
          </p:cNvPr>
          <p:cNvSpPr txBox="1"/>
          <p:nvPr/>
        </p:nvSpPr>
        <p:spPr>
          <a:xfrm>
            <a:off x="285062" y="3886200"/>
            <a:ext cx="2905399" cy="1631216"/>
          </a:xfrm>
          <a:prstGeom prst="rect">
            <a:avLst/>
          </a:prstGeom>
          <a:noFill/>
        </p:spPr>
        <p:txBody>
          <a:bodyPr wrap="square" rtlCol="0">
            <a:spAutoFit/>
          </a:bodyPr>
          <a:lstStyle/>
          <a:p>
            <a:r>
              <a:rPr lang="en-US" sz="2000" b="1" dirty="0">
                <a:solidFill>
                  <a:srgbClr val="522D80"/>
                </a:solidFill>
                <a:latin typeface="Arial Nova" panose="020B0504020202020204" pitchFamily="34" charset="0"/>
              </a:rPr>
              <a:t>reading data from one or more sources (e.g. OLTP databases, personal databases, spreadsheets)</a:t>
            </a:r>
          </a:p>
        </p:txBody>
      </p:sp>
      <p:sp>
        <p:nvSpPr>
          <p:cNvPr id="6" name="TextBox 5">
            <a:extLst>
              <a:ext uri="{FF2B5EF4-FFF2-40B4-BE49-F238E27FC236}">
                <a16:creationId xmlns:a16="http://schemas.microsoft.com/office/drawing/2014/main" id="{77A2E100-10FB-447D-8893-DF150699D868}"/>
              </a:ext>
            </a:extLst>
          </p:cNvPr>
          <p:cNvSpPr txBox="1"/>
          <p:nvPr/>
        </p:nvSpPr>
        <p:spPr>
          <a:xfrm>
            <a:off x="3495261" y="3886200"/>
            <a:ext cx="2905399" cy="1323439"/>
          </a:xfrm>
          <a:prstGeom prst="rect">
            <a:avLst/>
          </a:prstGeom>
          <a:noFill/>
        </p:spPr>
        <p:txBody>
          <a:bodyPr wrap="square" rtlCol="0">
            <a:spAutoFit/>
          </a:bodyPr>
          <a:lstStyle/>
          <a:p>
            <a:r>
              <a:rPr lang="en-US" sz="2000" b="1" dirty="0">
                <a:solidFill>
                  <a:srgbClr val="ED6C22"/>
                </a:solidFill>
                <a:latin typeface="Arial Nova" panose="020B0504020202020204" pitchFamily="34" charset="0"/>
              </a:rPr>
              <a:t>converting the extracted data into the appropriate form, cleaning data</a:t>
            </a:r>
          </a:p>
        </p:txBody>
      </p:sp>
      <p:sp>
        <p:nvSpPr>
          <p:cNvPr id="5" name="Rectangle 4">
            <a:extLst>
              <a:ext uri="{FF2B5EF4-FFF2-40B4-BE49-F238E27FC236}">
                <a16:creationId xmlns:a16="http://schemas.microsoft.com/office/drawing/2014/main" id="{294022C6-C80C-44F8-8141-689C6BD91403}"/>
              </a:ext>
            </a:extLst>
          </p:cNvPr>
          <p:cNvSpPr/>
          <p:nvPr/>
        </p:nvSpPr>
        <p:spPr>
          <a:xfrm>
            <a:off x="6707186" y="3926309"/>
            <a:ext cx="2436814" cy="1015663"/>
          </a:xfrm>
          <a:prstGeom prst="rect">
            <a:avLst/>
          </a:prstGeom>
        </p:spPr>
        <p:txBody>
          <a:bodyPr wrap="square">
            <a:spAutoFit/>
          </a:bodyPr>
          <a:lstStyle/>
          <a:p>
            <a:r>
              <a:rPr lang="en-US" sz="2000" b="1" dirty="0">
                <a:latin typeface="Arial Nova" panose="020B0504020202020204" pitchFamily="34" charset="0"/>
              </a:rPr>
              <a:t>putting the data into the data warehouse</a:t>
            </a:r>
          </a:p>
        </p:txBody>
      </p:sp>
    </p:spTree>
    <p:extLst>
      <p:ext uri="{BB962C8B-B14F-4D97-AF65-F5344CB8AC3E}">
        <p14:creationId xmlns:p14="http://schemas.microsoft.com/office/powerpoint/2010/main" val="1079918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EAF2E-021D-413E-810F-F03A33E35823}"/>
              </a:ext>
            </a:extLst>
          </p:cNvPr>
          <p:cNvSpPr>
            <a:spLocks noGrp="1"/>
          </p:cNvSpPr>
          <p:nvPr>
            <p:ph type="title"/>
          </p:nvPr>
        </p:nvSpPr>
        <p:spPr>
          <a:xfrm>
            <a:off x="105507" y="114655"/>
            <a:ext cx="6879252" cy="731981"/>
          </a:xfrm>
        </p:spPr>
        <p:txBody>
          <a:bodyPr>
            <a:normAutofit fontScale="90000"/>
          </a:bodyPr>
          <a:lstStyle/>
          <a:p>
            <a:r>
              <a:rPr lang="en-US" dirty="0"/>
              <a:t>Data Integration </a:t>
            </a:r>
            <a:br>
              <a:rPr lang="en-US" dirty="0"/>
            </a:br>
            <a:r>
              <a:rPr lang="en-US" sz="2700" i="1" dirty="0"/>
              <a:t>creating a unified view of business data</a:t>
            </a:r>
            <a:endParaRPr lang="en-US" i="1" dirty="0"/>
          </a:p>
        </p:txBody>
      </p:sp>
      <p:pic>
        <p:nvPicPr>
          <p:cNvPr id="4" name="Picture 3">
            <a:extLst>
              <a:ext uri="{FF2B5EF4-FFF2-40B4-BE49-F238E27FC236}">
                <a16:creationId xmlns:a16="http://schemas.microsoft.com/office/drawing/2014/main" id="{F46BF4EB-AD89-4CED-92F5-C4D1C852D6D5}"/>
              </a:ext>
            </a:extLst>
          </p:cNvPr>
          <p:cNvPicPr>
            <a:picLocks noChangeAspect="1"/>
          </p:cNvPicPr>
          <p:nvPr/>
        </p:nvPicPr>
        <p:blipFill>
          <a:blip r:embed="rId3"/>
          <a:stretch>
            <a:fillRect/>
          </a:stretch>
        </p:blipFill>
        <p:spPr>
          <a:xfrm>
            <a:off x="0" y="1110294"/>
            <a:ext cx="9144000" cy="5243614"/>
          </a:xfrm>
          <a:prstGeom prst="rect">
            <a:avLst/>
          </a:prstGeom>
        </p:spPr>
      </p:pic>
    </p:spTree>
    <p:extLst>
      <p:ext uri="{BB962C8B-B14F-4D97-AF65-F5344CB8AC3E}">
        <p14:creationId xmlns:p14="http://schemas.microsoft.com/office/powerpoint/2010/main" val="1007932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0885-0334-40CF-9412-43E2E76D0F3C}"/>
              </a:ext>
            </a:extLst>
          </p:cNvPr>
          <p:cNvSpPr>
            <a:spLocks noGrp="1"/>
          </p:cNvSpPr>
          <p:nvPr>
            <p:ph type="title"/>
          </p:nvPr>
        </p:nvSpPr>
        <p:spPr>
          <a:xfrm>
            <a:off x="23446" y="49524"/>
            <a:ext cx="6879252" cy="581575"/>
          </a:xfrm>
        </p:spPr>
        <p:txBody>
          <a:bodyPr/>
          <a:lstStyle/>
          <a:p>
            <a:r>
              <a:rPr lang="en-US" dirty="0"/>
              <a:t>Data Warehouse </a:t>
            </a:r>
            <a:r>
              <a:rPr lang="en-US" dirty="0" err="1"/>
              <a:t>v.s</a:t>
            </a:r>
            <a:r>
              <a:rPr lang="en-US" dirty="0"/>
              <a:t>. Data Mart</a:t>
            </a:r>
          </a:p>
        </p:txBody>
      </p:sp>
      <p:pic>
        <p:nvPicPr>
          <p:cNvPr id="4" name="Picture 3">
            <a:extLst>
              <a:ext uri="{FF2B5EF4-FFF2-40B4-BE49-F238E27FC236}">
                <a16:creationId xmlns:a16="http://schemas.microsoft.com/office/drawing/2014/main" id="{F8E667D4-3BE3-4B1E-BA20-FF9D19150FA8}"/>
              </a:ext>
            </a:extLst>
          </p:cNvPr>
          <p:cNvPicPr>
            <a:picLocks noChangeAspect="1"/>
          </p:cNvPicPr>
          <p:nvPr/>
        </p:nvPicPr>
        <p:blipFill>
          <a:blip r:embed="rId3"/>
          <a:stretch>
            <a:fillRect/>
          </a:stretch>
        </p:blipFill>
        <p:spPr>
          <a:xfrm>
            <a:off x="378338" y="875790"/>
            <a:ext cx="8387323" cy="5686129"/>
          </a:xfrm>
          <a:prstGeom prst="rect">
            <a:avLst/>
          </a:prstGeom>
        </p:spPr>
      </p:pic>
    </p:spTree>
    <p:extLst>
      <p:ext uri="{BB962C8B-B14F-4D97-AF65-F5344CB8AC3E}">
        <p14:creationId xmlns:p14="http://schemas.microsoft.com/office/powerpoint/2010/main" val="3883560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4F2F-53B9-46D8-85FC-2172716BAB2B}"/>
              </a:ext>
            </a:extLst>
          </p:cNvPr>
          <p:cNvSpPr>
            <a:spLocks noGrp="1"/>
          </p:cNvSpPr>
          <p:nvPr>
            <p:ph type="title"/>
          </p:nvPr>
        </p:nvSpPr>
        <p:spPr>
          <a:xfrm>
            <a:off x="149290" y="76793"/>
            <a:ext cx="6879252" cy="581575"/>
          </a:xfrm>
        </p:spPr>
        <p:txBody>
          <a:bodyPr>
            <a:normAutofit/>
          </a:bodyPr>
          <a:lstStyle/>
          <a:p>
            <a:r>
              <a:rPr lang="en-US" dirty="0"/>
              <a:t>Data Warehouse Development</a:t>
            </a:r>
          </a:p>
        </p:txBody>
      </p:sp>
      <p:sp>
        <p:nvSpPr>
          <p:cNvPr id="3" name="Text Placeholder 2">
            <a:extLst>
              <a:ext uri="{FF2B5EF4-FFF2-40B4-BE49-F238E27FC236}">
                <a16:creationId xmlns:a16="http://schemas.microsoft.com/office/drawing/2014/main" id="{0480B13D-9BE6-4A8F-A8AF-59F549478646}"/>
              </a:ext>
            </a:extLst>
          </p:cNvPr>
          <p:cNvSpPr>
            <a:spLocks noGrp="1"/>
          </p:cNvSpPr>
          <p:nvPr>
            <p:ph type="body" idx="1"/>
          </p:nvPr>
        </p:nvSpPr>
        <p:spPr>
          <a:xfrm>
            <a:off x="457200" y="815680"/>
            <a:ext cx="4040188" cy="639762"/>
          </a:xfrm>
        </p:spPr>
        <p:txBody>
          <a:bodyPr>
            <a:normAutofit fontScale="92500" lnSpcReduction="20000"/>
          </a:bodyPr>
          <a:lstStyle/>
          <a:p>
            <a:pPr algn="ctr"/>
            <a:r>
              <a:rPr lang="en-US" dirty="0" err="1"/>
              <a:t>Inmon</a:t>
            </a:r>
            <a:r>
              <a:rPr lang="en-US" dirty="0"/>
              <a:t> Model: EDW Approach (Top-Down)</a:t>
            </a:r>
          </a:p>
        </p:txBody>
      </p:sp>
      <p:sp>
        <p:nvSpPr>
          <p:cNvPr id="4" name="Content Placeholder 3">
            <a:extLst>
              <a:ext uri="{FF2B5EF4-FFF2-40B4-BE49-F238E27FC236}">
                <a16:creationId xmlns:a16="http://schemas.microsoft.com/office/drawing/2014/main" id="{CD06A1A0-AB45-42F0-8957-E9EBC165C95D}"/>
              </a:ext>
            </a:extLst>
          </p:cNvPr>
          <p:cNvSpPr>
            <a:spLocks noGrp="1"/>
          </p:cNvSpPr>
          <p:nvPr>
            <p:ph sz="half" idx="2"/>
          </p:nvPr>
        </p:nvSpPr>
        <p:spPr>
          <a:xfrm>
            <a:off x="149290" y="1554830"/>
            <a:ext cx="4348098" cy="4842150"/>
          </a:xfrm>
        </p:spPr>
        <p:txBody>
          <a:bodyPr>
            <a:normAutofit fontScale="70000" lnSpcReduction="20000"/>
          </a:bodyPr>
          <a:lstStyle/>
          <a:p>
            <a:r>
              <a:rPr lang="en-US" dirty="0">
                <a:latin typeface="Arial Nova" panose="020B0504020202020204" pitchFamily="34" charset="0"/>
              </a:rPr>
              <a:t>Provides a highly consistent dimensional view of data across data marts as all data marts are loaded from the centralized repository (Data Warehouse).</a:t>
            </a:r>
          </a:p>
          <a:p>
            <a:endParaRPr lang="en-US" sz="1600" dirty="0">
              <a:latin typeface="Arial Nova" panose="020B0504020202020204" pitchFamily="34" charset="0"/>
            </a:endParaRPr>
          </a:p>
          <a:p>
            <a:r>
              <a:rPr lang="en-US" dirty="0">
                <a:latin typeface="Arial Nova" panose="020B0504020202020204" pitchFamily="34" charset="0"/>
              </a:rPr>
              <a:t>Flexible to support business changes as it looks at the organization as whole.</a:t>
            </a:r>
          </a:p>
          <a:p>
            <a:endParaRPr lang="en-US" sz="1600" dirty="0">
              <a:latin typeface="Arial Nova" panose="020B0504020202020204" pitchFamily="34" charset="0"/>
            </a:endParaRPr>
          </a:p>
          <a:p>
            <a:r>
              <a:rPr lang="en-US" dirty="0">
                <a:latin typeface="Arial Nova" panose="020B0504020202020204" pitchFamily="34" charset="0"/>
              </a:rPr>
              <a:t>Generating a new data mart against the data stored in the data warehouse relatively simple.</a:t>
            </a:r>
          </a:p>
          <a:p>
            <a:endParaRPr lang="en-US" sz="1600" dirty="0">
              <a:latin typeface="Arial Nova" panose="020B0504020202020204" pitchFamily="34" charset="0"/>
            </a:endParaRPr>
          </a:p>
          <a:p>
            <a:r>
              <a:rPr lang="en-US" dirty="0">
                <a:latin typeface="Arial Nova" panose="020B0504020202020204" pitchFamily="34" charset="0"/>
              </a:rPr>
              <a:t>Large-scale and scope of project</a:t>
            </a:r>
          </a:p>
          <a:p>
            <a:endParaRPr lang="en-US" sz="1600" dirty="0">
              <a:latin typeface="Arial Nova" panose="020B0504020202020204" pitchFamily="34" charset="0"/>
            </a:endParaRPr>
          </a:p>
          <a:p>
            <a:r>
              <a:rPr lang="en-US" dirty="0">
                <a:latin typeface="Arial Nova" panose="020B0504020202020204" pitchFamily="34" charset="0"/>
              </a:rPr>
              <a:t>Up-front cost </a:t>
            </a:r>
          </a:p>
          <a:p>
            <a:endParaRPr lang="en-US" sz="1600" dirty="0">
              <a:latin typeface="Arial Nova" panose="020B0504020202020204" pitchFamily="34" charset="0"/>
            </a:endParaRPr>
          </a:p>
          <a:p>
            <a:r>
              <a:rPr lang="en-US" dirty="0">
                <a:latin typeface="Arial Nova" panose="020B0504020202020204" pitchFamily="34" charset="0"/>
              </a:rPr>
              <a:t>Long duration; may be inflexible and unresponsive to changing business needs during implementation</a:t>
            </a:r>
          </a:p>
        </p:txBody>
      </p:sp>
      <p:sp>
        <p:nvSpPr>
          <p:cNvPr id="5" name="Text Placeholder 4">
            <a:extLst>
              <a:ext uri="{FF2B5EF4-FFF2-40B4-BE49-F238E27FC236}">
                <a16:creationId xmlns:a16="http://schemas.microsoft.com/office/drawing/2014/main" id="{954140D8-A885-4649-A530-417ED4D5E077}"/>
              </a:ext>
            </a:extLst>
          </p:cNvPr>
          <p:cNvSpPr>
            <a:spLocks noGrp="1"/>
          </p:cNvSpPr>
          <p:nvPr>
            <p:ph type="body" sz="quarter" idx="3"/>
          </p:nvPr>
        </p:nvSpPr>
        <p:spPr>
          <a:xfrm>
            <a:off x="4645025" y="815680"/>
            <a:ext cx="4041775" cy="639762"/>
          </a:xfrm>
        </p:spPr>
        <p:txBody>
          <a:bodyPr>
            <a:normAutofit fontScale="92500" lnSpcReduction="20000"/>
          </a:bodyPr>
          <a:lstStyle/>
          <a:p>
            <a:pPr algn="ctr"/>
            <a:r>
              <a:rPr lang="en-US" dirty="0"/>
              <a:t>Kimball Model: Data Mart Approach  (Bottom-Up)</a:t>
            </a:r>
          </a:p>
        </p:txBody>
      </p:sp>
      <p:sp>
        <p:nvSpPr>
          <p:cNvPr id="6" name="Content Placeholder 5">
            <a:extLst>
              <a:ext uri="{FF2B5EF4-FFF2-40B4-BE49-F238E27FC236}">
                <a16:creationId xmlns:a16="http://schemas.microsoft.com/office/drawing/2014/main" id="{0DEBBC2C-2FB5-4D7F-9B85-C6A8727DA37F}"/>
              </a:ext>
            </a:extLst>
          </p:cNvPr>
          <p:cNvSpPr>
            <a:spLocks noGrp="1"/>
          </p:cNvSpPr>
          <p:nvPr>
            <p:ph sz="quarter" idx="4"/>
          </p:nvPr>
        </p:nvSpPr>
        <p:spPr>
          <a:xfrm>
            <a:off x="4645025" y="1554830"/>
            <a:ext cx="4348098" cy="4951479"/>
          </a:xfrm>
        </p:spPr>
        <p:txBody>
          <a:bodyPr>
            <a:normAutofit fontScale="70000" lnSpcReduction="20000"/>
          </a:bodyPr>
          <a:lstStyle/>
          <a:p>
            <a:r>
              <a:rPr lang="en-US" dirty="0">
                <a:latin typeface="Arial Nova" panose="020B0504020202020204" pitchFamily="34" charset="0"/>
              </a:rPr>
              <a:t>Emphasizes the value of the data warehouse to business users as quickly as possible. </a:t>
            </a:r>
          </a:p>
          <a:p>
            <a:endParaRPr lang="en-US" sz="1600" dirty="0">
              <a:latin typeface="Arial Nova" panose="020B0504020202020204" pitchFamily="34" charset="0"/>
            </a:endParaRPr>
          </a:p>
          <a:p>
            <a:r>
              <a:rPr lang="en-US" dirty="0">
                <a:latin typeface="Arial Nova" panose="020B0504020202020204" pitchFamily="34" charset="0"/>
              </a:rPr>
              <a:t>Focuses on each individual business process -&gt; quick return on investment</a:t>
            </a:r>
          </a:p>
          <a:p>
            <a:endParaRPr lang="en-US" sz="1600" dirty="0">
              <a:latin typeface="Arial Nova" panose="020B0504020202020204" pitchFamily="34" charset="0"/>
            </a:endParaRPr>
          </a:p>
          <a:p>
            <a:r>
              <a:rPr lang="en-US" dirty="0">
                <a:latin typeface="Arial Nova" panose="020B0504020202020204" pitchFamily="34" charset="0"/>
              </a:rPr>
              <a:t>May lack the big picture of the enterprise data warehouse by missing some dimensions or by creating redundant dimensions</a:t>
            </a:r>
          </a:p>
          <a:p>
            <a:endParaRPr lang="en-US" sz="1600" dirty="0">
              <a:latin typeface="Arial Nova" panose="020B0504020202020204" pitchFamily="34" charset="0"/>
            </a:endParaRPr>
          </a:p>
          <a:p>
            <a:r>
              <a:rPr lang="en-US" dirty="0">
                <a:latin typeface="Arial Nova" panose="020B0504020202020204" pitchFamily="34" charset="0"/>
              </a:rPr>
              <a:t>Lower cost</a:t>
            </a:r>
          </a:p>
          <a:p>
            <a:endParaRPr lang="en-US" sz="1600" dirty="0">
              <a:latin typeface="Arial Nova" panose="020B0504020202020204" pitchFamily="34" charset="0"/>
            </a:endParaRPr>
          </a:p>
          <a:p>
            <a:r>
              <a:rPr lang="en-US" dirty="0">
                <a:latin typeface="Arial Nova" panose="020B0504020202020204" pitchFamily="34" charset="0"/>
              </a:rPr>
              <a:t>Fairly simple</a:t>
            </a:r>
          </a:p>
        </p:txBody>
      </p:sp>
    </p:spTree>
    <p:extLst>
      <p:ext uri="{BB962C8B-B14F-4D97-AF65-F5344CB8AC3E}">
        <p14:creationId xmlns:p14="http://schemas.microsoft.com/office/powerpoint/2010/main" val="95403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A14FB-9714-4524-BFD2-D64B29DFCD22}"/>
              </a:ext>
            </a:extLst>
          </p:cNvPr>
          <p:cNvSpPr>
            <a:spLocks noGrp="1"/>
          </p:cNvSpPr>
          <p:nvPr>
            <p:ph type="title"/>
          </p:nvPr>
        </p:nvSpPr>
        <p:spPr/>
        <p:txBody>
          <a:bodyPr>
            <a:normAutofit fontScale="90000"/>
          </a:bodyPr>
          <a:lstStyle/>
          <a:p>
            <a:r>
              <a:rPr lang="en-US" dirty="0"/>
              <a:t>Choosing Data Warehouse Development Approach</a:t>
            </a:r>
          </a:p>
        </p:txBody>
      </p:sp>
      <p:pic>
        <p:nvPicPr>
          <p:cNvPr id="4" name="Picture 3">
            <a:extLst>
              <a:ext uri="{FF2B5EF4-FFF2-40B4-BE49-F238E27FC236}">
                <a16:creationId xmlns:a16="http://schemas.microsoft.com/office/drawing/2014/main" id="{F6EA4E97-E38B-4A9B-B7FE-4D6DEC1DF57B}"/>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668862" y="1478859"/>
            <a:ext cx="7595261" cy="4246080"/>
          </a:xfrm>
          <a:prstGeom prst="rect">
            <a:avLst/>
          </a:prstGeom>
        </p:spPr>
      </p:pic>
    </p:spTree>
    <p:extLst>
      <p:ext uri="{BB962C8B-B14F-4D97-AF65-F5344CB8AC3E}">
        <p14:creationId xmlns:p14="http://schemas.microsoft.com/office/powerpoint/2010/main" val="1574266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A5F9A-A910-4A4D-9A5B-BB2E9FBA9086}"/>
              </a:ext>
            </a:extLst>
          </p:cNvPr>
          <p:cNvSpPr>
            <a:spLocks noGrp="1"/>
          </p:cNvSpPr>
          <p:nvPr>
            <p:ph type="title"/>
          </p:nvPr>
        </p:nvSpPr>
        <p:spPr>
          <a:xfrm>
            <a:off x="149290" y="107869"/>
            <a:ext cx="6879252" cy="581575"/>
          </a:xfrm>
        </p:spPr>
        <p:txBody>
          <a:bodyPr/>
          <a:lstStyle/>
          <a:p>
            <a:r>
              <a:rPr lang="en-US" dirty="0"/>
              <a:t>Alternative DW Architectures</a:t>
            </a:r>
          </a:p>
        </p:txBody>
      </p:sp>
      <p:pic>
        <p:nvPicPr>
          <p:cNvPr id="4" name="Picture 2">
            <a:extLst>
              <a:ext uri="{FF2B5EF4-FFF2-40B4-BE49-F238E27FC236}">
                <a16:creationId xmlns:a16="http://schemas.microsoft.com/office/drawing/2014/main" id="{99D14698-A7AD-4BAB-A783-01865B042D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734" y="778205"/>
            <a:ext cx="7248520" cy="5819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6150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1C023-01B3-4F6E-BBC3-9ADDC15D9DCD}"/>
              </a:ext>
            </a:extLst>
          </p:cNvPr>
          <p:cNvSpPr>
            <a:spLocks noGrp="1"/>
          </p:cNvSpPr>
          <p:nvPr>
            <p:ph type="title"/>
          </p:nvPr>
        </p:nvSpPr>
        <p:spPr>
          <a:xfrm>
            <a:off x="149289" y="154948"/>
            <a:ext cx="6879252" cy="581575"/>
          </a:xfrm>
        </p:spPr>
        <p:txBody>
          <a:bodyPr>
            <a:normAutofit fontScale="90000"/>
          </a:bodyPr>
          <a:lstStyle/>
          <a:p>
            <a:r>
              <a:rPr lang="en-US" dirty="0"/>
              <a:t>Alternative DW Architectures (cont.)</a:t>
            </a:r>
          </a:p>
        </p:txBody>
      </p:sp>
      <p:sp>
        <p:nvSpPr>
          <p:cNvPr id="3" name="Content Placeholder 2">
            <a:extLst>
              <a:ext uri="{FF2B5EF4-FFF2-40B4-BE49-F238E27FC236}">
                <a16:creationId xmlns:a16="http://schemas.microsoft.com/office/drawing/2014/main" id="{387B0B50-4278-469E-B633-634ACC504D8B}"/>
              </a:ext>
            </a:extLst>
          </p:cNvPr>
          <p:cNvSpPr>
            <a:spLocks noGrp="1"/>
          </p:cNvSpPr>
          <p:nvPr>
            <p:ph idx="1"/>
          </p:nvPr>
        </p:nvSpPr>
        <p:spPr>
          <a:xfrm>
            <a:off x="149289" y="5171762"/>
            <a:ext cx="8770776" cy="740296"/>
          </a:xfrm>
        </p:spPr>
        <p:txBody>
          <a:bodyPr>
            <a:normAutofit/>
          </a:bodyPr>
          <a:lstStyle/>
          <a:p>
            <a:r>
              <a:rPr lang="en-US" sz="2200" dirty="0"/>
              <a:t>Each architecture has advantages and disadvantages!</a:t>
            </a:r>
          </a:p>
        </p:txBody>
      </p:sp>
      <p:pic>
        <p:nvPicPr>
          <p:cNvPr id="5" name="Picture 2">
            <a:extLst>
              <a:ext uri="{FF2B5EF4-FFF2-40B4-BE49-F238E27FC236}">
                <a16:creationId xmlns:a16="http://schemas.microsoft.com/office/drawing/2014/main" id="{FB667714-A2F2-42DA-A4F1-6CB0E81BF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072" y="1032083"/>
            <a:ext cx="8056537" cy="3844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8600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F1680-6B3E-4F66-9185-0933114045D9}"/>
              </a:ext>
            </a:extLst>
          </p:cNvPr>
          <p:cNvSpPr>
            <a:spLocks noGrp="1"/>
          </p:cNvSpPr>
          <p:nvPr>
            <p:ph type="title"/>
          </p:nvPr>
        </p:nvSpPr>
        <p:spPr/>
        <p:txBody>
          <a:bodyPr>
            <a:normAutofit fontScale="90000"/>
          </a:bodyPr>
          <a:lstStyle/>
          <a:p>
            <a:r>
              <a:rPr lang="en-US" dirty="0"/>
              <a:t>Logical Data Mart and Real-time Data Warehouse Architecture</a:t>
            </a:r>
          </a:p>
        </p:txBody>
      </p:sp>
      <p:pic>
        <p:nvPicPr>
          <p:cNvPr id="5" name="Picture 4">
            <a:extLst>
              <a:ext uri="{FF2B5EF4-FFF2-40B4-BE49-F238E27FC236}">
                <a16:creationId xmlns:a16="http://schemas.microsoft.com/office/drawing/2014/main" id="{ED40E1C7-26D2-4E44-BE6F-FA814EAA762D}"/>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20000" contrast="-40000"/>
                    </a14:imgEffect>
                  </a14:imgLayer>
                </a14:imgProps>
              </a:ext>
            </a:extLst>
          </a:blip>
          <a:srcRect l="8382" t="2958" r="8235" b="7554"/>
          <a:stretch/>
        </p:blipFill>
        <p:spPr>
          <a:xfrm>
            <a:off x="256414" y="1343155"/>
            <a:ext cx="8649526" cy="5049370"/>
          </a:xfrm>
          <a:prstGeom prst="rect">
            <a:avLst/>
          </a:prstGeom>
        </p:spPr>
      </p:pic>
      <p:sp>
        <p:nvSpPr>
          <p:cNvPr id="6" name="Oval 5">
            <a:extLst>
              <a:ext uri="{FF2B5EF4-FFF2-40B4-BE49-F238E27FC236}">
                <a16:creationId xmlns:a16="http://schemas.microsoft.com/office/drawing/2014/main" id="{45533A59-88DF-454C-A99D-8C68FA5498DF}"/>
              </a:ext>
            </a:extLst>
          </p:cNvPr>
          <p:cNvSpPr/>
          <p:nvPr/>
        </p:nvSpPr>
        <p:spPr>
          <a:xfrm>
            <a:off x="3588916" y="1842247"/>
            <a:ext cx="2072296" cy="497541"/>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8765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1D261-96E4-4E0B-B81C-5468B080C55B}"/>
              </a:ext>
            </a:extLst>
          </p:cNvPr>
          <p:cNvSpPr>
            <a:spLocks noGrp="1"/>
          </p:cNvSpPr>
          <p:nvPr>
            <p:ph type="title"/>
          </p:nvPr>
        </p:nvSpPr>
        <p:spPr>
          <a:xfrm>
            <a:off x="149290" y="140304"/>
            <a:ext cx="6879252" cy="581575"/>
          </a:xfrm>
        </p:spPr>
        <p:txBody>
          <a:bodyPr>
            <a:normAutofit fontScale="90000"/>
          </a:bodyPr>
          <a:lstStyle/>
          <a:p>
            <a:r>
              <a:rPr lang="en-US" dirty="0"/>
              <a:t>Dimensional Modeling: Star Schema</a:t>
            </a:r>
          </a:p>
        </p:txBody>
      </p:sp>
      <p:sp>
        <p:nvSpPr>
          <p:cNvPr id="3" name="Content Placeholder 2">
            <a:extLst>
              <a:ext uri="{FF2B5EF4-FFF2-40B4-BE49-F238E27FC236}">
                <a16:creationId xmlns:a16="http://schemas.microsoft.com/office/drawing/2014/main" id="{90C32453-6F64-4E3E-8799-CBFF95843D68}"/>
              </a:ext>
            </a:extLst>
          </p:cNvPr>
          <p:cNvSpPr>
            <a:spLocks noGrp="1"/>
          </p:cNvSpPr>
          <p:nvPr>
            <p:ph idx="1"/>
          </p:nvPr>
        </p:nvSpPr>
        <p:spPr>
          <a:xfrm>
            <a:off x="149288" y="818808"/>
            <a:ext cx="8770776" cy="5555457"/>
          </a:xfrm>
        </p:spPr>
        <p:txBody>
          <a:bodyPr>
            <a:normAutofit/>
          </a:bodyPr>
          <a:lstStyle/>
          <a:p>
            <a:r>
              <a:rPr lang="it-IT" sz="2200" dirty="0"/>
              <a:t>A simple database design in </a:t>
            </a:r>
            <a:r>
              <a:rPr lang="en-US" sz="2200" dirty="0"/>
              <a:t>which dimensional data are separated from fact or event data.</a:t>
            </a:r>
          </a:p>
        </p:txBody>
      </p:sp>
      <p:pic>
        <p:nvPicPr>
          <p:cNvPr id="5" name="Picture 4">
            <a:extLst>
              <a:ext uri="{FF2B5EF4-FFF2-40B4-BE49-F238E27FC236}">
                <a16:creationId xmlns:a16="http://schemas.microsoft.com/office/drawing/2014/main" id="{5A183B34-974B-48BD-87C4-A385AB7543D7}"/>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20000" contrast="-40000"/>
                    </a14:imgEffect>
                  </a14:imgLayer>
                </a14:imgProps>
              </a:ext>
            </a:extLst>
          </a:blip>
          <a:srcRect l="6471" t="3409" r="5882" b="7585"/>
          <a:stretch/>
        </p:blipFill>
        <p:spPr>
          <a:xfrm>
            <a:off x="1058612" y="1747012"/>
            <a:ext cx="6952129" cy="4724182"/>
          </a:xfrm>
          <a:prstGeom prst="rect">
            <a:avLst/>
          </a:prstGeom>
        </p:spPr>
      </p:pic>
    </p:spTree>
    <p:extLst>
      <p:ext uri="{BB962C8B-B14F-4D97-AF65-F5344CB8AC3E}">
        <p14:creationId xmlns:p14="http://schemas.microsoft.com/office/powerpoint/2010/main" val="1293065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FAF50-B55D-4780-9722-8E96398BDF83}"/>
              </a:ext>
            </a:extLst>
          </p:cNvPr>
          <p:cNvSpPr>
            <a:spLocks noGrp="1"/>
          </p:cNvSpPr>
          <p:nvPr>
            <p:ph type="title"/>
          </p:nvPr>
        </p:nvSpPr>
        <p:spPr/>
        <p:txBody>
          <a:bodyPr/>
          <a:lstStyle/>
          <a:p>
            <a:r>
              <a:rPr lang="en-US" dirty="0"/>
              <a:t>Example: Star Schema</a:t>
            </a:r>
          </a:p>
        </p:txBody>
      </p:sp>
      <p:sp>
        <p:nvSpPr>
          <p:cNvPr id="3" name="Content Placeholder 2">
            <a:extLst>
              <a:ext uri="{FF2B5EF4-FFF2-40B4-BE49-F238E27FC236}">
                <a16:creationId xmlns:a16="http://schemas.microsoft.com/office/drawing/2014/main" id="{9F4F28B1-B58E-425B-B447-4521DB02DFDA}"/>
              </a:ext>
            </a:extLst>
          </p:cNvPr>
          <p:cNvSpPr>
            <a:spLocks noGrp="1"/>
          </p:cNvSpPr>
          <p:nvPr>
            <p:ph idx="1"/>
          </p:nvPr>
        </p:nvSpPr>
        <p:spPr>
          <a:xfrm>
            <a:off x="149289" y="947187"/>
            <a:ext cx="8770776" cy="5555457"/>
          </a:xfrm>
        </p:spPr>
        <p:txBody>
          <a:bodyPr>
            <a:normAutofit/>
          </a:bodyPr>
          <a:lstStyle/>
          <a:p>
            <a:r>
              <a:rPr lang="en-US" sz="2400" dirty="0"/>
              <a:t>Fact table provides statistics for sales broken down by product, period, and store dimensions</a:t>
            </a:r>
          </a:p>
          <a:p>
            <a:endParaRPr lang="en-US" sz="2400" dirty="0"/>
          </a:p>
        </p:txBody>
      </p:sp>
      <p:pic>
        <p:nvPicPr>
          <p:cNvPr id="4" name="Picture 3" descr="A drawing shows an example of a star schema. The schema shows a SALES table in the middle with the following attributes. SALES, Product Code, which is a foreign key, Period Code, which is a foreign key, Store Code, which is a foreign key, Units Sold, Dollars Sold, Dollars Cost. Three tables are shown around the SALES table, with the following attributes. PRODUCT, Product code, which is the primary key, Description, Color, Size. PERIOD, Period code, which is the primary key, Year, Quarter, Month, Day. STORE, Store Code, which is the primary key, Store Name, City, Telephone, Manager. A many to one relationship is established between the foreign keys in the central SALES table to the respective primary keys of the same names in the surrounding tables.">
            <a:extLst>
              <a:ext uri="{FF2B5EF4-FFF2-40B4-BE49-F238E27FC236}">
                <a16:creationId xmlns:a16="http://schemas.microsoft.com/office/drawing/2014/main" id="{7E6326E4-C077-4267-88B6-7CB076F3CD4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20000" contrast="-40000"/>
                    </a14:imgEffect>
                  </a14:imgLayer>
                </a14:imgProps>
              </a:ext>
            </a:extLst>
          </a:blip>
          <a:stretch>
            <a:fillRect/>
          </a:stretch>
        </p:blipFill>
        <p:spPr>
          <a:xfrm>
            <a:off x="1057619" y="1859781"/>
            <a:ext cx="6742938" cy="4051032"/>
          </a:xfrm>
          <a:prstGeom prst="rect">
            <a:avLst/>
          </a:prstGeom>
        </p:spPr>
      </p:pic>
    </p:spTree>
    <p:extLst>
      <p:ext uri="{BB962C8B-B14F-4D97-AF65-F5344CB8AC3E}">
        <p14:creationId xmlns:p14="http://schemas.microsoft.com/office/powerpoint/2010/main" val="4181857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CAE08-5947-4402-ADB1-332F095C0D79}"/>
              </a:ext>
            </a:extLst>
          </p:cNvPr>
          <p:cNvSpPr>
            <a:spLocks noGrp="1"/>
          </p:cNvSpPr>
          <p:nvPr>
            <p:ph type="title"/>
          </p:nvPr>
        </p:nvSpPr>
        <p:spPr>
          <a:xfrm>
            <a:off x="149290" y="112719"/>
            <a:ext cx="6879252" cy="581575"/>
          </a:xfrm>
        </p:spPr>
        <p:txBody>
          <a:bodyPr/>
          <a:lstStyle/>
          <a:p>
            <a:r>
              <a:rPr lang="en-US" dirty="0"/>
              <a:t>Example: Star Schema</a:t>
            </a:r>
          </a:p>
        </p:txBody>
      </p:sp>
      <p:pic>
        <p:nvPicPr>
          <p:cNvPr id="4" name="Picture 3" descr="An illustration shows sample data for a star schema. The schema shows three tables surrounding a central SALES table, with one too many connections between the foreign and primary keys, as explained in the previous slide. The product table has several rows and 4 columns. The columns have the following headings from left to right. Product Code, Description, Color, and Size. The row entries are as follows. Row 1. Product Code, 1 0 0, Description, Sweater, Color, Blue, and Size, 40.&#10;Row 2. Product Code, 1 1 0, Description, Shoes, Color, Brown, and Size, 10 and one half. Row 3. Product Code, 1 2 3, Description, Gloves, Color, Tan, and Size, M. Row 4. Product Code, and so on. The Period table has several rows and 4 columns. The columns have the following headings from left to right. Period Code, Year, Quarter, Month. The row entries are as follows. Row 1. Period Code, 0 0 1, Year, 20 18, Quarter, 1 Month, 4. Row 2. Period Code, 0 0 2, Year, 20 18, Quarter, 1 Month, 5. Row 3. Period Code, 0 0 3, Year, 20 18, Quarter, 1 Month, 6. Row 4. Period Code, and so on. The Sales table has several rows and 6 columns. The columns have the following headings from left to right. Product Code, Period Code, Store Code, Units Sold, Dollars Sold, and Dollars Cost. The row entries are as follows. Row 1. Product Code, 1 1 0, Period Code, 0 0 2, Store Code, S 1, Units Sold, 30, Dollars Sold, 1500, and Dollars Cost 1200.&#10;Row 2. Product Code, 1 2 5, Period Code, 0 0 3, Store Code, S 2, Units Sold, 50, Dollars Sold, 1000, and Dollars Cost 600. Row 3. Product Code, 1 0 0, Period Code, 0 0 1, Store Code, S 1, Units Sold, 40, Dollars Sold, 1600, and Dollars Cost 1000. Row 4. Product Code, 1 1 0, Period Code, 0 0 2, Store Code, S 3, Units Sold, 40, Dollars Sold, 2000, and Dollars Cost 1200. Row 5. Product Code, 1 0 0, Period Code, 0 0 2, Store Code, S 2, Units Sold, 30, Dollars Sold, 1200, and Dollars Cost 750. Row 6. Product Code, and so on. The Store table has several rows and 5 columns. The columns have the following headings from left to right. Store Code, Store Name, City, Telephone, and Manager. The row entries are as follows. Row 1. Store Code, S 1, Store Name, Jan’s, City, San Antonio, Telephone, 6 8 3 dash 1 9 2 dash 1 4 0 0, and Manager, Burgess. Row 2. Store Code, S 2, Store Name, Bill’s, City, Portland, Telephone, 9 4 3 dash 6 8 1 dash 2 1 3 5, and Manager, Thomas. Row 3. Store Code, S 3, Store Name, Ed’s, City, Boulder, Telephone, 4 1 7 dash 1 9 6 dash 8 0 3 7, and Manager, Perry. Row 4. Store Code, and so on.">
            <a:extLst>
              <a:ext uri="{FF2B5EF4-FFF2-40B4-BE49-F238E27FC236}">
                <a16:creationId xmlns:a16="http://schemas.microsoft.com/office/drawing/2014/main" id="{5FB2710E-4AC3-417D-9D9C-6BC0EAD3197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20000" contrast="-40000"/>
                    </a14:imgEffect>
                  </a14:imgLayer>
                </a14:imgProps>
              </a:ext>
            </a:extLst>
          </a:blip>
          <a:stretch>
            <a:fillRect/>
          </a:stretch>
        </p:blipFill>
        <p:spPr>
          <a:xfrm>
            <a:off x="1055631" y="837560"/>
            <a:ext cx="6474722" cy="5639746"/>
          </a:xfrm>
          <a:prstGeom prst="rect">
            <a:avLst/>
          </a:prstGeom>
        </p:spPr>
      </p:pic>
    </p:spTree>
    <p:extLst>
      <p:ext uri="{BB962C8B-B14F-4D97-AF65-F5344CB8AC3E}">
        <p14:creationId xmlns:p14="http://schemas.microsoft.com/office/powerpoint/2010/main" val="341020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E9352-E6F8-41B3-B4FB-93E793DA3742}"/>
              </a:ext>
            </a:extLst>
          </p:cNvPr>
          <p:cNvSpPr>
            <a:spLocks noGrp="1"/>
          </p:cNvSpPr>
          <p:nvPr>
            <p:ph type="title"/>
          </p:nvPr>
        </p:nvSpPr>
        <p:spPr>
          <a:xfrm>
            <a:off x="149290" y="194780"/>
            <a:ext cx="6879252" cy="581575"/>
          </a:xfrm>
        </p:spPr>
        <p:txBody>
          <a:bodyPr/>
          <a:lstStyle/>
          <a:p>
            <a:r>
              <a:rPr lang="en-US" dirty="0"/>
              <a:t>Specific Issues</a:t>
            </a:r>
          </a:p>
        </p:txBody>
      </p:sp>
      <p:sp>
        <p:nvSpPr>
          <p:cNvPr id="3" name="Content Placeholder 2">
            <a:extLst>
              <a:ext uri="{FF2B5EF4-FFF2-40B4-BE49-F238E27FC236}">
                <a16:creationId xmlns:a16="http://schemas.microsoft.com/office/drawing/2014/main" id="{3E92527F-3475-4928-86E1-840B9F342101}"/>
              </a:ext>
            </a:extLst>
          </p:cNvPr>
          <p:cNvSpPr>
            <a:spLocks noGrp="1"/>
          </p:cNvSpPr>
          <p:nvPr>
            <p:ph idx="1"/>
          </p:nvPr>
        </p:nvSpPr>
        <p:spPr>
          <a:xfrm>
            <a:off x="149289" y="1007689"/>
            <a:ext cx="8770776" cy="5555457"/>
          </a:xfrm>
        </p:spPr>
        <p:txBody>
          <a:bodyPr>
            <a:normAutofit/>
          </a:bodyPr>
          <a:lstStyle/>
          <a:p>
            <a:r>
              <a:rPr lang="en-US" sz="2400" b="1" dirty="0">
                <a:solidFill>
                  <a:srgbClr val="522D80"/>
                </a:solidFill>
              </a:rPr>
              <a:t>Surrogate Key: </a:t>
            </a:r>
            <a:r>
              <a:rPr lang="en-US" sz="2400" dirty="0"/>
              <a:t>dimension table keys should be surrogate (non-intelligent and non-business related);</a:t>
            </a:r>
          </a:p>
          <a:p>
            <a:r>
              <a:rPr lang="en-US" sz="2400" b="1" dirty="0">
                <a:solidFill>
                  <a:srgbClr val="522D80"/>
                </a:solidFill>
              </a:rPr>
              <a:t>Granularity of Fact Table: </a:t>
            </a:r>
            <a:r>
              <a:rPr lang="en-US" sz="2400" dirty="0"/>
              <a:t>What level of detail do you want?</a:t>
            </a:r>
          </a:p>
          <a:p>
            <a:pPr lvl="1"/>
            <a:r>
              <a:rPr lang="en-US" sz="2000" dirty="0"/>
              <a:t>Transactional grain – finest level</a:t>
            </a:r>
          </a:p>
          <a:p>
            <a:pPr lvl="1"/>
            <a:r>
              <a:rPr lang="en-US" sz="2000" dirty="0"/>
              <a:t>Aggregated grain – more summarized</a:t>
            </a:r>
          </a:p>
          <a:p>
            <a:pPr lvl="1"/>
            <a:r>
              <a:rPr lang="en-US" sz="2000" dirty="0"/>
              <a:t>Finer grains brings better market basket analysis capability</a:t>
            </a:r>
          </a:p>
          <a:p>
            <a:pPr lvl="1"/>
            <a:r>
              <a:rPr lang="en-US" sz="2000" dirty="0"/>
              <a:t>Finer grain implies more dimension tables, more rows in fact table</a:t>
            </a:r>
          </a:p>
          <a:p>
            <a:pPr lvl="1"/>
            <a:r>
              <a:rPr lang="en-US" sz="2000" dirty="0"/>
              <a:t>In Web-based commerce, finest granularity is a click</a:t>
            </a:r>
          </a:p>
          <a:p>
            <a:r>
              <a:rPr lang="en-US" sz="2400" b="1" dirty="0">
                <a:solidFill>
                  <a:srgbClr val="522D80"/>
                </a:solidFill>
              </a:rPr>
              <a:t>Duration of the Database</a:t>
            </a:r>
          </a:p>
          <a:p>
            <a:pPr lvl="1"/>
            <a:r>
              <a:rPr lang="en-US" altLang="en-US" sz="2000" dirty="0"/>
              <a:t>Natural duration – 13 months or 5 quarters</a:t>
            </a:r>
          </a:p>
          <a:p>
            <a:pPr lvl="1"/>
            <a:r>
              <a:rPr lang="en-US" altLang="en-US" sz="2000" dirty="0"/>
              <a:t>Financial institutions may need longer duration</a:t>
            </a:r>
          </a:p>
          <a:p>
            <a:pPr lvl="1"/>
            <a:r>
              <a:rPr lang="en-US" altLang="en-US" sz="2000" dirty="0"/>
              <a:t>Older data is more difficult to source and cleanse</a:t>
            </a:r>
          </a:p>
          <a:p>
            <a:endParaRPr lang="en-US" sz="2400" dirty="0"/>
          </a:p>
        </p:txBody>
      </p:sp>
    </p:spTree>
    <p:extLst>
      <p:ext uri="{BB962C8B-B14F-4D97-AF65-F5344CB8AC3E}">
        <p14:creationId xmlns:p14="http://schemas.microsoft.com/office/powerpoint/2010/main" val="378247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E9352-E6F8-41B3-B4FB-93E793DA3742}"/>
              </a:ext>
            </a:extLst>
          </p:cNvPr>
          <p:cNvSpPr>
            <a:spLocks noGrp="1"/>
          </p:cNvSpPr>
          <p:nvPr>
            <p:ph type="title"/>
          </p:nvPr>
        </p:nvSpPr>
        <p:spPr>
          <a:xfrm>
            <a:off x="149290" y="147888"/>
            <a:ext cx="6879252" cy="581575"/>
          </a:xfrm>
        </p:spPr>
        <p:txBody>
          <a:bodyPr/>
          <a:lstStyle/>
          <a:p>
            <a:r>
              <a:rPr lang="en-US" dirty="0"/>
              <a:t>Specific Issues – size of fact table</a:t>
            </a:r>
          </a:p>
        </p:txBody>
      </p:sp>
      <p:sp>
        <p:nvSpPr>
          <p:cNvPr id="3" name="Content Placeholder 2">
            <a:extLst>
              <a:ext uri="{FF2B5EF4-FFF2-40B4-BE49-F238E27FC236}">
                <a16:creationId xmlns:a16="http://schemas.microsoft.com/office/drawing/2014/main" id="{3E92527F-3475-4928-86E1-840B9F342101}"/>
              </a:ext>
            </a:extLst>
          </p:cNvPr>
          <p:cNvSpPr>
            <a:spLocks noGrp="1"/>
          </p:cNvSpPr>
          <p:nvPr>
            <p:ph idx="1"/>
          </p:nvPr>
        </p:nvSpPr>
        <p:spPr>
          <a:xfrm>
            <a:off x="149290" y="952292"/>
            <a:ext cx="8994710" cy="1174068"/>
          </a:xfrm>
        </p:spPr>
        <p:txBody>
          <a:bodyPr>
            <a:noAutofit/>
          </a:bodyPr>
          <a:lstStyle/>
          <a:p>
            <a:r>
              <a:rPr lang="en-US" sz="2200" dirty="0"/>
              <a:t>Depends on number of dimensions and grain of the fact table</a:t>
            </a:r>
          </a:p>
          <a:p>
            <a:r>
              <a:rPr lang="en-US" sz="2200" dirty="0"/>
              <a:t>Number of rows = product of number of possible values for each dimension associated with the fact table</a:t>
            </a:r>
          </a:p>
          <a:p>
            <a:endParaRPr lang="en-US" sz="2200" dirty="0"/>
          </a:p>
        </p:txBody>
      </p:sp>
      <p:pic>
        <p:nvPicPr>
          <p:cNvPr id="6" name="Picture 5" descr="A drawing shows an example of a star schema. The schema shows a SALES table in the middle with the following attributes. SALES, Product Code, which is a foreign key, Period Code, which is a foreign key, Store Code, which is a foreign key, Units Sold, Dollars Sold, Dollars Cost. Three tables are shown around the SALES table, with the following attributes. PRODUCT, Product code, which is the primary key, Description, Color, Size. PERIOD, Period code, which is the primary key, Year, Quarter, Month, Day. STORE, Store Code, which is the primary key, Store Name, City, Telephone, Manager. A many to one relationship is established between the foreign keys in the central SALES table to the respective primary keys of the same names in the surrounding tables.">
            <a:extLst>
              <a:ext uri="{FF2B5EF4-FFF2-40B4-BE49-F238E27FC236}">
                <a16:creationId xmlns:a16="http://schemas.microsoft.com/office/drawing/2014/main" id="{BE0069FB-36F4-4C34-A99F-744797AD996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20000" contrast="-40000"/>
                    </a14:imgEffect>
                  </a14:imgLayer>
                </a14:imgProps>
              </a:ext>
            </a:extLst>
          </a:blip>
          <a:stretch>
            <a:fillRect/>
          </a:stretch>
        </p:blipFill>
        <p:spPr>
          <a:xfrm>
            <a:off x="4460034" y="2332564"/>
            <a:ext cx="4571999" cy="3843411"/>
          </a:xfrm>
          <a:prstGeom prst="rect">
            <a:avLst/>
          </a:prstGeom>
        </p:spPr>
      </p:pic>
      <p:sp>
        <p:nvSpPr>
          <p:cNvPr id="7" name="Rectangle 6">
            <a:extLst>
              <a:ext uri="{FF2B5EF4-FFF2-40B4-BE49-F238E27FC236}">
                <a16:creationId xmlns:a16="http://schemas.microsoft.com/office/drawing/2014/main" id="{47EB7E5C-C240-4EA5-8C17-C7E96C568610}"/>
              </a:ext>
            </a:extLst>
          </p:cNvPr>
          <p:cNvSpPr/>
          <p:nvPr/>
        </p:nvSpPr>
        <p:spPr>
          <a:xfrm>
            <a:off x="12553" y="2369470"/>
            <a:ext cx="4572000" cy="3477875"/>
          </a:xfrm>
          <a:prstGeom prst="rect">
            <a:avLst/>
          </a:prstGeom>
        </p:spPr>
        <p:txBody>
          <a:bodyPr>
            <a:spAutoFit/>
          </a:bodyPr>
          <a:lstStyle/>
          <a:p>
            <a:pPr marL="342900" indent="-342900">
              <a:buFont typeface="Arial" panose="020B0604020202020204" pitchFamily="34" charset="0"/>
              <a:buChar char="•"/>
            </a:pPr>
            <a:r>
              <a:rPr lang="en-US" sz="2000" dirty="0">
                <a:latin typeface="Arial Nova" panose="020B0504020202020204" pitchFamily="34" charset="0"/>
              </a:rPr>
              <a:t>Example: Assume the following:</a:t>
            </a:r>
          </a:p>
          <a:p>
            <a:pPr marL="742950" lvl="1" indent="-285750">
              <a:buFont typeface="Arial" panose="020B0604020202020204" pitchFamily="34" charset="0"/>
              <a:buChar char="•"/>
            </a:pPr>
            <a:r>
              <a:rPr lang="en-US" sz="2000" dirty="0">
                <a:latin typeface="Arial Nova" panose="020B0504020202020204" pitchFamily="34" charset="0"/>
              </a:rPr>
              <a:t>Total number of stores = 1,000</a:t>
            </a:r>
          </a:p>
          <a:p>
            <a:pPr marL="742950" lvl="1" indent="-285750">
              <a:buFont typeface="Arial" panose="020B0604020202020204" pitchFamily="34" charset="0"/>
              <a:buChar char="•"/>
            </a:pPr>
            <a:r>
              <a:rPr lang="en-US" sz="2000" dirty="0">
                <a:latin typeface="Arial Nova" panose="020B0504020202020204" pitchFamily="34" charset="0"/>
              </a:rPr>
              <a:t>Total number of products = 5,000</a:t>
            </a:r>
          </a:p>
          <a:p>
            <a:pPr marL="742950" lvl="1" indent="-285750">
              <a:buFont typeface="Arial" panose="020B0604020202020204" pitchFamily="34" charset="0"/>
              <a:buChar char="•"/>
            </a:pPr>
            <a:r>
              <a:rPr lang="en-US" sz="2000" dirty="0">
                <a:latin typeface="Arial Nova" panose="020B0504020202020204" pitchFamily="34" charset="0"/>
              </a:rPr>
              <a:t>Total number of periods = 24 (two years’ worth of monthly data)</a:t>
            </a:r>
          </a:p>
          <a:p>
            <a:pPr marL="342900" indent="-342900">
              <a:buFont typeface="Arial" panose="020B0604020202020204" pitchFamily="34" charset="0"/>
              <a:buChar char="•"/>
            </a:pPr>
            <a:r>
              <a:rPr lang="en-US" sz="2000" dirty="0">
                <a:latin typeface="Arial Nova" panose="020B0504020202020204" pitchFamily="34" charset="0"/>
              </a:rPr>
              <a:t>Total rows calculated as follows:</a:t>
            </a:r>
          </a:p>
          <a:p>
            <a:pPr marL="742950" lvl="1" indent="-285750">
              <a:buFont typeface="Arial" panose="020B0604020202020204" pitchFamily="34" charset="0"/>
              <a:buChar char="•"/>
            </a:pPr>
            <a:r>
              <a:rPr lang="en-US" sz="2000" dirty="0">
                <a:latin typeface="Arial Nova" panose="020B0504020202020204" pitchFamily="34" charset="0"/>
              </a:rPr>
              <a:t>Total rows = 1,000 stores × 5,000 active products × 24 months = 120,000,000 rows</a:t>
            </a:r>
          </a:p>
        </p:txBody>
      </p:sp>
    </p:spTree>
    <p:extLst>
      <p:ext uri="{BB962C8B-B14F-4D97-AF65-F5344CB8AC3E}">
        <p14:creationId xmlns:p14="http://schemas.microsoft.com/office/powerpoint/2010/main" val="593748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7512B4-A8CB-4335-A1DB-EC3B2B8CC911}"/>
              </a:ext>
            </a:extLst>
          </p:cNvPr>
          <p:cNvSpPr>
            <a:spLocks noGrp="1"/>
          </p:cNvSpPr>
          <p:nvPr>
            <p:ph idx="1"/>
          </p:nvPr>
        </p:nvSpPr>
        <p:spPr>
          <a:xfrm>
            <a:off x="149224" y="1008034"/>
            <a:ext cx="8994775" cy="958617"/>
          </a:xfrm>
        </p:spPr>
        <p:txBody>
          <a:bodyPr>
            <a:normAutofit/>
          </a:bodyPr>
          <a:lstStyle/>
          <a:p>
            <a:r>
              <a:rPr lang="en-US" sz="2200" dirty="0"/>
              <a:t>Fact tables contain time-period data, so date dimensions are important.</a:t>
            </a:r>
          </a:p>
          <a:p>
            <a:endParaRPr lang="en-US" sz="2200" dirty="0"/>
          </a:p>
        </p:txBody>
      </p:sp>
      <p:sp>
        <p:nvSpPr>
          <p:cNvPr id="4" name="Title 1">
            <a:extLst>
              <a:ext uri="{FF2B5EF4-FFF2-40B4-BE49-F238E27FC236}">
                <a16:creationId xmlns:a16="http://schemas.microsoft.com/office/drawing/2014/main" id="{4F8D0BF7-2A1A-4586-BA6B-324EFFA26042}"/>
              </a:ext>
            </a:extLst>
          </p:cNvPr>
          <p:cNvSpPr>
            <a:spLocks noGrp="1"/>
          </p:cNvSpPr>
          <p:nvPr>
            <p:ph type="title"/>
          </p:nvPr>
        </p:nvSpPr>
        <p:spPr>
          <a:xfrm>
            <a:off x="149225" y="182441"/>
            <a:ext cx="6878638" cy="582613"/>
          </a:xfrm>
        </p:spPr>
        <p:txBody>
          <a:bodyPr/>
          <a:lstStyle/>
          <a:p>
            <a:r>
              <a:rPr lang="en-US" dirty="0"/>
              <a:t>Specific Issues – modeling dates</a:t>
            </a:r>
          </a:p>
        </p:txBody>
      </p:sp>
      <p:pic>
        <p:nvPicPr>
          <p:cNvPr id="5" name="Picture 4" descr="A model for the date dimension. The schema shows four tables with the following attributes. Country Calendar Table. Date key, which is a primary key and a foreign key, Country, which is a primary key, Holiday flag, Religious holiday flag, Civil holiday flag, Holiday name, Season. Event Table. Event key, which is a primary key, Event type, Event name. Date Dimension Table. Date key, which is a primary key, Full date, Day of week, Day number in month, Day number overall, Week number in year, Week number overall, Month, Month number overall, Quarter, Fiscal period, Weekday flag, Last day in month flag, Event key, which is a foreign key. Fact Table. Date key, which a primary key and a foreign key, Other Primary Keys, for example Country Primary Key is needed if facts relate to a specific country, Fact 1. The following one to many relationships are established between the attributes in the tables,&#10;Date key in Data dimension table to Date key in Fact table.&#10;Date key in Data dimension table to Date key in Country Calendar table.&#10;Event key in Event table to Event key in Date Dimension table.">
            <a:extLst>
              <a:ext uri="{FF2B5EF4-FFF2-40B4-BE49-F238E27FC236}">
                <a16:creationId xmlns:a16="http://schemas.microsoft.com/office/drawing/2014/main" id="{028028F4-0848-4308-918C-8A720957BFF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40000" contrast="-40000"/>
                    </a14:imgEffect>
                  </a14:imgLayer>
                </a14:imgProps>
              </a:ext>
            </a:extLst>
          </a:blip>
          <a:stretch>
            <a:fillRect/>
          </a:stretch>
        </p:blipFill>
        <p:spPr>
          <a:xfrm>
            <a:off x="547817" y="2004107"/>
            <a:ext cx="8048365" cy="3845859"/>
          </a:xfrm>
          <a:prstGeom prst="rect">
            <a:avLst/>
          </a:prstGeom>
        </p:spPr>
      </p:pic>
    </p:spTree>
    <p:extLst>
      <p:ext uri="{BB962C8B-B14F-4D97-AF65-F5344CB8AC3E}">
        <p14:creationId xmlns:p14="http://schemas.microsoft.com/office/powerpoint/2010/main" val="2871710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D1303-6400-475F-8D81-0B625FFAC7EF}"/>
              </a:ext>
            </a:extLst>
          </p:cNvPr>
          <p:cNvSpPr>
            <a:spLocks noGrp="1"/>
          </p:cNvSpPr>
          <p:nvPr>
            <p:ph type="title"/>
          </p:nvPr>
        </p:nvSpPr>
        <p:spPr/>
        <p:txBody>
          <a:bodyPr>
            <a:normAutofit fontScale="90000"/>
          </a:bodyPr>
          <a:lstStyle/>
          <a:p>
            <a:r>
              <a:rPr lang="en-US" dirty="0"/>
              <a:t>Snowflake Schema – Normalizing Dimension Tables</a:t>
            </a:r>
          </a:p>
        </p:txBody>
      </p:sp>
      <p:sp>
        <p:nvSpPr>
          <p:cNvPr id="3" name="Content Placeholder 2">
            <a:extLst>
              <a:ext uri="{FF2B5EF4-FFF2-40B4-BE49-F238E27FC236}">
                <a16:creationId xmlns:a16="http://schemas.microsoft.com/office/drawing/2014/main" id="{36259601-8F78-4706-80A7-73A1FC3D89E5}"/>
              </a:ext>
            </a:extLst>
          </p:cNvPr>
          <p:cNvSpPr>
            <a:spLocks noGrp="1"/>
          </p:cNvSpPr>
          <p:nvPr>
            <p:ph idx="1"/>
          </p:nvPr>
        </p:nvSpPr>
        <p:spPr/>
        <p:txBody>
          <a:bodyPr>
            <a:normAutofit/>
          </a:bodyPr>
          <a:lstStyle/>
          <a:p>
            <a:r>
              <a:rPr lang="en-US" sz="2400" dirty="0"/>
              <a:t>Multivalued Dimensions</a:t>
            </a:r>
          </a:p>
          <a:p>
            <a:pPr lvl="1"/>
            <a:r>
              <a:rPr lang="en-US" sz="2000" dirty="0"/>
              <a:t>Facts qualified by a set of values for the same business subject</a:t>
            </a:r>
          </a:p>
          <a:p>
            <a:pPr lvl="1"/>
            <a:r>
              <a:rPr lang="en-US" sz="2000" dirty="0"/>
              <a:t>Normalization involves creating a table for an associative entity between dimensions</a:t>
            </a:r>
          </a:p>
          <a:p>
            <a:r>
              <a:rPr lang="en-US" sz="2400" dirty="0"/>
              <a:t>Hierarchies</a:t>
            </a:r>
          </a:p>
          <a:p>
            <a:pPr lvl="1"/>
            <a:r>
              <a:rPr lang="en-US" sz="2000" dirty="0"/>
              <a:t>Sometimes a dimension forms a natural, fixed-depth hierarchy</a:t>
            </a:r>
          </a:p>
          <a:p>
            <a:pPr lvl="1"/>
            <a:r>
              <a:rPr lang="en-US" sz="2000" dirty="0"/>
              <a:t>Design options</a:t>
            </a:r>
          </a:p>
          <a:p>
            <a:pPr lvl="1"/>
            <a:r>
              <a:rPr lang="en-US" sz="2000" dirty="0"/>
              <a:t>Include all information for each level in a single denormalized table</a:t>
            </a:r>
          </a:p>
          <a:p>
            <a:pPr lvl="1"/>
            <a:r>
              <a:rPr lang="en-US" sz="2000" dirty="0"/>
              <a:t>Normalize the dimension into a nested set of 1:N table relationships</a:t>
            </a:r>
          </a:p>
          <a:p>
            <a:endParaRPr lang="en-US" sz="2400" dirty="0"/>
          </a:p>
        </p:txBody>
      </p:sp>
    </p:spTree>
    <p:extLst>
      <p:ext uri="{BB962C8B-B14F-4D97-AF65-F5344CB8AC3E}">
        <p14:creationId xmlns:p14="http://schemas.microsoft.com/office/powerpoint/2010/main" val="1004521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5F0FE-FECD-497E-A8D5-77A562641DE0}"/>
              </a:ext>
            </a:extLst>
          </p:cNvPr>
          <p:cNvSpPr>
            <a:spLocks noGrp="1"/>
          </p:cNvSpPr>
          <p:nvPr>
            <p:ph type="title"/>
          </p:nvPr>
        </p:nvSpPr>
        <p:spPr/>
        <p:txBody>
          <a:bodyPr>
            <a:normAutofit fontScale="90000"/>
          </a:bodyPr>
          <a:lstStyle/>
          <a:p>
            <a:r>
              <a:rPr lang="en-US" dirty="0"/>
              <a:t>Example: Normalizing Multivalued Dimensional Tables</a:t>
            </a:r>
          </a:p>
        </p:txBody>
      </p:sp>
      <p:sp>
        <p:nvSpPr>
          <p:cNvPr id="3" name="Content Placeholder 2">
            <a:extLst>
              <a:ext uri="{FF2B5EF4-FFF2-40B4-BE49-F238E27FC236}">
                <a16:creationId xmlns:a16="http://schemas.microsoft.com/office/drawing/2014/main" id="{14FBB0A0-E82B-4CB7-B9E4-7FF4B6512C7C}"/>
              </a:ext>
            </a:extLst>
          </p:cNvPr>
          <p:cNvSpPr>
            <a:spLocks noGrp="1"/>
          </p:cNvSpPr>
          <p:nvPr>
            <p:ph idx="1"/>
          </p:nvPr>
        </p:nvSpPr>
        <p:spPr>
          <a:xfrm>
            <a:off x="149289" y="1206359"/>
            <a:ext cx="8770776" cy="1483053"/>
          </a:xfrm>
        </p:spPr>
        <p:txBody>
          <a:bodyPr>
            <a:normAutofit/>
          </a:bodyPr>
          <a:lstStyle/>
          <a:p>
            <a:r>
              <a:rPr lang="en-US" sz="2200" dirty="0"/>
              <a:t>A helper table is an associative entity that implements a M:N relationship between dimension and fact.</a:t>
            </a:r>
          </a:p>
          <a:p>
            <a:pPr marL="0" indent="0">
              <a:buNone/>
            </a:pPr>
            <a:endParaRPr lang="en-US" sz="2200" dirty="0"/>
          </a:p>
          <a:p>
            <a:endParaRPr lang="en-US" sz="2200" dirty="0"/>
          </a:p>
        </p:txBody>
      </p:sp>
      <p:pic>
        <p:nvPicPr>
          <p:cNvPr id="4" name="Picture 3" descr="An illustration depicts multivalued dimension. The illustration shows a Finances Fact table with the following attributes.&#10;Date key, which is a primary key and a foreign key, Patient key, which is a primary key and a foreign key, Provider key, which is a primary key and a foreign key, Location key, which is a primary key and a foreign key, Service performed key, which is a primary key and a foreign key, Diagnosis group key, which is a primary key and a foreign key, Payer key, which is a primary key and a foreign key, Amount charged, Amount paid. A Diagnosis Dimension table and a Diagnosis Group table are depicted as dimension tables, with a mandatory single to optional many relationship between the two. Diagnosis Group table is marked as Helper table. The attributes of the two tables are as follows. Diagnosis Dimension Table, Diagnosis key, which is a primary key, Description, Type, Category. Diagnosis Group Table, Diagnosis key, which is a primary key and a foreign key, Diagnosis group key, which is a primary key and a foreign key, Weight factor. The Diagnosis group key in Finances Fact table is a foreign key for the primary key in Diagnosis Group table, represented by a mandatory single to mandatory many relationship. And all the foreign keys in Finances Fact table are linked to the primary key Diagnosis key in Diagnosis dimension table, represented by a broken line showing an optional many to mandatory many relationship.">
            <a:extLst>
              <a:ext uri="{FF2B5EF4-FFF2-40B4-BE49-F238E27FC236}">
                <a16:creationId xmlns:a16="http://schemas.microsoft.com/office/drawing/2014/main" id="{ABFD2B15-B78B-4D15-A68A-A3BF6E24672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40000" contrast="-40000"/>
                    </a14:imgEffect>
                  </a14:imgLayer>
                </a14:imgProps>
              </a:ext>
            </a:extLst>
          </a:blip>
          <a:stretch>
            <a:fillRect/>
          </a:stretch>
        </p:blipFill>
        <p:spPr>
          <a:xfrm>
            <a:off x="687985" y="2175907"/>
            <a:ext cx="7693383" cy="3985363"/>
          </a:xfrm>
          <a:prstGeom prst="rect">
            <a:avLst/>
          </a:prstGeom>
        </p:spPr>
      </p:pic>
    </p:spTree>
    <p:extLst>
      <p:ext uri="{BB962C8B-B14F-4D97-AF65-F5344CB8AC3E}">
        <p14:creationId xmlns:p14="http://schemas.microsoft.com/office/powerpoint/2010/main" val="3917080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5F0FE-FECD-497E-A8D5-77A562641DE0}"/>
              </a:ext>
            </a:extLst>
          </p:cNvPr>
          <p:cNvSpPr>
            <a:spLocks noGrp="1"/>
          </p:cNvSpPr>
          <p:nvPr>
            <p:ph type="title"/>
          </p:nvPr>
        </p:nvSpPr>
        <p:spPr>
          <a:xfrm>
            <a:off x="149290" y="276841"/>
            <a:ext cx="6879252" cy="581575"/>
          </a:xfrm>
        </p:spPr>
        <p:txBody>
          <a:bodyPr>
            <a:normAutofit fontScale="90000"/>
          </a:bodyPr>
          <a:lstStyle/>
          <a:p>
            <a:r>
              <a:rPr lang="en-US" dirty="0"/>
              <a:t>Example: Normalizing Dimensional Table Using Hierarchy</a:t>
            </a:r>
          </a:p>
        </p:txBody>
      </p:sp>
      <p:sp>
        <p:nvSpPr>
          <p:cNvPr id="3" name="Content Placeholder 2">
            <a:extLst>
              <a:ext uri="{FF2B5EF4-FFF2-40B4-BE49-F238E27FC236}">
                <a16:creationId xmlns:a16="http://schemas.microsoft.com/office/drawing/2014/main" id="{14FBB0A0-E82B-4CB7-B9E4-7FF4B6512C7C}"/>
              </a:ext>
            </a:extLst>
          </p:cNvPr>
          <p:cNvSpPr>
            <a:spLocks noGrp="1"/>
          </p:cNvSpPr>
          <p:nvPr>
            <p:ph idx="1"/>
          </p:nvPr>
        </p:nvSpPr>
        <p:spPr>
          <a:xfrm>
            <a:off x="149289" y="1190729"/>
            <a:ext cx="8770776" cy="1483053"/>
          </a:xfrm>
        </p:spPr>
        <p:txBody>
          <a:bodyPr>
            <a:normAutofit/>
          </a:bodyPr>
          <a:lstStyle/>
          <a:p>
            <a:r>
              <a:rPr lang="en-US" sz="2200" dirty="0"/>
              <a:t>Dimension hierarchies help to provide levels of aggregation for users wanting summary information in a data warehouse.</a:t>
            </a:r>
          </a:p>
          <a:p>
            <a:pPr marL="0" indent="0">
              <a:buNone/>
            </a:pPr>
            <a:endParaRPr lang="en-US" sz="2200" dirty="0"/>
          </a:p>
          <a:p>
            <a:endParaRPr lang="en-US" sz="2200" dirty="0"/>
          </a:p>
        </p:txBody>
      </p:sp>
      <p:pic>
        <p:nvPicPr>
          <p:cNvPr id="5" name="Picture 4" descr="An illustration depicts fixed product hierarchy. The product hierarchy shows four tables depicted from left to right with a mandatory single to mandatory many relationship from one table to another. The tables are in the following hierarchy. Product Group, Product Category, Product Family, Product Dimension. Product Dimension is in a mandatory one to mandatory many relationship with Fact Table which is shown outside the hierarchy.">
            <a:extLst>
              <a:ext uri="{FF2B5EF4-FFF2-40B4-BE49-F238E27FC236}">
                <a16:creationId xmlns:a16="http://schemas.microsoft.com/office/drawing/2014/main" id="{5B912874-B4C3-49CD-BCEE-02CB15116E5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20000" contrast="-40000"/>
                    </a14:imgEffect>
                  </a14:imgLayer>
                </a14:imgProps>
              </a:ext>
            </a:extLst>
          </a:blip>
          <a:stretch>
            <a:fillRect/>
          </a:stretch>
        </p:blipFill>
        <p:spPr>
          <a:xfrm>
            <a:off x="81007" y="2060953"/>
            <a:ext cx="8860449" cy="3918287"/>
          </a:xfrm>
          <a:prstGeom prst="rect">
            <a:avLst/>
          </a:prstGeom>
        </p:spPr>
      </p:pic>
    </p:spTree>
    <p:extLst>
      <p:ext uri="{BB962C8B-B14F-4D97-AF65-F5344CB8AC3E}">
        <p14:creationId xmlns:p14="http://schemas.microsoft.com/office/powerpoint/2010/main" val="1390590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5F0FE-FECD-497E-A8D5-77A562641DE0}"/>
              </a:ext>
            </a:extLst>
          </p:cNvPr>
          <p:cNvSpPr>
            <a:spLocks noGrp="1"/>
          </p:cNvSpPr>
          <p:nvPr>
            <p:ph type="title"/>
          </p:nvPr>
        </p:nvSpPr>
        <p:spPr>
          <a:xfrm>
            <a:off x="149290" y="276841"/>
            <a:ext cx="6879252" cy="581575"/>
          </a:xfrm>
        </p:spPr>
        <p:txBody>
          <a:bodyPr>
            <a:normAutofit fontScale="90000"/>
          </a:bodyPr>
          <a:lstStyle/>
          <a:p>
            <a:r>
              <a:rPr lang="en-US" dirty="0"/>
              <a:t>Example: Representing Hierarchical Relationships within a Dimension</a:t>
            </a:r>
          </a:p>
        </p:txBody>
      </p:sp>
      <p:pic>
        <p:nvPicPr>
          <p:cNvPr id="8" name="Picture 7">
            <a:extLst>
              <a:ext uri="{FF2B5EF4-FFF2-40B4-BE49-F238E27FC236}">
                <a16:creationId xmlns:a16="http://schemas.microsoft.com/office/drawing/2014/main" id="{4261F8D2-C10C-4ACD-8D8D-734D53AE5A43}"/>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Effect>
                      <a14:saturation sat="0"/>
                    </a14:imgEffect>
                    <a14:imgEffect>
                      <a14:brightnessContrast bright="20000" contrast="-40000"/>
                    </a14:imgEffect>
                  </a14:imgLayer>
                </a14:imgProps>
              </a:ext>
            </a:extLst>
          </a:blip>
          <a:srcRect b="2353"/>
          <a:stretch/>
        </p:blipFill>
        <p:spPr>
          <a:xfrm>
            <a:off x="712693" y="1129770"/>
            <a:ext cx="7530773" cy="5647548"/>
          </a:xfrm>
          <a:prstGeom prst="rect">
            <a:avLst/>
          </a:prstGeom>
        </p:spPr>
      </p:pic>
    </p:spTree>
    <p:extLst>
      <p:ext uri="{BB962C8B-B14F-4D97-AF65-F5344CB8AC3E}">
        <p14:creationId xmlns:p14="http://schemas.microsoft.com/office/powerpoint/2010/main" val="1008541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76BCD-F751-4C8A-A182-5E8518BFA2C5}"/>
              </a:ext>
            </a:extLst>
          </p:cNvPr>
          <p:cNvSpPr>
            <a:spLocks noGrp="1"/>
          </p:cNvSpPr>
          <p:nvPr>
            <p:ph type="title"/>
          </p:nvPr>
        </p:nvSpPr>
        <p:spPr>
          <a:xfrm>
            <a:off x="149290" y="222136"/>
            <a:ext cx="6879252" cy="581575"/>
          </a:xfrm>
        </p:spPr>
        <p:txBody>
          <a:bodyPr/>
          <a:lstStyle/>
          <a:p>
            <a:r>
              <a:rPr lang="en-US" dirty="0"/>
              <a:t>Multiple Fact Tables</a:t>
            </a:r>
          </a:p>
        </p:txBody>
      </p:sp>
      <p:sp>
        <p:nvSpPr>
          <p:cNvPr id="3" name="Content Placeholder 2">
            <a:extLst>
              <a:ext uri="{FF2B5EF4-FFF2-40B4-BE49-F238E27FC236}">
                <a16:creationId xmlns:a16="http://schemas.microsoft.com/office/drawing/2014/main" id="{5129EA2C-0CD5-4350-AA24-759CA3B37CDC}"/>
              </a:ext>
            </a:extLst>
          </p:cNvPr>
          <p:cNvSpPr>
            <a:spLocks noGrp="1"/>
          </p:cNvSpPr>
          <p:nvPr>
            <p:ph idx="1"/>
          </p:nvPr>
        </p:nvSpPr>
        <p:spPr>
          <a:xfrm>
            <a:off x="149289" y="897776"/>
            <a:ext cx="8770776" cy="851041"/>
          </a:xfrm>
        </p:spPr>
        <p:txBody>
          <a:bodyPr/>
          <a:lstStyle/>
          <a:p>
            <a:r>
              <a:rPr lang="en-US" sz="2200" dirty="0"/>
              <a:t>Two fact tables connect two star schemas. Conformed dimension is associated with multiple fact tables.</a:t>
            </a:r>
          </a:p>
          <a:p>
            <a:endParaRPr lang="en-US" dirty="0"/>
          </a:p>
        </p:txBody>
      </p:sp>
      <p:pic>
        <p:nvPicPr>
          <p:cNvPr id="5" name="Picture 4" descr="An illustration depicts confirmed dimensions. The illustration shows two related star schemas. The first on top has Sales as the fact Table and three exclusive dimension tables, depicted as follows. Store, Store key. Sales Product, Product key. Customer, Customer key. The second star schema at the bottom has Receipts as the fact table and three exclusive dimension tables, depicted as follows. Purchased Product, Product key. Warehouse, Warehouse key. Vendor, Vendor key. A confirmed dimension is depicted as Date, Date key which relates to both the fact keys.">
            <a:extLst>
              <a:ext uri="{FF2B5EF4-FFF2-40B4-BE49-F238E27FC236}">
                <a16:creationId xmlns:a16="http://schemas.microsoft.com/office/drawing/2014/main" id="{63CAF307-D2B4-45B8-BC5C-83941D42495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20000" contrast="-40000"/>
                    </a14:imgEffect>
                  </a14:imgLayer>
                </a14:imgProps>
              </a:ext>
            </a:extLst>
          </a:blip>
          <a:stretch>
            <a:fillRect/>
          </a:stretch>
        </p:blipFill>
        <p:spPr>
          <a:xfrm>
            <a:off x="728921" y="1748817"/>
            <a:ext cx="7285526" cy="4497758"/>
          </a:xfrm>
          <a:prstGeom prst="rect">
            <a:avLst/>
          </a:prstGeom>
        </p:spPr>
      </p:pic>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6F93DE9D-35CB-4C1D-B763-84DB5940D651}"/>
                  </a:ext>
                </a:extLst>
              </p14:cNvPr>
              <p14:cNvContentPartPr/>
              <p14:nvPr/>
            </p14:nvContentPartPr>
            <p14:xfrm>
              <a:off x="6368698" y="4325935"/>
              <a:ext cx="24120" cy="12600"/>
            </p14:xfrm>
          </p:contentPart>
        </mc:Choice>
        <mc:Fallback xmlns="">
          <p:pic>
            <p:nvPicPr>
              <p:cNvPr id="4" name="Ink 3">
                <a:extLst>
                  <a:ext uri="{FF2B5EF4-FFF2-40B4-BE49-F238E27FC236}">
                    <a16:creationId xmlns:a16="http://schemas.microsoft.com/office/drawing/2014/main" id="{6F93DE9D-35CB-4C1D-B763-84DB5940D651}"/>
                  </a:ext>
                </a:extLst>
              </p:cNvPr>
              <p:cNvPicPr/>
              <p:nvPr/>
            </p:nvPicPr>
            <p:blipFill>
              <a:blip r:embed="rId6"/>
              <a:stretch>
                <a:fillRect/>
              </a:stretch>
            </p:blipFill>
            <p:spPr>
              <a:xfrm>
                <a:off x="6364378" y="4321615"/>
                <a:ext cx="32760" cy="21240"/>
              </a:xfrm>
              <a:prstGeom prst="rect">
                <a:avLst/>
              </a:prstGeom>
            </p:spPr>
          </p:pic>
        </mc:Fallback>
      </mc:AlternateContent>
    </p:spTree>
    <p:extLst>
      <p:ext uri="{BB962C8B-B14F-4D97-AF65-F5344CB8AC3E}">
        <p14:creationId xmlns:p14="http://schemas.microsoft.com/office/powerpoint/2010/main" val="2475647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D5912-367A-4D10-A79E-D0C85EA84F33}"/>
              </a:ext>
            </a:extLst>
          </p:cNvPr>
          <p:cNvSpPr>
            <a:spLocks noGrp="1"/>
          </p:cNvSpPr>
          <p:nvPr>
            <p:ph type="title"/>
          </p:nvPr>
        </p:nvSpPr>
        <p:spPr/>
        <p:txBody>
          <a:bodyPr/>
          <a:lstStyle/>
          <a:p>
            <a:r>
              <a:rPr lang="en-US" dirty="0" err="1"/>
              <a:t>Factless</a:t>
            </a:r>
            <a:r>
              <a:rPr lang="en-US" dirty="0"/>
              <a:t> Fact Table</a:t>
            </a:r>
          </a:p>
        </p:txBody>
      </p:sp>
      <p:sp>
        <p:nvSpPr>
          <p:cNvPr id="3" name="Content Placeholder 2">
            <a:extLst>
              <a:ext uri="{FF2B5EF4-FFF2-40B4-BE49-F238E27FC236}">
                <a16:creationId xmlns:a16="http://schemas.microsoft.com/office/drawing/2014/main" id="{CF8F6EFD-DCFF-4C5E-9433-2F079108C2F7}"/>
              </a:ext>
            </a:extLst>
          </p:cNvPr>
          <p:cNvSpPr>
            <a:spLocks noGrp="1"/>
          </p:cNvSpPr>
          <p:nvPr>
            <p:ph idx="1"/>
          </p:nvPr>
        </p:nvSpPr>
        <p:spPr>
          <a:xfrm>
            <a:off x="149289" y="952324"/>
            <a:ext cx="8770776" cy="766633"/>
          </a:xfrm>
        </p:spPr>
        <p:txBody>
          <a:bodyPr>
            <a:normAutofit/>
          </a:bodyPr>
          <a:lstStyle/>
          <a:p>
            <a:r>
              <a:rPr lang="en-US" sz="2000" dirty="0"/>
              <a:t>No data in fact table, just keys associating dimension records. Fact table forms an n-</a:t>
            </a:r>
            <a:r>
              <a:rPr lang="en-US" sz="2000" dirty="0" err="1"/>
              <a:t>ary</a:t>
            </a:r>
            <a:r>
              <a:rPr lang="en-US" sz="2000" dirty="0"/>
              <a:t> relationship between dimensions</a:t>
            </a:r>
          </a:p>
          <a:p>
            <a:endParaRPr lang="en-US" sz="2400" dirty="0"/>
          </a:p>
        </p:txBody>
      </p:sp>
      <p:pic>
        <p:nvPicPr>
          <p:cNvPr id="6" name="Picture 5">
            <a:extLst>
              <a:ext uri="{FF2B5EF4-FFF2-40B4-BE49-F238E27FC236}">
                <a16:creationId xmlns:a16="http://schemas.microsoft.com/office/drawing/2014/main" id="{6918104E-87B9-44EC-AC26-E1CC2CD8F0CB}"/>
              </a:ext>
            </a:extLst>
          </p:cNvPr>
          <p:cNvPicPr>
            <a:picLocks noChangeAspect="1"/>
          </p:cNvPicPr>
          <p:nvPr/>
        </p:nvPicPr>
        <p:blipFill rotWithShape="1">
          <a:blip r:embed="rId3">
            <a:grayscl/>
            <a:extLst>
              <a:ext uri="{BEBA8EAE-BF5A-486C-A8C5-ECC9F3942E4B}">
                <a14:imgProps xmlns:a14="http://schemas.microsoft.com/office/drawing/2010/main">
                  <a14:imgLayer r:embed="rId4">
                    <a14:imgEffect>
                      <a14:sharpenSoften amount="50000"/>
                    </a14:imgEffect>
                    <a14:imgEffect>
                      <a14:brightnessContrast bright="20000" contrast="-40000"/>
                    </a14:imgEffect>
                  </a14:imgLayer>
                </a14:imgProps>
              </a:ext>
            </a:extLst>
          </a:blip>
          <a:srcRect l="4853" t="4196" r="29706" b="8902"/>
          <a:stretch/>
        </p:blipFill>
        <p:spPr>
          <a:xfrm>
            <a:off x="168340" y="1801906"/>
            <a:ext cx="4242295" cy="2640710"/>
          </a:xfrm>
          <a:prstGeom prst="rect">
            <a:avLst/>
          </a:prstGeom>
        </p:spPr>
      </p:pic>
      <p:sp>
        <p:nvSpPr>
          <p:cNvPr id="7" name="Rectangle 6">
            <a:extLst>
              <a:ext uri="{FF2B5EF4-FFF2-40B4-BE49-F238E27FC236}">
                <a16:creationId xmlns:a16="http://schemas.microsoft.com/office/drawing/2014/main" id="{2A5D2FFA-2690-4E60-8FA7-EB10A631750A}"/>
              </a:ext>
            </a:extLst>
          </p:cNvPr>
          <p:cNvSpPr/>
          <p:nvPr/>
        </p:nvSpPr>
        <p:spPr>
          <a:xfrm>
            <a:off x="4410635" y="2186481"/>
            <a:ext cx="2874652" cy="1015663"/>
          </a:xfrm>
          <a:prstGeom prst="rect">
            <a:avLst/>
          </a:prstGeom>
        </p:spPr>
        <p:txBody>
          <a:bodyPr wrap="square">
            <a:spAutoFit/>
          </a:bodyPr>
          <a:lstStyle/>
          <a:p>
            <a:r>
              <a:rPr lang="en-US" sz="2000" b="1" dirty="0" err="1">
                <a:latin typeface="FrutigerLTStd-Bold"/>
              </a:rPr>
              <a:t>Factless</a:t>
            </a:r>
            <a:r>
              <a:rPr lang="en-US" sz="2000" b="1" dirty="0">
                <a:latin typeface="FrutigerLTStd-Bold"/>
              </a:rPr>
              <a:t> fact table showing occurrence of an event</a:t>
            </a:r>
            <a:endParaRPr lang="en-US" sz="2000" dirty="0"/>
          </a:p>
        </p:txBody>
      </p:sp>
      <p:pic>
        <p:nvPicPr>
          <p:cNvPr id="9" name="Picture 8">
            <a:extLst>
              <a:ext uri="{FF2B5EF4-FFF2-40B4-BE49-F238E27FC236}">
                <a16:creationId xmlns:a16="http://schemas.microsoft.com/office/drawing/2014/main" id="{534F3A4F-8740-4B40-BB6E-B286E025CB03}"/>
              </a:ext>
            </a:extLst>
          </p:cNvPr>
          <p:cNvPicPr>
            <a:picLocks noChangeAspect="1"/>
          </p:cNvPicPr>
          <p:nvPr/>
        </p:nvPicPr>
        <p:blipFill rotWithShape="1">
          <a:blip r:embed="rId5">
            <a:grayscl/>
            <a:extLst>
              <a:ext uri="{BEBA8EAE-BF5A-486C-A8C5-ECC9F3942E4B}">
                <a14:imgProps xmlns:a14="http://schemas.microsoft.com/office/drawing/2010/main">
                  <a14:imgLayer r:embed="rId6">
                    <a14:imgEffect>
                      <a14:sharpenSoften amount="50000"/>
                    </a14:imgEffect>
                    <a14:imgEffect>
                      <a14:brightnessContrast bright="20000" contrast="-40000"/>
                    </a14:imgEffect>
                  </a14:imgLayer>
                </a14:imgProps>
              </a:ext>
            </a:extLst>
          </a:blip>
          <a:srcRect l="24412" t="5106" r="5589" b="9497"/>
          <a:stretch/>
        </p:blipFill>
        <p:spPr>
          <a:xfrm>
            <a:off x="4542039" y="4262718"/>
            <a:ext cx="4601961" cy="2447363"/>
          </a:xfrm>
          <a:prstGeom prst="rect">
            <a:avLst/>
          </a:prstGeom>
        </p:spPr>
      </p:pic>
      <p:sp>
        <p:nvSpPr>
          <p:cNvPr id="11" name="Rectangle 10">
            <a:extLst>
              <a:ext uri="{FF2B5EF4-FFF2-40B4-BE49-F238E27FC236}">
                <a16:creationId xmlns:a16="http://schemas.microsoft.com/office/drawing/2014/main" id="{1391C8FF-4D82-4554-8717-B5A1AC742235}"/>
              </a:ext>
            </a:extLst>
          </p:cNvPr>
          <p:cNvSpPr/>
          <p:nvPr/>
        </p:nvSpPr>
        <p:spPr>
          <a:xfrm>
            <a:off x="2528047" y="5209249"/>
            <a:ext cx="2874652" cy="707886"/>
          </a:xfrm>
          <a:prstGeom prst="rect">
            <a:avLst/>
          </a:prstGeom>
        </p:spPr>
        <p:txBody>
          <a:bodyPr wrap="square">
            <a:spAutoFit/>
          </a:bodyPr>
          <a:lstStyle/>
          <a:p>
            <a:r>
              <a:rPr lang="en-US" sz="2000" b="1" dirty="0" err="1">
                <a:latin typeface="FrutigerLTStd-Bold"/>
              </a:rPr>
              <a:t>Factless</a:t>
            </a:r>
            <a:r>
              <a:rPr lang="en-US" sz="2000" b="1" dirty="0">
                <a:latin typeface="FrutigerLTStd-Bold"/>
              </a:rPr>
              <a:t> fact table showing coverage</a:t>
            </a:r>
            <a:endParaRPr lang="en-US" sz="2000" dirty="0"/>
          </a:p>
        </p:txBody>
      </p:sp>
    </p:spTree>
    <p:extLst>
      <p:ext uri="{BB962C8B-B14F-4D97-AF65-F5344CB8AC3E}">
        <p14:creationId xmlns:p14="http://schemas.microsoft.com/office/powerpoint/2010/main" val="3414375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42D7D-C52F-4C23-90B3-A421D96FF994}"/>
              </a:ext>
            </a:extLst>
          </p:cNvPr>
          <p:cNvSpPr>
            <a:spLocks noGrp="1"/>
          </p:cNvSpPr>
          <p:nvPr>
            <p:ph type="title"/>
          </p:nvPr>
        </p:nvSpPr>
        <p:spPr>
          <a:xfrm>
            <a:off x="149290" y="276841"/>
            <a:ext cx="7138614" cy="581575"/>
          </a:xfrm>
        </p:spPr>
        <p:txBody>
          <a:bodyPr>
            <a:normAutofit fontScale="90000"/>
          </a:bodyPr>
          <a:lstStyle/>
          <a:p>
            <a:r>
              <a:rPr lang="en-US" dirty="0"/>
              <a:t>Slowly Changing Dimensions (</a:t>
            </a:r>
            <a:r>
              <a:rPr lang="en-US" i="1" u="sng" dirty="0">
                <a:solidFill>
                  <a:srgbClr val="FF0000"/>
                </a:solidFill>
              </a:rPr>
              <a:t>optional</a:t>
            </a:r>
            <a:r>
              <a:rPr lang="en-US" dirty="0"/>
              <a:t>)</a:t>
            </a:r>
            <a:br>
              <a:rPr lang="en-US" dirty="0"/>
            </a:br>
            <a:r>
              <a:rPr lang="en-US" altLang="en-US" sz="3100" dirty="0">
                <a:solidFill>
                  <a:schemeClr val="tx1">
                    <a:lumMod val="50000"/>
                    <a:lumOff val="50000"/>
                  </a:schemeClr>
                </a:solidFill>
              </a:rPr>
              <a:t>How to maintain knowledge of the past?</a:t>
            </a:r>
            <a:endParaRPr lang="en-US" dirty="0">
              <a:solidFill>
                <a:schemeClr val="tx1">
                  <a:lumMod val="50000"/>
                  <a:lumOff val="50000"/>
                </a:schemeClr>
              </a:solidFill>
            </a:endParaRPr>
          </a:p>
        </p:txBody>
      </p:sp>
      <p:sp>
        <p:nvSpPr>
          <p:cNvPr id="3" name="Content Placeholder 2">
            <a:extLst>
              <a:ext uri="{FF2B5EF4-FFF2-40B4-BE49-F238E27FC236}">
                <a16:creationId xmlns:a16="http://schemas.microsoft.com/office/drawing/2014/main" id="{44D5C798-66AC-48C4-BB0A-E8E11285774D}"/>
              </a:ext>
            </a:extLst>
          </p:cNvPr>
          <p:cNvSpPr>
            <a:spLocks noGrp="1"/>
          </p:cNvSpPr>
          <p:nvPr>
            <p:ph idx="1"/>
          </p:nvPr>
        </p:nvSpPr>
        <p:spPr/>
        <p:txBody>
          <a:bodyPr/>
          <a:lstStyle/>
          <a:p>
            <a:r>
              <a:rPr lang="en-US" altLang="en-US" sz="2200" dirty="0"/>
              <a:t>Kimball’s approaches:</a:t>
            </a:r>
          </a:p>
          <a:p>
            <a:pPr lvl="1"/>
            <a:r>
              <a:rPr lang="en-US" altLang="en-US" sz="2000" dirty="0"/>
              <a:t>Type 1: just replace old data with new (lose historical data)</a:t>
            </a:r>
          </a:p>
          <a:p>
            <a:pPr lvl="1"/>
            <a:r>
              <a:rPr lang="en-US" altLang="en-US" sz="2000" dirty="0"/>
              <a:t>Type 2: for each changing attribute, create a current value field and several old-valued fields (multivalued)</a:t>
            </a:r>
          </a:p>
          <a:p>
            <a:pPr lvl="1"/>
            <a:r>
              <a:rPr lang="en-US" altLang="en-US" sz="2000" dirty="0"/>
              <a:t>Type 3: create a new dimension table row each time the dimension object changes, with all dimension characteristics at the time of change — most common approach</a:t>
            </a:r>
          </a:p>
          <a:p>
            <a:endParaRPr lang="en-US" dirty="0"/>
          </a:p>
        </p:txBody>
      </p:sp>
      <p:pic>
        <p:nvPicPr>
          <p:cNvPr id="5" name="Picture 4">
            <a:extLst>
              <a:ext uri="{FF2B5EF4-FFF2-40B4-BE49-F238E27FC236}">
                <a16:creationId xmlns:a16="http://schemas.microsoft.com/office/drawing/2014/main" id="{0C980278-6F75-4A63-81FA-1BAF252D4152}"/>
              </a:ext>
            </a:extLst>
          </p:cNvPr>
          <p:cNvPicPr>
            <a:picLocks noChangeAspect="1"/>
          </p:cNvPicPr>
          <p:nvPr/>
        </p:nvPicPr>
        <p:blipFill rotWithShape="1">
          <a:blip r:embed="rId3">
            <a:grayscl/>
            <a:extLst>
              <a:ext uri="{BEBA8EAE-BF5A-486C-A8C5-ECC9F3942E4B}">
                <a14:imgProps xmlns:a14="http://schemas.microsoft.com/office/drawing/2010/main">
                  <a14:imgLayer r:embed="rId4">
                    <a14:imgEffect>
                      <a14:sharpenSoften amount="50000"/>
                    </a14:imgEffect>
                    <a14:imgEffect>
                      <a14:brightnessContrast bright="20000" contrast="-40000"/>
                    </a14:imgEffect>
                  </a14:imgLayer>
                </a14:imgProps>
              </a:ext>
            </a:extLst>
          </a:blip>
          <a:srcRect l="18572" t="5190" r="20330" b="9981"/>
          <a:stretch/>
        </p:blipFill>
        <p:spPr>
          <a:xfrm>
            <a:off x="223935" y="3970707"/>
            <a:ext cx="4729808" cy="2033138"/>
          </a:xfrm>
          <a:prstGeom prst="rect">
            <a:avLst/>
          </a:prstGeom>
        </p:spPr>
      </p:pic>
      <p:pic>
        <p:nvPicPr>
          <p:cNvPr id="7" name="Picture 6">
            <a:extLst>
              <a:ext uri="{FF2B5EF4-FFF2-40B4-BE49-F238E27FC236}">
                <a16:creationId xmlns:a16="http://schemas.microsoft.com/office/drawing/2014/main" id="{8F546B6C-1B9A-4E93-A935-0DA9DC6E4CE0}"/>
              </a:ext>
            </a:extLst>
          </p:cNvPr>
          <p:cNvPicPr>
            <a:picLocks noChangeAspect="1"/>
          </p:cNvPicPr>
          <p:nvPr/>
        </p:nvPicPr>
        <p:blipFill rotWithShape="1">
          <a:blip r:embed="rId5">
            <a:grayscl/>
            <a:extLst>
              <a:ext uri="{BEBA8EAE-BF5A-486C-A8C5-ECC9F3942E4B}">
                <a14:imgProps xmlns:a14="http://schemas.microsoft.com/office/drawing/2010/main">
                  <a14:imgLayer r:embed="rId6">
                    <a14:imgEffect>
                      <a14:sharpenSoften amount="50000"/>
                    </a14:imgEffect>
                    <a14:imgEffect>
                      <a14:brightnessContrast bright="20000" contrast="-40000"/>
                    </a14:imgEffect>
                  </a14:imgLayer>
                </a14:imgProps>
              </a:ext>
            </a:extLst>
          </a:blip>
          <a:srcRect l="15822" t="2699" r="14430" b="6934"/>
          <a:stretch/>
        </p:blipFill>
        <p:spPr>
          <a:xfrm>
            <a:off x="5207018" y="3347974"/>
            <a:ext cx="3787693" cy="3155265"/>
          </a:xfrm>
          <a:prstGeom prst="rect">
            <a:avLst/>
          </a:prstGeom>
        </p:spPr>
      </p:pic>
      <p:sp>
        <p:nvSpPr>
          <p:cNvPr id="8" name="TextBox 7">
            <a:extLst>
              <a:ext uri="{FF2B5EF4-FFF2-40B4-BE49-F238E27FC236}">
                <a16:creationId xmlns:a16="http://schemas.microsoft.com/office/drawing/2014/main" id="{A6B09152-28A2-4698-93E8-CFFA31EC5237}"/>
              </a:ext>
            </a:extLst>
          </p:cNvPr>
          <p:cNvSpPr txBox="1"/>
          <p:nvPr/>
        </p:nvSpPr>
        <p:spPr>
          <a:xfrm>
            <a:off x="879676" y="6003845"/>
            <a:ext cx="2870522" cy="400110"/>
          </a:xfrm>
          <a:prstGeom prst="rect">
            <a:avLst/>
          </a:prstGeom>
          <a:noFill/>
        </p:spPr>
        <p:txBody>
          <a:bodyPr wrap="square" rtlCol="0">
            <a:spAutoFit/>
          </a:bodyPr>
          <a:lstStyle/>
          <a:p>
            <a:r>
              <a:rPr lang="en-US" sz="2000" b="1" dirty="0"/>
              <a:t>(a) Example of Type 3</a:t>
            </a:r>
          </a:p>
        </p:txBody>
      </p:sp>
      <p:sp>
        <p:nvSpPr>
          <p:cNvPr id="9" name="TextBox 8">
            <a:extLst>
              <a:ext uri="{FF2B5EF4-FFF2-40B4-BE49-F238E27FC236}">
                <a16:creationId xmlns:a16="http://schemas.microsoft.com/office/drawing/2014/main" id="{BF406D75-8714-4483-84E2-7EE14A5EE225}"/>
              </a:ext>
            </a:extLst>
          </p:cNvPr>
          <p:cNvSpPr txBox="1"/>
          <p:nvPr/>
        </p:nvSpPr>
        <p:spPr>
          <a:xfrm>
            <a:off x="5518630" y="6441240"/>
            <a:ext cx="3401435" cy="400110"/>
          </a:xfrm>
          <a:prstGeom prst="rect">
            <a:avLst/>
          </a:prstGeom>
          <a:noFill/>
        </p:spPr>
        <p:txBody>
          <a:bodyPr wrap="square" rtlCol="0">
            <a:spAutoFit/>
          </a:bodyPr>
          <a:lstStyle/>
          <a:p>
            <a:r>
              <a:rPr lang="en-US" sz="2000" b="1" dirty="0"/>
              <a:t>(b) Dimension Segmentation</a:t>
            </a:r>
          </a:p>
        </p:txBody>
      </p:sp>
    </p:spTree>
    <p:extLst>
      <p:ext uri="{BB962C8B-B14F-4D97-AF65-F5344CB8AC3E}">
        <p14:creationId xmlns:p14="http://schemas.microsoft.com/office/powerpoint/2010/main" val="1550897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2849-1FEB-42FC-A0D2-1949BDCEA423}"/>
              </a:ext>
            </a:extLst>
          </p:cNvPr>
          <p:cNvSpPr>
            <a:spLocks noGrp="1"/>
          </p:cNvSpPr>
          <p:nvPr>
            <p:ph type="title"/>
          </p:nvPr>
        </p:nvSpPr>
        <p:spPr>
          <a:xfrm>
            <a:off x="125844" y="124442"/>
            <a:ext cx="6879252" cy="581575"/>
          </a:xfrm>
        </p:spPr>
        <p:txBody>
          <a:bodyPr/>
          <a:lstStyle/>
          <a:p>
            <a:r>
              <a:rPr lang="en-US" dirty="0"/>
              <a:t>Determining Dimensions and Facts</a:t>
            </a:r>
          </a:p>
        </p:txBody>
      </p:sp>
      <p:pic>
        <p:nvPicPr>
          <p:cNvPr id="5" name="Picture 4">
            <a:extLst>
              <a:ext uri="{FF2B5EF4-FFF2-40B4-BE49-F238E27FC236}">
                <a16:creationId xmlns:a16="http://schemas.microsoft.com/office/drawing/2014/main" id="{1411202F-A869-4A3F-A4B7-2FA40CD3F894}"/>
              </a:ext>
            </a:extLst>
          </p:cNvPr>
          <p:cNvPicPr>
            <a:picLocks noChangeAspect="1"/>
          </p:cNvPicPr>
          <p:nvPr/>
        </p:nvPicPr>
        <p:blipFill rotWithShape="1">
          <a:blip r:embed="rId3">
            <a:grayscl/>
            <a:extLst>
              <a:ext uri="{BEBA8EAE-BF5A-486C-A8C5-ECC9F3942E4B}">
                <a14:imgProps xmlns:a14="http://schemas.microsoft.com/office/drawing/2010/main">
                  <a14:imgLayer r:embed="rId4">
                    <a14:imgEffect>
                      <a14:sharpenSoften amount="50000"/>
                    </a14:imgEffect>
                    <a14:imgEffect>
                      <a14:brightnessContrast bright="20000" contrast="-40000"/>
                    </a14:imgEffect>
                  </a14:imgLayer>
                </a14:imgProps>
              </a:ext>
            </a:extLst>
          </a:blip>
          <a:srcRect l="26092" t="1" b="9437"/>
          <a:stretch/>
        </p:blipFill>
        <p:spPr>
          <a:xfrm>
            <a:off x="149290" y="780266"/>
            <a:ext cx="6062323" cy="2806129"/>
          </a:xfrm>
          <a:prstGeom prst="rect">
            <a:avLst/>
          </a:prstGeom>
        </p:spPr>
      </p:pic>
      <p:pic>
        <p:nvPicPr>
          <p:cNvPr id="7" name="Picture 6">
            <a:extLst>
              <a:ext uri="{FF2B5EF4-FFF2-40B4-BE49-F238E27FC236}">
                <a16:creationId xmlns:a16="http://schemas.microsoft.com/office/drawing/2014/main" id="{C18B52C6-29A2-4FB8-B537-3FE50803016E}"/>
              </a:ext>
            </a:extLst>
          </p:cNvPr>
          <p:cNvPicPr>
            <a:picLocks noChangeAspect="1"/>
          </p:cNvPicPr>
          <p:nvPr/>
        </p:nvPicPr>
        <p:blipFill rotWithShape="1">
          <a:blip r:embed="rId5">
            <a:grayscl/>
            <a:extLst>
              <a:ext uri="{BEBA8EAE-BF5A-486C-A8C5-ECC9F3942E4B}">
                <a14:imgProps xmlns:a14="http://schemas.microsoft.com/office/drawing/2010/main">
                  <a14:imgLayer r:embed="rId6">
                    <a14:imgEffect>
                      <a14:sharpenSoften amount="50000"/>
                    </a14:imgEffect>
                    <a14:imgEffect>
                      <a14:brightnessContrast bright="20000" contrast="-40000"/>
                    </a14:imgEffect>
                  </a14:imgLayer>
                </a14:imgProps>
              </a:ext>
            </a:extLst>
          </a:blip>
          <a:srcRect l="1126" t="2298" r="24768" b="6603"/>
          <a:stretch/>
        </p:blipFill>
        <p:spPr>
          <a:xfrm>
            <a:off x="4067503" y="3623733"/>
            <a:ext cx="5044967" cy="3203199"/>
          </a:xfrm>
          <a:prstGeom prst="rect">
            <a:avLst/>
          </a:prstGeom>
        </p:spPr>
      </p:pic>
      <p:sp>
        <p:nvSpPr>
          <p:cNvPr id="8" name="TextBox 7">
            <a:extLst>
              <a:ext uri="{FF2B5EF4-FFF2-40B4-BE49-F238E27FC236}">
                <a16:creationId xmlns:a16="http://schemas.microsoft.com/office/drawing/2014/main" id="{0F7EBB7A-0ACF-4C7C-9663-0AEC7E819FF1}"/>
              </a:ext>
            </a:extLst>
          </p:cNvPr>
          <p:cNvSpPr txBox="1"/>
          <p:nvPr/>
        </p:nvSpPr>
        <p:spPr>
          <a:xfrm>
            <a:off x="6211613" y="1651057"/>
            <a:ext cx="2900857" cy="1015663"/>
          </a:xfrm>
          <a:prstGeom prst="rect">
            <a:avLst/>
          </a:prstGeom>
          <a:noFill/>
        </p:spPr>
        <p:txBody>
          <a:bodyPr wrap="square" rtlCol="0">
            <a:spAutoFit/>
          </a:bodyPr>
          <a:lstStyle/>
          <a:p>
            <a:r>
              <a:rPr lang="en-US" sz="2000" b="1" dirty="0"/>
              <a:t>(a) fact-qualifier matrix for sales and customer service tracking</a:t>
            </a:r>
          </a:p>
        </p:txBody>
      </p:sp>
      <p:sp>
        <p:nvSpPr>
          <p:cNvPr id="9" name="TextBox 8">
            <a:extLst>
              <a:ext uri="{FF2B5EF4-FFF2-40B4-BE49-F238E27FC236}">
                <a16:creationId xmlns:a16="http://schemas.microsoft.com/office/drawing/2014/main" id="{CEE0EBFD-3679-42C5-9CBA-AFEB6B858A20}"/>
              </a:ext>
            </a:extLst>
          </p:cNvPr>
          <p:cNvSpPr txBox="1"/>
          <p:nvPr/>
        </p:nvSpPr>
        <p:spPr>
          <a:xfrm>
            <a:off x="851338" y="4869388"/>
            <a:ext cx="3518820" cy="707886"/>
          </a:xfrm>
          <a:prstGeom prst="rect">
            <a:avLst/>
          </a:prstGeom>
          <a:noFill/>
        </p:spPr>
        <p:txBody>
          <a:bodyPr wrap="square" rtlCol="0">
            <a:spAutoFit/>
          </a:bodyPr>
          <a:lstStyle/>
          <a:p>
            <a:r>
              <a:rPr lang="en-US" sz="2000" b="1" dirty="0"/>
              <a:t>(b) Star schema for sales and customer service tracking</a:t>
            </a:r>
          </a:p>
        </p:txBody>
      </p:sp>
    </p:spTree>
    <p:extLst>
      <p:ext uri="{BB962C8B-B14F-4D97-AF65-F5344CB8AC3E}">
        <p14:creationId xmlns:p14="http://schemas.microsoft.com/office/powerpoint/2010/main" val="29499450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16A8F-4334-46D8-A644-C9EE51E79FEE}"/>
              </a:ext>
            </a:extLst>
          </p:cNvPr>
          <p:cNvSpPr>
            <a:spLocks noGrp="1"/>
          </p:cNvSpPr>
          <p:nvPr>
            <p:ph type="title"/>
          </p:nvPr>
        </p:nvSpPr>
        <p:spPr>
          <a:xfrm>
            <a:off x="149290" y="159610"/>
            <a:ext cx="7095572" cy="581575"/>
          </a:xfrm>
        </p:spPr>
        <p:txBody>
          <a:bodyPr>
            <a:noAutofit/>
          </a:bodyPr>
          <a:lstStyle/>
          <a:p>
            <a:r>
              <a:rPr lang="en-US" sz="2400" dirty="0"/>
              <a:t>10 Essential Rules for Dimensional Modeling </a:t>
            </a:r>
          </a:p>
        </p:txBody>
      </p:sp>
      <p:pic>
        <p:nvPicPr>
          <p:cNvPr id="4" name="Picture 3">
            <a:extLst>
              <a:ext uri="{FF2B5EF4-FFF2-40B4-BE49-F238E27FC236}">
                <a16:creationId xmlns:a16="http://schemas.microsoft.com/office/drawing/2014/main" id="{E7279902-9421-45B4-BB46-BD4EB367163C}"/>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586413" y="854427"/>
            <a:ext cx="7869107" cy="5716238"/>
          </a:xfrm>
          <a:prstGeom prst="rect">
            <a:avLst/>
          </a:prstGeom>
        </p:spPr>
      </p:pic>
    </p:spTree>
    <p:extLst>
      <p:ext uri="{BB962C8B-B14F-4D97-AF65-F5344CB8AC3E}">
        <p14:creationId xmlns:p14="http://schemas.microsoft.com/office/powerpoint/2010/main" val="918462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FF4A6-146F-4BD1-858D-5A0A45A7FE76}"/>
              </a:ext>
            </a:extLst>
          </p:cNvPr>
          <p:cNvSpPr>
            <a:spLocks noGrp="1"/>
          </p:cNvSpPr>
          <p:nvPr>
            <p:ph type="title"/>
          </p:nvPr>
        </p:nvSpPr>
        <p:spPr/>
        <p:txBody>
          <a:bodyPr/>
          <a:lstStyle/>
          <a:p>
            <a:r>
              <a:rPr lang="en-US" dirty="0"/>
              <a:t>The Process of Data Analysis</a:t>
            </a:r>
          </a:p>
        </p:txBody>
      </p:sp>
      <p:sp>
        <p:nvSpPr>
          <p:cNvPr id="3" name="Content Placeholder 2">
            <a:extLst>
              <a:ext uri="{FF2B5EF4-FFF2-40B4-BE49-F238E27FC236}">
                <a16:creationId xmlns:a16="http://schemas.microsoft.com/office/drawing/2014/main" id="{A4E0068C-59F4-45BE-9A55-81F5961D4934}"/>
              </a:ext>
            </a:extLst>
          </p:cNvPr>
          <p:cNvSpPr>
            <a:spLocks noGrp="1"/>
          </p:cNvSpPr>
          <p:nvPr>
            <p:ph idx="1"/>
          </p:nvPr>
        </p:nvSpPr>
        <p:spPr/>
        <p:txBody>
          <a:bodyPr/>
          <a:lstStyle/>
          <a:p>
            <a:r>
              <a:rPr lang="en-US" dirty="0"/>
              <a:t>Accessing data sources</a:t>
            </a:r>
          </a:p>
          <a:p>
            <a:r>
              <a:rPr lang="en-US" dirty="0"/>
              <a:t>Combining tables</a:t>
            </a:r>
          </a:p>
          <a:p>
            <a:r>
              <a:rPr lang="en-US" dirty="0"/>
              <a:t>Transforming variables and cleaning data</a:t>
            </a:r>
          </a:p>
          <a:p>
            <a:r>
              <a:rPr lang="en-US" dirty="0"/>
              <a:t>Exploring and describing data</a:t>
            </a:r>
          </a:p>
          <a:p>
            <a:r>
              <a:rPr lang="en-US" dirty="0"/>
              <a:t>Visualizing patterns in the data</a:t>
            </a:r>
          </a:p>
          <a:p>
            <a:r>
              <a:rPr lang="en-US" dirty="0"/>
              <a:t>Analyzing and modeling data</a:t>
            </a:r>
          </a:p>
          <a:p>
            <a:endParaRPr lang="en-US" dirty="0"/>
          </a:p>
        </p:txBody>
      </p:sp>
    </p:spTree>
    <p:extLst>
      <p:ext uri="{BB962C8B-B14F-4D97-AF65-F5344CB8AC3E}">
        <p14:creationId xmlns:p14="http://schemas.microsoft.com/office/powerpoint/2010/main" val="1940983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3A83D-44F0-4602-A24B-4C2FA3C44B83}"/>
              </a:ext>
            </a:extLst>
          </p:cNvPr>
          <p:cNvSpPr>
            <a:spLocks noGrp="1"/>
          </p:cNvSpPr>
          <p:nvPr>
            <p:ph type="title"/>
          </p:nvPr>
        </p:nvSpPr>
        <p:spPr/>
        <p:txBody>
          <a:bodyPr/>
          <a:lstStyle/>
          <a:p>
            <a:r>
              <a:rPr lang="en-US" dirty="0"/>
              <a:t>Common Data Formats</a:t>
            </a:r>
          </a:p>
        </p:txBody>
      </p:sp>
      <p:sp>
        <p:nvSpPr>
          <p:cNvPr id="3" name="Content Placeholder 2">
            <a:extLst>
              <a:ext uri="{FF2B5EF4-FFF2-40B4-BE49-F238E27FC236}">
                <a16:creationId xmlns:a16="http://schemas.microsoft.com/office/drawing/2014/main" id="{6D3CF930-4DDB-49DD-A1CF-5508B06A226D}"/>
              </a:ext>
            </a:extLst>
          </p:cNvPr>
          <p:cNvSpPr>
            <a:spLocks noGrp="1"/>
          </p:cNvSpPr>
          <p:nvPr>
            <p:ph idx="1"/>
          </p:nvPr>
        </p:nvSpPr>
        <p:spPr>
          <a:xfrm>
            <a:off x="149289" y="1053284"/>
            <a:ext cx="8770776" cy="900777"/>
          </a:xfrm>
        </p:spPr>
        <p:txBody>
          <a:bodyPr>
            <a:normAutofit/>
          </a:bodyPr>
          <a:lstStyle/>
          <a:p>
            <a:r>
              <a:rPr lang="en-US" sz="2200" dirty="0"/>
              <a:t>Tableau Prep can read and use data from a variety of different formats.</a:t>
            </a:r>
          </a:p>
        </p:txBody>
      </p:sp>
      <p:pic>
        <p:nvPicPr>
          <p:cNvPr id="4" name="Picture 3">
            <a:extLst>
              <a:ext uri="{FF2B5EF4-FFF2-40B4-BE49-F238E27FC236}">
                <a16:creationId xmlns:a16="http://schemas.microsoft.com/office/drawing/2014/main" id="{B208EE43-C24F-4DCE-9F7E-85A434921F2F}"/>
              </a:ext>
            </a:extLst>
          </p:cNvPr>
          <p:cNvPicPr>
            <a:picLocks noChangeAspect="1"/>
          </p:cNvPicPr>
          <p:nvPr/>
        </p:nvPicPr>
        <p:blipFill>
          <a:blip r:embed="rId2"/>
          <a:stretch>
            <a:fillRect/>
          </a:stretch>
        </p:blipFill>
        <p:spPr>
          <a:xfrm>
            <a:off x="149289" y="2378404"/>
            <a:ext cx="2724150" cy="2876550"/>
          </a:xfrm>
          <a:prstGeom prst="rect">
            <a:avLst/>
          </a:prstGeom>
        </p:spPr>
      </p:pic>
      <p:pic>
        <p:nvPicPr>
          <p:cNvPr id="5" name="Picture 4">
            <a:extLst>
              <a:ext uri="{FF2B5EF4-FFF2-40B4-BE49-F238E27FC236}">
                <a16:creationId xmlns:a16="http://schemas.microsoft.com/office/drawing/2014/main" id="{66461705-0C9E-4A15-882A-E34D73F728EB}"/>
              </a:ext>
            </a:extLst>
          </p:cNvPr>
          <p:cNvPicPr>
            <a:picLocks noChangeAspect="1"/>
          </p:cNvPicPr>
          <p:nvPr/>
        </p:nvPicPr>
        <p:blipFill>
          <a:blip r:embed="rId3"/>
          <a:stretch>
            <a:fillRect/>
          </a:stretch>
        </p:blipFill>
        <p:spPr>
          <a:xfrm>
            <a:off x="1824935" y="1698724"/>
            <a:ext cx="2324933" cy="5016961"/>
          </a:xfrm>
          <a:prstGeom prst="rect">
            <a:avLst/>
          </a:prstGeom>
        </p:spPr>
      </p:pic>
      <p:pic>
        <p:nvPicPr>
          <p:cNvPr id="6" name="Picture 5">
            <a:extLst>
              <a:ext uri="{FF2B5EF4-FFF2-40B4-BE49-F238E27FC236}">
                <a16:creationId xmlns:a16="http://schemas.microsoft.com/office/drawing/2014/main" id="{DEB102B0-0B25-4130-AA41-8C430ADF162D}"/>
              </a:ext>
            </a:extLst>
          </p:cNvPr>
          <p:cNvPicPr>
            <a:picLocks noChangeAspect="1"/>
          </p:cNvPicPr>
          <p:nvPr/>
        </p:nvPicPr>
        <p:blipFill>
          <a:blip r:embed="rId4"/>
          <a:stretch>
            <a:fillRect/>
          </a:stretch>
        </p:blipFill>
        <p:spPr>
          <a:xfrm>
            <a:off x="4321760" y="1836511"/>
            <a:ext cx="2124075" cy="4267200"/>
          </a:xfrm>
          <a:prstGeom prst="rect">
            <a:avLst/>
          </a:prstGeom>
        </p:spPr>
      </p:pic>
      <p:pic>
        <p:nvPicPr>
          <p:cNvPr id="7" name="Picture 6">
            <a:extLst>
              <a:ext uri="{FF2B5EF4-FFF2-40B4-BE49-F238E27FC236}">
                <a16:creationId xmlns:a16="http://schemas.microsoft.com/office/drawing/2014/main" id="{CCB9BA88-A1DA-44C6-9677-5FA97904E7C6}"/>
              </a:ext>
            </a:extLst>
          </p:cNvPr>
          <p:cNvPicPr>
            <a:picLocks noChangeAspect="1"/>
          </p:cNvPicPr>
          <p:nvPr/>
        </p:nvPicPr>
        <p:blipFill>
          <a:blip r:embed="rId5"/>
          <a:stretch>
            <a:fillRect/>
          </a:stretch>
        </p:blipFill>
        <p:spPr>
          <a:xfrm>
            <a:off x="6698345" y="1628159"/>
            <a:ext cx="2219325" cy="4953000"/>
          </a:xfrm>
          <a:prstGeom prst="rect">
            <a:avLst/>
          </a:prstGeom>
        </p:spPr>
      </p:pic>
    </p:spTree>
    <p:extLst>
      <p:ext uri="{BB962C8B-B14F-4D97-AF65-F5344CB8AC3E}">
        <p14:creationId xmlns:p14="http://schemas.microsoft.com/office/powerpoint/2010/main" val="24198941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A3036-7F79-4E18-833A-AC2936B6AF44}"/>
              </a:ext>
            </a:extLst>
          </p:cNvPr>
          <p:cNvSpPr>
            <a:spLocks noGrp="1"/>
          </p:cNvSpPr>
          <p:nvPr>
            <p:ph type="title"/>
          </p:nvPr>
        </p:nvSpPr>
        <p:spPr/>
        <p:txBody>
          <a:bodyPr/>
          <a:lstStyle/>
          <a:p>
            <a:r>
              <a:rPr lang="en-US" dirty="0"/>
              <a:t>The Tableau Prep Workspace</a:t>
            </a:r>
          </a:p>
        </p:txBody>
      </p:sp>
      <p:pic>
        <p:nvPicPr>
          <p:cNvPr id="4" name="Picture 3">
            <a:extLst>
              <a:ext uri="{FF2B5EF4-FFF2-40B4-BE49-F238E27FC236}">
                <a16:creationId xmlns:a16="http://schemas.microsoft.com/office/drawing/2014/main" id="{2CF39253-8349-4414-8508-6B602A0DD790}"/>
              </a:ext>
            </a:extLst>
          </p:cNvPr>
          <p:cNvPicPr>
            <a:picLocks noChangeAspect="1"/>
          </p:cNvPicPr>
          <p:nvPr/>
        </p:nvPicPr>
        <p:blipFill rotWithShape="1">
          <a:blip r:embed="rId3"/>
          <a:srcRect r="1954"/>
          <a:stretch/>
        </p:blipFill>
        <p:spPr>
          <a:xfrm>
            <a:off x="73570" y="1317221"/>
            <a:ext cx="8965324" cy="5148470"/>
          </a:xfrm>
          <a:prstGeom prst="rect">
            <a:avLst/>
          </a:prstGeom>
        </p:spPr>
      </p:pic>
      <p:sp>
        <p:nvSpPr>
          <p:cNvPr id="5" name="TextBox 4">
            <a:extLst>
              <a:ext uri="{FF2B5EF4-FFF2-40B4-BE49-F238E27FC236}">
                <a16:creationId xmlns:a16="http://schemas.microsoft.com/office/drawing/2014/main" id="{F0F6CC29-2267-4492-87C7-388C5A23B701}"/>
              </a:ext>
            </a:extLst>
          </p:cNvPr>
          <p:cNvSpPr txBox="1"/>
          <p:nvPr/>
        </p:nvSpPr>
        <p:spPr>
          <a:xfrm>
            <a:off x="884583" y="1908313"/>
            <a:ext cx="308113" cy="369332"/>
          </a:xfrm>
          <a:prstGeom prst="rect">
            <a:avLst/>
          </a:prstGeom>
          <a:noFill/>
          <a:ln w="38100">
            <a:solidFill>
              <a:srgbClr val="EA6A20"/>
            </a:solidFill>
          </a:ln>
        </p:spPr>
        <p:txBody>
          <a:bodyPr wrap="square" rtlCol="0">
            <a:spAutoFit/>
          </a:bodyPr>
          <a:lstStyle/>
          <a:p>
            <a:endParaRPr lang="en-US" dirty="0"/>
          </a:p>
        </p:txBody>
      </p:sp>
      <p:sp>
        <p:nvSpPr>
          <p:cNvPr id="6" name="Rectangle 5">
            <a:extLst>
              <a:ext uri="{FF2B5EF4-FFF2-40B4-BE49-F238E27FC236}">
                <a16:creationId xmlns:a16="http://schemas.microsoft.com/office/drawing/2014/main" id="{D094FFAE-6AE6-4056-BCD0-6B5A48240A68}"/>
              </a:ext>
            </a:extLst>
          </p:cNvPr>
          <p:cNvSpPr/>
          <p:nvPr/>
        </p:nvSpPr>
        <p:spPr>
          <a:xfrm>
            <a:off x="1192696" y="1958417"/>
            <a:ext cx="2634054" cy="369332"/>
          </a:xfrm>
          <a:prstGeom prst="rect">
            <a:avLst/>
          </a:prstGeom>
        </p:spPr>
        <p:txBody>
          <a:bodyPr wrap="none">
            <a:spAutoFit/>
          </a:bodyPr>
          <a:lstStyle/>
          <a:p>
            <a:r>
              <a:rPr lang="en-US" dirty="0">
                <a:solidFill>
                  <a:srgbClr val="FF0000"/>
                </a:solidFill>
                <a:latin typeface="Arial" panose="020B0604020202020204" pitchFamily="34" charset="0"/>
                <a:cs typeface="Arial" panose="020B0604020202020204" pitchFamily="34" charset="0"/>
              </a:rPr>
              <a:t>add connections to data</a:t>
            </a:r>
          </a:p>
        </p:txBody>
      </p:sp>
    </p:spTree>
    <p:extLst>
      <p:ext uri="{BB962C8B-B14F-4D97-AF65-F5344CB8AC3E}">
        <p14:creationId xmlns:p14="http://schemas.microsoft.com/office/powerpoint/2010/main" val="9518610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438DF-056E-406E-9740-EE866130BF09}"/>
              </a:ext>
            </a:extLst>
          </p:cNvPr>
          <p:cNvSpPr>
            <a:spLocks noGrp="1"/>
          </p:cNvSpPr>
          <p:nvPr>
            <p:ph type="title"/>
          </p:nvPr>
        </p:nvSpPr>
        <p:spPr/>
        <p:txBody>
          <a:bodyPr/>
          <a:lstStyle/>
          <a:p>
            <a:r>
              <a:rPr lang="en-US" dirty="0"/>
              <a:t>The Tableau Prep Workspace</a:t>
            </a:r>
          </a:p>
        </p:txBody>
      </p:sp>
      <p:pic>
        <p:nvPicPr>
          <p:cNvPr id="4" name="Picture 3">
            <a:extLst>
              <a:ext uri="{FF2B5EF4-FFF2-40B4-BE49-F238E27FC236}">
                <a16:creationId xmlns:a16="http://schemas.microsoft.com/office/drawing/2014/main" id="{65E91B94-19CD-4019-84B7-A96DB8E7242D}"/>
              </a:ext>
            </a:extLst>
          </p:cNvPr>
          <p:cNvPicPr>
            <a:picLocks noChangeAspect="1"/>
          </p:cNvPicPr>
          <p:nvPr/>
        </p:nvPicPr>
        <p:blipFill>
          <a:blip r:embed="rId3"/>
          <a:stretch>
            <a:fillRect/>
          </a:stretch>
        </p:blipFill>
        <p:spPr>
          <a:xfrm>
            <a:off x="0" y="1579596"/>
            <a:ext cx="9144000" cy="4450367"/>
          </a:xfrm>
          <a:prstGeom prst="rect">
            <a:avLst/>
          </a:prstGeom>
        </p:spPr>
      </p:pic>
    </p:spTree>
    <p:extLst>
      <p:ext uri="{BB962C8B-B14F-4D97-AF65-F5344CB8AC3E}">
        <p14:creationId xmlns:p14="http://schemas.microsoft.com/office/powerpoint/2010/main" val="15481998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425D3-D9DE-47EB-9B61-73FC4DCD5436}"/>
              </a:ext>
            </a:extLst>
          </p:cNvPr>
          <p:cNvSpPr>
            <a:spLocks noGrp="1"/>
          </p:cNvSpPr>
          <p:nvPr>
            <p:ph type="title"/>
          </p:nvPr>
        </p:nvSpPr>
        <p:spPr/>
        <p:txBody>
          <a:bodyPr/>
          <a:lstStyle/>
          <a:p>
            <a:r>
              <a:rPr lang="en-US" dirty="0"/>
              <a:t>Types of Steps in Tableau Prep</a:t>
            </a:r>
          </a:p>
        </p:txBody>
      </p:sp>
      <p:pic>
        <p:nvPicPr>
          <p:cNvPr id="4" name="Picture 3">
            <a:extLst>
              <a:ext uri="{FF2B5EF4-FFF2-40B4-BE49-F238E27FC236}">
                <a16:creationId xmlns:a16="http://schemas.microsoft.com/office/drawing/2014/main" id="{15C6A649-B6B0-4FAA-91CF-FABCB2642232}"/>
              </a:ext>
            </a:extLst>
          </p:cNvPr>
          <p:cNvPicPr>
            <a:picLocks noChangeAspect="1"/>
          </p:cNvPicPr>
          <p:nvPr/>
        </p:nvPicPr>
        <p:blipFill rotWithShape="1">
          <a:blip r:embed="rId3"/>
          <a:srcRect r="23862" b="46169"/>
          <a:stretch/>
        </p:blipFill>
        <p:spPr>
          <a:xfrm>
            <a:off x="149290" y="933572"/>
            <a:ext cx="4670381" cy="3112335"/>
          </a:xfrm>
          <a:prstGeom prst="rect">
            <a:avLst/>
          </a:prstGeom>
        </p:spPr>
      </p:pic>
      <p:sp>
        <p:nvSpPr>
          <p:cNvPr id="7" name="Rectangle 6">
            <a:extLst>
              <a:ext uri="{FF2B5EF4-FFF2-40B4-BE49-F238E27FC236}">
                <a16:creationId xmlns:a16="http://schemas.microsoft.com/office/drawing/2014/main" id="{8D00099D-70D9-43D4-8C81-1BB59C0F18D5}"/>
              </a:ext>
            </a:extLst>
          </p:cNvPr>
          <p:cNvSpPr/>
          <p:nvPr/>
        </p:nvSpPr>
        <p:spPr>
          <a:xfrm>
            <a:off x="2878137" y="1139869"/>
            <a:ext cx="501041" cy="313150"/>
          </a:xfrm>
          <a:prstGeom prst="rect">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FC37199-5821-484F-A1FE-459C9D5EA8D2}"/>
              </a:ext>
            </a:extLst>
          </p:cNvPr>
          <p:cNvSpPr/>
          <p:nvPr/>
        </p:nvSpPr>
        <p:spPr>
          <a:xfrm>
            <a:off x="3473971" y="1046646"/>
            <a:ext cx="2021707" cy="400110"/>
          </a:xfrm>
          <a:prstGeom prst="rect">
            <a:avLst/>
          </a:prstGeom>
        </p:spPr>
        <p:txBody>
          <a:bodyPr wrap="none">
            <a:spAutoFit/>
          </a:bodyPr>
          <a:lstStyle/>
          <a:p>
            <a:r>
              <a:rPr lang="en-US" sz="2000" b="1" dirty="0">
                <a:solidFill>
                  <a:srgbClr val="522D80"/>
                </a:solidFill>
                <a:latin typeface="Arial" panose="020B0604020202020204" pitchFamily="34" charset="0"/>
                <a:cs typeface="Arial" panose="020B0604020202020204" pitchFamily="34" charset="0"/>
              </a:rPr>
              <a:t>add a new step</a:t>
            </a:r>
          </a:p>
        </p:txBody>
      </p:sp>
      <p:pic>
        <p:nvPicPr>
          <p:cNvPr id="9" name="Picture 8">
            <a:extLst>
              <a:ext uri="{FF2B5EF4-FFF2-40B4-BE49-F238E27FC236}">
                <a16:creationId xmlns:a16="http://schemas.microsoft.com/office/drawing/2014/main" id="{71573CAF-5B7F-4EA7-B3BB-72ED0A1D6186}"/>
              </a:ext>
            </a:extLst>
          </p:cNvPr>
          <p:cNvPicPr>
            <a:picLocks noChangeAspect="1"/>
          </p:cNvPicPr>
          <p:nvPr/>
        </p:nvPicPr>
        <p:blipFill>
          <a:blip r:embed="rId4"/>
          <a:stretch>
            <a:fillRect/>
          </a:stretch>
        </p:blipFill>
        <p:spPr>
          <a:xfrm>
            <a:off x="4819671" y="3429000"/>
            <a:ext cx="4067175" cy="3067050"/>
          </a:xfrm>
          <a:prstGeom prst="rect">
            <a:avLst/>
          </a:prstGeom>
        </p:spPr>
      </p:pic>
      <p:sp>
        <p:nvSpPr>
          <p:cNvPr id="10" name="Rectangle 9">
            <a:extLst>
              <a:ext uri="{FF2B5EF4-FFF2-40B4-BE49-F238E27FC236}">
                <a16:creationId xmlns:a16="http://schemas.microsoft.com/office/drawing/2014/main" id="{318F99CA-DCE5-4405-86CC-E67346416058}"/>
              </a:ext>
            </a:extLst>
          </p:cNvPr>
          <p:cNvSpPr/>
          <p:nvPr/>
        </p:nvSpPr>
        <p:spPr>
          <a:xfrm>
            <a:off x="5769344" y="2413337"/>
            <a:ext cx="3225366" cy="1015663"/>
          </a:xfrm>
          <a:prstGeom prst="rect">
            <a:avLst/>
          </a:prstGeom>
        </p:spPr>
        <p:txBody>
          <a:bodyPr wrap="square">
            <a:spAutoFit/>
          </a:bodyPr>
          <a:lstStyle/>
          <a:p>
            <a:pPr algn="ctr"/>
            <a:r>
              <a:rPr lang="en-US" sz="2000" b="1" i="1" dirty="0">
                <a:solidFill>
                  <a:srgbClr val="522D80"/>
                </a:solidFill>
                <a:latin typeface="Arial" panose="020B0604020202020204" pitchFamily="34" charset="0"/>
                <a:cs typeface="Arial" panose="020B0604020202020204" pitchFamily="34" charset="0"/>
              </a:rPr>
              <a:t>Right Click</a:t>
            </a:r>
          </a:p>
          <a:p>
            <a:r>
              <a:rPr lang="en-US" sz="2000" b="1" dirty="0">
                <a:solidFill>
                  <a:srgbClr val="522D80"/>
                </a:solidFill>
                <a:latin typeface="Arial" panose="020B0604020202020204" pitchFamily="34" charset="0"/>
                <a:cs typeface="Arial" panose="020B0604020202020204" pitchFamily="34" charset="0"/>
              </a:rPr>
              <a:t>rename, add description, copy, remove …</a:t>
            </a:r>
          </a:p>
        </p:txBody>
      </p:sp>
      <p:pic>
        <p:nvPicPr>
          <p:cNvPr id="11" name="Picture 10">
            <a:extLst>
              <a:ext uri="{FF2B5EF4-FFF2-40B4-BE49-F238E27FC236}">
                <a16:creationId xmlns:a16="http://schemas.microsoft.com/office/drawing/2014/main" id="{89FE160F-0638-41D6-8E86-E44445A3D3B9}"/>
              </a:ext>
            </a:extLst>
          </p:cNvPr>
          <p:cNvPicPr>
            <a:picLocks noChangeAspect="1"/>
          </p:cNvPicPr>
          <p:nvPr/>
        </p:nvPicPr>
        <p:blipFill>
          <a:blip r:embed="rId5"/>
          <a:stretch>
            <a:fillRect/>
          </a:stretch>
        </p:blipFill>
        <p:spPr>
          <a:xfrm>
            <a:off x="638827" y="4245529"/>
            <a:ext cx="3026906" cy="2619778"/>
          </a:xfrm>
          <a:prstGeom prst="rect">
            <a:avLst/>
          </a:prstGeom>
        </p:spPr>
      </p:pic>
      <p:sp>
        <p:nvSpPr>
          <p:cNvPr id="12" name="Rectangle 11">
            <a:extLst>
              <a:ext uri="{FF2B5EF4-FFF2-40B4-BE49-F238E27FC236}">
                <a16:creationId xmlns:a16="http://schemas.microsoft.com/office/drawing/2014/main" id="{08515AC7-C26E-4BBD-855C-C6B27077884F}"/>
              </a:ext>
            </a:extLst>
          </p:cNvPr>
          <p:cNvSpPr/>
          <p:nvPr/>
        </p:nvSpPr>
        <p:spPr>
          <a:xfrm>
            <a:off x="1717544" y="4310247"/>
            <a:ext cx="501041" cy="313150"/>
          </a:xfrm>
          <a:prstGeom prst="rect">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04260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ED31C-01A1-4FE4-B8B9-FA335E685B78}"/>
              </a:ext>
            </a:extLst>
          </p:cNvPr>
          <p:cNvSpPr>
            <a:spLocks noGrp="1"/>
          </p:cNvSpPr>
          <p:nvPr>
            <p:ph type="title"/>
          </p:nvPr>
        </p:nvSpPr>
        <p:spPr/>
        <p:txBody>
          <a:bodyPr/>
          <a:lstStyle/>
          <a:p>
            <a:r>
              <a:rPr lang="en-US" dirty="0"/>
              <a:t>Types of Steps in a Flow</a:t>
            </a:r>
          </a:p>
        </p:txBody>
      </p:sp>
      <p:pic>
        <p:nvPicPr>
          <p:cNvPr id="5" name="Picture 4">
            <a:extLst>
              <a:ext uri="{FF2B5EF4-FFF2-40B4-BE49-F238E27FC236}">
                <a16:creationId xmlns:a16="http://schemas.microsoft.com/office/drawing/2014/main" id="{2A594B10-535C-4915-8CF3-98BB0E62732F}"/>
              </a:ext>
            </a:extLst>
          </p:cNvPr>
          <p:cNvPicPr>
            <a:picLocks noChangeAspect="1"/>
          </p:cNvPicPr>
          <p:nvPr/>
        </p:nvPicPr>
        <p:blipFill>
          <a:blip r:embed="rId2"/>
          <a:stretch>
            <a:fillRect/>
          </a:stretch>
        </p:blipFill>
        <p:spPr>
          <a:xfrm>
            <a:off x="75156" y="1117629"/>
            <a:ext cx="9006214" cy="5152506"/>
          </a:xfrm>
          <a:prstGeom prst="rect">
            <a:avLst/>
          </a:prstGeom>
        </p:spPr>
      </p:pic>
    </p:spTree>
    <p:extLst>
      <p:ext uri="{BB962C8B-B14F-4D97-AF65-F5344CB8AC3E}">
        <p14:creationId xmlns:p14="http://schemas.microsoft.com/office/powerpoint/2010/main" val="39475477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0B39-DCCD-432E-993C-630BCA5949BE}"/>
              </a:ext>
            </a:extLst>
          </p:cNvPr>
          <p:cNvSpPr>
            <a:spLocks noGrp="1"/>
          </p:cNvSpPr>
          <p:nvPr>
            <p:ph type="title"/>
          </p:nvPr>
        </p:nvSpPr>
        <p:spPr/>
        <p:txBody>
          <a:bodyPr/>
          <a:lstStyle/>
          <a:p>
            <a:r>
              <a:rPr lang="en-US" dirty="0"/>
              <a:t>Types of Steps in a Flow (cont.)</a:t>
            </a:r>
          </a:p>
        </p:txBody>
      </p:sp>
      <p:pic>
        <p:nvPicPr>
          <p:cNvPr id="4" name="Picture 3">
            <a:extLst>
              <a:ext uri="{FF2B5EF4-FFF2-40B4-BE49-F238E27FC236}">
                <a16:creationId xmlns:a16="http://schemas.microsoft.com/office/drawing/2014/main" id="{405FE633-21AD-4B16-B414-5AAFCCD74894}"/>
              </a:ext>
            </a:extLst>
          </p:cNvPr>
          <p:cNvPicPr>
            <a:picLocks noChangeAspect="1"/>
          </p:cNvPicPr>
          <p:nvPr/>
        </p:nvPicPr>
        <p:blipFill>
          <a:blip r:embed="rId2"/>
          <a:stretch>
            <a:fillRect/>
          </a:stretch>
        </p:blipFill>
        <p:spPr>
          <a:xfrm>
            <a:off x="86660" y="2126691"/>
            <a:ext cx="8994710" cy="2562093"/>
          </a:xfrm>
          <a:prstGeom prst="rect">
            <a:avLst/>
          </a:prstGeom>
        </p:spPr>
      </p:pic>
    </p:spTree>
    <p:extLst>
      <p:ext uri="{BB962C8B-B14F-4D97-AF65-F5344CB8AC3E}">
        <p14:creationId xmlns:p14="http://schemas.microsoft.com/office/powerpoint/2010/main" val="16564739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B28D3-E65B-4FA2-986A-DF7AE2B74A56}"/>
              </a:ext>
            </a:extLst>
          </p:cNvPr>
          <p:cNvSpPr>
            <a:spLocks noGrp="1"/>
          </p:cNvSpPr>
          <p:nvPr>
            <p:ph type="title"/>
          </p:nvPr>
        </p:nvSpPr>
        <p:spPr/>
        <p:txBody>
          <a:bodyPr/>
          <a:lstStyle/>
          <a:p>
            <a:r>
              <a:rPr lang="en-US" dirty="0"/>
              <a:t>Hands-on Practices</a:t>
            </a:r>
          </a:p>
        </p:txBody>
      </p:sp>
      <p:sp>
        <p:nvSpPr>
          <p:cNvPr id="3" name="Content Placeholder 2">
            <a:extLst>
              <a:ext uri="{FF2B5EF4-FFF2-40B4-BE49-F238E27FC236}">
                <a16:creationId xmlns:a16="http://schemas.microsoft.com/office/drawing/2014/main" id="{26212BF1-2851-4C1A-AEDF-43704F92FDA7}"/>
              </a:ext>
            </a:extLst>
          </p:cNvPr>
          <p:cNvSpPr>
            <a:spLocks noGrp="1"/>
          </p:cNvSpPr>
          <p:nvPr>
            <p:ph idx="1"/>
          </p:nvPr>
        </p:nvSpPr>
        <p:spPr>
          <a:xfrm>
            <a:off x="149289" y="1002728"/>
            <a:ext cx="8770776" cy="3449525"/>
          </a:xfrm>
        </p:spPr>
        <p:txBody>
          <a:bodyPr>
            <a:normAutofit fontScale="92500" lnSpcReduction="20000"/>
          </a:bodyPr>
          <a:lstStyle/>
          <a:p>
            <a:r>
              <a:rPr lang="en-US" sz="2200" dirty="0"/>
              <a:t>(Self-Study, Introductory) Tableau Prep Free Training Video: </a:t>
            </a:r>
            <a:r>
              <a:rPr lang="en-US" sz="2200" dirty="0">
                <a:hlinkClick r:id="rId2"/>
              </a:rPr>
              <a:t>https://www.tableau.com/learn/training#prep</a:t>
            </a:r>
            <a:endParaRPr lang="en-US" sz="2200" dirty="0"/>
          </a:p>
          <a:p>
            <a:pPr marL="400050" lvl="1" indent="0">
              <a:buNone/>
            </a:pPr>
            <a:r>
              <a:rPr lang="en-US" sz="2200" dirty="0">
                <a:hlinkClick r:id="rId3"/>
              </a:rPr>
              <a:t>https://www.tableau.com/learn/tutorials/on-demand/cleaning-step?product=tableau_desktop%2Btableau_prep&amp;version=tableau_desktop_2019_3%2Btableau_prep_2019_3_1&amp;topic=tableau_prep</a:t>
            </a:r>
            <a:endParaRPr lang="en-US" sz="2200" dirty="0"/>
          </a:p>
          <a:p>
            <a:r>
              <a:rPr lang="en-US" sz="2200" dirty="0"/>
              <a:t>(Self-Study, Introductory) Tableau Prep Help: </a:t>
            </a:r>
            <a:r>
              <a:rPr lang="en-US" sz="2200" dirty="0">
                <a:hlinkClick r:id="rId4"/>
              </a:rPr>
              <a:t>https://help.tableau.com/current/prep/en-us/prep_whatsnew.htm</a:t>
            </a:r>
            <a:endParaRPr lang="en-US" sz="2200" dirty="0"/>
          </a:p>
          <a:p>
            <a:endParaRPr lang="en-US" sz="2200" dirty="0"/>
          </a:p>
          <a:p>
            <a:r>
              <a:rPr lang="en-US" sz="2200" b="1" dirty="0"/>
              <a:t>In-Class Demo: </a:t>
            </a:r>
            <a:r>
              <a:rPr lang="en-US" sz="2200" dirty="0"/>
              <a:t>To give you a more hands-on experience and see how to work with real-world data, I use a very small part of my research project to demonstrate how we can use Tableau Prep in data processing (i.e., ETL process).</a:t>
            </a:r>
          </a:p>
        </p:txBody>
      </p:sp>
      <p:pic>
        <p:nvPicPr>
          <p:cNvPr id="4" name="Picture 3">
            <a:extLst>
              <a:ext uri="{FF2B5EF4-FFF2-40B4-BE49-F238E27FC236}">
                <a16:creationId xmlns:a16="http://schemas.microsoft.com/office/drawing/2014/main" id="{450D3798-32F1-4F95-BEA8-FBDE43970F2F}"/>
              </a:ext>
            </a:extLst>
          </p:cNvPr>
          <p:cNvPicPr/>
          <p:nvPr/>
        </p:nvPicPr>
        <p:blipFill>
          <a:blip r:embed="rId5"/>
          <a:stretch>
            <a:fillRect/>
          </a:stretch>
        </p:blipFill>
        <p:spPr>
          <a:xfrm>
            <a:off x="293915" y="4452252"/>
            <a:ext cx="8700796" cy="2253347"/>
          </a:xfrm>
          <a:prstGeom prst="rect">
            <a:avLst/>
          </a:prstGeom>
        </p:spPr>
      </p:pic>
    </p:spTree>
    <p:extLst>
      <p:ext uri="{BB962C8B-B14F-4D97-AF65-F5344CB8AC3E}">
        <p14:creationId xmlns:p14="http://schemas.microsoft.com/office/powerpoint/2010/main" val="4225158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1422</TotalTime>
  <Words>7163</Words>
  <Application>Microsoft Office PowerPoint</Application>
  <PresentationFormat>On-screen Show (4:3)</PresentationFormat>
  <Paragraphs>362</Paragraphs>
  <Slides>37</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FrutigerLTStd-Bold</vt:lpstr>
      <vt:lpstr>Arial</vt:lpstr>
      <vt:lpstr>Arial Nova</vt:lpstr>
      <vt:lpstr>Calibri</vt:lpstr>
      <vt:lpstr>Goudy Old Style</vt:lpstr>
      <vt:lpstr>Times New Roman</vt:lpstr>
      <vt:lpstr>Office Theme</vt:lpstr>
      <vt:lpstr>Chapter 5 Data Warehousing and Integration</vt:lpstr>
      <vt:lpstr>Data Warehouse</vt:lpstr>
      <vt:lpstr>Difficulty of Deriving Company-Wide View</vt:lpstr>
      <vt:lpstr>Organizational Trends  Motivating Data Warehouses</vt:lpstr>
      <vt:lpstr>PowerPoint Presentation</vt:lpstr>
      <vt:lpstr>A Generic Data Warehousing Framework</vt:lpstr>
      <vt:lpstr>ETL – Data Integration for Data Warehousing</vt:lpstr>
      <vt:lpstr>Data Integration  creating a unified view of business data</vt:lpstr>
      <vt:lpstr>Data Warehouse v.s. Data Mart</vt:lpstr>
      <vt:lpstr>Data Warehouse Development</vt:lpstr>
      <vt:lpstr>Choosing Data Warehouse Development Approach</vt:lpstr>
      <vt:lpstr>Alternative DW Architectures</vt:lpstr>
      <vt:lpstr>Alternative DW Architectures (cont.)</vt:lpstr>
      <vt:lpstr>Logical Data Mart and Real-time Data Warehouse Architecture</vt:lpstr>
      <vt:lpstr>Dimensional Modeling: Star Schema</vt:lpstr>
      <vt:lpstr>Example: Star Schema</vt:lpstr>
      <vt:lpstr>Example: Star Schema</vt:lpstr>
      <vt:lpstr>Specific Issues</vt:lpstr>
      <vt:lpstr>Specific Issues – size of fact table</vt:lpstr>
      <vt:lpstr>Specific Issues – modeling dates</vt:lpstr>
      <vt:lpstr>Snowflake Schema – Normalizing Dimension Tables</vt:lpstr>
      <vt:lpstr>Example: Normalizing Multivalued Dimensional Tables</vt:lpstr>
      <vt:lpstr>Example: Normalizing Dimensional Table Using Hierarchy</vt:lpstr>
      <vt:lpstr>Example: Representing Hierarchical Relationships within a Dimension</vt:lpstr>
      <vt:lpstr>Multiple Fact Tables</vt:lpstr>
      <vt:lpstr>Factless Fact Table</vt:lpstr>
      <vt:lpstr>Slowly Changing Dimensions (optional) How to maintain knowledge of the past?</vt:lpstr>
      <vt:lpstr>Determining Dimensions and Facts</vt:lpstr>
      <vt:lpstr>10 Essential Rules for Dimensional Modeling </vt:lpstr>
      <vt:lpstr>The Process of Data Analysis</vt:lpstr>
      <vt:lpstr>Common Data Formats</vt:lpstr>
      <vt:lpstr>The Tableau Prep Workspace</vt:lpstr>
      <vt:lpstr>The Tableau Prep Workspace</vt:lpstr>
      <vt:lpstr>Types of Steps in Tableau Prep</vt:lpstr>
      <vt:lpstr>Types of Steps in a Flow</vt:lpstr>
      <vt:lpstr>Types of Steps in a Flow (cont.)</vt:lpstr>
      <vt:lpstr>Hands-on Practices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Data Management</dc:title>
  <dc:creator>He Li</dc:creator>
  <cp:lastModifiedBy>He Li</cp:lastModifiedBy>
  <cp:revision>105</cp:revision>
  <dcterms:created xsi:type="dcterms:W3CDTF">2019-12-19T20:52:23Z</dcterms:created>
  <dcterms:modified xsi:type="dcterms:W3CDTF">2021-08-15T19:09:50Z</dcterms:modified>
</cp:coreProperties>
</file>